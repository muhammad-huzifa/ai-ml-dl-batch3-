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280160" cy="1280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14400"/>
            <a:ext cx="256032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32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PYTHON  ·  DATA SCIENCE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CAD6"/>
                </a:solidFill>
              </a:rPr>
              <a:t>Introduction to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F0F8"/>
                </a:solidFill>
              </a:rPr>
              <a:t>Numerical Python — From Basics to Practical Use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246120"/>
            <a:ext cx="2011680" cy="658368"/>
          </a:xfrm>
          <a:prstGeom prst="rect">
            <a:avLst/>
          </a:prstGeom>
          <a:solidFill>
            <a:srgbClr val="1B2A3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0352" y="327355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Hour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" y="354787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51760" y="3246120"/>
            <a:ext cx="2011680" cy="658368"/>
          </a:xfrm>
          <a:prstGeom prst="rect">
            <a:avLst/>
          </a:prstGeom>
          <a:solidFill>
            <a:srgbClr val="1B2A3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724912" y="327355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Hours 2·3·4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24912" y="354787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Arrays &amp; Operations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0" y="4663440"/>
            <a:ext cx="73152" cy="4800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8600" y="47274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R.A : Muhammad Huzifa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1 ·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NumPy?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3891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97280"/>
            <a:ext cx="2651760" cy="333756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97280"/>
            <a:ext cx="2651760" cy="32918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155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1133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Definition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14904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NumPy stands for Numerical Python. It is a powerful library that lets you work with large collections of numbers very efficiently — much faster than regular Python lists.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097280"/>
            <a:ext cx="2651760" cy="3337560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097280"/>
            <a:ext cx="2651760" cy="329184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111556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84448" y="1133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It Exists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291840" y="14904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Python lists are slow and limited for math operations. NumPy was built specifically to overcome this and brings the power of scientific computing into Python.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35040" y="1097280"/>
            <a:ext cx="2651760" cy="3337560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35040" y="1097280"/>
            <a:ext cx="2651760" cy="329184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11556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19088" y="1133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Object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126480" y="14904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The heart of NumPy is the ndarray (N-dimensional array) — a grid of values, all the same type. Think of it like a super-powered Excel column or table.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1 ·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NumPy Important?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840480" cy="100584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50×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3167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EF"/>
                </a:solidFill>
              </a:rPr>
              <a:t>Faster than Python lists for math operations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3840480" cy="100584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377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N-D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91640" y="25054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EF"/>
                </a:solidFill>
              </a:rPr>
              <a:t>Works in any dimension — 1D, 2D, 3D and beyond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3840480" cy="100584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5661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1000+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91640" y="369417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EF"/>
                </a:solidFill>
              </a:rPr>
              <a:t>Scientific libraries built on top of NumPy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4206240" cy="361188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97280"/>
            <a:ext cx="4206240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1115568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974336" y="113385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Where NumPy is Used in Daily Life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00016" y="1508760"/>
            <a:ext cx="396849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0E8EF"/>
                </a:solidFill>
              </a:rPr>
              <a:t>📊  Analyzing student exam scores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0E8EF"/>
                </a:solidFill>
              </a:rPr>
              <a:t>🌡️  Processing weather temperature data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0E8EF"/>
                </a:solidFill>
              </a:rPr>
              <a:t>🏥  Medical image scanning (MRI, CT)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0E8EF"/>
                </a:solidFill>
              </a:rPr>
              <a:t>📈  Stock market price calculations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0E8EF"/>
                </a:solidFill>
              </a:rPr>
              <a:t>🎮  Game physics &amp; graphics rendering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E0E8EF"/>
                </a:solidFill>
              </a:rPr>
              <a:t>🤖  Training AI &amp; ML models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1 ·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vs Python List — Key Differences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56032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0700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143000"/>
            <a:ext cx="27432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2070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143000"/>
            <a:ext cx="27432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12070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NumPy Array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527048"/>
            <a:ext cx="2560320" cy="5029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60020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Speed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1527048"/>
            <a:ext cx="2743200" cy="5029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160020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76F"/>
                </a:solidFill>
              </a:rPr>
              <a:t>Slow for math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527048"/>
            <a:ext cx="2743200" cy="5029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160020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D6A0"/>
                </a:solidFill>
              </a:rPr>
              <a:t>Very Fast 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029968"/>
            <a:ext cx="2560320" cy="502920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10312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Data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2029968"/>
            <a:ext cx="2743200" cy="502920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210312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76F"/>
                </a:solidFill>
              </a:rPr>
              <a:t>Mixed allowed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2029968"/>
            <a:ext cx="2743200" cy="502920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210312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D6A0"/>
                </a:solidFill>
              </a:rPr>
              <a:t>One type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532888"/>
            <a:ext cx="2560320" cy="5029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60604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Memory Usage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0" y="2532888"/>
            <a:ext cx="2743200" cy="5029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260604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76F"/>
                </a:solidFill>
              </a:rPr>
              <a:t>High usage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2532888"/>
            <a:ext cx="2743200" cy="5029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60604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D6A0"/>
                </a:solidFill>
              </a:rPr>
              <a:t>Optimized 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035808"/>
            <a:ext cx="2560320" cy="502920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10896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Math Ops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26080" y="3035808"/>
            <a:ext cx="2743200" cy="502920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9232" y="310896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76F"/>
                </a:solidFill>
              </a:rPr>
              <a:t>Manual loops needed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0" y="3035808"/>
            <a:ext cx="2743200" cy="502920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310896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D6A0"/>
                </a:solidFill>
              </a:rPr>
              <a:t>Direct operations 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538728"/>
            <a:ext cx="2560320" cy="5029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61188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Dimensions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26080" y="3538728"/>
            <a:ext cx="2743200" cy="5029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9232" y="361188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76F"/>
                </a:solidFill>
              </a:rPr>
              <a:t>1D only easily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0" y="3538728"/>
            <a:ext cx="2743200" cy="5029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361188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D6A0"/>
                </a:solidFill>
              </a:rPr>
              <a:t>1D, 2D, 3D+ 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041648"/>
            <a:ext cx="2560320" cy="502920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411480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Broadcasting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926080" y="4041648"/>
            <a:ext cx="2743200" cy="502920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9232" y="411480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76F"/>
                </a:solidFill>
              </a:rPr>
              <a:t>Not supported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69280" y="4041648"/>
            <a:ext cx="2743200" cy="502920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42432" y="4114800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D6A0"/>
                </a:solidFill>
              </a:rPr>
              <a:t>Fully supported ✓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1 ·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 — Think of It This Way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51760" cy="333756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651760" cy="32918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155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133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Spreadsheet Row (1D)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4904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A 1D NumPy array is like a single row in Excel — a neat list of numbers side by side.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Example: [85, 90, 78, 95, 88] — scores of 5 students.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651760" cy="3337560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97280"/>
            <a:ext cx="2651760" cy="329184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11556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1133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Spreadsheet Table (2D)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91840" y="14904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A 2D array is like a full spreadsheet — rows and columns.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Think of a student marks table with subjects as columns and students as rows.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097280"/>
            <a:ext cx="2651760" cy="3337560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097280"/>
            <a:ext cx="2651760" cy="329184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115568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1133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Stacked Tables (3D)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26480" y="14904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A 3D array is like multiple spreadsheets stacked together.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Used in images: height × width × color channels (RGB).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9728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D6"/>
                </a:solidFill>
              </a:rPr>
              <a:t>Hours 2 · 3 · 4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NumPy Arrays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23591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F0F8"/>
                </a:solidFill>
              </a:rPr>
              <a:t>From Python List  ·  Built-in Methods  ·  Random Functions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7274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R.A : Muhammad Huzifa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2 · Creating Arrays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Creating Array from a Python List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69080" cy="141732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069080" cy="292608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Does This Mean?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You already know Python lists like [1, 2, 3]. NumPy can take any Python list and convert it into a NumPy array using np.array(). The result looks similar but is stored differently in memory and works much more powerfully for math.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069080" cy="1371600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06040"/>
            <a:ext cx="4069080" cy="292608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42616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1D Array — Single Row of Numbers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Imagine scores of 5 students: [85, 90, 78, 95, 88]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This becomes a 1D array — a single straight line of values, just like one row in Excel.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069080"/>
            <a:ext cx="4069080" cy="822960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4069080"/>
            <a:ext cx="4069080" cy="292608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4105656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2D Array — Rows and Columns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165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Example: [[90, 85, 78], [88, 92, 80], [70, 75, 95]]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Nested list → 3 rows, 3 cols. Just like a table.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097280"/>
            <a:ext cx="4069080" cy="3813048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097280"/>
            <a:ext cx="4069080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1247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It Works — Step by Step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54533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545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1508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1: </a:t>
            </a:r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Start with a normal Python list, e.g. [10, 20, 30]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18541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36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2: </a:t>
            </a:r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Pass it into np.array() function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8254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2788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3: </a:t>
            </a:r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NumPy reads each value and stores them in a contiguous memory block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46557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3429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4: </a:t>
            </a:r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All values must be same type (int or float) — mixed types auto-convert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410565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66360" y="4069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5: </a:t>
            </a:r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Nested lists automatically become 2D arrays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2 · Creating Arrays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Creating Arrays with Built-in Functions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51760" cy="169164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2651760" cy="27432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795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np.zeros()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472184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Creates an array filled entirely with 0s.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Use case: Initialize a results table where all values start as 0.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2496312"/>
            <a:ext cx="2505456" cy="256032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np.zeros(5) → [0. 0. 0. 0. 0.]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51760" cy="1691640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2651760" cy="274320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1795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np.ones()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73552" y="1472184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Creates an array filled entirely with 1s.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Use case: Start all weights in a calculation as 1.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73552" y="2496312"/>
            <a:ext cx="2505456" cy="256032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514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np.ones((2,3)) → 2 rows, 3 cols of 1s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143000"/>
            <a:ext cx="2651760" cy="274320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1795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np.arange()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08192" y="1472184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Creates evenly spaced numbers in a range — like Python's range() but returns a NumPy array.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Use case: Generate roll numbers 1 to 50.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08192" y="2496312"/>
            <a:ext cx="2505456" cy="256032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514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np.arange(1,6) → [1 2 3 4 5]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2651760" cy="1691640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17520"/>
            <a:ext cx="2651760" cy="274320"/>
          </a:xfrm>
          <a:prstGeom prst="rect">
            <a:avLst/>
          </a:prstGeom>
          <a:solidFill>
            <a:srgbClr val="0077B6">
              <a:alpha val="8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0540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np.linspace()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" y="3346704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Creates exactly N evenly spaced values between start and stop.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Use case: Split temperature range 0°–100° into 10 equal points.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4370832"/>
            <a:ext cx="2505456" cy="256032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89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np.linspace(0,1,5) → 5 equal steps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3017520"/>
            <a:ext cx="2651760" cy="1691640"/>
          </a:xfrm>
          <a:prstGeom prst="rect">
            <a:avLst/>
          </a:prstGeom>
          <a:solidFill>
            <a:srgbClr val="162232"/>
          </a:solidFill>
          <a:ln w="12700">
            <a:solidFill>
              <a:srgbClr val="90CA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017520"/>
            <a:ext cx="2651760" cy="274320"/>
          </a:xfrm>
          <a:prstGeom prst="rect">
            <a:avLst/>
          </a:prstGeom>
          <a:solidFill>
            <a:srgbClr val="90CAD6">
              <a:alpha val="85000"/>
            </a:srgbClr>
          </a:solidFill>
          <a:ln w="12700">
            <a:solidFill>
              <a:srgbClr val="90CA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30540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np.eye()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73552" y="3346704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Creates an Identity Matrix — 1s on the diagonal, 0s elsewhere.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Use case: Used in linear algebra and transformation equations.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73552" y="4370832"/>
            <a:ext cx="2505456" cy="256032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4389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np.eye(3) → 3×3 identity matrix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3017520"/>
            <a:ext cx="2651760" cy="1691640"/>
          </a:xfrm>
          <a:prstGeom prst="rect">
            <a:avLst/>
          </a:prstGeom>
          <a:solidFill>
            <a:srgbClr val="16223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3017520"/>
            <a:ext cx="2651760" cy="274320"/>
          </a:xfrm>
          <a:prstGeom prst="rect">
            <a:avLst/>
          </a:prstGeom>
          <a:solidFill>
            <a:srgbClr val="EF476F">
              <a:alpha val="85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30540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np.full()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08192" y="3346704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Creates an array of any size filled with a specific value you choose.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Use case: Fill a placeholder array entirely with the number 99.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08192" y="4370832"/>
            <a:ext cx="2505456" cy="256032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4389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np.full((2,2), 7) → all 7s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2 · Creating Arrays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Creating Arrays with Random Values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38912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F0F8"/>
                </a:solidFill>
              </a:rPr>
              <a:t>Random arrays are used for sample data, simulations, and testing. NumPy provides the np.random module for this.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828800"/>
            <a:ext cx="4023360" cy="132588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828800"/>
            <a:ext cx="4023360" cy="27432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18653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np.random.rand()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2148840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Generates random decimal numbers between 0 and 1.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Real-life: Simulate random probability values — like rolling a biased die.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912" y="2880360"/>
            <a:ext cx="3877056" cy="201168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8986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rand(3) → [0.42, 0.87, 0.12]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1828800"/>
            <a:ext cx="4023360" cy="1325880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828800"/>
            <a:ext cx="4023360" cy="274320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18653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np.random.randint()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36592" y="2148840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Generates random whole numbers between a given range.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Real-life: Simulate random exam scores between 40 and 100.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36592" y="2880360"/>
            <a:ext cx="3877056" cy="201168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8986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randint(1,10,5) → [3,7,2,9,4]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3337560"/>
            <a:ext cx="4023360" cy="1325880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337560"/>
            <a:ext cx="4023360" cy="274320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" y="337413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np.random.randn()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38912" y="3657600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Generates numbers following a normal distribution (bell curve).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Real-life: Simulate heights and weights — values that cluster around an average.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38912" y="4389120"/>
            <a:ext cx="3877056" cy="201168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4074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randn(4) → [-0.5, 1.2, 0.3, -1.1]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3337560"/>
            <a:ext cx="4023360" cy="1325880"/>
          </a:xfrm>
          <a:prstGeom prst="rect">
            <a:avLst/>
          </a:prstGeom>
          <a:solidFill>
            <a:srgbClr val="16223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3337560"/>
            <a:ext cx="4023360" cy="274320"/>
          </a:xfrm>
          <a:prstGeom prst="rect">
            <a:avLst/>
          </a:prstGeom>
          <a:solidFill>
            <a:srgbClr val="EF476F">
              <a:alpha val="85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337413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np.random.seed()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36592" y="3657600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Sets a starting point so random results are reproducible.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Real-life: Ensures test data looks the same every time you run the program.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36592" y="4389120"/>
            <a:ext cx="3877056" cy="201168"/>
          </a:xfrm>
          <a:prstGeom prst="rect">
            <a:avLst/>
          </a:prstGeom>
          <a:solidFill>
            <a:srgbClr val="1B2A3F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44074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seed(42) → fixed results always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457200"/>
            <a:ext cx="5029200" cy="5029200"/>
          </a:xfrm>
          <a:prstGeom prst="ellipse">
            <a:avLst/>
          </a:prstGeom>
          <a:solidFill>
            <a:srgbClr val="0077B6">
              <a:alpha val="18000"/>
            </a:srgbClr>
          </a:solidFill>
          <a:ln w="12700">
            <a:solidFill>
              <a:srgbClr val="0077B6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18872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D6"/>
                </a:solidFill>
              </a:rPr>
              <a:t>Hour 3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Attributes &amp; Methods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</a:rPr>
              <a:t>shape  ·  dtype  ·  size  ·  ndim  ·  reshape  ·  max  ·  min  ·  argmax  ·  argmin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7274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R.A : Muhammad Huzifa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3 · Attributes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Attributes — Inspecting Your Array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023360" cy="32918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.shape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527048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Returns a tuple showing the structure of the array as (rows, columns).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Example: A 3×4 array → shape is (3, 4).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Think of it as: how many rows and columns does my table have?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4023360" cy="329184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.dtype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527048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Returns the data type of all elements in the array.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Example: int64 for whole numbers, float64 for decimals.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Think of it as: are the values in my column numbers or decimals?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4023360" cy="329184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Returns the total count of all elements in the array.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Example: A 3×4 array → size = 12 (3×4 = 12).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Think of it as: how many total cells fill my spreadsheet?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26080"/>
            <a:ext cx="4023360" cy="329184"/>
          </a:xfrm>
          <a:prstGeom prst="rect">
            <a:avLst/>
          </a:prstGeom>
          <a:solidFill>
            <a:srgbClr val="EF476F">
              <a:alpha val="85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.ndim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3310128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Returns the number of dimensions.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1D list = 1,  2D table = 2,  3D cube = 3.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Think of it as: is this a list, a table, or a cube of data?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3 · Methods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— reshape, max, min, argmax, argmin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38912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2651760" cy="352044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43000"/>
            <a:ext cx="2651760" cy="310896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11612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.reshape()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1517904"/>
            <a:ext cx="25054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Changes the shape of an array WITHOUT changing its data.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Imagine 12 students in 1 row → rearrange into 3 rows of 4 students each.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Total count stays the same!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" y="3767328"/>
            <a:ext cx="2505456" cy="749808"/>
          </a:xfrm>
          <a:prstGeom prst="rect">
            <a:avLst/>
          </a:prstGeom>
          <a:solidFill>
            <a:srgbClr val="1B2A3F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0390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" y="378561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D60A"/>
                </a:solidFill>
              </a:rPr>
              <a:t>Rule: rows × cols must equal total elements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0" y="1143000"/>
            <a:ext cx="2651760" cy="3520440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0" y="1143000"/>
            <a:ext cx="2651760" cy="310896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73552" y="11612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.max() / .min()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273552" y="1517904"/>
            <a:ext cx="25054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Returns the highest / lowest value in the entire array.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Real-life: Find the top scorer and the lowest scorer in an exam.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Works on the full array or along rows/columns using axis.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73552" y="3767328"/>
            <a:ext cx="2505456" cy="749808"/>
          </a:xfrm>
          <a:prstGeom prst="rect">
            <a:avLst/>
          </a:prstGeom>
          <a:solidFill>
            <a:srgbClr val="1B2A3F"/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803904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29584" y="378561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D60A"/>
                </a:solidFill>
              </a:rPr>
              <a:t>axis=0 → column-wise  |  axis=1 → row-wise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035040" y="1143000"/>
            <a:ext cx="2651760" cy="3520440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35040" y="1143000"/>
            <a:ext cx="2651760" cy="310896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08192" y="11612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.argmax() / .argmin()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108192" y="1517904"/>
            <a:ext cx="25054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Returns the INDEX (position) of the max or min value — NOT the value itself.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Real-life: 'Which student position got the highest marks?'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Crucial for finding WHO or WHERE, not just WHAT.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108192" y="3767328"/>
            <a:ext cx="2505456" cy="749808"/>
          </a:xfrm>
          <a:prstGeom prst="rect">
            <a:avLst/>
          </a:prstGeom>
          <a:solidFill>
            <a:srgbClr val="1B2A3F"/>
          </a:solidFill>
          <a:ln w="12700">
            <a:solidFill>
              <a:srgbClr val="FFD60A">
                <a:alpha val="60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803904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64224" y="3785616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D60A"/>
                </a:solidFill>
              </a:rPr>
              <a:t>Position starts from 0 (zero-indexed)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3 · Common Mistakes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Students Make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38912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402336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43000"/>
            <a:ext cx="4023360" cy="310896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795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1197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Reshape with wrong size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6362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4944" y="1527048"/>
            <a:ext cx="36210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np.zeros(12).reshape(5,3) → ERROR!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Verify that rows×cols equals total elements. 5×3=15≠12, so this will crash.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663440" y="1143000"/>
            <a:ext cx="402336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663440" y="1143000"/>
            <a:ext cx="4023360" cy="310896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17957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47488" y="1197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Mixed types in array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56362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92624" y="1527048"/>
            <a:ext cx="36210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np.array([1, 2, 'hello']) → NumPy silently converts ALL values to strings. Your numbers become text!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65760" y="2926080"/>
            <a:ext cx="402336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365760" y="2926080"/>
            <a:ext cx="4023360" cy="310896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2962656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49808" y="29809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argmax vs max confusion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346704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4944" y="3310128"/>
            <a:ext cx="36210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arr.max() gives the VALUE e.g. 95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arr.argmax() gives the POSITION e.g. index 2.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Don't mix them up — they answer different questions.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4663440" y="2926080"/>
            <a:ext cx="4023360" cy="1572768"/>
          </a:xfrm>
          <a:prstGeom prst="rect">
            <a:avLst/>
          </a:prstGeom>
          <a:solidFill>
            <a:srgbClr val="16223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4663440" y="2926080"/>
            <a:ext cx="4023360" cy="310896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2962656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47488" y="29809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shape vs size confusion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592" y="3346704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992624" y="3310128"/>
            <a:ext cx="36210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shape → tuple (3,4) tells the structure.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size → single number 12 tells total count.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8EF"/>
                </a:solidFill>
              </a:rPr>
              <a:t>They answer different questions.</a:t>
            </a:r>
            <a:endParaRPr lang="en-US" sz="1050" dirty="0"/>
          </a:p>
        </p:txBody>
      </p:sp>
      <p:sp>
        <p:nvSpPr>
          <p:cNvPr id="31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731520"/>
            <a:ext cx="5486400" cy="5486400"/>
          </a:xfrm>
          <a:prstGeom prst="ellipse">
            <a:avLst/>
          </a:prstGeom>
          <a:solidFill>
            <a:srgbClr val="0077B6">
              <a:alpha val="16000"/>
            </a:srgbClr>
          </a:solidFill>
          <a:ln w="12700">
            <a:solidFill>
              <a:srgbClr val="0077B6">
                <a:alpha val="1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18872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D6"/>
                </a:solidFill>
              </a:rPr>
              <a:t>Hour 4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Arrays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3591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</a:rPr>
              <a:t>Copying  ·  Append &amp; Insert  ·  Sorting  ·  Deleting  ·  Combining  ·  Splitting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7274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R.A : Muhammad Huzifa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4 · Operations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Arrays — copy() vs view()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38912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97280"/>
            <a:ext cx="4023360" cy="329184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155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1133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.copy() — Deep Copy (Safe)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5488" y="1499616"/>
            <a:ext cx="380390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Creates a completely independent duplicate of the original array.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If you change the copy → the original is NOT affected.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Real-life analogy: Like photocopying a document. You can write on the photocopy without touching the original paper.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When to use: Whenever you want to experiment with data without risking the original values.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16223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097280"/>
            <a:ext cx="4023360" cy="329184"/>
          </a:xfrm>
          <a:prstGeom prst="rect">
            <a:avLst/>
          </a:prstGeom>
          <a:solidFill>
            <a:srgbClr val="EF476F">
              <a:alpha val="85000"/>
            </a:srgbClr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11556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38928" y="1133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.view() — Shallow Copy (Linked)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864608" y="1499616"/>
            <a:ext cx="380390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Creates a reference (window) into the SAME data — not a new copy.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If you change the view → the ORIGINAL changes too!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Real-life analogy: Looking at the original document through a glass window. If someone edits the paper, you see the change.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When to use: When you need a slice of data and intentionally want changes to reflect back.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4 · Operations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Elements — append() and insert()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38912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97280"/>
            <a:ext cx="4023360" cy="3520440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113385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np.append() — Add to the End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444752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Adds one or more elements at the END of an array.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Important: NumPy append does NOT modify the original — it returns a NEW array.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Real-life: A teacher adding a new student's marks at the end of the class list.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Note: The result is always flattened to 1D unless you specify an axis parameter.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4023360" cy="352044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97280"/>
            <a:ext cx="4023360" cy="292608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28032" y="113385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np.insert() — Add at Specific Position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1444752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Inserts an element at a SPECIFIC position (index) that you choose.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Syntax: np.insert(array, index, value)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Real-life: Adding a late-registered student's name at position 3 in a sorted class list.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Index 0 = first position.  Index 2 = third position from start.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8EF"/>
                </a:solidFill>
              </a:rPr>
              <a:t>Like append(), it returns a NEW array — does not change the original.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solidFill>
            <a:srgbClr val="1B2A3F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00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60A"/>
                </a:solidFill>
              </a:rPr>
              <a:t>⚠️  Key Difference: append() always adds at END.  insert() lets you choose EXACTLY WHERE to add.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4 · Operations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Removing Elements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457200"/>
            <a:ext cx="292608" cy="29260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57200"/>
            <a:ext cx="292608" cy="292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1097280"/>
            <a:ext cx="4023360" cy="3611880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1097280"/>
            <a:ext cx="4023360" cy="32918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1556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1133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np.sort() — Sorting Arrays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75488" y="1499616"/>
            <a:ext cx="380390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Returns a SORTED COPY of the array — original stays unchanged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Default order: ascending (smallest → largest)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For descending order: sort then reverse with [::-1]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Works on 2D arrays too — sort per row or per column using axis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Real-life: Sorting student scores from lowest to highest to create rankings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754880" y="1097280"/>
            <a:ext cx="4023360" cy="3611880"/>
          </a:xfrm>
          <a:prstGeom prst="rect">
            <a:avLst/>
          </a:prstGeom>
          <a:solidFill>
            <a:srgbClr val="16223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754880" y="1097280"/>
            <a:ext cx="4023360" cy="329184"/>
          </a:xfrm>
          <a:prstGeom prst="rect">
            <a:avLst/>
          </a:prstGeom>
          <a:solidFill>
            <a:srgbClr val="EF476F">
              <a:alpha val="85000"/>
            </a:srgbClr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11556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38928" y="1133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np.delete() — Removing Elements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864608" y="1499616"/>
            <a:ext cx="380390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Removes element(s) at a given index or set of indices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Syntax: np.delete(array, index)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Does NOT modify the original — returns a NEW array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Delete multiple at once: np.delete(arr, [0, 2])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Real-life: Remove an absent student's score before calculating class average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 4 · Operations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&amp; Splitting Arrays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457200"/>
            <a:ext cx="292608" cy="29260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57200"/>
            <a:ext cx="292608" cy="292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1097280"/>
            <a:ext cx="402336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1097280"/>
            <a:ext cx="4023360" cy="329184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1556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1133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Combining — concatenate &amp; stack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57200" y="1499616"/>
            <a:ext cx="3840480" cy="877824"/>
          </a:xfrm>
          <a:prstGeom prst="rect">
            <a:avLst/>
          </a:prstGeom>
          <a:solidFill>
            <a:srgbClr val="1B2A3F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864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np.concatenate()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48640" y="17739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Joins two or more arrays end-to-end.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Real-life: Merge marks of Class A and Class B into one list.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2542032"/>
            <a:ext cx="3840480" cy="877824"/>
          </a:xfrm>
          <a:prstGeom prst="rect">
            <a:avLst/>
          </a:prstGeom>
          <a:solidFill>
            <a:srgbClr val="1B2A3F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4864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np.vstack()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48640" y="28163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Stacks arrays vertically (adds rows).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Real-life: Adding a new student's row beneath existing rows in a table.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3584448"/>
            <a:ext cx="3840480" cy="877824"/>
          </a:xfrm>
          <a:prstGeom prst="rect">
            <a:avLst/>
          </a:prstGeom>
          <a:solidFill>
            <a:srgbClr val="1B2A3F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48640" y="36210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np.hstack()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38587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Stacks arrays horizontally (adds columns).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Real-life: Adding a new subject column to an existing marks table.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1097280"/>
            <a:ext cx="402336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1097280"/>
            <a:ext cx="4023360" cy="329184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115568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38928" y="1133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Splitting — split &amp; array_split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846320" y="1499616"/>
            <a:ext cx="3840480" cy="877824"/>
          </a:xfrm>
          <a:prstGeom prst="rect">
            <a:avLst/>
          </a:prstGeom>
          <a:solidFill>
            <a:srgbClr val="1B2A3F"/>
          </a:solidFill>
          <a:ln w="12700">
            <a:solidFill>
              <a:srgbClr val="FFD60A">
                <a:alpha val="5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93776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np.split()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937760" y="17739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Splits into EQUAL parts — raises error if unequal.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Real-life: Divide 12 students into 3 equal groups of 4.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846320" y="2542032"/>
            <a:ext cx="3840480" cy="877824"/>
          </a:xfrm>
          <a:prstGeom prst="rect">
            <a:avLst/>
          </a:prstGeom>
          <a:solidFill>
            <a:srgbClr val="1B2A3F"/>
          </a:solidFill>
          <a:ln w="12700">
            <a:solidFill>
              <a:srgbClr val="FFD60A">
                <a:alpha val="5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93776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np.array_split()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937760" y="28163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Splits into parts — allows UNEQUAL sizes, no error.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Real-life: Divide 10 students into 3 groups (4, 3, 3).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846320" y="3584448"/>
            <a:ext cx="3840480" cy="877824"/>
          </a:xfrm>
          <a:prstGeom prst="rect">
            <a:avLst/>
          </a:prstGeom>
          <a:solidFill>
            <a:srgbClr val="1B2A3F"/>
          </a:solidFill>
          <a:ln w="12700">
            <a:solidFill>
              <a:srgbClr val="FFD60A">
                <a:alpha val="50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937760" y="36210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np.hsplit() / vsplit()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937760" y="38587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Splits horizontally (columns) or vertically (rows).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8EF"/>
                </a:solidFill>
              </a:rPr>
              <a:t>Real-life: Split a grade table by subjects or by student groups.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Logical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Think When Working with NumPy Arrays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618488"/>
            <a:ext cx="7955280" cy="36576"/>
          </a:xfrm>
          <a:prstGeom prst="rect">
            <a:avLst/>
          </a:prstGeom>
          <a:solidFill>
            <a:srgbClr val="90CAD6">
              <a:alpha val="40000"/>
            </a:srgbClr>
          </a:solidFill>
          <a:ln w="12700">
            <a:solidFill>
              <a:srgbClr val="90CAD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43560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1325880" cy="2633472"/>
          </a:xfrm>
          <a:prstGeom prst="rect">
            <a:avLst/>
          </a:prstGeom>
          <a:solidFill>
            <a:srgbClr val="1622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9751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Create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12344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Start by creating your array — from a list, built-in, or random values. Ask: What data do I have?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84832" y="1435608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83080" y="1920240"/>
            <a:ext cx="1325880" cy="2633472"/>
          </a:xfrm>
          <a:prstGeom prst="rect">
            <a:avLst/>
          </a:prstGeom>
          <a:solidFill>
            <a:srgbClr val="16223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0" y="19751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Inspect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2286000"/>
            <a:ext cx="12344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Check shape, dtype, size, ndim first. Understand the structure before doing anything.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02152" y="1435608"/>
            <a:ext cx="347472" cy="347472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1920240"/>
            <a:ext cx="1325880" cy="2633472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19751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A"/>
                </a:solidFill>
              </a:rPr>
              <a:t>Transform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286000"/>
            <a:ext cx="12344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Use reshape() if needed. Change shape to what your problem requires (1D → 2D).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19472" y="1435608"/>
            <a:ext cx="347472" cy="347472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1920240"/>
            <a:ext cx="1325880" cy="2633472"/>
          </a:xfrm>
          <a:prstGeom prst="rect">
            <a:avLst/>
          </a:prstGeom>
          <a:solidFill>
            <a:srgbClr val="162232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19751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Operate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2286000"/>
            <a:ext cx="12344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Sort, copy, append, delete as needed. Most NumPy ops return a NEW array.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36792" y="1435608"/>
            <a:ext cx="347472" cy="34747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35040" y="1920240"/>
            <a:ext cx="1325880" cy="2633472"/>
          </a:xfrm>
          <a:prstGeom prst="rect">
            <a:avLst/>
          </a:prstGeom>
          <a:solidFill>
            <a:srgbClr val="16223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80760" y="19751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</a:rPr>
              <a:t>Combine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2286000"/>
            <a:ext cx="12344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Join multiple arrays together OR split one large array into smaller parts.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54112" y="1435608"/>
            <a:ext cx="347472" cy="347472"/>
          </a:xfrm>
          <a:prstGeom prst="ellipse">
            <a:avLst/>
          </a:prstGeom>
          <a:solidFill>
            <a:srgbClr val="90CAD6"/>
          </a:solidFill>
          <a:ln w="12700">
            <a:solidFill>
              <a:srgbClr val="90CA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4112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52360" y="1920240"/>
            <a:ext cx="1325880" cy="2633472"/>
          </a:xfrm>
          <a:prstGeom prst="rect">
            <a:avLst/>
          </a:prstGeom>
          <a:solidFill>
            <a:srgbClr val="162232"/>
          </a:solidFill>
          <a:ln w="12700">
            <a:solidFill>
              <a:srgbClr val="90CA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0" y="19751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CAD6"/>
                </a:solidFill>
              </a:rPr>
              <a:t>Analyze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2286000"/>
            <a:ext cx="12344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E8EF"/>
                </a:solidFill>
              </a:rPr>
              <a:t>Use max, min, argmax, argmin to extract insights and find key positions.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94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Practical Thinking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Think While Solving NumPy Problems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38912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2651760" cy="3547872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43000"/>
            <a:ext cx="2651760" cy="329184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you write code, ask: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" y="1554480"/>
            <a:ext cx="24505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What shape is my data? (1D list? 2D table?)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What operation do I need? (sorting? filtering? finding max?)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Will I need the original later? → Always use copy() to be safe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51760" cy="3547872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43000"/>
            <a:ext cx="2651760" cy="329184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While working with methods: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10128" y="1554480"/>
            <a:ext cx="24505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Check .shape BEFORE reshape — total count must match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Use .dtype to know if values are ints or floats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argmax gives position, max gives value — decide which you need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143000"/>
            <a:ext cx="2651760" cy="3547872"/>
          </a:xfrm>
          <a:prstGeom prst="rect">
            <a:avLst/>
          </a:prstGeom>
          <a:solidFill>
            <a:srgbClr val="162232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1143000"/>
            <a:ext cx="2651760" cy="329184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When combining or splitting: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44768" y="1554480"/>
            <a:ext cx="24505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Use concatenate for flat joining, vstack/hstack for 2D tables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Use array_split instead of split to avoid errors on uneven sizes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E0E8EF"/>
                </a:solidFill>
              </a:rPr>
              <a:t>Always print .shape after combine/split to verify the result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9262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0" y="499262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CAD6"/>
                </a:solidFill>
              </a:rPr>
              <a:t>Introduction to NumPy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310896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03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Hour 1 · NumPy Basics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188720"/>
            <a:ext cx="3986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NumPy = fast, efficient numerical computing in Python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ndarray is the core object — grid of same-type values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50× faster than Python lists for math operations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20624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206240" cy="310896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503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Hours 2-3 · Creating Arrays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188720"/>
            <a:ext cx="3986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From lists: np.array() — 1D and 2D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Built-in: zeros, ones, arange, linspace, eye, full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Random: rand, randint, randn, seed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420624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24912"/>
            <a:ext cx="4206240" cy="310896"/>
          </a:xfrm>
          <a:prstGeom prst="rect">
            <a:avLst/>
          </a:prstGeom>
          <a:solidFill>
            <a:srgbClr val="FFD60A">
              <a:alpha val="8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70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Hour 3 · Attributes &amp; Methods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3108960"/>
            <a:ext cx="3986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Inspect: shape, dtype, size, ndim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Transform: reshape() — rows×cols must equal total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Analyze: max, min, argmax, argmin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724912"/>
            <a:ext cx="420624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24912"/>
            <a:ext cx="4206240" cy="310896"/>
          </a:xfrm>
          <a:prstGeom prst="rect">
            <a:avLst/>
          </a:prstGeom>
          <a:solidFill>
            <a:srgbClr val="EF476F">
              <a:alpha val="85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70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Hour 4 · Operations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3108960"/>
            <a:ext cx="3986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Copy carefully: copy() vs view()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Add: append (end) | insert (any position)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0E8EF"/>
                </a:solidFill>
              </a:rPr>
              <a:t>Sort, delete, concatenate, stack, split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634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D60A"/>
                </a:solidFill>
              </a:rPr>
              <a:t>💡  NumPy is the foundation of all Data Science in Python — master it and everything else becomes easier!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5029200"/>
            <a:ext cx="8321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D6"/>
                </a:solidFill>
              </a:rPr>
              <a:t>R.A : Muhammad Huzifa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NumPy</dc:title>
  <dc:subject>PptxGenJS Presentation</dc:subject>
  <dc:creator>Muhammad Huzifa</dc:creator>
  <cp:lastModifiedBy>Muhammad Huzifa</cp:lastModifiedBy>
  <cp:revision>1</cp:revision>
  <dcterms:created xsi:type="dcterms:W3CDTF">2026-03-10T18:58:59Z</dcterms:created>
  <dcterms:modified xsi:type="dcterms:W3CDTF">2026-03-10T18:58:59Z</dcterms:modified>
</cp:coreProperties>
</file>