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94360"/>
            <a:ext cx="1005840" cy="10058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594360"/>
            <a:ext cx="1005840" cy="10058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594360"/>
            <a:ext cx="1005840" cy="10058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1480" y="1783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800" kern="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11480" y="228600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NumPy: Data Loading &amp; Saving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· Broadcasting · Type Casting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· Universal Functions</a:t>
            </a:r>
            <a:endParaRPr lang="en-US" sz="2800" dirty="0"/>
          </a:p>
        </p:txBody>
      </p:sp>
      <p:sp>
        <p:nvSpPr>
          <p:cNvPr id="9" name="Shape 4"/>
          <p:cNvSpPr/>
          <p:nvPr/>
        </p:nvSpPr>
        <p:spPr>
          <a:xfrm>
            <a:off x="411480" y="3749040"/>
            <a:ext cx="3200400" cy="54864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0" name="Text 5"/>
          <p:cNvSpPr/>
          <p:nvPr/>
        </p:nvSpPr>
        <p:spPr>
          <a:xfrm>
            <a:off x="41148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1–4  |  Basic → Intermediate Level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114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Will We Learn Today?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for Day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" y="960120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960120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08813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10881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 &amp; Saving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" y="15270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 arrays from/to files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82112" y="960120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82112" y="960120"/>
            <a:ext cx="2743200" cy="54864"/>
          </a:xfrm>
          <a:prstGeom prst="rect">
            <a:avLst/>
          </a:prstGeom>
          <a:solidFill>
            <a:srgbClr val="FFBF6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881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12464" y="10881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&amp; Selection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15270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rows, columns and logical slices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63056" y="960120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960120"/>
            <a:ext cx="2743200" cy="54864"/>
          </a:xfrm>
          <a:prstGeom prst="rect">
            <a:avLst/>
          </a:prstGeom>
          <a:solidFill>
            <a:srgbClr val="2DC65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88136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93408" y="1088136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272784" y="1527048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arrays of different shapes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01168" y="2862072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1168" y="2862072"/>
            <a:ext cx="27432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299008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" y="299008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Casting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310896" y="34290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types safely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182112" y="2862072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182112" y="2862072"/>
            <a:ext cx="2743200" cy="54864"/>
          </a:xfrm>
          <a:prstGeom prst="rect">
            <a:avLst/>
          </a:prstGeom>
          <a:solidFill>
            <a:srgbClr val="FFBF6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90088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712464" y="299008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Operations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3291840" y="34290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subtract, multiply, divide, power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63056" y="2862072"/>
            <a:ext cx="2743200" cy="166420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63056" y="2862072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990088"/>
            <a:ext cx="347472" cy="34747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693408" y="299008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Functions (ufuncs)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6272784" y="3429000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sqrt, exp, sin, max and more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NumPy? — The Power Behind Python's Data Science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NumPy Important?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 are slow for math. NumPy is up to 50× faster.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backbone of pandas, scikit-learn, TensorFlow &amp; more.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hospitals, banks, weather labs, AI companies — everywhere.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scientist who skips NumPy is like a chef who can't chop vegetables.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You See It Daily?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14800" cy="69494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3168" y="1069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Photo Filters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 is a number in a 2D array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47088"/>
            <a:ext cx="4114800" cy="69494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1892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Stock Prices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185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prices processed in milliseconds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670048"/>
            <a:ext cx="4114800" cy="69494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Weather Apps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grids are 2D NumPy arrays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493008"/>
            <a:ext cx="4114800" cy="69494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🎵 Audio Files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3831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a 1D array of numbers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520440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3232" y="3520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NumPy arrays store data in a fixed grid — just like a spreadsheet — but 100× faster.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1–2 · Data Loading &amp; Saving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arrays from disk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85800"/>
            <a:ext cx="457200" cy="457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1261872"/>
            <a:ext cx="3931920" cy="340156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274320" y="1261872"/>
            <a:ext cx="39319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7"/>
          <p:cNvSpPr/>
          <p:nvPr/>
        </p:nvSpPr>
        <p:spPr>
          <a:xfrm>
            <a:off x="402336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Data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02336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means reading saved data FROM a file INTO your program.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opening a saved Excel file — data comes back exactly as you left it.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np.load()   — loads .npy (NumPy binary) 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np.loadtxt() — loads plain text / CSV files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np.genfromtxt() — handles missing values smartly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261872"/>
            <a:ext cx="4114800" cy="340156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261872"/>
            <a:ext cx="4114800" cy="54864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5" name="Text 11"/>
          <p:cNvSpPr/>
          <p:nvPr/>
        </p:nvSpPr>
        <p:spPr>
          <a:xfrm>
            <a:off x="4791456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 Data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791456" y="169164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means writing your array TO a file so you can use it later.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pressing Ctrl+S in Word — your work is not lost.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np.save()     — saves one array as .npy binary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np.savez()    — saves multiple arrays in one .npz 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np.savetxt() — saves array as human-readable .txt or .csv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&amp; Saving — How to Think About It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for beginners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1920240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19202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86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Create Array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2529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or receive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NumPy array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58568" y="1280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98B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804672"/>
            <a:ext cx="1920240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04672"/>
            <a:ext cx="1920240" cy="54864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886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Save to Disk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22529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np.save() writes it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.npy file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07408" y="1280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9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804672"/>
            <a:ext cx="1920240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804672"/>
            <a:ext cx="1920240" cy="54864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886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File on Disk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22529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safely stored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Python closes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56248" y="128016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98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766560" y="804672"/>
            <a:ext cx="1920240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804672"/>
            <a:ext cx="19202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886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Load Later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1225296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np.load() reads it 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as it was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432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 to Avoid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487168"/>
            <a:ext cx="292608" cy="29260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74320" y="2834640"/>
            <a:ext cx="8577072" cy="5303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2834640"/>
            <a:ext cx="54864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7"/>
          <p:cNvSpPr/>
          <p:nvPr/>
        </p:nvSpPr>
        <p:spPr>
          <a:xfrm>
            <a:off x="420624" y="28895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Wrong file extension: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017520" y="288950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np.save() ONLY works with .npy — don't write .txt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" y="3456432"/>
            <a:ext cx="8577072" cy="5303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456432"/>
            <a:ext cx="54864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1"/>
          <p:cNvSpPr/>
          <p:nvPr/>
        </p:nvSpPr>
        <p:spPr>
          <a:xfrm>
            <a:off x="420624" y="35112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Forgetting allow_pickle: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017520" y="3511296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arrays need allow_pickle=True when loading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4078224"/>
            <a:ext cx="8577072" cy="5303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74320" y="4078224"/>
            <a:ext cx="54864" cy="5303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5"/>
          <p:cNvSpPr/>
          <p:nvPr/>
        </p:nvSpPr>
        <p:spPr>
          <a:xfrm>
            <a:off x="420624" y="4133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File path confusion: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017520" y="413308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your working directory — wrong path = FileNotFoundError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 Indexing &amp; Selection — Concept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elements with precision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Indexing?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means selecting specific elements, rows, or columns from an array.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2D array as an Excel sheet — rows go down, columns go across. You pick a cell by its row number and column number.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17320" y="1463040"/>
            <a:ext cx="777240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4630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 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463040"/>
            <a:ext cx="777240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4630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463040"/>
            <a:ext cx="777240" cy="3474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14630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874520"/>
            <a:ext cx="749808" cy="5669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8745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441448"/>
            <a:ext cx="749808" cy="5669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414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008376"/>
            <a:ext cx="749808" cy="56692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0837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17320" y="1874520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17320" y="18745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94560" y="1874520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94560" y="18745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971800" y="1874520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71800" y="18745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17320" y="2441448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417320" y="2441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94560" y="2441448"/>
            <a:ext cx="777240" cy="56692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94560" y="2441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71800" y="2441448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71800" y="2441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417320" y="3008376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17320" y="30083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194560" y="3008376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194560" y="30083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971800" y="3008376"/>
            <a:ext cx="777240" cy="56692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71800" y="300837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3685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arr[1][1] or arr[1, 1] = 50  ← row 1, column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6052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Indexing Works — Step by Step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60520" y="2157984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starts at 0, not 1  (like house addresses starting at 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arr[row, col] — first row, then column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arr[0]        — selects the entire first row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arr[:, 1]     — selects the entire second column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arr[1:3, 0:2] — slicing a sub-section (like a sub-table)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a 2D Array — Deep Dive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rows, columns and sub-arrays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713232"/>
            <a:ext cx="4206240" cy="175564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64008" cy="17556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Element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" y="1133856"/>
            <a:ext cx="382219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133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arr[2, 1]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" y="1627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ONE value — row 2, col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713232"/>
            <a:ext cx="4206240" cy="175564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713232"/>
            <a:ext cx="64008" cy="1755648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804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28032" y="1133856"/>
            <a:ext cx="382219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1133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62763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all values in row 0 as a 1D array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679192"/>
            <a:ext cx="4206240" cy="175564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79192"/>
            <a:ext cx="64008" cy="175564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" y="2770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Column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" y="3099816"/>
            <a:ext cx="382219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arr[:, 2]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" y="35935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all values in column 2 (: = all rows)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679192"/>
            <a:ext cx="4206240" cy="1755648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679192"/>
            <a:ext cx="64008" cy="17556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770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Sub-Array Slice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28032" y="3099816"/>
            <a:ext cx="3822192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4882896" y="30998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arr[0:2, 1:3]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359359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2×2 block from rows 0–1, cols 1–2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608576"/>
            <a:ext cx="8686800" cy="32918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4636008"/>
            <a:ext cx="256032" cy="25603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21792" y="462686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B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Life: Imagine a cinema seating chart. arr[3, 5] = the seat in row 3, seat 5. arr[3] = the entire row 3.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 Selection (Boolean Indexing)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arrays by condition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Logical Selection?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77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picking by position, you pick by CONDITION.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asking: "Give me all students who scored above 50" — NumPy does this instantly on any sized array.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737360"/>
            <a:ext cx="1993392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37360"/>
            <a:ext cx="1993392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" y="1828800"/>
            <a:ext cx="347472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with array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249424"/>
            <a:ext cx="1810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= [10, 45, 70, 25, 90]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67712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14016" y="1737360"/>
            <a:ext cx="1993392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14016" y="1737360"/>
            <a:ext cx="1993392" cy="54864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8" name="Shape 16"/>
          <p:cNvSpPr/>
          <p:nvPr/>
        </p:nvSpPr>
        <p:spPr>
          <a:xfrm>
            <a:off x="2487168" y="1828800"/>
            <a:ext cx="347472" cy="347472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9" name="Text 17"/>
          <p:cNvSpPr/>
          <p:nvPr/>
        </p:nvSpPr>
        <p:spPr>
          <a:xfrm>
            <a:off x="248716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07792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condition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05456" y="2249424"/>
            <a:ext cx="1810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&gt; 50  →  [F, F, T, F, T]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25696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1737360"/>
            <a:ext cx="1993392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737360"/>
            <a:ext cx="1993392" cy="54864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1828800"/>
            <a:ext cx="347472" cy="34747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65776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mask created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2249424"/>
            <a:ext cx="1810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marks True/False per element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83680" y="233172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98B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29984" y="1737360"/>
            <a:ext cx="1993392" cy="141732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9984" y="1737360"/>
            <a:ext cx="1993392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2" name="Shape 30"/>
          <p:cNvSpPr/>
          <p:nvPr/>
        </p:nvSpPr>
        <p:spPr>
          <a:xfrm>
            <a:off x="6803136" y="1828800"/>
            <a:ext cx="347472" cy="34747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18653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mask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21424" y="2249424"/>
            <a:ext cx="18105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arr[arr &gt; 50]  →  [70, 90]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3346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3657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 temperatures above 35°C from a weather dataset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exam scores below 40 to find students who need help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all positive numbers from a financial data array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63440" y="3657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single = instead of == for comparison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that the result is a new array, not a 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arrays of different shapes — shapes must match!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— NumPy's Smart Math Engine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on arrays of different shapes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Broadcasting?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77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allows NumPy to perform math between arrays of different shapes — without you writing loops.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automatically 'stretches' the smaller array to match the bigger one.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1: Array + Scalar (Single Number)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594360" cy="47548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048256"/>
            <a:ext cx="594360" cy="47548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2048256"/>
            <a:ext cx="594360" cy="47548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2048256"/>
            <a:ext cx="594360" cy="47548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0482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+  10  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2048256"/>
            <a:ext cx="594360" cy="47548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048256"/>
            <a:ext cx="594360" cy="47548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77840" y="2048256"/>
            <a:ext cx="594360" cy="47548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2048256"/>
            <a:ext cx="594360" cy="475488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204825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20482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is 'broadcast' to each element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743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2: 2D Array + 1D Array (Row-wise Broadcast)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072384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" y="3072384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536192" y="3072384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34" name="Text 32"/>
          <p:cNvSpPr/>
          <p:nvPr/>
        </p:nvSpPr>
        <p:spPr>
          <a:xfrm>
            <a:off x="1536192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3584448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05256" y="3584448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536192" y="3584448"/>
            <a:ext cx="594360" cy="475488"/>
          </a:xfrm>
          <a:prstGeom prst="rect">
            <a:avLst/>
          </a:prstGeom>
          <a:solidFill>
            <a:srgbClr val="1E3348"/>
          </a:solidFill>
          <a:ln/>
        </p:spPr>
      </p:sp>
      <p:sp>
        <p:nvSpPr>
          <p:cNvPr id="40" name="Text 38"/>
          <p:cNvSpPr/>
          <p:nvPr/>
        </p:nvSpPr>
        <p:spPr>
          <a:xfrm>
            <a:off x="1536192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194560" y="33467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578608" y="3291840"/>
            <a:ext cx="594360" cy="475488"/>
          </a:xfrm>
          <a:prstGeom prst="rect">
            <a:avLst/>
          </a:prstGeom>
          <a:solidFill>
            <a:srgbClr val="132336"/>
          </a:solidFill>
          <a:ln/>
        </p:spPr>
      </p:sp>
      <p:sp>
        <p:nvSpPr>
          <p:cNvPr id="43" name="Text 41"/>
          <p:cNvSpPr/>
          <p:nvPr/>
        </p:nvSpPr>
        <p:spPr>
          <a:xfrm>
            <a:off x="2578608" y="329184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9544" y="3291840"/>
            <a:ext cx="594360" cy="475488"/>
          </a:xfrm>
          <a:prstGeom prst="rect">
            <a:avLst/>
          </a:prstGeom>
          <a:solidFill>
            <a:srgbClr val="132336"/>
          </a:solidFill>
          <a:ln/>
        </p:spPr>
      </p:sp>
      <p:sp>
        <p:nvSpPr>
          <p:cNvPr id="45" name="Text 43"/>
          <p:cNvSpPr/>
          <p:nvPr/>
        </p:nvSpPr>
        <p:spPr>
          <a:xfrm>
            <a:off x="3209544" y="329184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40480" y="3291840"/>
            <a:ext cx="594360" cy="475488"/>
          </a:xfrm>
          <a:prstGeom prst="rect">
            <a:avLst/>
          </a:prstGeom>
          <a:solidFill>
            <a:srgbClr val="132336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0" y="329184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63440" y="33467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074920" y="3072384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0" name="Text 48"/>
          <p:cNvSpPr/>
          <p:nvPr/>
        </p:nvSpPr>
        <p:spPr>
          <a:xfrm>
            <a:off x="5074920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05856" y="3072384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2" name="Text 50"/>
          <p:cNvSpPr/>
          <p:nvPr/>
        </p:nvSpPr>
        <p:spPr>
          <a:xfrm>
            <a:off x="5705856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336792" y="3072384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4" name="Text 52"/>
          <p:cNvSpPr/>
          <p:nvPr/>
        </p:nvSpPr>
        <p:spPr>
          <a:xfrm>
            <a:off x="6336792" y="307238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074920" y="3584448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6" name="Text 54"/>
          <p:cNvSpPr/>
          <p:nvPr/>
        </p:nvSpPr>
        <p:spPr>
          <a:xfrm>
            <a:off x="5074920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5705856" y="3584448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8" name="Text 56"/>
          <p:cNvSpPr/>
          <p:nvPr/>
        </p:nvSpPr>
        <p:spPr>
          <a:xfrm>
            <a:off x="5705856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336792" y="3584448"/>
            <a:ext cx="594360" cy="47548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0" name="Text 58"/>
          <p:cNvSpPr/>
          <p:nvPr/>
        </p:nvSpPr>
        <p:spPr>
          <a:xfrm>
            <a:off x="6336792" y="35844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040880" y="33924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row [10,20,30] is applied to EACH row of the 2D array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 — Rules &amp; Common Mistakes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works and when it doesn't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3 Broadcasting Rules (Simplified)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77072" cy="96926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64008" cy="9692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1335024"/>
            <a:ext cx="8394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shapes differ in number of dimensions, the smaller shape gets 1s added on the LEFT.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(3,) becomes (1,3).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8577072" cy="96926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03120"/>
            <a:ext cx="64008" cy="969264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1762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2432304"/>
            <a:ext cx="8394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compatible if their dimensions are equal OR one of them is exactly 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(3,4) and (3,1) are compatible.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8577072" cy="969264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00400"/>
            <a:ext cx="64008" cy="9692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3273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" y="3529584"/>
            <a:ext cx="8394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they're not compatible and neither is 1, NumPy throws an error.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(3,4) and (2,4) → ERROR.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8577072" cy="384048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38912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43616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When shapes don't match and you get a ValueError, check your array shapes with arr.shape before operating.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Hour 3–4 · Type Casting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data types in NumPy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Type Casting?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8577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means changing the data type of an array — for example from decimal numbers (float) to whole numbers (int), or vice versa.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converting inches to centimeters, you're changing the format of the data, not the data itself.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NumPy Data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139696"/>
            <a:ext cx="4114800" cy="54864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39696"/>
            <a:ext cx="54864" cy="5486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 / int64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1945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numbers: 1, 2, -5, 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4114800" cy="54864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79776"/>
            <a:ext cx="54864" cy="548640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2834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/ float64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834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numbers: 3.14, -0.5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114800" cy="54864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419856"/>
            <a:ext cx="54864" cy="54864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3474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059936"/>
            <a:ext cx="4114800" cy="548640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4059936"/>
            <a:ext cx="54864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 / unicode_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41148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strings (rare in NumPy)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792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Casting Works — Step by Step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2139696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NumPy array has a dtype (data type) property.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.astype() to convert to a different type.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→ int: decimal part is DROPPED (not rounded).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→ float: .0 is added automatically.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→ int: True becomes 1, False becomes 0.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08576"/>
            <a:ext cx="8577072" cy="329184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4654296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76656" y="46268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Casting float [3.9] to int gives [3], NOT [4]. It truncates, not rounds. Always be aware of data loss!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Operations in NumPy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math — simple and powerful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8577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does math on every element automatically — no loops needed!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676656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67665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161288"/>
            <a:ext cx="402336" cy="40233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1064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" y="1380744"/>
            <a:ext cx="3017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139903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 + [4,5,6]  = [5, 7, 9]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11795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daily steps from two fitness trackers together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1819656"/>
            <a:ext cx="8686800" cy="676656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1819656"/>
            <a:ext cx="64008" cy="676656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472" y="1929384"/>
            <a:ext cx="402336" cy="402336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Subtraction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2148840"/>
            <a:ext cx="3017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216712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[10,20,30] − [1,2,3]  = [9, 18, 27]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77640" y="19476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Subtracting expenses from income to get savings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587752"/>
            <a:ext cx="8686800" cy="676656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87752"/>
            <a:ext cx="64008" cy="67665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6" name="Shape 24"/>
          <p:cNvSpPr/>
          <p:nvPr/>
        </p:nvSpPr>
        <p:spPr>
          <a:xfrm>
            <a:off x="347472" y="2697480"/>
            <a:ext cx="402336" cy="40233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1248" y="2916936"/>
            <a:ext cx="3017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293522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[2,3,4] × [5,6,7]  = [10, 18, 28]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977640" y="271576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price × quantity for each product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355848"/>
            <a:ext cx="8686800" cy="676656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355848"/>
            <a:ext cx="64008" cy="67665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" y="3465576"/>
            <a:ext cx="402336" cy="40233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465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" y="3685032"/>
            <a:ext cx="3017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370332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[10,20,30] ÷ 2  = [5.0, 10.0, 15.0]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977640" y="348386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restaurant bill among friends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" y="4123944"/>
            <a:ext cx="8686800" cy="676656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4123944"/>
            <a:ext cx="64008" cy="6766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Shape 40"/>
          <p:cNvSpPr/>
          <p:nvPr/>
        </p:nvSpPr>
        <p:spPr>
          <a:xfrm>
            <a:off x="347472" y="4233672"/>
            <a:ext cx="402336" cy="4023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**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" y="4178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Exponentiation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1248" y="4453128"/>
            <a:ext cx="301752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" y="44714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[2,3,4] ** 2  = [4, 9, 16]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977640" y="42519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= side² — computing areas of multiple squares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— Practical Thinking &amp; Common Mistakes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approach math in NumPy correctly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Think While Solving Arithmetic Problems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8577072" cy="804672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1005840" cy="8046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424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10607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 both arrays the same shape?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40817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element-wise math. If no → broadcasting kicks 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8577072" cy="804672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38528"/>
            <a:ext cx="1005840" cy="8046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751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71600" y="19933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data type is each array?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34086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÷ int may give int. Always check dtype before dividing.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71216"/>
            <a:ext cx="8577072" cy="804672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71216"/>
            <a:ext cx="1005840" cy="80467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9077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71600" y="2926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result do I expect?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32735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through a small example manually before running.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Common Mistakes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22452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division: np.array([5])//2 = 2, not 2.5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mismatch: (3,) and (4,) cannot add → ValueError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 int8 max is 127; adding more wraps around silently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3895344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Habits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663440" y="422452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 arr.shape before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float arrays when precision matters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small array first, then scale up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Array Functions (ufuncs)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NumPy's built-in math superpowers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Universal Functions?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969264"/>
            <a:ext cx="8577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Functions (ufuncs) are ready-made mathematical functions that work on entire arrays at once.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a loop to apply math to each element, ufuncs do it instantly — and much faster.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69164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91640"/>
            <a:ext cx="6400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" y="1746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each element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" y="207568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0848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np.sqrt([4, 9, 16])  → [2, 3, 4]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" y="2368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of a square whose area you know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81728" y="169164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691640"/>
            <a:ext cx="64008" cy="987552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7465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0528" y="1746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raised to the power of each element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28032" y="207568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208483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np.exp([0, 1, 2])   → [1, 2.71, 7.38]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23682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growth: bacteria doubling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78892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788920"/>
            <a:ext cx="64008" cy="987552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np.sin()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0574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 of each element (in radians)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" y="317296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" y="318211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np.sin([0, π/2])    → [0.0, 1.0]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4904" y="3465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waves, circular motion patterns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278892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788920"/>
            <a:ext cx="64008" cy="9875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4828032" y="2843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np.log()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10528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logarithm of each element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17296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82896" y="318211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np.log([1, e, e²])  → [0, 1, 2]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3465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Richter earthquake scale is logarithmic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88620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886200"/>
            <a:ext cx="64008" cy="98755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374904" y="3941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np.max()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057400" y="3941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value in the whole array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4904" y="427024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" y="42793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np.max([3, 7, 2])   → 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4904" y="4562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temperature this week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81728" y="3886200"/>
            <a:ext cx="4206240" cy="987552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81728" y="3886200"/>
            <a:ext cx="64008" cy="987552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3941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np.abs()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510528" y="3941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 — removes negative sign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28032" y="4270248"/>
            <a:ext cx="3913632" cy="21945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4882896" y="4279392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np.abs([-3, 5, -1]) → [3, 5, 1]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4562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always positive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Functions — How to Think &amp; Use Them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mental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Day 4 — NumPy Deep Dive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Thinking Guide for ufuncs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8686800" cy="676656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475488" cy="67665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06070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1088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the operation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38988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square root? Log? Max? Pick the right ufunc.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8686800" cy="676656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10512"/>
            <a:ext cx="475488" cy="676656"/>
          </a:xfrm>
          <a:prstGeom prst="rect">
            <a:avLst/>
          </a:prstGeom>
          <a:solidFill>
            <a:srgbClr val="FFBF69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18470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the input array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176272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values valid? (sqrt of negative → NaN, log of 0 → -Inf)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596896"/>
            <a:ext cx="8686800" cy="676656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596896"/>
            <a:ext cx="475488" cy="67665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63347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4672" y="2660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to entire array at once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2962656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np.sqrt(arr) — no loop needed, works on all elements.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383280"/>
            <a:ext cx="8686800" cy="676656"/>
          </a:xfrm>
          <a:prstGeom prst="rect">
            <a:avLst/>
          </a:prstGeom>
          <a:solidFill>
            <a:srgbClr val="1E33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383280"/>
            <a:ext cx="475488" cy="67665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34198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the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749040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shape, dtype, and sample values match expectations.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Connection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5354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np.exp() is used inside the Sigmoid activation function in neural networks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np.log() is used in the cross-entropy loss function for classification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45354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np.sqrt(-1) returns nan silently — always check for negative inputs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np.log(0) returns -inf — add a small value (e.g. 1e-8) to avoid it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4 — Summary &amp; Key Takeaways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1168" y="62179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621792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731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7315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 &amp; Saving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92608" y="109728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np.load / np.save for .npy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np.loadtxt / np.savetxt for CSV/text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check file paths and dtypes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82112" y="62179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82112" y="621792"/>
            <a:ext cx="2743200" cy="54864"/>
          </a:xfrm>
          <a:prstGeom prst="rect">
            <a:avLst/>
          </a:prstGeom>
          <a:solidFill>
            <a:srgbClr val="FFBF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731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7315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Indexing &amp; Selection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273552" y="109728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arr[row, col] for element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arr[:, col] for full column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Boolean masks for logical filtering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63056" y="62179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621792"/>
            <a:ext cx="2743200" cy="54864"/>
          </a:xfrm>
          <a:prstGeom prst="rect">
            <a:avLst/>
          </a:prstGeom>
          <a:solidFill>
            <a:srgbClr val="2DC65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7315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0256" y="7315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254496" y="109728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NumPy stretches smaller arrays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Shapes must be compatible (equal or 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loops needed — automatic and fast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01168" y="263347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1168" y="2633472"/>
            <a:ext cx="27432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7432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" y="27432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Casting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292608" y="310896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.astype() to convert dtype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float → int TRUNCATES (no rounding)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.dtype before operations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82112" y="263347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82112" y="2633472"/>
            <a:ext cx="2743200" cy="54864"/>
          </a:xfrm>
          <a:prstGeom prst="rect">
            <a:avLst/>
          </a:prstGeom>
          <a:solidFill>
            <a:srgbClr val="FFBF6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74320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39312" y="27432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F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273552" y="310896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 −  ×  ÷  ** all work element-wise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Shapes must match or broadcast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out for int division precision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163056" y="2633472"/>
            <a:ext cx="2743200" cy="1828800"/>
          </a:xfrm>
          <a:prstGeom prst="rect">
            <a:avLst/>
          </a:prstGeom>
          <a:solidFill>
            <a:srgbClr val="13233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633472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74320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0256" y="274320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Functions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254496" y="3108960"/>
            <a:ext cx="25786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np.sqrt, np.exp, np.sin, np.log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np.max, np.min, np.abs, np.sum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in AI: sigmoid, cross-entropy loss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2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R.A : Muhammad Huzifa  |  Keep practising — NumPy is the foundation of everything in data science!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NumPy Deep Dive</dc:title>
  <dc:subject>PptxGenJS Presentation</dc:subject>
  <dc:creator>Muhammad Huzifa</dc:creator>
  <cp:lastModifiedBy>Muhammad Huzifa</cp:lastModifiedBy>
  <cp:revision>1</cp:revision>
  <dcterms:created xsi:type="dcterms:W3CDTF">2026-03-10T20:35:20Z</dcterms:created>
  <dcterms:modified xsi:type="dcterms:W3CDTF">2026-03-10T20:35:20Z</dcterms:modified>
</cp:coreProperties>
</file>