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deep-dive presentation on LeNet — the architecture that started the CNN revolution.
LeNet-5 was proposed by Yann LeCun, Léon Bottou, Yoshua Bengio, and Patrick Haffner in their landmark 1998 paper "Gradient-Based Learning Applied to Document Recognition."
Key context to set for the audience:
- In 1998, hand-crafted features (SIFT, HOG, edge detectors) were standard. The idea that a network could LEARN its own filters from raw pixels was radical.
- LeNet was deployed commercially by US banks to read handwritten ZIP codes and cheque amounts — one of the first real-world deep learning deployments.
- The architecture introduced three ideas that ALL modern CNNs still use: local receptive fields, weight sharing, and spatial subsampling.
This presentation covers every layer mathematically, every design decision theoretically, and traces the direct line from LeNet (1998) to modern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CONTEXT — key talking points:
THE PROBLEM BEFORE LENET:
In the 1990s, if you wanted a computer to recognise handwritten digits, you had to:
1. Hire a vision expert to hand-design features (edge detectors, moment descriptors, etc.)
2. Feed those features to a classifier (SVM, Naive Bayes)
3. Re-do the entire process for every new task
This was slow, expensive, brittle, and didn't generalise. LeCun's insight: let the network learn its own features from raw pixels using gradient descent.
WHY IMAGES ARE SPECIAL:
A 32×32 grayscale image has 1,024 pixels. If you feed this flat to a fully-connected net with 120 hidden units, that's 122,880 parameters — just for the first layer. Scale to 224×224 colour = 18 million parameters in the first layer alone. This doesn't scale.
THREE INDUCTIVE BIASES LENET INTRODUCED:
1. Local connectivity — neurons only look at a small patch (receptive field), not the whole image
2. Weight sharing — the same filter is applied across all positions (translation equivariance)
3. Subsampling — progressively reduce spatial resolution, increase depth
These three ideas are still the foundation of EVERY CNN today, including ResNet, EfficientNet, and Vision Transformers' patch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OVERVIEW — the story from left to right:
The information flows through 7 trainable layers. Let us trace what happens to the data:
INPUT: A 32×32 single-channel (grayscale) image. Note: MNIST digits are 28×28, so LeCun padded them to 32×32 to create "nice" arithmetic through the layers.
C1 (Convolutional): 6 independent filters of size 5×5 scan the image. Each filter learns to detect a different low-level feature (edges at different orientations, curves, etc.). Output: 6 feature maps of size 28×28 = 28×28×6.
S2 (Subsampling): Simple 2×2 average pooling. Each 2×2 patch is averaged and scaled. Halves spatial size: 14×14×6.
C3 (Convolutional): 16 filters of size 5×5. Crucially, NOT every C3 map is connected to all 6 S2 maps — this is LeCun's partial connectivity scheme to break symmetry and reduce parameters.
S4: Same as S2. Output: 5×5×16.
C5: 120 filters of size 5×5. Since S4 is 5×5, this is mathematically equivalent to a fully connected layer, but implemented as convolution. Output: 1×1×120 = 120 values.
F6: Standard fully connected layer, 84 neurons. The number 84 was chosen deliberately — it matches an ASCII 7×12 bitmap font representation, linking learned features to handwritten character shapes.
OUTPUT: 10 Euclidean Radial Basis Function (RBF) units, one per digit class.
TOTAL PARAMETERS: ~60,000 — tiny by modern standards! Modern ResNet-50 has 25 million. But this is 1998 — training on a CPU — 60K was very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CONVOLUTION OPERATION — explaining to beginners:
INTUITION FIRST:
Imagine you have a flashlight (the kernel) that you shine on one small patch of the image at a time. At each position, you do element-wise multiplication between the flashlight pattern and the pixel values underneath, then add them all up. The result is ONE number in the output feature map. Then you slide the flashlight one step and repeat.
THE MATHEMATICS:
(I * K)(i, j) = Σₘ Σₙ I(i+m, j+n) · K(m, n)
This is the dot product between the kernel and the image patch at position (i, j). For a 5×5 kernel: 25 multiplications and 24 additions per output position.
WHAT DOES A KERNEL LEARN?
- A kernel with alternating +1 and -1 horizontally → detects vertical edges
- A kernel with alternating values vertically → detects horizontal edges  
- Gaussian-like kernels → detect blobs or specific shapes
- In LeNet, ALL kernel values are LEARNED by backpropagation — not hand-designed
PARAMETER EFFICIENCY — why this is better than fully connected:
Full 32×32 → 28×28: would need 32×32 × 28×28 = 802,816 parameters.
One 5×5 Conv filter: only 25 + 1 bias = 26 parameters.
Same result because of WEIGHT SHARING (the same filter scans all positions).
OUTPUT SIZE FORMULA:
Output size = (Input size - Kernel size) / Stride + 1
= (32 - 5) / 1 + 1 = 28 ← this is exactly how 32→28 works in C1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 FIRST CONVOLUTIONAL LAYER — detailed explanation:
WHAT HAPPENS HERE:
Six independent 5×5 filters each scan the entire 32×32 input image by sliding one pixel at a time (stride=1). At each position, they compute a dot product with the 25 pixels underneath, add a bias, and apply an activation function (sigmoid in original LeNet, ReLU in modern practice).
OUTPUT SIZE DERIVATION:
Width_out = (Width_in - Kernel_Width) / Stride + 1
= (32 - 5) / 1 + 1 = 28
Height_out = same calculation = 28
Depth_out = 6 (number of filters)
∴ C1 output = 28 × 28 × 6
PARAMETER COUNT DERIVATION:
Each filter: 5 × 5 weights + 1 bias = 26 parameters
6 filters: 6 × 26 = 156 total parameters in C1
HOW MANY NEURONS (CONNECTIONS)?
Neurons = 6 × 28 × 28 = 4,704 neurons
Each connected to 5×5=25 inputs → 4,704 × 25 = 117,600 connections
BUT only 156 unique parameters (due to weight sharing)
WHAT DO THESE FILTERS LEARN?
After training, the 6 filters spontaneously specialise:
- Some learn horizontal gradient detectors (bright-dark transitions top-bottom)
- Some learn vertical gradient detectors
- Some learn diagonal edge detectors
- Some learn spot/blob detectors
These emerge from gradient descent — NOT from hand-engineering!
TRANSLATION EQUIVARIANCE:
Because the same filter scans all positions, if you move a digit slightly to the right, the corresponding feature map shifts right by the same amount. The features are preserved, just translated. This is fundamentally different from a fully connected network, which has no such symmetry.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 — SUBSAMPLING LAYER — detailed explanation:
WHY DO WE NEED POOLING?
After convolution, we have 6 feature maps of size 28×28. That's 4,704 values. If we continue applying more convolutions without reducing size, the number of parameters explodes and the network becomes overly sensitive to exact pixel positions.
Pooling solves two problems:
1. DIMENSIONALITY REDUCTION: 28×28 → 14×14 (factor of 4 in area)
2. TRANSLATION INVARIANCE: If a feature moves slightly within a 2×2 window, the pooled value barely changes. This makes the network robust to small shifts in input.
LENET'S ORIGINAL S2 VS MODERN MAX POOLING:
LeCun's original S2 used a trainable variant:
  Output(i,j) = weight × mean(2×2 patch) + bias
  Then applied sigmoid activation
Modern networks (AlexNet onwards) use:
  Output(i,j) = max(2×2 patch)  ← no trainable parameters, stronger activation
Why max pooling won:
- Selects the STRONGEST feature activation in the patch (more information-preserving)
- Zero parameters = faster to train
- Works better with ReLU (which is unbounded above zero)
PARAMETERS IN S2:
1 weight + 1 bias per feature map × 6 maps = 12 parameters
These 12 parameters just scale and shift the average — minimal contribution.
OUTPUT: 14 × 14 × 6  (each map halved in both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 PARTIAL CONNECTIVITY — this is the most intellectually interesting layer:
WHY PARTIAL CONNECTIVITY?
LeCun deliberately avoided connecting every C3 map to all 6 S2 maps. This seems counterintuitive — why leave information out?
REASON 1: BREAK SYMMETRY
If all 16 C3 maps saw the same 6 inputs, gradient descent might push all maps to learn the same features (the loss function treats them identically). By giving different maps different subsets of inputs, we force specialisation.
REASON 2: REDUCE PARAMETERS
Full connectivity: 16 × 6 × 5×5 + 16 = 2,416 parameters
Partial connectivity: 1,516 parameters (37% reduction)
REASON 3: ENCOURAGE COMPLEMENTARY FEATURES
Maps receiving 3 inputs: learn features from specific subsets of the input space
Maps receiving 4 inputs: learn cross-channel combinations
Map 15 (receives all 6): learns a global combination of all features
THE CONNECTION PATTERN (from LeCun's paper):
- C3 maps 0-5: connected to 3 consecutive S2 maps
- C3 maps 6-11: connected to 4 consecutive S2 maps  
- C3 maps 12-14: connected to 4 non-consecutive S2 maps
- C3 map 15: connected to all 6 S2 maps
NOTE ON MODERN PRACTICE:
Modern CNNs do NOT use partial connectivity. Instead they use:
1. Full connectivity within layers (same as connecting all inputs)
2. Grouped convolutions (e.g., in MobileNet) for parameter efficiency
3. Batch normalisation to prevent symmetry
The symmetry breaking problem LeCun solved manually is now handled implicitly by random initialisation + batch norm.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 → C5 → F6 — THE CLASSIFIER HEAD:
S4 IS SIMPLE:
Same as S2 — 2×2 average pool, stride 2. Takes 10×10×16 → 5×5×16.
Total output: 400 values. These 400 values represent all the spatial features the model has extracted.
C5 — THE INTERESTING CASE:
LeCun implemented C5 as a CONVOLUTION, not a fully connected layer, but the result is identical because the input to C5 is exactly 5×5 (same as the kernel size). Every C5 neuron sees the entire 5×5×16 input.
Why keep it as convolution?
If the input image were larger (say 64×64), C5 would still be a 5×5 conv and produce a larger output map (not 1×1). This allows the same architecture to be applied to larger inputs without re-design.
Parameter count: 120 filters × (5×5×16 weights + 1 bias) = 120 × 401 = 48,120
F6 — THE FAMOUS 84:
Why 84 neurons? This was a deliberate design choice by LeCun.
ASCII codes for printable characters use a 7-row × 12-column bitmap.
7 × 12 = 84 bits. Each F6 neuron was intended to correspond to one "bit" of character identity in this bitmap encoding.
This is a fascinating example of domain knowledge being encoded into architecture design — the network's representation was engineered to match the structure of the output space.
PARAMETER DOMINANCE:
C5 has 48,120 params + F6 has 10,164 = 58,284 total
The 13 convolutional kernels in C1+C3 only contribute 1,672 params
The fully connected layers dominate — same observation we made for VGG-16!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LAYER &amp; ACTIVATION FUNCTIONS — detailed explanation:
THE RBF OUTPUT LAYER:
yᵢ = Σⱼ (x_j − w_ij)²
This computes the squared Euclidean distance between the F6 output vector x and a fixed reference vector w_i for class i.
Lower distance = more confident the input belongs to class i.
Predicted class = argmin(y_i)
This is actually a distance metric classifier, not a standard softmax. The reference vectors w_i were initially set to ASCII bitmap patterns (hence the F6=84 design choice).
WHY RBF WAS REPLACED BY SOFTMAX:
1. Softmax + cross-entropy gives cleaner gradients
2. Softmax output is directly interpretable as probability
3. RBF targets had to be hand-crafted; softmax learns from data alone
4. Training stability is much better with cross-entropy loss
ACTIVATION FUNCTION DEEP DIVE:
SIGMOID:
- Maps any real number to (0,1)
- Looks like a smooth S-curve
- Critical problem: derivative = σ(x)(1-σ(x)) is max 0.25 at x=0
- For deep networks, multiplying these small gradients across layers → exponential decay → vanishing gradient
- Not zero-centred: always positive outputs → gradient updates all have same sign → zig-zag convergence
TANH:
- Zero-centred (outputs between -1 and 1)
- Better than sigmoid for convergence
- Still suffers from vanishing gradients
- Used in F6 in original LeNet because it provides stronger negative activations
ReLU (Rectified Linear Unit):
- f(x) = max(0, x) — the simplest possible non-linearity
- For x &gt; 0: gradient is always 1 → no vanishing gradient!
- For x ≤ 0: dead neuron problem, but mitigated by good initialisation
- Made AlexNet possible — without ReLU, training a 5-layer network on ImageNet in 2012 would have been intractable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 COUNT — complete mathematical derivation:
C1: 6 filters × (5×5 weights + 1 bias) = 6 × 26 = 156
S2: 6 maps × (1 multiplicative weight + 1 additive bias) = 12
These 12 parameters simply scale and shift the average — learned but minor.
C3: Mixed connectivity (see slide 7 for full derivation) = 1,516
S4: 16 maps × 2 = 32
C5: 120 filters × (5×5×16 + 1) = 120 × 401 = 48,120
This is the DOMINANT layer. Because S4 is 5×5 and C5 kernel is 5×5, every filter sees the complete input volume → fully connected behaviour.
F6: 84 neurons × (120 inputs + 1 bias) = 84 × 121 = 10,164
OUTPUT: 10 classes × 84 RBF weights = 840
TOTAL: 156 + 12 + 1516 + 32 + 48120 + 10164 + 840 = 60,840 ≈ 60K
PERSPECTIVE COMPARISON:
LeNet-5:   ~60K   parameters
AlexNet:   ~60M   parameters  (1,000× more)
VGG-16:    ~138M  parameters
ResNet-50: ~25M   parameters
GPT-3:     ~175B  parameters
Despite having only 60K parameters, LeNet achieved ~99.2% accuracy on MNIST — demonstrating that parameter count ≠ quality of architecture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SHARING — the most important concept in CNN theory:
THE FUNDAMENTAL ASSUMPTION:
Convolutional layers assume STATIONARITY — that a useful feature detector at one location is useful everywhere. A vertical edge detector trained on the left side of an image is equally useful on the right side.
This is true for natural images but may not be true for structured data (e.g., medical scans where anatomy has fixed positions).
PARAMETER EFFICIENCY — detailed calculation:
Fully connected 32×32 → 28×28:
  Parameters = 32² × 28² = 1,024 × 784 = 802,816
One 5×5 convolution doing the same job:
  Parameters = 5 × 5 + 1 = 26
Ratio: 802,816 / 26 = 30,877× fewer parameters
TRANSLATION EQUIVARIANCE (technical definition):
f(T(x)) = T(f(x))
where T is a translation operator.
In words: translating the input x and then convolving gives the same result as convolving first and then translating the output.
This is a MATHEMATICAL PROPERTY of convolution (not an approximation).
TRANSLATION INVARIANCE vs EQUIVARIANCE:
- Convolution is EQUIVARIANT: the feature map translates with the input
- Pooling is INVARIANT: the pooled value is roughly the same for small translations
Combined: a sequence of conv+pool layers gives approximate translation INVARIANCE across the final representation — exactly what classification needs. A '7' is a '7' regardless of whether it's top-left or bottom-right.
INDUCTIVE BIAS:
Weight sharing is an INDUCTIVE BIAS — a structural assumption about the problem baked into the architecture. Good inductive biases allow learning with less data. This is why LeNet learned MNIST with 60K parameters when a FC network would need millions.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BACKPROPAGATION THROUGH A CNN — the mechanics:
FORWARD PASS:
Standard: input → C1 → S2 → C3 → S4 → C5 → F6 → output.
Activations are stored at each layer (needed for backward pass).
BACKWARD PASS — what's different in CNNs vs FC networks:
1. GRADIENT THROUGH FULLY CONNECTED (F6, C5):
  ∂L/∂W = δ · aᵀ   (outer product of error and activation)
  ∂L/∂a = Wᵀ · δ   (backprop through weights)
  Same as standard backprop — no difference.
2. GRADIENT THROUGH AVERAGE POOLING (S2, S4):
  Forward: output = mean(patch)
  Backward: gradient is distributed equally to all inputs in the patch
  ∂L/∂xₖ = δᵢⱼ / 4  (for 2×2 pool)
  MAX POOLING (modern): gradient goes only to the max element (all others get 0)
3. GRADIENT THROUGH CONVOLUTION (C1, C3):
  Forward: output = input ⊛ kernel
  Backward w.r.t. KERNEL: ∂L/∂Kₘₙ = Σᵢ,ⱼ δᵢⱼ · Iᵢ₊ₘ,ⱼ₊ₙ
  This is a CROSS-CORRELATION of input with the error signal.
  Backward w.r.t. INPUT: ∂L/∂I = δ ⊛⊛ K (full convolution with flipped kernel)
  KEY INSIGHT: The backward pass through a conv layer IS also a convolution!
  This is why convolutions are so efficient — both forward and backward pass use the same hardware primitive.
WEIGHT SHARING IN BACKPROP:
Because all positions share the same kernel weights, gradients from ALL positions in the output map are SUMMED together before updating the kernel weights. This effectively averages the gradient signal across all spatial locations, giving a much more stable gradient estimate than FC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LENET ON MNIST — results and context:
MNIST DATASET:
- 70,000 grayscale images of handwritten digits (0–9)
- 60,000 training, 10,000 testing
- Each image: 28×28 pixels, stored as uint8 [0–255]
- LeCun padded to 32×32 and normalised to [−0.1, 1.175]
  The unusual range was chosen to match the output range of tanh activations
LENET'S 0.8% ERROR:
This was SOTA (state of the art) in 1998 and remained competitive until 2012.
To contextualise: 0.8% on 10,000 test images = 80 misclassified digits.
Human performance is approximately 0.2% (20 misclassifications).
WHY DID LENET BEAT SVM?
SVMs with RBF kernels can achieve ~0.56% on MNIST with extensive feature engineering.
But SVMs don't scale — training an SVM on ImageNet (1.2M images, 1000 classes) is computationally infeasible. LeNet's architecture scales naturally.
PREPROCESSING DETAILS:
- Image inversion: background becomes -0.1, foreground becomes +1.175
- This asymmetric normalisation was tuned to work with tanh activations
- Modern practice: simply normalise to [0, 1] or z-score normalise
COMPARISON TO FC NET:
A 3-layer MLP on MNIST achieves ~1.6% error with the same dataset
LeNet: 0.8% — twice as good with the same data
The difference: spatial inductive bias (weight sharing + local receptive fields)
TRAINING TIME (1998 hardware):
Approximately 3 days on a Sun workstation
Today the same training takes ~2 minutes on a modern GPU — a 2,000×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 EVOLUTION — key inflection points:
FROM LENET TO ALEXNET (1998–2012):
The gap was caused by compute, not ideas. LeCun's ideas were correct, but:
- CPUs were too slow for large-scale training
- Datasets were too small to train deep networks
- Optimisation techniques (weight initialisation, better activations) weren't mature
AlexNet's innovations BEYOND LeNet:
1. ReLU activation instead of sigmoid/tanh (eliminated vanishing gradients)
2. Dropout (0.5) for regularisation — LeNet had none
3. GPU training (2 GTX 580s) — first time GPUs used for deep learning at scale
4. Data augmentation (crops, flips, colour jitter) — LeNet only used MNIST raw
5. Local Response Normalisation (since abandoned — batch norm is better)
FROM ALEXNET TO VGG (2012–2014):
VGG asked: "What if we make it deeper and more uniform?"
Answer: Use ONLY 3×3 filters. Any n×n receptive field via stacking. 
VGG showed depth &gt; filter size.
FROM VGG TO RESNET (2014–2015):
VGG hit a wall at ~19 layers — deeper = worse (degradation problem, not overfitting).
ResNet's skip connections allow gradients to bypass layers, enabling:
- 50, 101, 152, even 1000+ layer networks
- Better accuracy with FEWER parameters than VGG
- Solved the vanishing gradient problem architecturally
WHAT LENET INTRODUCED THAT STUCK:
1. Conv-Pool-Conv-Pool-FC pipeline → used by ALL CNNs
2. 3-stage feature extraction (low-level → mid-level → high-level) → feature hierarchy
3. Weight sharing → still the #1 efficiency trick in vision
4. Subsampling for spatial compression → every CNN pools
WHAT LENET DIDN'T HAVE:
BatchNorm, Dropout, ReLU, skip connections, attention, data augmentation at scale
All added later to make the architecture production-quality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LENET'S LEGACY — connecting the past to the present:
REAL-WORLD DEPLOYMENT (MOST IMPORTANT FOR CONTEXT):
LeNet was not just a research paper. By the mid-2000s, variants of LeNet were processing approximately 10-15% of all checks in the United States. This is staggering for 1998 technology.
The system read the amount (MICR line + handwritten numerals) and either processed automatically or flagged for human review.
AUTONOMOUS VEHICLES:
DAVE (Darpa Autonomous Vehicle Expedition, 2004) used a 6-layer CNN inspired by LeNet to steer a vehicle from raw camera images. Input: 320×240 image → Output: steering angle. This is identical in spirit to modern end-to-end autonomous driving networks (NVIDIA PilotNet, Tesla FSD).
VISION TRANSFORMERS — THE PHILOSOPHICAL CONNECTION:
ViT (Dosovitskiy et al., 2020) divides a 224×224 image into 14×14 = 196 patches of size 16×16. Each patch is linearly embedded (similar to a conv filter applied once per patch) and treated as a token. Self-attention replaces convolution for combining information across patches.
LeNet said: "Don't look at the whole image at once — look at small patches and combine."
ViT says: "Look at all patches globally using attention."
The LOCAL PATCH idea is the same — the COMBINATION method differs.
WHAT HASN'T CHANGED FROM LENET:
1. Hierarchical feature extraction (low → mid → high level)
2. Patch/local analysis as the fundamental unit
3. Learned features superior to hand-crafted features
4. Train end-to-end from raw pixels to classification
Yann LeCun's 1998 insights are genuinely foundational — not just historically important but mathematically and practically correct. This is rare in any scientific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FINAL SUMMARY:
The six takeaways form the complete theoretical framework of LeNet:
1. LOCAL RECEPTIVE FIELDS: The first inductive bias. Images have local structure — nearby pixels are correlated, distant pixels are not. Exploiting this via local connections is architecturally correct.
2. WEIGHT SHARING: The second inductive bias. Image statistics are (approximately) stationary — a cat ear looks the same anywhere in the image. The same filter should detect it everywhere.
3. SUBSAMPLING: The third inductive bias. Small translations of input should not change the classification. Progressive pooling builds this robustness.
4. FEATURE HIERARCHY: The emergent property. No one told the network that C1 should learn edges and C3 should learn shapes — this hierarchy arose from optimising a loss function. This generalises: representations in deeper layers are always more abstract.
5. PARAMETER CONCENTRATION IN FC LAYERS: Practically the most important observation for designing efficient networks. Global Average Pooling (GAP), introduced in NIN (2013), replaces the massive FC head with a spatial average — reducing millions of parameters to thousands.
6. TIMELESS BLUEPRINT: LeNet's three-stage pipeline (feature extraction → spatial compression → classification) is the universal CNN recipe. Even Vision Transformers with attention follow this: patch embedding (= local extraction) → transformer blocks (= global combination) → classification head.
EXAM QUESTIONS TO LEAVE WITH STUDENTS:
Q: Why does a 32×32 input become 28×28 after C1?
A: (32 - 5) / 1 + 1 = 28
Q: How many parameters does C1 have?
A: 6 × (5×5 + 1) = 156
Q: Why does LeNet pad MNIST images to 32×32?
A: So that after two 5×5 conv layers and two 2×2 pool layers, the output is exactly 5×5 (a nice power of 2)
Q: What is the total parameter count?
A: 156 + 12 + 1516 + 32 + 48120 + 10164 + 840 = 60,840
Q: Why does C5 behave like a fully connected layer?
A: Because S4 is 5×5 and C5 uses 5×5 kernels → output is 1×1 → every neuron sees the complete input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8992A"/>
          </a:solidFill>
          <a:ln w="12700">
            <a:solidFill>
              <a:srgbClr val="C8992A"/>
            </a:solidFill>
            <a:prstDash val="solid"/>
          </a:ln>
        </p:spPr>
      </p:sp>
      <p:sp>
        <p:nvSpPr>
          <p:cNvPr id="3" name="Shape 1"/>
          <p:cNvSpPr/>
          <p:nvPr/>
        </p:nvSpPr>
        <p:spPr>
          <a:xfrm>
            <a:off x="5943600" y="182880"/>
            <a:ext cx="91440" cy="91440"/>
          </a:xfrm>
          <a:prstGeom prst="ellipse">
            <a:avLst/>
          </a:prstGeom>
          <a:solidFill>
            <a:srgbClr val="1A3260"/>
          </a:solidFill>
          <a:ln w="12700">
            <a:solidFill>
              <a:srgbClr val="1A3260"/>
            </a:solidFill>
            <a:prstDash val="solid"/>
          </a:ln>
        </p:spPr>
      </p:sp>
      <p:sp>
        <p:nvSpPr>
          <p:cNvPr id="4" name="Shape 2"/>
          <p:cNvSpPr/>
          <p:nvPr/>
        </p:nvSpPr>
        <p:spPr>
          <a:xfrm>
            <a:off x="6327648" y="182880"/>
            <a:ext cx="91440" cy="91440"/>
          </a:xfrm>
          <a:prstGeom prst="ellipse">
            <a:avLst/>
          </a:prstGeom>
          <a:solidFill>
            <a:srgbClr val="1A3260"/>
          </a:solidFill>
          <a:ln w="12700">
            <a:solidFill>
              <a:srgbClr val="1A3260"/>
            </a:solidFill>
            <a:prstDash val="solid"/>
          </a:ln>
        </p:spPr>
      </p:sp>
      <p:sp>
        <p:nvSpPr>
          <p:cNvPr id="5" name="Shape 3"/>
          <p:cNvSpPr/>
          <p:nvPr/>
        </p:nvSpPr>
        <p:spPr>
          <a:xfrm>
            <a:off x="6711696" y="182880"/>
            <a:ext cx="91440" cy="91440"/>
          </a:xfrm>
          <a:prstGeom prst="ellipse">
            <a:avLst/>
          </a:prstGeom>
          <a:solidFill>
            <a:srgbClr val="1A3260"/>
          </a:solidFill>
          <a:ln w="12700">
            <a:solidFill>
              <a:srgbClr val="1A3260"/>
            </a:solidFill>
            <a:prstDash val="solid"/>
          </a:ln>
        </p:spPr>
      </p:sp>
      <p:sp>
        <p:nvSpPr>
          <p:cNvPr id="6" name="Shape 4"/>
          <p:cNvSpPr/>
          <p:nvPr/>
        </p:nvSpPr>
        <p:spPr>
          <a:xfrm>
            <a:off x="7095744" y="182880"/>
            <a:ext cx="91440" cy="91440"/>
          </a:xfrm>
          <a:prstGeom prst="ellipse">
            <a:avLst/>
          </a:prstGeom>
          <a:solidFill>
            <a:srgbClr val="1A3260"/>
          </a:solidFill>
          <a:ln w="12700">
            <a:solidFill>
              <a:srgbClr val="1A3260"/>
            </a:solidFill>
            <a:prstDash val="solid"/>
          </a:ln>
        </p:spPr>
      </p:sp>
      <p:sp>
        <p:nvSpPr>
          <p:cNvPr id="7" name="Shape 5"/>
          <p:cNvSpPr/>
          <p:nvPr/>
        </p:nvSpPr>
        <p:spPr>
          <a:xfrm>
            <a:off x="7479792" y="182880"/>
            <a:ext cx="91440" cy="91440"/>
          </a:xfrm>
          <a:prstGeom prst="ellipse">
            <a:avLst/>
          </a:prstGeom>
          <a:solidFill>
            <a:srgbClr val="1A3260"/>
          </a:solidFill>
          <a:ln w="12700">
            <a:solidFill>
              <a:srgbClr val="1A3260"/>
            </a:solidFill>
            <a:prstDash val="solid"/>
          </a:ln>
        </p:spPr>
      </p:sp>
      <p:sp>
        <p:nvSpPr>
          <p:cNvPr id="8" name="Shape 6"/>
          <p:cNvSpPr/>
          <p:nvPr/>
        </p:nvSpPr>
        <p:spPr>
          <a:xfrm>
            <a:off x="7863840" y="182880"/>
            <a:ext cx="91440" cy="91440"/>
          </a:xfrm>
          <a:prstGeom prst="ellipse">
            <a:avLst/>
          </a:prstGeom>
          <a:solidFill>
            <a:srgbClr val="1A3260"/>
          </a:solidFill>
          <a:ln w="12700">
            <a:solidFill>
              <a:srgbClr val="1A3260"/>
            </a:solidFill>
            <a:prstDash val="solid"/>
          </a:ln>
        </p:spPr>
      </p:sp>
      <p:sp>
        <p:nvSpPr>
          <p:cNvPr id="9" name="Shape 7"/>
          <p:cNvSpPr/>
          <p:nvPr/>
        </p:nvSpPr>
        <p:spPr>
          <a:xfrm>
            <a:off x="8247888" y="182880"/>
            <a:ext cx="91440" cy="91440"/>
          </a:xfrm>
          <a:prstGeom prst="ellipse">
            <a:avLst/>
          </a:prstGeom>
          <a:solidFill>
            <a:srgbClr val="1A3260"/>
          </a:solidFill>
          <a:ln w="12700">
            <a:solidFill>
              <a:srgbClr val="1A3260"/>
            </a:solidFill>
            <a:prstDash val="solid"/>
          </a:ln>
        </p:spPr>
      </p:sp>
      <p:sp>
        <p:nvSpPr>
          <p:cNvPr id="10" name="Shape 8"/>
          <p:cNvSpPr/>
          <p:nvPr/>
        </p:nvSpPr>
        <p:spPr>
          <a:xfrm>
            <a:off x="8631936" y="182880"/>
            <a:ext cx="91440" cy="91440"/>
          </a:xfrm>
          <a:prstGeom prst="ellipse">
            <a:avLst/>
          </a:prstGeom>
          <a:solidFill>
            <a:srgbClr val="1A3260"/>
          </a:solidFill>
          <a:ln w="12700">
            <a:solidFill>
              <a:srgbClr val="1A3260"/>
            </a:solidFill>
            <a:prstDash val="solid"/>
          </a:ln>
        </p:spPr>
      </p:sp>
      <p:sp>
        <p:nvSpPr>
          <p:cNvPr id="11" name="Shape 9"/>
          <p:cNvSpPr/>
          <p:nvPr/>
        </p:nvSpPr>
        <p:spPr>
          <a:xfrm>
            <a:off x="5943600" y="566928"/>
            <a:ext cx="91440" cy="91440"/>
          </a:xfrm>
          <a:prstGeom prst="ellipse">
            <a:avLst/>
          </a:prstGeom>
          <a:solidFill>
            <a:srgbClr val="1A3260"/>
          </a:solidFill>
          <a:ln w="12700">
            <a:solidFill>
              <a:srgbClr val="1A3260"/>
            </a:solidFill>
            <a:prstDash val="solid"/>
          </a:ln>
        </p:spPr>
      </p:sp>
      <p:sp>
        <p:nvSpPr>
          <p:cNvPr id="12" name="Shape 10"/>
          <p:cNvSpPr/>
          <p:nvPr/>
        </p:nvSpPr>
        <p:spPr>
          <a:xfrm>
            <a:off x="6327648" y="566928"/>
            <a:ext cx="91440" cy="91440"/>
          </a:xfrm>
          <a:prstGeom prst="ellipse">
            <a:avLst/>
          </a:prstGeom>
          <a:solidFill>
            <a:srgbClr val="1A3260"/>
          </a:solidFill>
          <a:ln w="12700">
            <a:solidFill>
              <a:srgbClr val="1A3260"/>
            </a:solidFill>
            <a:prstDash val="solid"/>
          </a:ln>
        </p:spPr>
      </p:sp>
      <p:sp>
        <p:nvSpPr>
          <p:cNvPr id="13" name="Shape 11"/>
          <p:cNvSpPr/>
          <p:nvPr/>
        </p:nvSpPr>
        <p:spPr>
          <a:xfrm>
            <a:off x="6711696" y="566928"/>
            <a:ext cx="91440" cy="91440"/>
          </a:xfrm>
          <a:prstGeom prst="ellipse">
            <a:avLst/>
          </a:prstGeom>
          <a:solidFill>
            <a:srgbClr val="1A3260"/>
          </a:solidFill>
          <a:ln w="12700">
            <a:solidFill>
              <a:srgbClr val="1A3260"/>
            </a:solidFill>
            <a:prstDash val="solid"/>
          </a:ln>
        </p:spPr>
      </p:sp>
      <p:sp>
        <p:nvSpPr>
          <p:cNvPr id="14" name="Shape 12"/>
          <p:cNvSpPr/>
          <p:nvPr/>
        </p:nvSpPr>
        <p:spPr>
          <a:xfrm>
            <a:off x="7095744" y="566928"/>
            <a:ext cx="91440" cy="91440"/>
          </a:xfrm>
          <a:prstGeom prst="ellipse">
            <a:avLst/>
          </a:prstGeom>
          <a:solidFill>
            <a:srgbClr val="1A3260"/>
          </a:solidFill>
          <a:ln w="12700">
            <a:solidFill>
              <a:srgbClr val="1A3260"/>
            </a:solidFill>
            <a:prstDash val="solid"/>
          </a:ln>
        </p:spPr>
      </p:sp>
      <p:sp>
        <p:nvSpPr>
          <p:cNvPr id="15" name="Shape 13"/>
          <p:cNvSpPr/>
          <p:nvPr/>
        </p:nvSpPr>
        <p:spPr>
          <a:xfrm>
            <a:off x="7479792" y="566928"/>
            <a:ext cx="91440" cy="91440"/>
          </a:xfrm>
          <a:prstGeom prst="ellipse">
            <a:avLst/>
          </a:prstGeom>
          <a:solidFill>
            <a:srgbClr val="1A3260"/>
          </a:solidFill>
          <a:ln w="12700">
            <a:solidFill>
              <a:srgbClr val="1A3260"/>
            </a:solidFill>
            <a:prstDash val="solid"/>
          </a:ln>
        </p:spPr>
      </p:sp>
      <p:sp>
        <p:nvSpPr>
          <p:cNvPr id="16" name="Shape 14"/>
          <p:cNvSpPr/>
          <p:nvPr/>
        </p:nvSpPr>
        <p:spPr>
          <a:xfrm>
            <a:off x="7863840" y="566928"/>
            <a:ext cx="91440" cy="91440"/>
          </a:xfrm>
          <a:prstGeom prst="ellipse">
            <a:avLst/>
          </a:prstGeom>
          <a:solidFill>
            <a:srgbClr val="1A3260"/>
          </a:solidFill>
          <a:ln w="12700">
            <a:solidFill>
              <a:srgbClr val="1A3260"/>
            </a:solidFill>
            <a:prstDash val="solid"/>
          </a:ln>
        </p:spPr>
      </p:sp>
      <p:sp>
        <p:nvSpPr>
          <p:cNvPr id="17" name="Shape 15"/>
          <p:cNvSpPr/>
          <p:nvPr/>
        </p:nvSpPr>
        <p:spPr>
          <a:xfrm>
            <a:off x="8247888" y="566928"/>
            <a:ext cx="91440" cy="91440"/>
          </a:xfrm>
          <a:prstGeom prst="ellipse">
            <a:avLst/>
          </a:prstGeom>
          <a:solidFill>
            <a:srgbClr val="1A3260"/>
          </a:solidFill>
          <a:ln w="12700">
            <a:solidFill>
              <a:srgbClr val="1A3260"/>
            </a:solidFill>
            <a:prstDash val="solid"/>
          </a:ln>
        </p:spPr>
      </p:sp>
      <p:sp>
        <p:nvSpPr>
          <p:cNvPr id="18" name="Shape 16"/>
          <p:cNvSpPr/>
          <p:nvPr/>
        </p:nvSpPr>
        <p:spPr>
          <a:xfrm>
            <a:off x="8631936" y="566928"/>
            <a:ext cx="91440" cy="91440"/>
          </a:xfrm>
          <a:prstGeom prst="ellipse">
            <a:avLst/>
          </a:prstGeom>
          <a:solidFill>
            <a:srgbClr val="1A3260"/>
          </a:solidFill>
          <a:ln w="12700">
            <a:solidFill>
              <a:srgbClr val="1A3260"/>
            </a:solidFill>
            <a:prstDash val="solid"/>
          </a:ln>
        </p:spPr>
      </p:sp>
      <p:sp>
        <p:nvSpPr>
          <p:cNvPr id="19" name="Shape 17"/>
          <p:cNvSpPr/>
          <p:nvPr/>
        </p:nvSpPr>
        <p:spPr>
          <a:xfrm>
            <a:off x="5943600" y="950976"/>
            <a:ext cx="91440" cy="91440"/>
          </a:xfrm>
          <a:prstGeom prst="ellipse">
            <a:avLst/>
          </a:prstGeom>
          <a:solidFill>
            <a:srgbClr val="1A3260"/>
          </a:solidFill>
          <a:ln w="12700">
            <a:solidFill>
              <a:srgbClr val="1A3260"/>
            </a:solidFill>
            <a:prstDash val="solid"/>
          </a:ln>
        </p:spPr>
      </p:sp>
      <p:sp>
        <p:nvSpPr>
          <p:cNvPr id="20" name="Shape 18"/>
          <p:cNvSpPr/>
          <p:nvPr/>
        </p:nvSpPr>
        <p:spPr>
          <a:xfrm>
            <a:off x="6327648" y="950976"/>
            <a:ext cx="91440" cy="91440"/>
          </a:xfrm>
          <a:prstGeom prst="ellipse">
            <a:avLst/>
          </a:prstGeom>
          <a:solidFill>
            <a:srgbClr val="1A3260"/>
          </a:solidFill>
          <a:ln w="12700">
            <a:solidFill>
              <a:srgbClr val="1A3260"/>
            </a:solidFill>
            <a:prstDash val="solid"/>
          </a:ln>
        </p:spPr>
      </p:sp>
      <p:sp>
        <p:nvSpPr>
          <p:cNvPr id="21" name="Shape 19"/>
          <p:cNvSpPr/>
          <p:nvPr/>
        </p:nvSpPr>
        <p:spPr>
          <a:xfrm>
            <a:off x="6711696" y="950976"/>
            <a:ext cx="91440" cy="91440"/>
          </a:xfrm>
          <a:prstGeom prst="ellipse">
            <a:avLst/>
          </a:prstGeom>
          <a:solidFill>
            <a:srgbClr val="1A3260"/>
          </a:solidFill>
          <a:ln w="12700">
            <a:solidFill>
              <a:srgbClr val="1A3260"/>
            </a:solidFill>
            <a:prstDash val="solid"/>
          </a:ln>
        </p:spPr>
      </p:sp>
      <p:sp>
        <p:nvSpPr>
          <p:cNvPr id="22" name="Shape 20"/>
          <p:cNvSpPr/>
          <p:nvPr/>
        </p:nvSpPr>
        <p:spPr>
          <a:xfrm>
            <a:off x="7095744" y="950976"/>
            <a:ext cx="91440" cy="91440"/>
          </a:xfrm>
          <a:prstGeom prst="ellipse">
            <a:avLst/>
          </a:prstGeom>
          <a:solidFill>
            <a:srgbClr val="1A3260"/>
          </a:solidFill>
          <a:ln w="12700">
            <a:solidFill>
              <a:srgbClr val="1A3260"/>
            </a:solidFill>
            <a:prstDash val="solid"/>
          </a:ln>
        </p:spPr>
      </p:sp>
      <p:sp>
        <p:nvSpPr>
          <p:cNvPr id="23" name="Shape 21"/>
          <p:cNvSpPr/>
          <p:nvPr/>
        </p:nvSpPr>
        <p:spPr>
          <a:xfrm>
            <a:off x="7479792" y="950976"/>
            <a:ext cx="91440" cy="91440"/>
          </a:xfrm>
          <a:prstGeom prst="ellipse">
            <a:avLst/>
          </a:prstGeom>
          <a:solidFill>
            <a:srgbClr val="1A3260"/>
          </a:solidFill>
          <a:ln w="12700">
            <a:solidFill>
              <a:srgbClr val="1A3260"/>
            </a:solidFill>
            <a:prstDash val="solid"/>
          </a:ln>
        </p:spPr>
      </p:sp>
      <p:sp>
        <p:nvSpPr>
          <p:cNvPr id="24" name="Shape 22"/>
          <p:cNvSpPr/>
          <p:nvPr/>
        </p:nvSpPr>
        <p:spPr>
          <a:xfrm>
            <a:off x="7863840" y="950976"/>
            <a:ext cx="91440" cy="91440"/>
          </a:xfrm>
          <a:prstGeom prst="ellipse">
            <a:avLst/>
          </a:prstGeom>
          <a:solidFill>
            <a:srgbClr val="1A3260"/>
          </a:solidFill>
          <a:ln w="12700">
            <a:solidFill>
              <a:srgbClr val="1A3260"/>
            </a:solidFill>
            <a:prstDash val="solid"/>
          </a:ln>
        </p:spPr>
      </p:sp>
      <p:sp>
        <p:nvSpPr>
          <p:cNvPr id="25" name="Shape 23"/>
          <p:cNvSpPr/>
          <p:nvPr/>
        </p:nvSpPr>
        <p:spPr>
          <a:xfrm>
            <a:off x="8247888" y="950976"/>
            <a:ext cx="91440" cy="91440"/>
          </a:xfrm>
          <a:prstGeom prst="ellipse">
            <a:avLst/>
          </a:prstGeom>
          <a:solidFill>
            <a:srgbClr val="1A3260"/>
          </a:solidFill>
          <a:ln w="12700">
            <a:solidFill>
              <a:srgbClr val="1A3260"/>
            </a:solidFill>
            <a:prstDash val="solid"/>
          </a:ln>
        </p:spPr>
      </p:sp>
      <p:sp>
        <p:nvSpPr>
          <p:cNvPr id="26" name="Shape 24"/>
          <p:cNvSpPr/>
          <p:nvPr/>
        </p:nvSpPr>
        <p:spPr>
          <a:xfrm>
            <a:off x="8631936" y="950976"/>
            <a:ext cx="91440" cy="91440"/>
          </a:xfrm>
          <a:prstGeom prst="ellipse">
            <a:avLst/>
          </a:prstGeom>
          <a:solidFill>
            <a:srgbClr val="1A3260"/>
          </a:solidFill>
          <a:ln w="12700">
            <a:solidFill>
              <a:srgbClr val="1A3260"/>
            </a:solidFill>
            <a:prstDash val="solid"/>
          </a:ln>
        </p:spPr>
      </p:sp>
      <p:sp>
        <p:nvSpPr>
          <p:cNvPr id="27" name="Shape 25"/>
          <p:cNvSpPr/>
          <p:nvPr/>
        </p:nvSpPr>
        <p:spPr>
          <a:xfrm>
            <a:off x="5943600" y="1335024"/>
            <a:ext cx="91440" cy="91440"/>
          </a:xfrm>
          <a:prstGeom prst="ellipse">
            <a:avLst/>
          </a:prstGeom>
          <a:solidFill>
            <a:srgbClr val="1A3260"/>
          </a:solidFill>
          <a:ln w="12700">
            <a:solidFill>
              <a:srgbClr val="1A3260"/>
            </a:solidFill>
            <a:prstDash val="solid"/>
          </a:ln>
        </p:spPr>
      </p:sp>
      <p:sp>
        <p:nvSpPr>
          <p:cNvPr id="28" name="Shape 26"/>
          <p:cNvSpPr/>
          <p:nvPr/>
        </p:nvSpPr>
        <p:spPr>
          <a:xfrm>
            <a:off x="6327648" y="1335024"/>
            <a:ext cx="91440" cy="91440"/>
          </a:xfrm>
          <a:prstGeom prst="ellipse">
            <a:avLst/>
          </a:prstGeom>
          <a:solidFill>
            <a:srgbClr val="1A3260"/>
          </a:solidFill>
          <a:ln w="12700">
            <a:solidFill>
              <a:srgbClr val="1A3260"/>
            </a:solidFill>
            <a:prstDash val="solid"/>
          </a:ln>
        </p:spPr>
      </p:sp>
      <p:sp>
        <p:nvSpPr>
          <p:cNvPr id="29" name="Shape 27"/>
          <p:cNvSpPr/>
          <p:nvPr/>
        </p:nvSpPr>
        <p:spPr>
          <a:xfrm>
            <a:off x="6711696" y="1335024"/>
            <a:ext cx="91440" cy="91440"/>
          </a:xfrm>
          <a:prstGeom prst="ellipse">
            <a:avLst/>
          </a:prstGeom>
          <a:solidFill>
            <a:srgbClr val="1A3260"/>
          </a:solidFill>
          <a:ln w="12700">
            <a:solidFill>
              <a:srgbClr val="1A3260"/>
            </a:solidFill>
            <a:prstDash val="solid"/>
          </a:ln>
        </p:spPr>
      </p:sp>
      <p:sp>
        <p:nvSpPr>
          <p:cNvPr id="30" name="Shape 28"/>
          <p:cNvSpPr/>
          <p:nvPr/>
        </p:nvSpPr>
        <p:spPr>
          <a:xfrm>
            <a:off x="7095744" y="1335024"/>
            <a:ext cx="91440" cy="91440"/>
          </a:xfrm>
          <a:prstGeom prst="ellipse">
            <a:avLst/>
          </a:prstGeom>
          <a:solidFill>
            <a:srgbClr val="1A3260"/>
          </a:solidFill>
          <a:ln w="12700">
            <a:solidFill>
              <a:srgbClr val="1A3260"/>
            </a:solidFill>
            <a:prstDash val="solid"/>
          </a:ln>
        </p:spPr>
      </p:sp>
      <p:sp>
        <p:nvSpPr>
          <p:cNvPr id="31" name="Shape 29"/>
          <p:cNvSpPr/>
          <p:nvPr/>
        </p:nvSpPr>
        <p:spPr>
          <a:xfrm>
            <a:off x="7479792" y="1335024"/>
            <a:ext cx="91440" cy="91440"/>
          </a:xfrm>
          <a:prstGeom prst="ellipse">
            <a:avLst/>
          </a:prstGeom>
          <a:solidFill>
            <a:srgbClr val="1A3260"/>
          </a:solidFill>
          <a:ln w="12700">
            <a:solidFill>
              <a:srgbClr val="1A3260"/>
            </a:solidFill>
            <a:prstDash val="solid"/>
          </a:ln>
        </p:spPr>
      </p:sp>
      <p:sp>
        <p:nvSpPr>
          <p:cNvPr id="32" name="Shape 30"/>
          <p:cNvSpPr/>
          <p:nvPr/>
        </p:nvSpPr>
        <p:spPr>
          <a:xfrm>
            <a:off x="7863840" y="1335024"/>
            <a:ext cx="91440" cy="91440"/>
          </a:xfrm>
          <a:prstGeom prst="ellipse">
            <a:avLst/>
          </a:prstGeom>
          <a:solidFill>
            <a:srgbClr val="1A3260"/>
          </a:solidFill>
          <a:ln w="12700">
            <a:solidFill>
              <a:srgbClr val="1A3260"/>
            </a:solidFill>
            <a:prstDash val="solid"/>
          </a:ln>
        </p:spPr>
      </p:sp>
      <p:sp>
        <p:nvSpPr>
          <p:cNvPr id="33" name="Shape 31"/>
          <p:cNvSpPr/>
          <p:nvPr/>
        </p:nvSpPr>
        <p:spPr>
          <a:xfrm>
            <a:off x="8247888" y="1335024"/>
            <a:ext cx="91440" cy="91440"/>
          </a:xfrm>
          <a:prstGeom prst="ellipse">
            <a:avLst/>
          </a:prstGeom>
          <a:solidFill>
            <a:srgbClr val="1A3260"/>
          </a:solidFill>
          <a:ln w="12700">
            <a:solidFill>
              <a:srgbClr val="1A3260"/>
            </a:solidFill>
            <a:prstDash val="solid"/>
          </a:ln>
        </p:spPr>
      </p:sp>
      <p:sp>
        <p:nvSpPr>
          <p:cNvPr id="34" name="Shape 32"/>
          <p:cNvSpPr/>
          <p:nvPr/>
        </p:nvSpPr>
        <p:spPr>
          <a:xfrm>
            <a:off x="8631936" y="1335024"/>
            <a:ext cx="91440" cy="91440"/>
          </a:xfrm>
          <a:prstGeom prst="ellipse">
            <a:avLst/>
          </a:prstGeom>
          <a:solidFill>
            <a:srgbClr val="1A3260"/>
          </a:solidFill>
          <a:ln w="12700">
            <a:solidFill>
              <a:srgbClr val="1A3260"/>
            </a:solidFill>
            <a:prstDash val="solid"/>
          </a:ln>
        </p:spPr>
      </p:sp>
      <p:sp>
        <p:nvSpPr>
          <p:cNvPr id="35" name="Shape 33"/>
          <p:cNvSpPr/>
          <p:nvPr/>
        </p:nvSpPr>
        <p:spPr>
          <a:xfrm>
            <a:off x="5943600" y="1719072"/>
            <a:ext cx="91440" cy="91440"/>
          </a:xfrm>
          <a:prstGeom prst="ellipse">
            <a:avLst/>
          </a:prstGeom>
          <a:solidFill>
            <a:srgbClr val="1A3260"/>
          </a:solidFill>
          <a:ln w="12700">
            <a:solidFill>
              <a:srgbClr val="1A3260"/>
            </a:solidFill>
            <a:prstDash val="solid"/>
          </a:ln>
        </p:spPr>
      </p:sp>
      <p:sp>
        <p:nvSpPr>
          <p:cNvPr id="36" name="Shape 34"/>
          <p:cNvSpPr/>
          <p:nvPr/>
        </p:nvSpPr>
        <p:spPr>
          <a:xfrm>
            <a:off x="6327648" y="1719072"/>
            <a:ext cx="91440" cy="91440"/>
          </a:xfrm>
          <a:prstGeom prst="ellipse">
            <a:avLst/>
          </a:prstGeom>
          <a:solidFill>
            <a:srgbClr val="1A3260"/>
          </a:solidFill>
          <a:ln w="12700">
            <a:solidFill>
              <a:srgbClr val="1A3260"/>
            </a:solidFill>
            <a:prstDash val="solid"/>
          </a:ln>
        </p:spPr>
      </p:sp>
      <p:sp>
        <p:nvSpPr>
          <p:cNvPr id="37" name="Shape 35"/>
          <p:cNvSpPr/>
          <p:nvPr/>
        </p:nvSpPr>
        <p:spPr>
          <a:xfrm>
            <a:off x="6711696" y="1719072"/>
            <a:ext cx="91440" cy="91440"/>
          </a:xfrm>
          <a:prstGeom prst="ellipse">
            <a:avLst/>
          </a:prstGeom>
          <a:solidFill>
            <a:srgbClr val="1A3260"/>
          </a:solidFill>
          <a:ln w="12700">
            <a:solidFill>
              <a:srgbClr val="1A3260"/>
            </a:solidFill>
            <a:prstDash val="solid"/>
          </a:ln>
        </p:spPr>
      </p:sp>
      <p:sp>
        <p:nvSpPr>
          <p:cNvPr id="38" name="Shape 36"/>
          <p:cNvSpPr/>
          <p:nvPr/>
        </p:nvSpPr>
        <p:spPr>
          <a:xfrm>
            <a:off x="7095744" y="1719072"/>
            <a:ext cx="91440" cy="91440"/>
          </a:xfrm>
          <a:prstGeom prst="ellipse">
            <a:avLst/>
          </a:prstGeom>
          <a:solidFill>
            <a:srgbClr val="1A3260"/>
          </a:solidFill>
          <a:ln w="12700">
            <a:solidFill>
              <a:srgbClr val="1A3260"/>
            </a:solidFill>
            <a:prstDash val="solid"/>
          </a:ln>
        </p:spPr>
      </p:sp>
      <p:sp>
        <p:nvSpPr>
          <p:cNvPr id="39" name="Shape 37"/>
          <p:cNvSpPr/>
          <p:nvPr/>
        </p:nvSpPr>
        <p:spPr>
          <a:xfrm>
            <a:off x="7479792" y="1719072"/>
            <a:ext cx="91440" cy="91440"/>
          </a:xfrm>
          <a:prstGeom prst="ellipse">
            <a:avLst/>
          </a:prstGeom>
          <a:solidFill>
            <a:srgbClr val="1A3260"/>
          </a:solidFill>
          <a:ln w="12700">
            <a:solidFill>
              <a:srgbClr val="1A3260"/>
            </a:solidFill>
            <a:prstDash val="solid"/>
          </a:ln>
        </p:spPr>
      </p:sp>
      <p:sp>
        <p:nvSpPr>
          <p:cNvPr id="40" name="Shape 38"/>
          <p:cNvSpPr/>
          <p:nvPr/>
        </p:nvSpPr>
        <p:spPr>
          <a:xfrm>
            <a:off x="7863840" y="1719072"/>
            <a:ext cx="91440" cy="91440"/>
          </a:xfrm>
          <a:prstGeom prst="ellipse">
            <a:avLst/>
          </a:prstGeom>
          <a:solidFill>
            <a:srgbClr val="1A3260"/>
          </a:solidFill>
          <a:ln w="12700">
            <a:solidFill>
              <a:srgbClr val="1A3260"/>
            </a:solidFill>
            <a:prstDash val="solid"/>
          </a:ln>
        </p:spPr>
      </p:sp>
      <p:sp>
        <p:nvSpPr>
          <p:cNvPr id="41" name="Shape 39"/>
          <p:cNvSpPr/>
          <p:nvPr/>
        </p:nvSpPr>
        <p:spPr>
          <a:xfrm>
            <a:off x="8247888" y="1719072"/>
            <a:ext cx="91440" cy="91440"/>
          </a:xfrm>
          <a:prstGeom prst="ellipse">
            <a:avLst/>
          </a:prstGeom>
          <a:solidFill>
            <a:srgbClr val="1A3260"/>
          </a:solidFill>
          <a:ln w="12700">
            <a:solidFill>
              <a:srgbClr val="1A3260"/>
            </a:solidFill>
            <a:prstDash val="solid"/>
          </a:ln>
        </p:spPr>
      </p:sp>
      <p:sp>
        <p:nvSpPr>
          <p:cNvPr id="42" name="Shape 40"/>
          <p:cNvSpPr/>
          <p:nvPr/>
        </p:nvSpPr>
        <p:spPr>
          <a:xfrm>
            <a:off x="8631936" y="1719072"/>
            <a:ext cx="91440" cy="91440"/>
          </a:xfrm>
          <a:prstGeom prst="ellipse">
            <a:avLst/>
          </a:prstGeom>
          <a:solidFill>
            <a:srgbClr val="1A3260"/>
          </a:solidFill>
          <a:ln w="12700">
            <a:solidFill>
              <a:srgbClr val="1A3260"/>
            </a:solidFill>
            <a:prstDash val="solid"/>
          </a:ln>
        </p:spPr>
      </p:sp>
      <p:sp>
        <p:nvSpPr>
          <p:cNvPr id="43" name="Text 41"/>
          <p:cNvSpPr/>
          <p:nvPr/>
        </p:nvSpPr>
        <p:spPr>
          <a:xfrm>
            <a:off x="502920" y="502920"/>
            <a:ext cx="7315200" cy="1280160"/>
          </a:xfrm>
          <a:prstGeom prst="rect">
            <a:avLst/>
          </a:prstGeom>
          <a:noFill/>
          <a:ln/>
        </p:spPr>
        <p:txBody>
          <a:bodyPr wrap="square" lIns="0" tIns="0" rIns="0" bIns="0" rtlCol="0" anchor="ctr"/>
          <a:lstStyle/>
          <a:p>
            <a:pPr indent="0" marL="0">
              <a:buNone/>
            </a:pPr>
            <a:r>
              <a:rPr lang="en-US" sz="7800" b="1" spc="400" kern="0" dirty="0">
                <a:solidFill>
                  <a:srgbClr val="FFFFFF"/>
                </a:solidFill>
                <a:latin typeface="Calibri" pitchFamily="34" charset="0"/>
                <a:ea typeface="Calibri" pitchFamily="34" charset="-122"/>
                <a:cs typeface="Calibri" pitchFamily="34" charset="-120"/>
              </a:rPr>
              <a:t>LeNet</a:t>
            </a:r>
            <a:endParaRPr lang="en-US" sz="7800" dirty="0"/>
          </a:p>
        </p:txBody>
      </p:sp>
      <p:sp>
        <p:nvSpPr>
          <p:cNvPr id="44" name="Text 42"/>
          <p:cNvSpPr/>
          <p:nvPr/>
        </p:nvSpPr>
        <p:spPr>
          <a:xfrm>
            <a:off x="502920" y="1737360"/>
            <a:ext cx="7315200" cy="594360"/>
          </a:xfrm>
          <a:prstGeom prst="rect">
            <a:avLst/>
          </a:prstGeom>
          <a:noFill/>
          <a:ln/>
        </p:spPr>
        <p:txBody>
          <a:bodyPr wrap="square" lIns="0" tIns="0" rIns="0" bIns="0" rtlCol="0" anchor="ctr"/>
          <a:lstStyle/>
          <a:p>
            <a:pPr indent="0" marL="0">
              <a:buNone/>
            </a:pPr>
            <a:r>
              <a:rPr lang="en-US" sz="3000" dirty="0">
                <a:solidFill>
                  <a:srgbClr val="E8B84B"/>
                </a:solidFill>
                <a:latin typeface="Calibri" pitchFamily="34" charset="0"/>
                <a:ea typeface="Calibri" pitchFamily="34" charset="-122"/>
                <a:cs typeface="Calibri" pitchFamily="34" charset="-120"/>
              </a:rPr>
              <a:t>Architecture Deep Dive</a:t>
            </a:r>
            <a:endParaRPr lang="en-US" sz="3000" dirty="0"/>
          </a:p>
        </p:txBody>
      </p:sp>
      <p:sp>
        <p:nvSpPr>
          <p:cNvPr id="45" name="Text 43"/>
          <p:cNvSpPr/>
          <p:nvPr/>
        </p:nvSpPr>
        <p:spPr>
          <a:xfrm>
            <a:off x="502920" y="2395728"/>
            <a:ext cx="7315200" cy="384048"/>
          </a:xfrm>
          <a:prstGeom prst="rect">
            <a:avLst/>
          </a:prstGeom>
          <a:noFill/>
          <a:ln/>
        </p:spPr>
        <p:txBody>
          <a:bodyPr wrap="square" lIns="0" tIns="0" rIns="0" bIns="0" rtlCol="0" anchor="ctr"/>
          <a:lstStyle/>
          <a:p>
            <a:pPr indent="0" marL="0">
              <a:buNone/>
            </a:pPr>
            <a:r>
              <a:rPr lang="en-US" sz="1600" i="1" dirty="0">
                <a:solidFill>
                  <a:srgbClr val="B8C5D9"/>
                </a:solidFill>
                <a:latin typeface="Calibri" pitchFamily="34" charset="0"/>
                <a:ea typeface="Calibri" pitchFamily="34" charset="-122"/>
                <a:cs typeface="Calibri" pitchFamily="34" charset="-120"/>
              </a:rPr>
              <a:t>The Pioneer of Convolutional Neural Networks</a:t>
            </a:r>
            <a:endParaRPr lang="en-US" sz="1600" dirty="0"/>
          </a:p>
        </p:txBody>
      </p:sp>
      <p:sp>
        <p:nvSpPr>
          <p:cNvPr id="46" name="Shape 44"/>
          <p:cNvSpPr/>
          <p:nvPr/>
        </p:nvSpPr>
        <p:spPr>
          <a:xfrm>
            <a:off x="502920" y="2944368"/>
            <a:ext cx="5029200" cy="36576"/>
          </a:xfrm>
          <a:prstGeom prst="rect">
            <a:avLst/>
          </a:prstGeom>
          <a:solidFill>
            <a:srgbClr val="C8992A"/>
          </a:solidFill>
          <a:ln w="12700">
            <a:solidFill>
              <a:srgbClr val="C8992A"/>
            </a:solidFill>
            <a:prstDash val="solid"/>
          </a:ln>
        </p:spPr>
      </p:sp>
      <p:sp>
        <p:nvSpPr>
          <p:cNvPr id="47" name="Text 45"/>
          <p:cNvSpPr/>
          <p:nvPr/>
        </p:nvSpPr>
        <p:spPr>
          <a:xfrm>
            <a:off x="502920" y="3127248"/>
            <a:ext cx="3200400" cy="274320"/>
          </a:xfrm>
          <a:prstGeom prst="rect">
            <a:avLst/>
          </a:prstGeom>
          <a:noFill/>
          <a:ln/>
        </p:spPr>
        <p:txBody>
          <a:bodyPr wrap="square" lIns="0" tIns="0" rIns="0" bIns="0" rtlCol="0" anchor="ctr"/>
          <a:lstStyle/>
          <a:p>
            <a:pPr indent="0" marL="0">
              <a:buNone/>
            </a:pPr>
            <a:r>
              <a:rPr lang="en-US" sz="1100" dirty="0">
                <a:solidFill>
                  <a:srgbClr val="6B7D99"/>
                </a:solidFill>
                <a:latin typeface="Calibri" pitchFamily="34" charset="0"/>
                <a:ea typeface="Calibri" pitchFamily="34" charset="-122"/>
                <a:cs typeface="Calibri" pitchFamily="34" charset="-120"/>
              </a:rPr>
              <a:t>Presented by:</a:t>
            </a:r>
            <a:endParaRPr lang="en-US" sz="1100" dirty="0"/>
          </a:p>
        </p:txBody>
      </p:sp>
      <p:sp>
        <p:nvSpPr>
          <p:cNvPr id="48" name="Text 46"/>
          <p:cNvSpPr/>
          <p:nvPr/>
        </p:nvSpPr>
        <p:spPr>
          <a:xfrm>
            <a:off x="502920" y="3401568"/>
            <a:ext cx="457200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Muhammad Huzifa</a:t>
            </a:r>
            <a:endParaRPr lang="en-US" sz="2000" dirty="0"/>
          </a:p>
        </p:txBody>
      </p:sp>
      <p:sp>
        <p:nvSpPr>
          <p:cNvPr id="49" name="Text 47"/>
          <p:cNvSpPr/>
          <p:nvPr/>
        </p:nvSpPr>
        <p:spPr>
          <a:xfrm>
            <a:off x="502920" y="3840480"/>
            <a:ext cx="3200400" cy="256032"/>
          </a:xfrm>
          <a:prstGeom prst="rect">
            <a:avLst/>
          </a:prstGeom>
          <a:noFill/>
          <a:ln/>
        </p:spPr>
        <p:txBody>
          <a:bodyPr wrap="square" lIns="0" tIns="0" rIns="0" bIns="0" rtlCol="0" anchor="ctr"/>
          <a:lstStyle/>
          <a:p>
            <a:pPr indent="0" marL="0">
              <a:buNone/>
            </a:pPr>
            <a:r>
              <a:rPr lang="en-US" sz="1100" dirty="0">
                <a:solidFill>
                  <a:srgbClr val="6B7D99"/>
                </a:solidFill>
                <a:latin typeface="Calibri" pitchFamily="34" charset="0"/>
                <a:ea typeface="Calibri" pitchFamily="34" charset="-122"/>
                <a:cs typeface="Calibri" pitchFamily="34" charset="-120"/>
              </a:rPr>
              <a:t>Supervisor:</a:t>
            </a:r>
            <a:endParaRPr lang="en-US" sz="1100" dirty="0"/>
          </a:p>
        </p:txBody>
      </p:sp>
      <p:sp>
        <p:nvSpPr>
          <p:cNvPr id="50" name="Text 48"/>
          <p:cNvSpPr/>
          <p:nvPr/>
        </p:nvSpPr>
        <p:spPr>
          <a:xfrm>
            <a:off x="502920" y="4096512"/>
            <a:ext cx="5486400" cy="347472"/>
          </a:xfrm>
          <a:prstGeom prst="rect">
            <a:avLst/>
          </a:prstGeom>
          <a:noFill/>
          <a:ln/>
        </p:spPr>
        <p:txBody>
          <a:bodyPr wrap="square" lIns="0" tIns="0" rIns="0" bIns="0" rtlCol="0" anchor="ctr"/>
          <a:lstStyle/>
          <a:p>
            <a:pPr indent="0" marL="0">
              <a:buNone/>
            </a:pPr>
            <a:r>
              <a:rPr lang="en-US" sz="1700" dirty="0">
                <a:solidFill>
                  <a:srgbClr val="E8B84B"/>
                </a:solidFill>
                <a:latin typeface="Calibri" pitchFamily="34" charset="0"/>
                <a:ea typeface="Calibri" pitchFamily="34" charset="-122"/>
                <a:cs typeface="Calibri" pitchFamily="34" charset="-120"/>
              </a:rPr>
              <a:t>Dr. Muhammad Sajjad</a:t>
            </a:r>
            <a:endParaRPr lang="en-US" sz="1700" dirty="0"/>
          </a:p>
        </p:txBody>
      </p:sp>
      <p:sp>
        <p:nvSpPr>
          <p:cNvPr id="51" name="Shape 49"/>
          <p:cNvSpPr/>
          <p:nvPr/>
        </p:nvSpPr>
        <p:spPr>
          <a:xfrm>
            <a:off x="7132320" y="3291840"/>
            <a:ext cx="1645920" cy="1371600"/>
          </a:xfrm>
          <a:prstGeom prst="rect">
            <a:avLst/>
          </a:prstGeom>
          <a:solidFill>
            <a:srgbClr val="1A3260"/>
          </a:solidFill>
          <a:ln w="12700">
            <a:solidFill>
              <a:srgbClr val="C8992A"/>
            </a:solidFill>
            <a:prstDash val="solid"/>
          </a:ln>
        </p:spPr>
      </p:sp>
      <p:sp>
        <p:nvSpPr>
          <p:cNvPr id="52" name="Text 50"/>
          <p:cNvSpPr/>
          <p:nvPr/>
        </p:nvSpPr>
        <p:spPr>
          <a:xfrm>
            <a:off x="7132320" y="3291840"/>
            <a:ext cx="1645920" cy="1371600"/>
          </a:xfrm>
          <a:prstGeom prst="rect">
            <a:avLst/>
          </a:prstGeom>
          <a:noFill/>
          <a:ln/>
        </p:spPr>
        <p:txBody>
          <a:bodyPr wrap="square" rtlCol="0" anchor="ctr"/>
          <a:lstStyle/>
          <a:p>
            <a:pPr algn="ctr" indent="0" marL="0">
              <a:buNone/>
            </a:pPr>
            <a:r>
              <a:rPr lang="en-US" sz="1500" b="1" dirty="0">
                <a:solidFill>
                  <a:srgbClr val="E8B84B"/>
                </a:solidFill>
                <a:latin typeface="Calibri" pitchFamily="34" charset="0"/>
                <a:ea typeface="Calibri" pitchFamily="34" charset="-122"/>
                <a:cs typeface="Calibri" pitchFamily="34" charset="-120"/>
              </a:rPr>
              <a:t>LeCun</a:t>
            </a:r>
            <a:endParaRPr lang="en-US" sz="1500" dirty="0"/>
          </a:p>
          <a:p>
            <a:pPr algn="ctr" indent="0" marL="0">
              <a:buNone/>
            </a:pPr>
            <a:r>
              <a:rPr lang="en-US" sz="1500" b="1" dirty="0">
                <a:solidFill>
                  <a:srgbClr val="E8B84B"/>
                </a:solidFill>
                <a:latin typeface="Calibri" pitchFamily="34" charset="0"/>
                <a:ea typeface="Calibri" pitchFamily="34" charset="-122"/>
                <a:cs typeface="Calibri" pitchFamily="34" charset="-120"/>
              </a:rPr>
              <a:t>et al.</a:t>
            </a:r>
            <a:endParaRPr lang="en-US" sz="1500" dirty="0"/>
          </a:p>
          <a:p>
            <a:pPr algn="ctr" indent="0" marL="0">
              <a:buNone/>
            </a:pPr>
            <a:r>
              <a:rPr lang="en-US" sz="1500" b="1" dirty="0">
                <a:solidFill>
                  <a:srgbClr val="E8B84B"/>
                </a:solidFill>
                <a:latin typeface="Calibri" pitchFamily="34" charset="0"/>
                <a:ea typeface="Calibri" pitchFamily="34" charset="-122"/>
                <a:cs typeface="Calibri" pitchFamily="34" charset="-120"/>
              </a:rPr>
              <a:t>1998</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Historical Context &amp; Motivation</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Why the world needed LeNet in 1998</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84048" y="2843784"/>
            <a:ext cx="8659368" cy="73152"/>
          </a:xfrm>
          <a:prstGeom prst="rect">
            <a:avLst/>
          </a:prstGeom>
          <a:solidFill>
            <a:srgbClr val="B8C5D9"/>
          </a:solidFill>
          <a:ln w="12700">
            <a:solidFill>
              <a:srgbClr val="B8C5D9"/>
            </a:solidFill>
            <a:prstDash val="solid"/>
          </a:ln>
        </p:spPr>
      </p:sp>
      <p:sp>
        <p:nvSpPr>
          <p:cNvPr id="6" name="Shape 4"/>
          <p:cNvSpPr/>
          <p:nvPr/>
        </p:nvSpPr>
        <p:spPr>
          <a:xfrm>
            <a:off x="1078992" y="2880360"/>
            <a:ext cx="0" cy="-1152144"/>
          </a:xfrm>
          <a:prstGeom prst="line">
            <a:avLst/>
          </a:prstGeom>
          <a:noFill/>
          <a:ln w="12700">
            <a:solidFill>
              <a:srgbClr val="3D4F6B"/>
            </a:solidFill>
            <a:prstDash val="solid"/>
          </a:ln>
        </p:spPr>
      </p:sp>
      <p:sp>
        <p:nvSpPr>
          <p:cNvPr id="7" name="Shape 5"/>
          <p:cNvSpPr/>
          <p:nvPr/>
        </p:nvSpPr>
        <p:spPr>
          <a:xfrm>
            <a:off x="987552" y="2788920"/>
            <a:ext cx="182880" cy="182880"/>
          </a:xfrm>
          <a:prstGeom prst="ellipse">
            <a:avLst/>
          </a:prstGeom>
          <a:solidFill>
            <a:srgbClr val="3D4F6B"/>
          </a:solidFill>
          <a:ln w="12700">
            <a:solidFill>
              <a:srgbClr val="3D4F6B"/>
            </a:solidFill>
            <a:prstDash val="solid"/>
          </a:ln>
        </p:spPr>
      </p:sp>
      <p:sp>
        <p:nvSpPr>
          <p:cNvPr id="8" name="Shape 6"/>
          <p:cNvSpPr/>
          <p:nvPr/>
        </p:nvSpPr>
        <p:spPr>
          <a:xfrm>
            <a:off x="429768" y="1234440"/>
            <a:ext cx="1298448" cy="292608"/>
          </a:xfrm>
          <a:prstGeom prst="rect">
            <a:avLst/>
          </a:prstGeom>
          <a:solidFill>
            <a:srgbClr val="3D4F6B"/>
          </a:solidFill>
          <a:ln w="12700">
            <a:solidFill>
              <a:srgbClr val="3D4F6B"/>
            </a:solidFill>
            <a:prstDash val="solid"/>
          </a:ln>
        </p:spPr>
      </p:sp>
      <p:sp>
        <p:nvSpPr>
          <p:cNvPr id="9" name="Text 7"/>
          <p:cNvSpPr/>
          <p:nvPr/>
        </p:nvSpPr>
        <p:spPr>
          <a:xfrm>
            <a:off x="429768" y="1234440"/>
            <a:ext cx="12984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1943</a:t>
            </a:r>
            <a:endParaRPr lang="en-US" sz="1300" dirty="0"/>
          </a:p>
        </p:txBody>
      </p:sp>
      <p:sp>
        <p:nvSpPr>
          <p:cNvPr id="10" name="Shape 8"/>
          <p:cNvSpPr/>
          <p:nvPr/>
        </p:nvSpPr>
        <p:spPr>
          <a:xfrm>
            <a:off x="384048" y="1527048"/>
            <a:ext cx="1389888" cy="1122883"/>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11" name="Text 9"/>
          <p:cNvSpPr/>
          <p:nvPr/>
        </p:nvSpPr>
        <p:spPr>
          <a:xfrm>
            <a:off x="448056" y="1554480"/>
            <a:ext cx="1261872" cy="320040"/>
          </a:xfrm>
          <a:prstGeom prst="rect">
            <a:avLst/>
          </a:prstGeom>
          <a:noFill/>
          <a:ln/>
        </p:spPr>
        <p:txBody>
          <a:bodyPr wrap="square"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McCulloch-Pitts Neuron</a:t>
            </a:r>
            <a:endParaRPr lang="en-US" sz="1050" dirty="0"/>
          </a:p>
        </p:txBody>
      </p:sp>
      <p:sp>
        <p:nvSpPr>
          <p:cNvPr id="12" name="Text 10"/>
          <p:cNvSpPr/>
          <p:nvPr/>
        </p:nvSpPr>
        <p:spPr>
          <a:xfrm>
            <a:off x="448056" y="1874520"/>
            <a:ext cx="1261872" cy="455371"/>
          </a:xfrm>
          <a:prstGeom prst="rect">
            <a:avLst/>
          </a:prstGeom>
          <a:noFill/>
          <a:ln/>
        </p:spPr>
        <p:txBody>
          <a:bodyPr wrap="square" rtlCol="0" anchor="ctr"/>
          <a:lstStyle/>
          <a:p>
            <a:pPr indent="0" marL="0">
              <a:buNone/>
            </a:pPr>
            <a:r>
              <a:rPr lang="en-US" sz="950" dirty="0">
                <a:solidFill>
                  <a:srgbClr val="3D4F6B"/>
                </a:solidFill>
                <a:latin typeface="Calibri" pitchFamily="34" charset="0"/>
                <a:ea typeface="Calibri" pitchFamily="34" charset="-122"/>
                <a:cs typeface="Calibri" pitchFamily="34" charset="-120"/>
              </a:rPr>
              <a:t>First mathematical model of a neuron. Binary threshold unit.</a:t>
            </a:r>
            <a:endParaRPr lang="en-US" sz="950" dirty="0"/>
          </a:p>
        </p:txBody>
      </p:sp>
      <p:sp>
        <p:nvSpPr>
          <p:cNvPr id="13" name="Shape 11"/>
          <p:cNvSpPr/>
          <p:nvPr/>
        </p:nvSpPr>
        <p:spPr>
          <a:xfrm>
            <a:off x="2532888" y="2880360"/>
            <a:ext cx="0" cy="1152144"/>
          </a:xfrm>
          <a:prstGeom prst="line">
            <a:avLst/>
          </a:prstGeom>
          <a:noFill/>
          <a:ln w="12700">
            <a:solidFill>
              <a:srgbClr val="3D4F6B"/>
            </a:solidFill>
            <a:prstDash val="solid"/>
          </a:ln>
        </p:spPr>
      </p:sp>
      <p:sp>
        <p:nvSpPr>
          <p:cNvPr id="14" name="Shape 12"/>
          <p:cNvSpPr/>
          <p:nvPr/>
        </p:nvSpPr>
        <p:spPr>
          <a:xfrm>
            <a:off x="2441448" y="2788920"/>
            <a:ext cx="182880" cy="182880"/>
          </a:xfrm>
          <a:prstGeom prst="ellipse">
            <a:avLst/>
          </a:prstGeom>
          <a:solidFill>
            <a:srgbClr val="3D4F6B"/>
          </a:solidFill>
          <a:ln w="12700">
            <a:solidFill>
              <a:srgbClr val="3D4F6B"/>
            </a:solidFill>
            <a:prstDash val="solid"/>
          </a:ln>
        </p:spPr>
      </p:sp>
      <p:sp>
        <p:nvSpPr>
          <p:cNvPr id="15" name="Shape 13"/>
          <p:cNvSpPr/>
          <p:nvPr/>
        </p:nvSpPr>
        <p:spPr>
          <a:xfrm>
            <a:off x="1883664" y="2946197"/>
            <a:ext cx="1298448" cy="292608"/>
          </a:xfrm>
          <a:prstGeom prst="rect">
            <a:avLst/>
          </a:prstGeom>
          <a:solidFill>
            <a:srgbClr val="3D4F6B"/>
          </a:solidFill>
          <a:ln w="12700">
            <a:solidFill>
              <a:srgbClr val="3D4F6B"/>
            </a:solidFill>
            <a:prstDash val="solid"/>
          </a:ln>
        </p:spPr>
      </p:sp>
      <p:sp>
        <p:nvSpPr>
          <p:cNvPr id="16" name="Text 14"/>
          <p:cNvSpPr/>
          <p:nvPr/>
        </p:nvSpPr>
        <p:spPr>
          <a:xfrm>
            <a:off x="1883664" y="2946197"/>
            <a:ext cx="12984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1958</a:t>
            </a:r>
            <a:endParaRPr lang="en-US" sz="1300" dirty="0"/>
          </a:p>
        </p:txBody>
      </p:sp>
      <p:sp>
        <p:nvSpPr>
          <p:cNvPr id="17" name="Shape 15"/>
          <p:cNvSpPr/>
          <p:nvPr/>
        </p:nvSpPr>
        <p:spPr>
          <a:xfrm>
            <a:off x="1837944" y="3238805"/>
            <a:ext cx="1389888" cy="1122883"/>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1901952" y="3266237"/>
            <a:ext cx="1261872" cy="320040"/>
          </a:xfrm>
          <a:prstGeom prst="rect">
            <a:avLst/>
          </a:prstGeom>
          <a:noFill/>
          <a:ln/>
        </p:spPr>
        <p:txBody>
          <a:bodyPr wrap="square"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Perceptron</a:t>
            </a:r>
            <a:endParaRPr lang="en-US" sz="1050" dirty="0"/>
          </a:p>
        </p:txBody>
      </p:sp>
      <p:sp>
        <p:nvSpPr>
          <p:cNvPr id="19" name="Text 17"/>
          <p:cNvSpPr/>
          <p:nvPr/>
        </p:nvSpPr>
        <p:spPr>
          <a:xfrm>
            <a:off x="1901952" y="3586277"/>
            <a:ext cx="1261872" cy="455371"/>
          </a:xfrm>
          <a:prstGeom prst="rect">
            <a:avLst/>
          </a:prstGeom>
          <a:noFill/>
          <a:ln/>
        </p:spPr>
        <p:txBody>
          <a:bodyPr wrap="square" rtlCol="0" anchor="ctr"/>
          <a:lstStyle/>
          <a:p>
            <a:pPr indent="0" marL="0">
              <a:buNone/>
            </a:pPr>
            <a:r>
              <a:rPr lang="en-US" sz="950" dirty="0">
                <a:solidFill>
                  <a:srgbClr val="3D4F6B"/>
                </a:solidFill>
                <a:latin typeface="Calibri" pitchFamily="34" charset="0"/>
                <a:ea typeface="Calibri" pitchFamily="34" charset="-122"/>
                <a:cs typeface="Calibri" pitchFamily="34" charset="-120"/>
              </a:rPr>
              <a:t>Rosenblatt's trainable single-layer network for pattern recognition.</a:t>
            </a:r>
            <a:endParaRPr lang="en-US" sz="950" dirty="0"/>
          </a:p>
        </p:txBody>
      </p:sp>
      <p:sp>
        <p:nvSpPr>
          <p:cNvPr id="20" name="Shape 18"/>
          <p:cNvSpPr/>
          <p:nvPr/>
        </p:nvSpPr>
        <p:spPr>
          <a:xfrm>
            <a:off x="3986784" y="2880360"/>
            <a:ext cx="0" cy="-1152144"/>
          </a:xfrm>
          <a:prstGeom prst="line">
            <a:avLst/>
          </a:prstGeom>
          <a:noFill/>
          <a:ln w="12700">
            <a:solidFill>
              <a:srgbClr val="1A6B7A"/>
            </a:solidFill>
            <a:prstDash val="solid"/>
          </a:ln>
        </p:spPr>
      </p:sp>
      <p:sp>
        <p:nvSpPr>
          <p:cNvPr id="21" name="Shape 19"/>
          <p:cNvSpPr/>
          <p:nvPr/>
        </p:nvSpPr>
        <p:spPr>
          <a:xfrm>
            <a:off x="3895344" y="2788920"/>
            <a:ext cx="182880" cy="182880"/>
          </a:xfrm>
          <a:prstGeom prst="ellipse">
            <a:avLst/>
          </a:prstGeom>
          <a:solidFill>
            <a:srgbClr val="1A6B7A"/>
          </a:solidFill>
          <a:ln w="12700">
            <a:solidFill>
              <a:srgbClr val="1A6B7A"/>
            </a:solidFill>
            <a:prstDash val="solid"/>
          </a:ln>
        </p:spPr>
      </p:sp>
      <p:sp>
        <p:nvSpPr>
          <p:cNvPr id="22" name="Shape 20"/>
          <p:cNvSpPr/>
          <p:nvPr/>
        </p:nvSpPr>
        <p:spPr>
          <a:xfrm>
            <a:off x="3337560" y="1234440"/>
            <a:ext cx="1298448" cy="292608"/>
          </a:xfrm>
          <a:prstGeom prst="rect">
            <a:avLst/>
          </a:prstGeom>
          <a:solidFill>
            <a:srgbClr val="1A6B7A"/>
          </a:solidFill>
          <a:ln w="12700">
            <a:solidFill>
              <a:srgbClr val="1A6B7A"/>
            </a:solidFill>
            <a:prstDash val="solid"/>
          </a:ln>
        </p:spPr>
      </p:sp>
      <p:sp>
        <p:nvSpPr>
          <p:cNvPr id="23" name="Text 21"/>
          <p:cNvSpPr/>
          <p:nvPr/>
        </p:nvSpPr>
        <p:spPr>
          <a:xfrm>
            <a:off x="3337560" y="1234440"/>
            <a:ext cx="12984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1986</a:t>
            </a:r>
            <a:endParaRPr lang="en-US" sz="1300" dirty="0"/>
          </a:p>
        </p:txBody>
      </p:sp>
      <p:sp>
        <p:nvSpPr>
          <p:cNvPr id="24" name="Shape 22"/>
          <p:cNvSpPr/>
          <p:nvPr/>
        </p:nvSpPr>
        <p:spPr>
          <a:xfrm>
            <a:off x="3291840" y="1527048"/>
            <a:ext cx="1389888" cy="1122883"/>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25" name="Text 23"/>
          <p:cNvSpPr/>
          <p:nvPr/>
        </p:nvSpPr>
        <p:spPr>
          <a:xfrm>
            <a:off x="3355848" y="1554480"/>
            <a:ext cx="1261872" cy="320040"/>
          </a:xfrm>
          <a:prstGeom prst="rect">
            <a:avLst/>
          </a:prstGeom>
          <a:noFill/>
          <a:ln/>
        </p:spPr>
        <p:txBody>
          <a:bodyPr wrap="square"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Backpropagation</a:t>
            </a:r>
            <a:endParaRPr lang="en-US" sz="1050" dirty="0"/>
          </a:p>
        </p:txBody>
      </p:sp>
      <p:sp>
        <p:nvSpPr>
          <p:cNvPr id="26" name="Text 24"/>
          <p:cNvSpPr/>
          <p:nvPr/>
        </p:nvSpPr>
        <p:spPr>
          <a:xfrm>
            <a:off x="3355848" y="1874520"/>
            <a:ext cx="1261872" cy="455371"/>
          </a:xfrm>
          <a:prstGeom prst="rect">
            <a:avLst/>
          </a:prstGeom>
          <a:noFill/>
          <a:ln/>
        </p:spPr>
        <p:txBody>
          <a:bodyPr wrap="square" rtlCol="0" anchor="ctr"/>
          <a:lstStyle/>
          <a:p>
            <a:pPr indent="0" marL="0">
              <a:buNone/>
            </a:pPr>
            <a:r>
              <a:rPr lang="en-US" sz="950" dirty="0">
                <a:solidFill>
                  <a:srgbClr val="3D4F6B"/>
                </a:solidFill>
                <a:latin typeface="Calibri" pitchFamily="34" charset="0"/>
                <a:ea typeface="Calibri" pitchFamily="34" charset="-122"/>
                <a:cs typeface="Calibri" pitchFamily="34" charset="-120"/>
              </a:rPr>
              <a:t>Rumelhart, Hinton &amp; Williams revive multi-layer training via gradient flow.</a:t>
            </a:r>
            <a:endParaRPr lang="en-US" sz="950" dirty="0"/>
          </a:p>
        </p:txBody>
      </p:sp>
      <p:sp>
        <p:nvSpPr>
          <p:cNvPr id="27" name="Shape 25"/>
          <p:cNvSpPr/>
          <p:nvPr/>
        </p:nvSpPr>
        <p:spPr>
          <a:xfrm>
            <a:off x="5440680" y="2880360"/>
            <a:ext cx="0" cy="1152144"/>
          </a:xfrm>
          <a:prstGeom prst="line">
            <a:avLst/>
          </a:prstGeom>
          <a:noFill/>
          <a:ln w="12700">
            <a:solidFill>
              <a:srgbClr val="C8992A"/>
            </a:solidFill>
            <a:prstDash val="solid"/>
          </a:ln>
        </p:spPr>
      </p:sp>
      <p:sp>
        <p:nvSpPr>
          <p:cNvPr id="28" name="Shape 26"/>
          <p:cNvSpPr/>
          <p:nvPr/>
        </p:nvSpPr>
        <p:spPr>
          <a:xfrm>
            <a:off x="5349240" y="2788920"/>
            <a:ext cx="182880" cy="182880"/>
          </a:xfrm>
          <a:prstGeom prst="ellipse">
            <a:avLst/>
          </a:prstGeom>
          <a:solidFill>
            <a:srgbClr val="C8992A"/>
          </a:solidFill>
          <a:ln w="12700">
            <a:solidFill>
              <a:srgbClr val="C8992A"/>
            </a:solidFill>
            <a:prstDash val="solid"/>
          </a:ln>
        </p:spPr>
      </p:sp>
      <p:sp>
        <p:nvSpPr>
          <p:cNvPr id="29" name="Shape 27"/>
          <p:cNvSpPr/>
          <p:nvPr/>
        </p:nvSpPr>
        <p:spPr>
          <a:xfrm>
            <a:off x="4791456" y="2946197"/>
            <a:ext cx="1298448" cy="292608"/>
          </a:xfrm>
          <a:prstGeom prst="rect">
            <a:avLst/>
          </a:prstGeom>
          <a:solidFill>
            <a:srgbClr val="C8992A"/>
          </a:solidFill>
          <a:ln w="12700">
            <a:solidFill>
              <a:srgbClr val="C8992A"/>
            </a:solidFill>
            <a:prstDash val="solid"/>
          </a:ln>
        </p:spPr>
      </p:sp>
      <p:sp>
        <p:nvSpPr>
          <p:cNvPr id="30" name="Text 28"/>
          <p:cNvSpPr/>
          <p:nvPr/>
        </p:nvSpPr>
        <p:spPr>
          <a:xfrm>
            <a:off x="4791456" y="2946197"/>
            <a:ext cx="12984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1989</a:t>
            </a:r>
            <a:endParaRPr lang="en-US" sz="1300" dirty="0"/>
          </a:p>
        </p:txBody>
      </p:sp>
      <p:sp>
        <p:nvSpPr>
          <p:cNvPr id="31" name="Shape 29"/>
          <p:cNvSpPr/>
          <p:nvPr/>
        </p:nvSpPr>
        <p:spPr>
          <a:xfrm>
            <a:off x="4745736" y="3238805"/>
            <a:ext cx="1389888" cy="1122883"/>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32" name="Text 30"/>
          <p:cNvSpPr/>
          <p:nvPr/>
        </p:nvSpPr>
        <p:spPr>
          <a:xfrm>
            <a:off x="4809744" y="3266237"/>
            <a:ext cx="1261872" cy="320040"/>
          </a:xfrm>
          <a:prstGeom prst="rect">
            <a:avLst/>
          </a:prstGeom>
          <a:noFill/>
          <a:ln/>
        </p:spPr>
        <p:txBody>
          <a:bodyPr wrap="square"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LeNet-1</a:t>
            </a:r>
            <a:endParaRPr lang="en-US" sz="1050" dirty="0"/>
          </a:p>
        </p:txBody>
      </p:sp>
      <p:sp>
        <p:nvSpPr>
          <p:cNvPr id="33" name="Text 31"/>
          <p:cNvSpPr/>
          <p:nvPr/>
        </p:nvSpPr>
        <p:spPr>
          <a:xfrm>
            <a:off x="4809744" y="3586277"/>
            <a:ext cx="1261872" cy="455371"/>
          </a:xfrm>
          <a:prstGeom prst="rect">
            <a:avLst/>
          </a:prstGeom>
          <a:noFill/>
          <a:ln/>
        </p:spPr>
        <p:txBody>
          <a:bodyPr wrap="square" rtlCol="0" anchor="ctr"/>
          <a:lstStyle/>
          <a:p>
            <a:pPr indent="0" marL="0">
              <a:buNone/>
            </a:pPr>
            <a:r>
              <a:rPr lang="en-US" sz="950" dirty="0">
                <a:solidFill>
                  <a:srgbClr val="3D4F6B"/>
                </a:solidFill>
                <a:latin typeface="Calibri" pitchFamily="34" charset="0"/>
                <a:ea typeface="Calibri" pitchFamily="34" charset="-122"/>
                <a:cs typeface="Calibri" pitchFamily="34" charset="-120"/>
              </a:rPr>
              <a:t>LeCun applies CNNs to ZIP code recognition for the first time.</a:t>
            </a:r>
            <a:endParaRPr lang="en-US" sz="950" dirty="0"/>
          </a:p>
        </p:txBody>
      </p:sp>
      <p:sp>
        <p:nvSpPr>
          <p:cNvPr id="34" name="Shape 32"/>
          <p:cNvSpPr/>
          <p:nvPr/>
        </p:nvSpPr>
        <p:spPr>
          <a:xfrm>
            <a:off x="6894576" y="2880360"/>
            <a:ext cx="0" cy="-1152144"/>
          </a:xfrm>
          <a:prstGeom prst="line">
            <a:avLst/>
          </a:prstGeom>
          <a:noFill/>
          <a:ln w="12700">
            <a:solidFill>
              <a:srgbClr val="C8992A"/>
            </a:solidFill>
            <a:prstDash val="solid"/>
          </a:ln>
        </p:spPr>
      </p:sp>
      <p:sp>
        <p:nvSpPr>
          <p:cNvPr id="35" name="Shape 33"/>
          <p:cNvSpPr/>
          <p:nvPr/>
        </p:nvSpPr>
        <p:spPr>
          <a:xfrm>
            <a:off x="6803136" y="2788920"/>
            <a:ext cx="182880" cy="182880"/>
          </a:xfrm>
          <a:prstGeom prst="ellipse">
            <a:avLst/>
          </a:prstGeom>
          <a:solidFill>
            <a:srgbClr val="C8992A"/>
          </a:solidFill>
          <a:ln w="12700">
            <a:solidFill>
              <a:srgbClr val="C8992A"/>
            </a:solidFill>
            <a:prstDash val="solid"/>
          </a:ln>
        </p:spPr>
      </p:sp>
      <p:sp>
        <p:nvSpPr>
          <p:cNvPr id="36" name="Shape 34"/>
          <p:cNvSpPr/>
          <p:nvPr/>
        </p:nvSpPr>
        <p:spPr>
          <a:xfrm>
            <a:off x="6245352" y="1234440"/>
            <a:ext cx="1298448" cy="292608"/>
          </a:xfrm>
          <a:prstGeom prst="rect">
            <a:avLst/>
          </a:prstGeom>
          <a:solidFill>
            <a:srgbClr val="C8992A"/>
          </a:solidFill>
          <a:ln w="12700">
            <a:solidFill>
              <a:srgbClr val="C8992A"/>
            </a:solidFill>
            <a:prstDash val="solid"/>
          </a:ln>
        </p:spPr>
      </p:sp>
      <p:sp>
        <p:nvSpPr>
          <p:cNvPr id="37" name="Text 35"/>
          <p:cNvSpPr/>
          <p:nvPr/>
        </p:nvSpPr>
        <p:spPr>
          <a:xfrm>
            <a:off x="6245352" y="1234440"/>
            <a:ext cx="12984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1998</a:t>
            </a:r>
            <a:endParaRPr lang="en-US" sz="1300" dirty="0"/>
          </a:p>
        </p:txBody>
      </p:sp>
      <p:sp>
        <p:nvSpPr>
          <p:cNvPr id="38" name="Shape 36"/>
          <p:cNvSpPr/>
          <p:nvPr/>
        </p:nvSpPr>
        <p:spPr>
          <a:xfrm>
            <a:off x="6199632" y="1527048"/>
            <a:ext cx="1389888" cy="1122883"/>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39" name="Text 37"/>
          <p:cNvSpPr/>
          <p:nvPr/>
        </p:nvSpPr>
        <p:spPr>
          <a:xfrm>
            <a:off x="6263640" y="1554480"/>
            <a:ext cx="1261872" cy="320040"/>
          </a:xfrm>
          <a:prstGeom prst="rect">
            <a:avLst/>
          </a:prstGeom>
          <a:noFill/>
          <a:ln/>
        </p:spPr>
        <p:txBody>
          <a:bodyPr wrap="square"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LeNet-5</a:t>
            </a:r>
            <a:endParaRPr lang="en-US" sz="1050" dirty="0"/>
          </a:p>
        </p:txBody>
      </p:sp>
      <p:sp>
        <p:nvSpPr>
          <p:cNvPr id="40" name="Text 38"/>
          <p:cNvSpPr/>
          <p:nvPr/>
        </p:nvSpPr>
        <p:spPr>
          <a:xfrm>
            <a:off x="6263640" y="1874520"/>
            <a:ext cx="1261872" cy="455371"/>
          </a:xfrm>
          <a:prstGeom prst="rect">
            <a:avLst/>
          </a:prstGeom>
          <a:noFill/>
          <a:ln/>
        </p:spPr>
        <p:txBody>
          <a:bodyPr wrap="square" rtlCol="0" anchor="ctr"/>
          <a:lstStyle/>
          <a:p>
            <a:pPr indent="0" marL="0">
              <a:buNone/>
            </a:pPr>
            <a:r>
              <a:rPr lang="en-US" sz="950" dirty="0">
                <a:solidFill>
                  <a:srgbClr val="3D4F6B"/>
                </a:solidFill>
                <a:latin typeface="Calibri" pitchFamily="34" charset="0"/>
                <a:ea typeface="Calibri" pitchFamily="34" charset="-122"/>
                <a:cs typeface="Calibri" pitchFamily="34" charset="-120"/>
              </a:rPr>
              <a:t>Full architecture published. Deployed by US banks for cheque reading.</a:t>
            </a:r>
            <a:endParaRPr lang="en-US" sz="950" dirty="0"/>
          </a:p>
        </p:txBody>
      </p:sp>
      <p:sp>
        <p:nvSpPr>
          <p:cNvPr id="41" name="Shape 39"/>
          <p:cNvSpPr/>
          <p:nvPr/>
        </p:nvSpPr>
        <p:spPr>
          <a:xfrm>
            <a:off x="8348472" y="2880360"/>
            <a:ext cx="0" cy="1152144"/>
          </a:xfrm>
          <a:prstGeom prst="line">
            <a:avLst/>
          </a:prstGeom>
          <a:noFill/>
          <a:ln w="12700">
            <a:solidFill>
              <a:srgbClr val="1B7E5A"/>
            </a:solidFill>
            <a:prstDash val="solid"/>
          </a:ln>
        </p:spPr>
      </p:sp>
      <p:sp>
        <p:nvSpPr>
          <p:cNvPr id="42" name="Shape 40"/>
          <p:cNvSpPr/>
          <p:nvPr/>
        </p:nvSpPr>
        <p:spPr>
          <a:xfrm>
            <a:off x="8257032" y="2788920"/>
            <a:ext cx="182880" cy="182880"/>
          </a:xfrm>
          <a:prstGeom prst="ellipse">
            <a:avLst/>
          </a:prstGeom>
          <a:solidFill>
            <a:srgbClr val="1B7E5A"/>
          </a:solidFill>
          <a:ln w="12700">
            <a:solidFill>
              <a:srgbClr val="1B7E5A"/>
            </a:solidFill>
            <a:prstDash val="solid"/>
          </a:ln>
        </p:spPr>
      </p:sp>
      <p:sp>
        <p:nvSpPr>
          <p:cNvPr id="43" name="Shape 41"/>
          <p:cNvSpPr/>
          <p:nvPr/>
        </p:nvSpPr>
        <p:spPr>
          <a:xfrm>
            <a:off x="7699248" y="2946197"/>
            <a:ext cx="1298448" cy="292608"/>
          </a:xfrm>
          <a:prstGeom prst="rect">
            <a:avLst/>
          </a:prstGeom>
          <a:solidFill>
            <a:srgbClr val="1B7E5A"/>
          </a:solidFill>
          <a:ln w="12700">
            <a:solidFill>
              <a:srgbClr val="1B7E5A"/>
            </a:solidFill>
            <a:prstDash val="solid"/>
          </a:ln>
        </p:spPr>
      </p:sp>
      <p:sp>
        <p:nvSpPr>
          <p:cNvPr id="44" name="Text 42"/>
          <p:cNvSpPr/>
          <p:nvPr/>
        </p:nvSpPr>
        <p:spPr>
          <a:xfrm>
            <a:off x="7699248" y="2946197"/>
            <a:ext cx="129844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2012</a:t>
            </a:r>
            <a:endParaRPr lang="en-US" sz="1300" dirty="0"/>
          </a:p>
        </p:txBody>
      </p:sp>
      <p:sp>
        <p:nvSpPr>
          <p:cNvPr id="45" name="Shape 43"/>
          <p:cNvSpPr/>
          <p:nvPr/>
        </p:nvSpPr>
        <p:spPr>
          <a:xfrm>
            <a:off x="7653528" y="3238805"/>
            <a:ext cx="1389888" cy="1122883"/>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46" name="Text 44"/>
          <p:cNvSpPr/>
          <p:nvPr/>
        </p:nvSpPr>
        <p:spPr>
          <a:xfrm>
            <a:off x="7717536" y="3266237"/>
            <a:ext cx="1261872" cy="320040"/>
          </a:xfrm>
          <a:prstGeom prst="rect">
            <a:avLst/>
          </a:prstGeom>
          <a:noFill/>
          <a:ln/>
        </p:spPr>
        <p:txBody>
          <a:bodyPr wrap="square"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AlexNet Era</a:t>
            </a:r>
            <a:endParaRPr lang="en-US" sz="1050" dirty="0"/>
          </a:p>
        </p:txBody>
      </p:sp>
      <p:sp>
        <p:nvSpPr>
          <p:cNvPr id="47" name="Text 45"/>
          <p:cNvSpPr/>
          <p:nvPr/>
        </p:nvSpPr>
        <p:spPr>
          <a:xfrm>
            <a:off x="7717536" y="3586277"/>
            <a:ext cx="1261872" cy="455371"/>
          </a:xfrm>
          <a:prstGeom prst="rect">
            <a:avLst/>
          </a:prstGeom>
          <a:noFill/>
          <a:ln/>
        </p:spPr>
        <p:txBody>
          <a:bodyPr wrap="square" rtlCol="0" anchor="ctr"/>
          <a:lstStyle/>
          <a:p>
            <a:pPr indent="0" marL="0">
              <a:buNone/>
            </a:pPr>
            <a:r>
              <a:rPr lang="en-US" sz="950" dirty="0">
                <a:solidFill>
                  <a:srgbClr val="3D4F6B"/>
                </a:solidFill>
                <a:latin typeface="Calibri" pitchFamily="34" charset="0"/>
                <a:ea typeface="Calibri" pitchFamily="34" charset="-122"/>
                <a:cs typeface="Calibri" pitchFamily="34" charset="-120"/>
              </a:rPr>
              <a:t>LeNet's ideas at scale — deep CNNs dominate ImageNet thanks to GPUs.</a:t>
            </a:r>
            <a:endParaRPr lang="en-US" sz="950" dirty="0"/>
          </a:p>
        </p:txBody>
      </p:sp>
      <p:sp>
        <p:nvSpPr>
          <p:cNvPr id="48" name="Shape 46"/>
          <p:cNvSpPr/>
          <p:nvPr/>
        </p:nvSpPr>
        <p:spPr>
          <a:xfrm>
            <a:off x="8732520" y="1234440"/>
            <a:ext cx="73152" cy="3657600"/>
          </a:xfrm>
          <a:prstGeom prst="rect">
            <a:avLst/>
          </a:prstGeom>
          <a:solidFill>
            <a:srgbClr val="C8992A"/>
          </a:solidFill>
          <a:ln w="12700">
            <a:solidFill>
              <a:srgbClr val="C8992A"/>
            </a:solidFill>
            <a:prstDash val="solid"/>
          </a:ln>
        </p:spPr>
      </p:sp>
      <p:sp>
        <p:nvSpPr>
          <p:cNvPr id="49" name="Text 47"/>
          <p:cNvSpPr/>
          <p:nvPr/>
        </p:nvSpPr>
        <p:spPr>
          <a:xfrm>
            <a:off x="8897112" y="1234440"/>
            <a:ext cx="640080" cy="640080"/>
          </a:xfrm>
          <a:prstGeom prst="rect">
            <a:avLst/>
          </a:prstGeom>
          <a:noFill/>
          <a:ln/>
        </p:spPr>
        <p:txBody>
          <a:bodyPr wrap="square" lIns="0" tIns="0" rIns="0" bIns="0" rtlCol="0" anchor="ctr"/>
          <a:lstStyle/>
          <a:p>
            <a:pPr indent="0" marL="0">
              <a:buNone/>
            </a:pPr>
            <a:r>
              <a:rPr lang="en-US" sz="1100" b="1" dirty="0">
                <a:solidFill>
                  <a:srgbClr val="0B1D3A"/>
                </a:solidFill>
                <a:latin typeface="Calibri" pitchFamily="34" charset="0"/>
                <a:ea typeface="Calibri" pitchFamily="34" charset="-122"/>
                <a:cs typeface="Calibri" pitchFamily="34" charset="-120"/>
              </a:rPr>
              <a:t>The Problem</a:t>
            </a:r>
            <a:endParaRPr lang="en-US" sz="1100" dirty="0"/>
          </a:p>
          <a:p>
            <a:pPr indent="0" marL="0">
              <a:buNone/>
            </a:pPr>
            <a:r>
              <a:rPr lang="en-US" sz="1100" b="1" dirty="0">
                <a:solidFill>
                  <a:srgbClr val="0B1D3A"/>
                </a:solidFill>
                <a:latin typeface="Calibri" pitchFamily="34" charset="0"/>
                <a:ea typeface="Calibri" pitchFamily="34" charset="-122"/>
                <a:cs typeface="Calibri" pitchFamily="34" charset="-120"/>
              </a:rPr>
              <a:t>in 1998</a:t>
            </a:r>
            <a:endParaRPr lang="en-US" sz="1100" dirty="0"/>
          </a:p>
        </p:txBody>
      </p:sp>
      <p:sp>
        <p:nvSpPr>
          <p:cNvPr id="50" name="Text 48"/>
          <p:cNvSpPr/>
          <p:nvPr/>
        </p:nvSpPr>
        <p:spPr>
          <a:xfrm>
            <a:off x="8897112" y="1892808"/>
            <a:ext cx="658368" cy="2926080"/>
          </a:xfrm>
          <a:prstGeom prst="rect">
            <a:avLst/>
          </a:prstGeom>
          <a:noFill/>
          <a:ln/>
        </p:spPr>
        <p:txBody>
          <a:bodyPr wrap="square" rtlCol="0" anchor="ctr"/>
          <a:lstStyle/>
          <a:p>
            <a:pPr indent="0" marL="0">
              <a:buNone/>
            </a:pPr>
            <a:r>
              <a:rPr lang="en-US" sz="900" b="1" dirty="0">
                <a:solidFill>
                  <a:srgbClr val="C0392B"/>
                </a:solidFill>
              </a:rPr>
              <a:t>Manual feature engineering
</a:t>
            </a:r>
            <a:endParaRPr lang="en-US" sz="900" dirty="0"/>
          </a:p>
          <a:p>
            <a:pPr indent="0" marL="0">
              <a:buNone/>
            </a:pPr>
            <a:r>
              <a:rPr lang="en-US" sz="900" dirty="0">
                <a:solidFill>
                  <a:srgbClr val="3D4F6B"/>
                </a:solidFill>
              </a:rPr>
              <a:t>required expert domain knowledge
</a:t>
            </a:r>
            <a:endParaRPr lang="en-US" sz="900" dirty="0"/>
          </a:p>
          <a:p>
            <a:pPr indent="0" marL="0">
              <a:buNone/>
            </a:pPr>
            <a:r>
              <a:rPr lang="en-US" sz="900" b="1" dirty="0">
                <a:solidFill>
                  <a:srgbClr val="C0392B"/>
                </a:solidFill>
              </a:rPr>
              <a:t>Not generalisable
</a:t>
            </a:r>
            <a:endParaRPr lang="en-US" sz="900" dirty="0"/>
          </a:p>
          <a:p>
            <a:pPr indent="0" marL="0">
              <a:buNone/>
            </a:pPr>
            <a:r>
              <a:rPr lang="en-US" sz="900" dirty="0">
                <a:solidFill>
                  <a:srgbClr val="3D4F6B"/>
                </a:solidFill>
              </a:rPr>
              <a:t>across tasks or domains
</a:t>
            </a:r>
            <a:endParaRPr lang="en-US" sz="900" dirty="0"/>
          </a:p>
          <a:p>
            <a:pPr indent="0" marL="0">
              <a:buNone/>
            </a:pPr>
            <a:r>
              <a:rPr lang="en-US" sz="900" b="1" dirty="0">
                <a:solidFill>
                  <a:srgbClr val="C0392B"/>
                </a:solidFill>
              </a:rPr>
              <a:t>Fully connected nets
</a:t>
            </a:r>
            <a:endParaRPr lang="en-US" sz="900" dirty="0"/>
          </a:p>
          <a:p>
            <a:pPr indent="0" marL="0">
              <a:buNone/>
            </a:pPr>
            <a:r>
              <a:rPr lang="en-US" sz="900" dirty="0">
                <a:solidFill>
                  <a:srgbClr val="3D4F6B"/>
                </a:solidFill>
              </a:rPr>
              <a:t>ignored spatial structure</a:t>
            </a:r>
            <a:endParaRPr lang="en-US" sz="900" dirty="0"/>
          </a:p>
          <a:p>
            <a:pPr indent="0" marL="0">
              <a:buNone/>
            </a:pPr>
            <a:r>
              <a:rPr lang="en-US" sz="900" dirty="0">
                <a:solidFill>
                  <a:srgbClr val="3D4F6B"/>
                </a:solidFill>
              </a:rPr>
              <a:t>of images entirely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LeNet-5: Full Architecture at a Glance</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Yann LeCun et al., 1998 — 7 Trainable Layers</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1078992" y="1261872"/>
            <a:ext cx="749808" cy="2651760"/>
          </a:xfrm>
          <a:prstGeom prst="rect">
            <a:avLst/>
          </a:prstGeom>
          <a:solidFill>
            <a:srgbClr val="1A3260"/>
          </a:solidFill>
          <a:ln w="12700">
            <a:solidFill>
              <a:srgbClr val="1A3260"/>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1078992" y="1335024"/>
            <a:ext cx="74980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INPUT</a:t>
            </a:r>
            <a:endParaRPr lang="en-US" sz="1300" dirty="0"/>
          </a:p>
        </p:txBody>
      </p:sp>
      <p:sp>
        <p:nvSpPr>
          <p:cNvPr id="7" name="Shape 5"/>
          <p:cNvSpPr/>
          <p:nvPr/>
        </p:nvSpPr>
        <p:spPr>
          <a:xfrm>
            <a:off x="1078992" y="1682496"/>
            <a:ext cx="749808" cy="27432"/>
          </a:xfrm>
          <a:prstGeom prst="rect">
            <a:avLst/>
          </a:prstGeom>
          <a:solidFill>
            <a:srgbClr val="FFFFFF">
              <a:alpha val="40000"/>
            </a:srgbClr>
          </a:solidFill>
          <a:ln w="12700">
            <a:solidFill>
              <a:srgbClr val="FFFFFF">
                <a:alpha val="40000"/>
              </a:srgbClr>
            </a:solidFill>
            <a:prstDash val="solid"/>
          </a:ln>
        </p:spPr>
      </p:sp>
      <p:sp>
        <p:nvSpPr>
          <p:cNvPr id="8" name="Text 6"/>
          <p:cNvSpPr/>
          <p:nvPr/>
        </p:nvSpPr>
        <p:spPr>
          <a:xfrm>
            <a:off x="1078992" y="1764792"/>
            <a:ext cx="749808" cy="502920"/>
          </a:xfrm>
          <a:prstGeom prst="rect">
            <a:avLst/>
          </a:prstGeom>
          <a:noFill/>
          <a:ln/>
        </p:spPr>
        <p:txBody>
          <a:bodyPr wrap="square" lIns="0" tIns="0" rIns="0" bIns="0" rtlCol="0" anchor="ctr"/>
          <a:lstStyle/>
          <a:p>
            <a:pPr algn="ctr" indent="0" marL="0">
              <a:buNone/>
            </a:pPr>
            <a:r>
              <a:rPr lang="en-US" sz="1150" b="1" dirty="0">
                <a:solidFill>
                  <a:srgbClr val="E8B84B"/>
                </a:solidFill>
                <a:latin typeface="Calibri" pitchFamily="34" charset="0"/>
                <a:ea typeface="Calibri" pitchFamily="34" charset="-122"/>
                <a:cs typeface="Calibri" pitchFamily="34" charset="-120"/>
              </a:rPr>
              <a:t>32×32×1</a:t>
            </a:r>
            <a:endParaRPr lang="en-US" sz="1150" dirty="0"/>
          </a:p>
        </p:txBody>
      </p:sp>
      <p:sp>
        <p:nvSpPr>
          <p:cNvPr id="9" name="Text 7"/>
          <p:cNvSpPr/>
          <p:nvPr/>
        </p:nvSpPr>
        <p:spPr>
          <a:xfrm>
            <a:off x="1078992" y="2313432"/>
            <a:ext cx="749808" cy="1371600"/>
          </a:xfrm>
          <a:prstGeom prst="rect">
            <a:avLst/>
          </a:prstGeom>
          <a:noFill/>
          <a:ln/>
        </p:spPr>
        <p:txBody>
          <a:bodyPr wrap="square" rtlCol="0" anchor="t"/>
          <a:lstStyle/>
          <a:p>
            <a:pPr algn="ctr" indent="0" marL="0">
              <a:buNone/>
            </a:pPr>
            <a:r>
              <a:rPr lang="en-US" sz="1050" dirty="0">
                <a:solidFill>
                  <a:srgbClr val="B8C5D9"/>
                </a:solidFill>
                <a:latin typeface="Calibri" pitchFamily="34" charset="0"/>
                <a:ea typeface="Calibri" pitchFamily="34" charset="-122"/>
                <a:cs typeface="Calibri" pitchFamily="34" charset="-120"/>
              </a:rPr>
              <a:t>Grayscale</a:t>
            </a:r>
            <a:endParaRPr lang="en-US" sz="1050" dirty="0"/>
          </a:p>
          <a:p>
            <a:pPr algn="ctr" indent="0" marL="0">
              <a:buNone/>
            </a:pPr>
            <a:r>
              <a:rPr lang="en-US" sz="1050" dirty="0">
                <a:solidFill>
                  <a:srgbClr val="B8C5D9"/>
                </a:solidFill>
                <a:latin typeface="Calibri" pitchFamily="34" charset="0"/>
                <a:ea typeface="Calibri" pitchFamily="34" charset="-122"/>
                <a:cs typeface="Calibri" pitchFamily="34" charset="-120"/>
              </a:rPr>
              <a:t>Image</a:t>
            </a:r>
            <a:endParaRPr lang="en-US" sz="1050" dirty="0"/>
          </a:p>
        </p:txBody>
      </p:sp>
      <p:sp>
        <p:nvSpPr>
          <p:cNvPr id="10" name="Text 8"/>
          <p:cNvSpPr/>
          <p:nvPr/>
        </p:nvSpPr>
        <p:spPr>
          <a:xfrm>
            <a:off x="1837944" y="2386584"/>
            <a:ext cx="109728" cy="402336"/>
          </a:xfrm>
          <a:prstGeom prst="rect">
            <a:avLst/>
          </a:prstGeom>
          <a:noFill/>
          <a:ln/>
        </p:spPr>
        <p:txBody>
          <a:bodyPr wrap="square" lIns="0" tIns="0" rIns="0" bIns="0" rtlCol="0" anchor="ctr"/>
          <a:lstStyle/>
          <a:p>
            <a:pPr algn="ctr" indent="0" marL="0">
              <a:buNone/>
            </a:pPr>
            <a:r>
              <a:rPr lang="en-US" sz="1600" b="1" dirty="0">
                <a:solidFill>
                  <a:srgbClr val="C8992A"/>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1938528" y="1261872"/>
            <a:ext cx="822960" cy="2651760"/>
          </a:xfrm>
          <a:prstGeom prst="rect">
            <a:avLst/>
          </a:prstGeom>
          <a:solidFill>
            <a:srgbClr val="1A6B7A"/>
          </a:solidFill>
          <a:ln w="12700">
            <a:solidFill>
              <a:srgbClr val="1A6B7A"/>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1938528" y="1335024"/>
            <a:ext cx="8229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C1</a:t>
            </a:r>
            <a:endParaRPr lang="en-US" sz="1300" dirty="0"/>
          </a:p>
        </p:txBody>
      </p:sp>
      <p:sp>
        <p:nvSpPr>
          <p:cNvPr id="13" name="Shape 11"/>
          <p:cNvSpPr/>
          <p:nvPr/>
        </p:nvSpPr>
        <p:spPr>
          <a:xfrm>
            <a:off x="1938528" y="1682496"/>
            <a:ext cx="822960" cy="27432"/>
          </a:xfrm>
          <a:prstGeom prst="rect">
            <a:avLst/>
          </a:prstGeom>
          <a:solidFill>
            <a:srgbClr val="FFFFFF">
              <a:alpha val="40000"/>
            </a:srgbClr>
          </a:solidFill>
          <a:ln w="12700">
            <a:solidFill>
              <a:srgbClr val="FFFFFF">
                <a:alpha val="40000"/>
              </a:srgbClr>
            </a:solidFill>
            <a:prstDash val="solid"/>
          </a:ln>
        </p:spPr>
      </p:sp>
      <p:sp>
        <p:nvSpPr>
          <p:cNvPr id="14" name="Text 12"/>
          <p:cNvSpPr/>
          <p:nvPr/>
        </p:nvSpPr>
        <p:spPr>
          <a:xfrm>
            <a:off x="1938528" y="1764792"/>
            <a:ext cx="822960" cy="502920"/>
          </a:xfrm>
          <a:prstGeom prst="rect">
            <a:avLst/>
          </a:prstGeom>
          <a:noFill/>
          <a:ln/>
        </p:spPr>
        <p:txBody>
          <a:bodyPr wrap="square" lIns="0" tIns="0" rIns="0" bIns="0" rtlCol="0" anchor="ctr"/>
          <a:lstStyle/>
          <a:p>
            <a:pPr algn="ctr" indent="0" marL="0">
              <a:buNone/>
            </a:pPr>
            <a:r>
              <a:rPr lang="en-US" sz="1150" b="1" dirty="0">
                <a:solidFill>
                  <a:srgbClr val="E8B84B"/>
                </a:solidFill>
                <a:latin typeface="Calibri" pitchFamily="34" charset="0"/>
                <a:ea typeface="Calibri" pitchFamily="34" charset="-122"/>
                <a:cs typeface="Calibri" pitchFamily="34" charset="-120"/>
              </a:rPr>
              <a:t>28×28×6</a:t>
            </a:r>
            <a:endParaRPr lang="en-US" sz="1150" dirty="0"/>
          </a:p>
        </p:txBody>
      </p:sp>
      <p:sp>
        <p:nvSpPr>
          <p:cNvPr id="15" name="Text 13"/>
          <p:cNvSpPr/>
          <p:nvPr/>
        </p:nvSpPr>
        <p:spPr>
          <a:xfrm>
            <a:off x="1938528" y="2313432"/>
            <a:ext cx="822960" cy="1371600"/>
          </a:xfrm>
          <a:prstGeom prst="rect">
            <a:avLst/>
          </a:prstGeom>
          <a:noFill/>
          <a:ln/>
        </p:spPr>
        <p:txBody>
          <a:bodyPr wrap="square" rtlCol="0" anchor="t"/>
          <a:lstStyle/>
          <a:p>
            <a:pPr algn="ctr" indent="0" marL="0">
              <a:buNone/>
            </a:pPr>
            <a:r>
              <a:rPr lang="en-US" sz="1050" dirty="0">
                <a:solidFill>
                  <a:srgbClr val="B8C5D9"/>
                </a:solidFill>
                <a:latin typeface="Calibri" pitchFamily="34" charset="0"/>
                <a:ea typeface="Calibri" pitchFamily="34" charset="-122"/>
                <a:cs typeface="Calibri" pitchFamily="34" charset="-120"/>
              </a:rPr>
              <a:t>Conv</a:t>
            </a:r>
            <a:endParaRPr lang="en-US" sz="1050" dirty="0"/>
          </a:p>
          <a:p>
            <a:pPr algn="ctr" indent="0" marL="0">
              <a:buNone/>
            </a:pPr>
            <a:r>
              <a:rPr lang="en-US" sz="1050" dirty="0">
                <a:solidFill>
                  <a:srgbClr val="B8C5D9"/>
                </a:solidFill>
                <a:latin typeface="Calibri" pitchFamily="34" charset="0"/>
                <a:ea typeface="Calibri" pitchFamily="34" charset="-122"/>
                <a:cs typeface="Calibri" pitchFamily="34" charset="-120"/>
              </a:rPr>
              <a:t>6 @ 5×5</a:t>
            </a:r>
            <a:endParaRPr lang="en-US" sz="1050" dirty="0"/>
          </a:p>
        </p:txBody>
      </p:sp>
      <p:sp>
        <p:nvSpPr>
          <p:cNvPr id="16" name="Text 14"/>
          <p:cNvSpPr/>
          <p:nvPr/>
        </p:nvSpPr>
        <p:spPr>
          <a:xfrm>
            <a:off x="2770632" y="2386584"/>
            <a:ext cx="109728" cy="402336"/>
          </a:xfrm>
          <a:prstGeom prst="rect">
            <a:avLst/>
          </a:prstGeom>
          <a:noFill/>
          <a:ln/>
        </p:spPr>
        <p:txBody>
          <a:bodyPr wrap="square" lIns="0" tIns="0" rIns="0" bIns="0" rtlCol="0" anchor="ctr"/>
          <a:lstStyle/>
          <a:p>
            <a:pPr algn="ctr" indent="0" marL="0">
              <a:buNone/>
            </a:pPr>
            <a:r>
              <a:rPr lang="en-US" sz="1600" b="1" dirty="0">
                <a:solidFill>
                  <a:srgbClr val="C8992A"/>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2871216" y="1261872"/>
            <a:ext cx="749808" cy="2651760"/>
          </a:xfrm>
          <a:prstGeom prst="rect">
            <a:avLst/>
          </a:prstGeom>
          <a:solidFill>
            <a:srgbClr val="3D4F6B"/>
          </a:solidFill>
          <a:ln w="12700">
            <a:solidFill>
              <a:srgbClr val="3D4F6B"/>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2871216" y="1335024"/>
            <a:ext cx="74980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S2</a:t>
            </a:r>
            <a:endParaRPr lang="en-US" sz="1300" dirty="0"/>
          </a:p>
        </p:txBody>
      </p:sp>
      <p:sp>
        <p:nvSpPr>
          <p:cNvPr id="19" name="Shape 17"/>
          <p:cNvSpPr/>
          <p:nvPr/>
        </p:nvSpPr>
        <p:spPr>
          <a:xfrm>
            <a:off x="2871216" y="1682496"/>
            <a:ext cx="749808" cy="27432"/>
          </a:xfrm>
          <a:prstGeom prst="rect">
            <a:avLst/>
          </a:prstGeom>
          <a:solidFill>
            <a:srgbClr val="FFFFFF">
              <a:alpha val="40000"/>
            </a:srgbClr>
          </a:solidFill>
          <a:ln w="12700">
            <a:solidFill>
              <a:srgbClr val="FFFFFF">
                <a:alpha val="40000"/>
              </a:srgbClr>
            </a:solidFill>
            <a:prstDash val="solid"/>
          </a:ln>
        </p:spPr>
      </p:sp>
      <p:sp>
        <p:nvSpPr>
          <p:cNvPr id="20" name="Text 18"/>
          <p:cNvSpPr/>
          <p:nvPr/>
        </p:nvSpPr>
        <p:spPr>
          <a:xfrm>
            <a:off x="2871216" y="1764792"/>
            <a:ext cx="749808" cy="502920"/>
          </a:xfrm>
          <a:prstGeom prst="rect">
            <a:avLst/>
          </a:prstGeom>
          <a:noFill/>
          <a:ln/>
        </p:spPr>
        <p:txBody>
          <a:bodyPr wrap="square" lIns="0" tIns="0" rIns="0" bIns="0" rtlCol="0" anchor="ctr"/>
          <a:lstStyle/>
          <a:p>
            <a:pPr algn="ctr" indent="0" marL="0">
              <a:buNone/>
            </a:pPr>
            <a:r>
              <a:rPr lang="en-US" sz="1150" b="1" dirty="0">
                <a:solidFill>
                  <a:srgbClr val="E8B84B"/>
                </a:solidFill>
                <a:latin typeface="Calibri" pitchFamily="34" charset="0"/>
                <a:ea typeface="Calibri" pitchFamily="34" charset="-122"/>
                <a:cs typeface="Calibri" pitchFamily="34" charset="-120"/>
              </a:rPr>
              <a:t>14×14×6</a:t>
            </a:r>
            <a:endParaRPr lang="en-US" sz="1150" dirty="0"/>
          </a:p>
        </p:txBody>
      </p:sp>
      <p:sp>
        <p:nvSpPr>
          <p:cNvPr id="21" name="Text 19"/>
          <p:cNvSpPr/>
          <p:nvPr/>
        </p:nvSpPr>
        <p:spPr>
          <a:xfrm>
            <a:off x="2871216" y="2313432"/>
            <a:ext cx="749808" cy="1371600"/>
          </a:xfrm>
          <a:prstGeom prst="rect">
            <a:avLst/>
          </a:prstGeom>
          <a:noFill/>
          <a:ln/>
        </p:spPr>
        <p:txBody>
          <a:bodyPr wrap="square" rtlCol="0" anchor="t"/>
          <a:lstStyle/>
          <a:p>
            <a:pPr algn="ctr" indent="0" marL="0">
              <a:buNone/>
            </a:pPr>
            <a:r>
              <a:rPr lang="en-US" sz="1050" dirty="0">
                <a:solidFill>
                  <a:srgbClr val="B8C5D9"/>
                </a:solidFill>
                <a:latin typeface="Calibri" pitchFamily="34" charset="0"/>
                <a:ea typeface="Calibri" pitchFamily="34" charset="-122"/>
                <a:cs typeface="Calibri" pitchFamily="34" charset="-120"/>
              </a:rPr>
              <a:t>AvgPool</a:t>
            </a:r>
            <a:endParaRPr lang="en-US" sz="1050" dirty="0"/>
          </a:p>
          <a:p>
            <a:pPr algn="ctr" indent="0" marL="0">
              <a:buNone/>
            </a:pPr>
            <a:r>
              <a:rPr lang="en-US" sz="1050" dirty="0">
                <a:solidFill>
                  <a:srgbClr val="B8C5D9"/>
                </a:solidFill>
                <a:latin typeface="Calibri" pitchFamily="34" charset="0"/>
                <a:ea typeface="Calibri" pitchFamily="34" charset="-122"/>
                <a:cs typeface="Calibri" pitchFamily="34" charset="-120"/>
              </a:rPr>
              <a:t>2×2</a:t>
            </a:r>
            <a:endParaRPr lang="en-US" sz="1050" dirty="0"/>
          </a:p>
        </p:txBody>
      </p:sp>
      <p:sp>
        <p:nvSpPr>
          <p:cNvPr id="22" name="Text 20"/>
          <p:cNvSpPr/>
          <p:nvPr/>
        </p:nvSpPr>
        <p:spPr>
          <a:xfrm>
            <a:off x="3630168" y="2386584"/>
            <a:ext cx="109728" cy="402336"/>
          </a:xfrm>
          <a:prstGeom prst="rect">
            <a:avLst/>
          </a:prstGeom>
          <a:noFill/>
          <a:ln/>
        </p:spPr>
        <p:txBody>
          <a:bodyPr wrap="square" lIns="0" tIns="0" rIns="0" bIns="0" rtlCol="0" anchor="ctr"/>
          <a:lstStyle/>
          <a:p>
            <a:pPr algn="ctr" indent="0" marL="0">
              <a:buNone/>
            </a:pPr>
            <a:r>
              <a:rPr lang="en-US" sz="1600" b="1" dirty="0">
                <a:solidFill>
                  <a:srgbClr val="C8992A"/>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3730752" y="1261872"/>
            <a:ext cx="822960" cy="2651760"/>
          </a:xfrm>
          <a:prstGeom prst="rect">
            <a:avLst/>
          </a:prstGeom>
          <a:solidFill>
            <a:srgbClr val="1A6B7A"/>
          </a:solidFill>
          <a:ln w="12700">
            <a:solidFill>
              <a:srgbClr val="1A6B7A"/>
            </a:solidFill>
            <a:prstDash val="solid"/>
          </a:ln>
          <a:effectLst>
            <a:outerShdw sx="100000" sy="100000" kx="0" ky="0" algn="bl" rotWithShape="0" blurRad="101600" dist="38100" dir="8100000">
              <a:srgbClr val="000000">
                <a:alpha val="18000"/>
              </a:srgbClr>
            </a:outerShdw>
          </a:effectLst>
        </p:spPr>
      </p:sp>
      <p:sp>
        <p:nvSpPr>
          <p:cNvPr id="24" name="Text 22"/>
          <p:cNvSpPr/>
          <p:nvPr/>
        </p:nvSpPr>
        <p:spPr>
          <a:xfrm>
            <a:off x="3730752" y="1335024"/>
            <a:ext cx="8229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C3</a:t>
            </a:r>
            <a:endParaRPr lang="en-US" sz="1300" dirty="0"/>
          </a:p>
        </p:txBody>
      </p:sp>
      <p:sp>
        <p:nvSpPr>
          <p:cNvPr id="25" name="Shape 23"/>
          <p:cNvSpPr/>
          <p:nvPr/>
        </p:nvSpPr>
        <p:spPr>
          <a:xfrm>
            <a:off x="3730752" y="1682496"/>
            <a:ext cx="822960" cy="27432"/>
          </a:xfrm>
          <a:prstGeom prst="rect">
            <a:avLst/>
          </a:prstGeom>
          <a:solidFill>
            <a:srgbClr val="FFFFFF">
              <a:alpha val="40000"/>
            </a:srgbClr>
          </a:solidFill>
          <a:ln w="12700">
            <a:solidFill>
              <a:srgbClr val="FFFFFF">
                <a:alpha val="40000"/>
              </a:srgbClr>
            </a:solidFill>
            <a:prstDash val="solid"/>
          </a:ln>
        </p:spPr>
      </p:sp>
      <p:sp>
        <p:nvSpPr>
          <p:cNvPr id="26" name="Text 24"/>
          <p:cNvSpPr/>
          <p:nvPr/>
        </p:nvSpPr>
        <p:spPr>
          <a:xfrm>
            <a:off x="3730752" y="1764792"/>
            <a:ext cx="822960" cy="502920"/>
          </a:xfrm>
          <a:prstGeom prst="rect">
            <a:avLst/>
          </a:prstGeom>
          <a:noFill/>
          <a:ln/>
        </p:spPr>
        <p:txBody>
          <a:bodyPr wrap="square" lIns="0" tIns="0" rIns="0" bIns="0" rtlCol="0" anchor="ctr"/>
          <a:lstStyle/>
          <a:p>
            <a:pPr algn="ctr" indent="0" marL="0">
              <a:buNone/>
            </a:pPr>
            <a:r>
              <a:rPr lang="en-US" sz="1150" b="1" dirty="0">
                <a:solidFill>
                  <a:srgbClr val="E8B84B"/>
                </a:solidFill>
                <a:latin typeface="Calibri" pitchFamily="34" charset="0"/>
                <a:ea typeface="Calibri" pitchFamily="34" charset="-122"/>
                <a:cs typeface="Calibri" pitchFamily="34" charset="-120"/>
              </a:rPr>
              <a:t>10×10×16</a:t>
            </a:r>
            <a:endParaRPr lang="en-US" sz="1150" dirty="0"/>
          </a:p>
        </p:txBody>
      </p:sp>
      <p:sp>
        <p:nvSpPr>
          <p:cNvPr id="27" name="Text 25"/>
          <p:cNvSpPr/>
          <p:nvPr/>
        </p:nvSpPr>
        <p:spPr>
          <a:xfrm>
            <a:off x="3730752" y="2313432"/>
            <a:ext cx="822960" cy="1371600"/>
          </a:xfrm>
          <a:prstGeom prst="rect">
            <a:avLst/>
          </a:prstGeom>
          <a:noFill/>
          <a:ln/>
        </p:spPr>
        <p:txBody>
          <a:bodyPr wrap="square" rtlCol="0" anchor="t"/>
          <a:lstStyle/>
          <a:p>
            <a:pPr algn="ctr" indent="0" marL="0">
              <a:buNone/>
            </a:pPr>
            <a:r>
              <a:rPr lang="en-US" sz="1050" dirty="0">
                <a:solidFill>
                  <a:srgbClr val="B8C5D9"/>
                </a:solidFill>
                <a:latin typeface="Calibri" pitchFamily="34" charset="0"/>
                <a:ea typeface="Calibri" pitchFamily="34" charset="-122"/>
                <a:cs typeface="Calibri" pitchFamily="34" charset="-120"/>
              </a:rPr>
              <a:t>Conv</a:t>
            </a:r>
            <a:endParaRPr lang="en-US" sz="1050" dirty="0"/>
          </a:p>
          <a:p>
            <a:pPr algn="ctr" indent="0" marL="0">
              <a:buNone/>
            </a:pPr>
            <a:r>
              <a:rPr lang="en-US" sz="1050" dirty="0">
                <a:solidFill>
                  <a:srgbClr val="B8C5D9"/>
                </a:solidFill>
                <a:latin typeface="Calibri" pitchFamily="34" charset="0"/>
                <a:ea typeface="Calibri" pitchFamily="34" charset="-122"/>
                <a:cs typeface="Calibri" pitchFamily="34" charset="-120"/>
              </a:rPr>
              <a:t>16 @ 5×5</a:t>
            </a:r>
            <a:endParaRPr lang="en-US" sz="1050" dirty="0"/>
          </a:p>
        </p:txBody>
      </p:sp>
      <p:sp>
        <p:nvSpPr>
          <p:cNvPr id="28" name="Text 26"/>
          <p:cNvSpPr/>
          <p:nvPr/>
        </p:nvSpPr>
        <p:spPr>
          <a:xfrm>
            <a:off x="4562856" y="2386584"/>
            <a:ext cx="109728" cy="402336"/>
          </a:xfrm>
          <a:prstGeom prst="rect">
            <a:avLst/>
          </a:prstGeom>
          <a:noFill/>
          <a:ln/>
        </p:spPr>
        <p:txBody>
          <a:bodyPr wrap="square" lIns="0" tIns="0" rIns="0" bIns="0" rtlCol="0" anchor="ctr"/>
          <a:lstStyle/>
          <a:p>
            <a:pPr algn="ctr" indent="0" marL="0">
              <a:buNone/>
            </a:pPr>
            <a:r>
              <a:rPr lang="en-US" sz="1600" b="1" dirty="0">
                <a:solidFill>
                  <a:srgbClr val="C8992A"/>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4663440" y="1261872"/>
            <a:ext cx="749808" cy="2651760"/>
          </a:xfrm>
          <a:prstGeom prst="rect">
            <a:avLst/>
          </a:prstGeom>
          <a:solidFill>
            <a:srgbClr val="3D4F6B"/>
          </a:solidFill>
          <a:ln w="12700">
            <a:solidFill>
              <a:srgbClr val="3D4F6B"/>
            </a:solidFill>
            <a:prstDash val="solid"/>
          </a:ln>
          <a:effectLst>
            <a:outerShdw sx="100000" sy="100000" kx="0" ky="0" algn="bl" rotWithShape="0" blurRad="101600" dist="38100" dir="8100000">
              <a:srgbClr val="000000">
                <a:alpha val="18000"/>
              </a:srgbClr>
            </a:outerShdw>
          </a:effectLst>
        </p:spPr>
      </p:sp>
      <p:sp>
        <p:nvSpPr>
          <p:cNvPr id="30" name="Text 28"/>
          <p:cNvSpPr/>
          <p:nvPr/>
        </p:nvSpPr>
        <p:spPr>
          <a:xfrm>
            <a:off x="4663440" y="1335024"/>
            <a:ext cx="74980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S4</a:t>
            </a:r>
            <a:endParaRPr lang="en-US" sz="1300" dirty="0"/>
          </a:p>
        </p:txBody>
      </p:sp>
      <p:sp>
        <p:nvSpPr>
          <p:cNvPr id="31" name="Shape 29"/>
          <p:cNvSpPr/>
          <p:nvPr/>
        </p:nvSpPr>
        <p:spPr>
          <a:xfrm>
            <a:off x="4663440" y="1682496"/>
            <a:ext cx="749808" cy="27432"/>
          </a:xfrm>
          <a:prstGeom prst="rect">
            <a:avLst/>
          </a:prstGeom>
          <a:solidFill>
            <a:srgbClr val="FFFFFF">
              <a:alpha val="40000"/>
            </a:srgbClr>
          </a:solidFill>
          <a:ln w="12700">
            <a:solidFill>
              <a:srgbClr val="FFFFFF">
                <a:alpha val="40000"/>
              </a:srgbClr>
            </a:solidFill>
            <a:prstDash val="solid"/>
          </a:ln>
        </p:spPr>
      </p:sp>
      <p:sp>
        <p:nvSpPr>
          <p:cNvPr id="32" name="Text 30"/>
          <p:cNvSpPr/>
          <p:nvPr/>
        </p:nvSpPr>
        <p:spPr>
          <a:xfrm>
            <a:off x="4663440" y="1764792"/>
            <a:ext cx="749808" cy="502920"/>
          </a:xfrm>
          <a:prstGeom prst="rect">
            <a:avLst/>
          </a:prstGeom>
          <a:noFill/>
          <a:ln/>
        </p:spPr>
        <p:txBody>
          <a:bodyPr wrap="square" lIns="0" tIns="0" rIns="0" bIns="0" rtlCol="0" anchor="ctr"/>
          <a:lstStyle/>
          <a:p>
            <a:pPr algn="ctr" indent="0" marL="0">
              <a:buNone/>
            </a:pPr>
            <a:r>
              <a:rPr lang="en-US" sz="1150" b="1" dirty="0">
                <a:solidFill>
                  <a:srgbClr val="E8B84B"/>
                </a:solidFill>
                <a:latin typeface="Calibri" pitchFamily="34" charset="0"/>
                <a:ea typeface="Calibri" pitchFamily="34" charset="-122"/>
                <a:cs typeface="Calibri" pitchFamily="34" charset="-120"/>
              </a:rPr>
              <a:t>5×5×16</a:t>
            </a:r>
            <a:endParaRPr lang="en-US" sz="1150" dirty="0"/>
          </a:p>
        </p:txBody>
      </p:sp>
      <p:sp>
        <p:nvSpPr>
          <p:cNvPr id="33" name="Text 31"/>
          <p:cNvSpPr/>
          <p:nvPr/>
        </p:nvSpPr>
        <p:spPr>
          <a:xfrm>
            <a:off x="4663440" y="2313432"/>
            <a:ext cx="749808" cy="1371600"/>
          </a:xfrm>
          <a:prstGeom prst="rect">
            <a:avLst/>
          </a:prstGeom>
          <a:noFill/>
          <a:ln/>
        </p:spPr>
        <p:txBody>
          <a:bodyPr wrap="square" rtlCol="0" anchor="t"/>
          <a:lstStyle/>
          <a:p>
            <a:pPr algn="ctr" indent="0" marL="0">
              <a:buNone/>
            </a:pPr>
            <a:r>
              <a:rPr lang="en-US" sz="1050" dirty="0">
                <a:solidFill>
                  <a:srgbClr val="B8C5D9"/>
                </a:solidFill>
                <a:latin typeface="Calibri" pitchFamily="34" charset="0"/>
                <a:ea typeface="Calibri" pitchFamily="34" charset="-122"/>
                <a:cs typeface="Calibri" pitchFamily="34" charset="-120"/>
              </a:rPr>
              <a:t>AvgPool</a:t>
            </a:r>
            <a:endParaRPr lang="en-US" sz="1050" dirty="0"/>
          </a:p>
          <a:p>
            <a:pPr algn="ctr" indent="0" marL="0">
              <a:buNone/>
            </a:pPr>
            <a:r>
              <a:rPr lang="en-US" sz="1050" dirty="0">
                <a:solidFill>
                  <a:srgbClr val="B8C5D9"/>
                </a:solidFill>
                <a:latin typeface="Calibri" pitchFamily="34" charset="0"/>
                <a:ea typeface="Calibri" pitchFamily="34" charset="-122"/>
                <a:cs typeface="Calibri" pitchFamily="34" charset="-120"/>
              </a:rPr>
              <a:t>2×2</a:t>
            </a:r>
            <a:endParaRPr lang="en-US" sz="1050" dirty="0"/>
          </a:p>
        </p:txBody>
      </p:sp>
      <p:sp>
        <p:nvSpPr>
          <p:cNvPr id="34" name="Text 32"/>
          <p:cNvSpPr/>
          <p:nvPr/>
        </p:nvSpPr>
        <p:spPr>
          <a:xfrm>
            <a:off x="5422392" y="2386584"/>
            <a:ext cx="109728" cy="402336"/>
          </a:xfrm>
          <a:prstGeom prst="rect">
            <a:avLst/>
          </a:prstGeom>
          <a:noFill/>
          <a:ln/>
        </p:spPr>
        <p:txBody>
          <a:bodyPr wrap="square" lIns="0" tIns="0" rIns="0" bIns="0" rtlCol="0" anchor="ctr"/>
          <a:lstStyle/>
          <a:p>
            <a:pPr algn="ctr" indent="0" marL="0">
              <a:buNone/>
            </a:pPr>
            <a:r>
              <a:rPr lang="en-US" sz="1600" b="1" dirty="0">
                <a:solidFill>
                  <a:srgbClr val="C8992A"/>
                </a:solidFill>
                <a:latin typeface="Calibri" pitchFamily="34" charset="0"/>
                <a:ea typeface="Calibri" pitchFamily="34" charset="-122"/>
                <a:cs typeface="Calibri" pitchFamily="34" charset="-120"/>
              </a:rPr>
              <a:t>→</a:t>
            </a:r>
            <a:endParaRPr lang="en-US" sz="1600" dirty="0"/>
          </a:p>
        </p:txBody>
      </p:sp>
      <p:sp>
        <p:nvSpPr>
          <p:cNvPr id="35" name="Shape 33"/>
          <p:cNvSpPr/>
          <p:nvPr/>
        </p:nvSpPr>
        <p:spPr>
          <a:xfrm>
            <a:off x="5522976" y="1261872"/>
            <a:ext cx="822960" cy="2651760"/>
          </a:xfrm>
          <a:prstGeom prst="rect">
            <a:avLst/>
          </a:prstGeom>
          <a:solidFill>
            <a:srgbClr val="1A6B7A"/>
          </a:solidFill>
          <a:ln w="12700">
            <a:solidFill>
              <a:srgbClr val="1A6B7A"/>
            </a:solidFill>
            <a:prstDash val="solid"/>
          </a:ln>
          <a:effectLst>
            <a:outerShdw sx="100000" sy="100000" kx="0" ky="0" algn="bl" rotWithShape="0" blurRad="101600" dist="38100" dir="8100000">
              <a:srgbClr val="000000">
                <a:alpha val="18000"/>
              </a:srgbClr>
            </a:outerShdw>
          </a:effectLst>
        </p:spPr>
      </p:sp>
      <p:sp>
        <p:nvSpPr>
          <p:cNvPr id="36" name="Text 34"/>
          <p:cNvSpPr/>
          <p:nvPr/>
        </p:nvSpPr>
        <p:spPr>
          <a:xfrm>
            <a:off x="5522976" y="1335024"/>
            <a:ext cx="8229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C5</a:t>
            </a:r>
            <a:endParaRPr lang="en-US" sz="1300" dirty="0"/>
          </a:p>
        </p:txBody>
      </p:sp>
      <p:sp>
        <p:nvSpPr>
          <p:cNvPr id="37" name="Shape 35"/>
          <p:cNvSpPr/>
          <p:nvPr/>
        </p:nvSpPr>
        <p:spPr>
          <a:xfrm>
            <a:off x="5522976" y="1682496"/>
            <a:ext cx="822960" cy="27432"/>
          </a:xfrm>
          <a:prstGeom prst="rect">
            <a:avLst/>
          </a:prstGeom>
          <a:solidFill>
            <a:srgbClr val="FFFFFF">
              <a:alpha val="40000"/>
            </a:srgbClr>
          </a:solidFill>
          <a:ln w="12700">
            <a:solidFill>
              <a:srgbClr val="FFFFFF">
                <a:alpha val="40000"/>
              </a:srgbClr>
            </a:solidFill>
            <a:prstDash val="solid"/>
          </a:ln>
        </p:spPr>
      </p:sp>
      <p:sp>
        <p:nvSpPr>
          <p:cNvPr id="38" name="Text 36"/>
          <p:cNvSpPr/>
          <p:nvPr/>
        </p:nvSpPr>
        <p:spPr>
          <a:xfrm>
            <a:off x="5522976" y="1764792"/>
            <a:ext cx="822960" cy="502920"/>
          </a:xfrm>
          <a:prstGeom prst="rect">
            <a:avLst/>
          </a:prstGeom>
          <a:noFill/>
          <a:ln/>
        </p:spPr>
        <p:txBody>
          <a:bodyPr wrap="square" lIns="0" tIns="0" rIns="0" bIns="0" rtlCol="0" anchor="ctr"/>
          <a:lstStyle/>
          <a:p>
            <a:pPr algn="ctr" indent="0" marL="0">
              <a:buNone/>
            </a:pPr>
            <a:r>
              <a:rPr lang="en-US" sz="1150" b="1" dirty="0">
                <a:solidFill>
                  <a:srgbClr val="E8B84B"/>
                </a:solidFill>
                <a:latin typeface="Calibri" pitchFamily="34" charset="0"/>
                <a:ea typeface="Calibri" pitchFamily="34" charset="-122"/>
                <a:cs typeface="Calibri" pitchFamily="34" charset="-120"/>
              </a:rPr>
              <a:t>1×1×120</a:t>
            </a:r>
            <a:endParaRPr lang="en-US" sz="1150" dirty="0"/>
          </a:p>
        </p:txBody>
      </p:sp>
      <p:sp>
        <p:nvSpPr>
          <p:cNvPr id="39" name="Text 37"/>
          <p:cNvSpPr/>
          <p:nvPr/>
        </p:nvSpPr>
        <p:spPr>
          <a:xfrm>
            <a:off x="5522976" y="2313432"/>
            <a:ext cx="822960" cy="1371600"/>
          </a:xfrm>
          <a:prstGeom prst="rect">
            <a:avLst/>
          </a:prstGeom>
          <a:noFill/>
          <a:ln/>
        </p:spPr>
        <p:txBody>
          <a:bodyPr wrap="square" rtlCol="0" anchor="t"/>
          <a:lstStyle/>
          <a:p>
            <a:pPr algn="ctr" indent="0" marL="0">
              <a:buNone/>
            </a:pPr>
            <a:r>
              <a:rPr lang="en-US" sz="1050" dirty="0">
                <a:solidFill>
                  <a:srgbClr val="B8C5D9"/>
                </a:solidFill>
                <a:latin typeface="Calibri" pitchFamily="34" charset="0"/>
                <a:ea typeface="Calibri" pitchFamily="34" charset="-122"/>
                <a:cs typeface="Calibri" pitchFamily="34" charset="-120"/>
              </a:rPr>
              <a:t>Conv/FC</a:t>
            </a:r>
            <a:endParaRPr lang="en-US" sz="1050" dirty="0"/>
          </a:p>
          <a:p>
            <a:pPr algn="ctr" indent="0" marL="0">
              <a:buNone/>
            </a:pPr>
            <a:r>
              <a:rPr lang="en-US" sz="1050" dirty="0">
                <a:solidFill>
                  <a:srgbClr val="B8C5D9"/>
                </a:solidFill>
                <a:latin typeface="Calibri" pitchFamily="34" charset="0"/>
                <a:ea typeface="Calibri" pitchFamily="34" charset="-122"/>
                <a:cs typeface="Calibri" pitchFamily="34" charset="-120"/>
              </a:rPr>
              <a:t>120 @ 5×5</a:t>
            </a:r>
            <a:endParaRPr lang="en-US" sz="1050" dirty="0"/>
          </a:p>
        </p:txBody>
      </p:sp>
      <p:sp>
        <p:nvSpPr>
          <p:cNvPr id="40" name="Text 38"/>
          <p:cNvSpPr/>
          <p:nvPr/>
        </p:nvSpPr>
        <p:spPr>
          <a:xfrm>
            <a:off x="6355080" y="2386584"/>
            <a:ext cx="109728" cy="402336"/>
          </a:xfrm>
          <a:prstGeom prst="rect">
            <a:avLst/>
          </a:prstGeom>
          <a:noFill/>
          <a:ln/>
        </p:spPr>
        <p:txBody>
          <a:bodyPr wrap="square" lIns="0" tIns="0" rIns="0" bIns="0" rtlCol="0" anchor="ctr"/>
          <a:lstStyle/>
          <a:p>
            <a:pPr algn="ctr" indent="0" marL="0">
              <a:buNone/>
            </a:pPr>
            <a:r>
              <a:rPr lang="en-US" sz="1600" b="1" dirty="0">
                <a:solidFill>
                  <a:srgbClr val="C8992A"/>
                </a:solidFill>
                <a:latin typeface="Calibri" pitchFamily="34" charset="0"/>
                <a:ea typeface="Calibri" pitchFamily="34" charset="-122"/>
                <a:cs typeface="Calibri" pitchFamily="34" charset="-120"/>
              </a:rPr>
              <a:t>→</a:t>
            </a:r>
            <a:endParaRPr lang="en-US" sz="1600" dirty="0"/>
          </a:p>
        </p:txBody>
      </p:sp>
      <p:sp>
        <p:nvSpPr>
          <p:cNvPr id="41" name="Shape 39"/>
          <p:cNvSpPr/>
          <p:nvPr/>
        </p:nvSpPr>
        <p:spPr>
          <a:xfrm>
            <a:off x="6455664" y="1261872"/>
            <a:ext cx="749808" cy="2651760"/>
          </a:xfrm>
          <a:prstGeom prst="rect">
            <a:avLst/>
          </a:prstGeom>
          <a:solidFill>
            <a:srgbClr val="0B1D3A"/>
          </a:solidFill>
          <a:ln w="12700">
            <a:solidFill>
              <a:srgbClr val="0B1D3A"/>
            </a:solidFill>
            <a:prstDash val="solid"/>
          </a:ln>
          <a:effectLst>
            <a:outerShdw sx="100000" sy="100000" kx="0" ky="0" algn="bl" rotWithShape="0" blurRad="101600" dist="38100" dir="8100000">
              <a:srgbClr val="000000">
                <a:alpha val="18000"/>
              </a:srgbClr>
            </a:outerShdw>
          </a:effectLst>
        </p:spPr>
      </p:sp>
      <p:sp>
        <p:nvSpPr>
          <p:cNvPr id="42" name="Text 40"/>
          <p:cNvSpPr/>
          <p:nvPr/>
        </p:nvSpPr>
        <p:spPr>
          <a:xfrm>
            <a:off x="6455664" y="1335024"/>
            <a:ext cx="74980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F6</a:t>
            </a:r>
            <a:endParaRPr lang="en-US" sz="1300" dirty="0"/>
          </a:p>
        </p:txBody>
      </p:sp>
      <p:sp>
        <p:nvSpPr>
          <p:cNvPr id="43" name="Shape 41"/>
          <p:cNvSpPr/>
          <p:nvPr/>
        </p:nvSpPr>
        <p:spPr>
          <a:xfrm>
            <a:off x="6455664" y="1682496"/>
            <a:ext cx="749808" cy="27432"/>
          </a:xfrm>
          <a:prstGeom prst="rect">
            <a:avLst/>
          </a:prstGeom>
          <a:solidFill>
            <a:srgbClr val="FFFFFF">
              <a:alpha val="40000"/>
            </a:srgbClr>
          </a:solidFill>
          <a:ln w="12700">
            <a:solidFill>
              <a:srgbClr val="FFFFFF">
                <a:alpha val="40000"/>
              </a:srgbClr>
            </a:solidFill>
            <a:prstDash val="solid"/>
          </a:ln>
        </p:spPr>
      </p:sp>
      <p:sp>
        <p:nvSpPr>
          <p:cNvPr id="44" name="Text 42"/>
          <p:cNvSpPr/>
          <p:nvPr/>
        </p:nvSpPr>
        <p:spPr>
          <a:xfrm>
            <a:off x="6455664" y="1764792"/>
            <a:ext cx="749808" cy="502920"/>
          </a:xfrm>
          <a:prstGeom prst="rect">
            <a:avLst/>
          </a:prstGeom>
          <a:noFill/>
          <a:ln/>
        </p:spPr>
        <p:txBody>
          <a:bodyPr wrap="square" lIns="0" tIns="0" rIns="0" bIns="0" rtlCol="0" anchor="ctr"/>
          <a:lstStyle/>
          <a:p>
            <a:pPr algn="ctr" indent="0" marL="0">
              <a:buNone/>
            </a:pPr>
            <a:r>
              <a:rPr lang="en-US" sz="1150" b="1" dirty="0">
                <a:solidFill>
                  <a:srgbClr val="E8B84B"/>
                </a:solidFill>
                <a:latin typeface="Calibri" pitchFamily="34" charset="0"/>
                <a:ea typeface="Calibri" pitchFamily="34" charset="-122"/>
                <a:cs typeface="Calibri" pitchFamily="34" charset="-120"/>
              </a:rPr>
              <a:t>84</a:t>
            </a:r>
            <a:endParaRPr lang="en-US" sz="1150" dirty="0"/>
          </a:p>
        </p:txBody>
      </p:sp>
      <p:sp>
        <p:nvSpPr>
          <p:cNvPr id="45" name="Text 43"/>
          <p:cNvSpPr/>
          <p:nvPr/>
        </p:nvSpPr>
        <p:spPr>
          <a:xfrm>
            <a:off x="6455664" y="2313432"/>
            <a:ext cx="749808" cy="1371600"/>
          </a:xfrm>
          <a:prstGeom prst="rect">
            <a:avLst/>
          </a:prstGeom>
          <a:noFill/>
          <a:ln/>
        </p:spPr>
        <p:txBody>
          <a:bodyPr wrap="square" rtlCol="0" anchor="t"/>
          <a:lstStyle/>
          <a:p>
            <a:pPr algn="ctr" indent="0" marL="0">
              <a:buNone/>
            </a:pPr>
            <a:r>
              <a:rPr lang="en-US" sz="1050" dirty="0">
                <a:solidFill>
                  <a:srgbClr val="B8C5D9"/>
                </a:solidFill>
                <a:latin typeface="Calibri" pitchFamily="34" charset="0"/>
                <a:ea typeface="Calibri" pitchFamily="34" charset="-122"/>
                <a:cs typeface="Calibri" pitchFamily="34" charset="-120"/>
              </a:rPr>
              <a:t>Fully</a:t>
            </a:r>
            <a:endParaRPr lang="en-US" sz="1050" dirty="0"/>
          </a:p>
          <a:p>
            <a:pPr algn="ctr" indent="0" marL="0">
              <a:buNone/>
            </a:pPr>
            <a:r>
              <a:rPr lang="en-US" sz="1050" dirty="0">
                <a:solidFill>
                  <a:srgbClr val="B8C5D9"/>
                </a:solidFill>
                <a:latin typeface="Calibri" pitchFamily="34" charset="0"/>
                <a:ea typeface="Calibri" pitchFamily="34" charset="-122"/>
                <a:cs typeface="Calibri" pitchFamily="34" charset="-120"/>
              </a:rPr>
              <a:t>Connected</a:t>
            </a:r>
            <a:endParaRPr lang="en-US" sz="1050" dirty="0"/>
          </a:p>
        </p:txBody>
      </p:sp>
      <p:sp>
        <p:nvSpPr>
          <p:cNvPr id="46" name="Text 44"/>
          <p:cNvSpPr/>
          <p:nvPr/>
        </p:nvSpPr>
        <p:spPr>
          <a:xfrm>
            <a:off x="7214616" y="2386584"/>
            <a:ext cx="109728" cy="402336"/>
          </a:xfrm>
          <a:prstGeom prst="rect">
            <a:avLst/>
          </a:prstGeom>
          <a:noFill/>
          <a:ln/>
        </p:spPr>
        <p:txBody>
          <a:bodyPr wrap="square" lIns="0" tIns="0" rIns="0" bIns="0" rtlCol="0" anchor="ctr"/>
          <a:lstStyle/>
          <a:p>
            <a:pPr algn="ctr" indent="0" marL="0">
              <a:buNone/>
            </a:pPr>
            <a:r>
              <a:rPr lang="en-US" sz="1600" b="1" dirty="0">
                <a:solidFill>
                  <a:srgbClr val="C8992A"/>
                </a:solidFill>
                <a:latin typeface="Calibri" pitchFamily="34" charset="0"/>
                <a:ea typeface="Calibri" pitchFamily="34" charset="-122"/>
                <a:cs typeface="Calibri" pitchFamily="34" charset="-120"/>
              </a:rPr>
              <a:t>→</a:t>
            </a:r>
            <a:endParaRPr lang="en-US" sz="1600" dirty="0"/>
          </a:p>
        </p:txBody>
      </p:sp>
      <p:sp>
        <p:nvSpPr>
          <p:cNvPr id="47" name="Shape 45"/>
          <p:cNvSpPr/>
          <p:nvPr/>
        </p:nvSpPr>
        <p:spPr>
          <a:xfrm>
            <a:off x="7315200" y="1261872"/>
            <a:ext cx="749808" cy="2651760"/>
          </a:xfrm>
          <a:prstGeom prst="rect">
            <a:avLst/>
          </a:prstGeom>
          <a:solidFill>
            <a:srgbClr val="C8992A"/>
          </a:solidFill>
          <a:ln w="12700">
            <a:solidFill>
              <a:srgbClr val="C8992A"/>
            </a:solidFill>
            <a:prstDash val="solid"/>
          </a:ln>
          <a:effectLst>
            <a:outerShdw sx="100000" sy="100000" kx="0" ky="0" algn="bl" rotWithShape="0" blurRad="101600" dist="38100" dir="8100000">
              <a:srgbClr val="000000">
                <a:alpha val="18000"/>
              </a:srgbClr>
            </a:outerShdw>
          </a:effectLst>
        </p:spPr>
      </p:sp>
      <p:sp>
        <p:nvSpPr>
          <p:cNvPr id="48" name="Text 46"/>
          <p:cNvSpPr/>
          <p:nvPr/>
        </p:nvSpPr>
        <p:spPr>
          <a:xfrm>
            <a:off x="7315200" y="1335024"/>
            <a:ext cx="74980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49" name="Shape 47"/>
          <p:cNvSpPr/>
          <p:nvPr/>
        </p:nvSpPr>
        <p:spPr>
          <a:xfrm>
            <a:off x="7315200" y="1682496"/>
            <a:ext cx="749808" cy="27432"/>
          </a:xfrm>
          <a:prstGeom prst="rect">
            <a:avLst/>
          </a:prstGeom>
          <a:solidFill>
            <a:srgbClr val="FFFFFF">
              <a:alpha val="40000"/>
            </a:srgbClr>
          </a:solidFill>
          <a:ln w="12700">
            <a:solidFill>
              <a:srgbClr val="FFFFFF">
                <a:alpha val="40000"/>
              </a:srgbClr>
            </a:solidFill>
            <a:prstDash val="solid"/>
          </a:ln>
        </p:spPr>
      </p:sp>
      <p:sp>
        <p:nvSpPr>
          <p:cNvPr id="50" name="Text 48"/>
          <p:cNvSpPr/>
          <p:nvPr/>
        </p:nvSpPr>
        <p:spPr>
          <a:xfrm>
            <a:off x="7315200" y="1764792"/>
            <a:ext cx="749808" cy="502920"/>
          </a:xfrm>
          <a:prstGeom prst="rect">
            <a:avLst/>
          </a:prstGeom>
          <a:noFill/>
          <a:ln/>
        </p:spPr>
        <p:txBody>
          <a:bodyPr wrap="square" lIns="0" tIns="0" rIns="0" bIns="0" rtlCol="0" anchor="ctr"/>
          <a:lstStyle/>
          <a:p>
            <a:pPr algn="ctr" indent="0" marL="0">
              <a:buNone/>
            </a:pPr>
            <a:r>
              <a:rPr lang="en-US" sz="1150" b="1" dirty="0">
                <a:solidFill>
                  <a:srgbClr val="E8B84B"/>
                </a:solidFill>
                <a:latin typeface="Calibri" pitchFamily="34" charset="0"/>
                <a:ea typeface="Calibri" pitchFamily="34" charset="-122"/>
                <a:cs typeface="Calibri" pitchFamily="34" charset="-120"/>
              </a:rPr>
              <a:t>10</a:t>
            </a:r>
            <a:endParaRPr lang="en-US" sz="1150" dirty="0"/>
          </a:p>
        </p:txBody>
      </p:sp>
      <p:sp>
        <p:nvSpPr>
          <p:cNvPr id="51" name="Text 49"/>
          <p:cNvSpPr/>
          <p:nvPr/>
        </p:nvSpPr>
        <p:spPr>
          <a:xfrm>
            <a:off x="7315200" y="2313432"/>
            <a:ext cx="749808" cy="1371600"/>
          </a:xfrm>
          <a:prstGeom prst="rect">
            <a:avLst/>
          </a:prstGeom>
          <a:noFill/>
          <a:ln/>
        </p:spPr>
        <p:txBody>
          <a:bodyPr wrap="square" rtlCol="0" anchor="t"/>
          <a:lstStyle/>
          <a:p>
            <a:pPr algn="ctr" indent="0" marL="0">
              <a:buNone/>
            </a:pPr>
            <a:r>
              <a:rPr lang="en-US" sz="1050" dirty="0">
                <a:solidFill>
                  <a:srgbClr val="B8C5D9"/>
                </a:solidFill>
                <a:latin typeface="Calibri" pitchFamily="34" charset="0"/>
                <a:ea typeface="Calibri" pitchFamily="34" charset="-122"/>
                <a:cs typeface="Calibri" pitchFamily="34" charset="-120"/>
              </a:rPr>
              <a:t>Gaussian</a:t>
            </a:r>
            <a:endParaRPr lang="en-US" sz="1050" dirty="0"/>
          </a:p>
          <a:p>
            <a:pPr algn="ctr" indent="0" marL="0">
              <a:buNone/>
            </a:pPr>
            <a:r>
              <a:rPr lang="en-US" sz="1050" dirty="0">
                <a:solidFill>
                  <a:srgbClr val="B8C5D9"/>
                </a:solidFill>
                <a:latin typeface="Calibri" pitchFamily="34" charset="0"/>
                <a:ea typeface="Calibri" pitchFamily="34" charset="-122"/>
                <a:cs typeface="Calibri" pitchFamily="34" charset="-120"/>
              </a:rPr>
              <a:t>RBF / Softmax</a:t>
            </a:r>
            <a:endParaRPr lang="en-US" sz="1050" dirty="0"/>
          </a:p>
        </p:txBody>
      </p:sp>
      <p:sp>
        <p:nvSpPr>
          <p:cNvPr id="52" name="Shape 50"/>
          <p:cNvSpPr/>
          <p:nvPr/>
        </p:nvSpPr>
        <p:spPr>
          <a:xfrm>
            <a:off x="365760" y="4069080"/>
            <a:ext cx="8412480" cy="822960"/>
          </a:xfrm>
          <a:prstGeom prst="rect">
            <a:avLst/>
          </a:prstGeom>
          <a:solidFill>
            <a:srgbClr val="0B1D3A"/>
          </a:solidFill>
          <a:ln w="12700">
            <a:solidFill>
              <a:srgbClr val="0B1D3A"/>
            </a:solidFill>
            <a:prstDash val="solid"/>
          </a:ln>
        </p:spPr>
      </p:sp>
      <p:sp>
        <p:nvSpPr>
          <p:cNvPr id="53" name="Text 51"/>
          <p:cNvSpPr/>
          <p:nvPr/>
        </p:nvSpPr>
        <p:spPr>
          <a:xfrm>
            <a:off x="502920" y="4114800"/>
            <a:ext cx="1280160" cy="365760"/>
          </a:xfrm>
          <a:prstGeom prst="rect">
            <a:avLst/>
          </a:prstGeom>
          <a:noFill/>
          <a:ln/>
        </p:spPr>
        <p:txBody>
          <a:bodyPr wrap="square" lIns="0" tIns="0" rIns="0" bIns="0" rtlCol="0" anchor="ctr"/>
          <a:lstStyle/>
          <a:p>
            <a:pPr algn="ctr" indent="0" marL="0">
              <a:buNone/>
            </a:pPr>
            <a:r>
              <a:rPr lang="en-US" sz="1700" b="1" dirty="0">
                <a:solidFill>
                  <a:srgbClr val="E8B84B"/>
                </a:solidFill>
                <a:latin typeface="Calibri" pitchFamily="34" charset="0"/>
                <a:ea typeface="Calibri" pitchFamily="34" charset="-122"/>
                <a:cs typeface="Calibri" pitchFamily="34" charset="-120"/>
              </a:rPr>
              <a:t>~60,000</a:t>
            </a:r>
            <a:endParaRPr lang="en-US" sz="1700" dirty="0"/>
          </a:p>
        </p:txBody>
      </p:sp>
      <p:sp>
        <p:nvSpPr>
          <p:cNvPr id="54" name="Text 52"/>
          <p:cNvSpPr/>
          <p:nvPr/>
        </p:nvSpPr>
        <p:spPr>
          <a:xfrm>
            <a:off x="502920" y="4480560"/>
            <a:ext cx="1280160" cy="274320"/>
          </a:xfrm>
          <a:prstGeom prst="rect">
            <a:avLst/>
          </a:prstGeom>
          <a:noFill/>
          <a:ln/>
        </p:spPr>
        <p:txBody>
          <a:bodyPr wrap="square" lIns="0" tIns="0" rIns="0" bIns="0"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Total Params</a:t>
            </a:r>
            <a:endParaRPr lang="en-US" sz="1000" dirty="0"/>
          </a:p>
        </p:txBody>
      </p:sp>
      <p:sp>
        <p:nvSpPr>
          <p:cNvPr id="55" name="Text 53"/>
          <p:cNvSpPr/>
          <p:nvPr/>
        </p:nvSpPr>
        <p:spPr>
          <a:xfrm>
            <a:off x="1920240" y="4114800"/>
            <a:ext cx="1280160" cy="365760"/>
          </a:xfrm>
          <a:prstGeom prst="rect">
            <a:avLst/>
          </a:prstGeom>
          <a:noFill/>
          <a:ln/>
        </p:spPr>
        <p:txBody>
          <a:bodyPr wrap="square" lIns="0" tIns="0" rIns="0" bIns="0" rtlCol="0" anchor="ctr"/>
          <a:lstStyle/>
          <a:p>
            <a:pPr algn="ctr" indent="0" marL="0">
              <a:buNone/>
            </a:pPr>
            <a:r>
              <a:rPr lang="en-US" sz="1700" b="1" dirty="0">
                <a:solidFill>
                  <a:srgbClr val="E8B84B"/>
                </a:solidFill>
                <a:latin typeface="Calibri" pitchFamily="34" charset="0"/>
                <a:ea typeface="Calibri" pitchFamily="34" charset="-122"/>
                <a:cs typeface="Calibri" pitchFamily="34" charset="-120"/>
              </a:rPr>
              <a:t>3</a:t>
            </a:r>
            <a:endParaRPr lang="en-US" sz="1700" dirty="0"/>
          </a:p>
        </p:txBody>
      </p:sp>
      <p:sp>
        <p:nvSpPr>
          <p:cNvPr id="56" name="Text 54"/>
          <p:cNvSpPr/>
          <p:nvPr/>
        </p:nvSpPr>
        <p:spPr>
          <a:xfrm>
            <a:off x="1920240" y="4480560"/>
            <a:ext cx="1280160" cy="274320"/>
          </a:xfrm>
          <a:prstGeom prst="rect">
            <a:avLst/>
          </a:prstGeom>
          <a:noFill/>
          <a:ln/>
        </p:spPr>
        <p:txBody>
          <a:bodyPr wrap="square" lIns="0" tIns="0" rIns="0" bIns="0"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Conv Layers</a:t>
            </a:r>
            <a:endParaRPr lang="en-US" sz="1000" dirty="0"/>
          </a:p>
        </p:txBody>
      </p:sp>
      <p:sp>
        <p:nvSpPr>
          <p:cNvPr id="57" name="Text 55"/>
          <p:cNvSpPr/>
          <p:nvPr/>
        </p:nvSpPr>
        <p:spPr>
          <a:xfrm>
            <a:off x="3337560" y="4114800"/>
            <a:ext cx="1280160" cy="365760"/>
          </a:xfrm>
          <a:prstGeom prst="rect">
            <a:avLst/>
          </a:prstGeom>
          <a:noFill/>
          <a:ln/>
        </p:spPr>
        <p:txBody>
          <a:bodyPr wrap="square" lIns="0" tIns="0" rIns="0" bIns="0" rtlCol="0" anchor="ctr"/>
          <a:lstStyle/>
          <a:p>
            <a:pPr algn="ctr" indent="0" marL="0">
              <a:buNone/>
            </a:pPr>
            <a:r>
              <a:rPr lang="en-US" sz="1700" b="1" dirty="0">
                <a:solidFill>
                  <a:srgbClr val="E8B84B"/>
                </a:solidFill>
                <a:latin typeface="Calibri" pitchFamily="34" charset="0"/>
                <a:ea typeface="Calibri" pitchFamily="34" charset="-122"/>
                <a:cs typeface="Calibri" pitchFamily="34" charset="-120"/>
              </a:rPr>
              <a:t>2</a:t>
            </a:r>
            <a:endParaRPr lang="en-US" sz="1700" dirty="0"/>
          </a:p>
        </p:txBody>
      </p:sp>
      <p:sp>
        <p:nvSpPr>
          <p:cNvPr id="58" name="Text 56"/>
          <p:cNvSpPr/>
          <p:nvPr/>
        </p:nvSpPr>
        <p:spPr>
          <a:xfrm>
            <a:off x="3337560" y="4480560"/>
            <a:ext cx="1280160" cy="274320"/>
          </a:xfrm>
          <a:prstGeom prst="rect">
            <a:avLst/>
          </a:prstGeom>
          <a:noFill/>
          <a:ln/>
        </p:spPr>
        <p:txBody>
          <a:bodyPr wrap="square" lIns="0" tIns="0" rIns="0" bIns="0"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Pool Layers</a:t>
            </a:r>
            <a:endParaRPr lang="en-US" sz="1000" dirty="0"/>
          </a:p>
        </p:txBody>
      </p:sp>
      <p:sp>
        <p:nvSpPr>
          <p:cNvPr id="59" name="Text 57"/>
          <p:cNvSpPr/>
          <p:nvPr/>
        </p:nvSpPr>
        <p:spPr>
          <a:xfrm>
            <a:off x="4754880" y="4114800"/>
            <a:ext cx="1280160" cy="365760"/>
          </a:xfrm>
          <a:prstGeom prst="rect">
            <a:avLst/>
          </a:prstGeom>
          <a:noFill/>
          <a:ln/>
        </p:spPr>
        <p:txBody>
          <a:bodyPr wrap="square" lIns="0" tIns="0" rIns="0" bIns="0" rtlCol="0" anchor="ctr"/>
          <a:lstStyle/>
          <a:p>
            <a:pPr algn="ctr" indent="0" marL="0">
              <a:buNone/>
            </a:pPr>
            <a:r>
              <a:rPr lang="en-US" sz="1700" b="1" dirty="0">
                <a:solidFill>
                  <a:srgbClr val="E8B84B"/>
                </a:solidFill>
                <a:latin typeface="Calibri" pitchFamily="34" charset="0"/>
                <a:ea typeface="Calibri" pitchFamily="34" charset="-122"/>
                <a:cs typeface="Calibri" pitchFamily="34" charset="-120"/>
              </a:rPr>
              <a:t>2</a:t>
            </a:r>
            <a:endParaRPr lang="en-US" sz="1700" dirty="0"/>
          </a:p>
        </p:txBody>
      </p:sp>
      <p:sp>
        <p:nvSpPr>
          <p:cNvPr id="60" name="Text 58"/>
          <p:cNvSpPr/>
          <p:nvPr/>
        </p:nvSpPr>
        <p:spPr>
          <a:xfrm>
            <a:off x="4754880" y="4480560"/>
            <a:ext cx="1280160" cy="274320"/>
          </a:xfrm>
          <a:prstGeom prst="rect">
            <a:avLst/>
          </a:prstGeom>
          <a:noFill/>
          <a:ln/>
        </p:spPr>
        <p:txBody>
          <a:bodyPr wrap="square" lIns="0" tIns="0" rIns="0" bIns="0"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FC Layers</a:t>
            </a:r>
            <a:endParaRPr lang="en-US" sz="1000" dirty="0"/>
          </a:p>
        </p:txBody>
      </p:sp>
      <p:sp>
        <p:nvSpPr>
          <p:cNvPr id="61" name="Text 59"/>
          <p:cNvSpPr/>
          <p:nvPr/>
        </p:nvSpPr>
        <p:spPr>
          <a:xfrm>
            <a:off x="6172200" y="4114800"/>
            <a:ext cx="1280160" cy="365760"/>
          </a:xfrm>
          <a:prstGeom prst="rect">
            <a:avLst/>
          </a:prstGeom>
          <a:noFill/>
          <a:ln/>
        </p:spPr>
        <p:txBody>
          <a:bodyPr wrap="square" lIns="0" tIns="0" rIns="0" bIns="0" rtlCol="0" anchor="ctr"/>
          <a:lstStyle/>
          <a:p>
            <a:pPr algn="ctr" indent="0" marL="0">
              <a:buNone/>
            </a:pPr>
            <a:r>
              <a:rPr lang="en-US" sz="1700" b="1" dirty="0">
                <a:solidFill>
                  <a:srgbClr val="E8B84B"/>
                </a:solidFill>
                <a:latin typeface="Calibri" pitchFamily="34" charset="0"/>
                <a:ea typeface="Calibri" pitchFamily="34" charset="-122"/>
                <a:cs typeface="Calibri" pitchFamily="34" charset="-120"/>
              </a:rPr>
              <a:t>32×32</a:t>
            </a:r>
            <a:endParaRPr lang="en-US" sz="1700" dirty="0"/>
          </a:p>
        </p:txBody>
      </p:sp>
      <p:sp>
        <p:nvSpPr>
          <p:cNvPr id="62" name="Text 60"/>
          <p:cNvSpPr/>
          <p:nvPr/>
        </p:nvSpPr>
        <p:spPr>
          <a:xfrm>
            <a:off x="6172200" y="4480560"/>
            <a:ext cx="1280160" cy="274320"/>
          </a:xfrm>
          <a:prstGeom prst="rect">
            <a:avLst/>
          </a:prstGeom>
          <a:noFill/>
          <a:ln/>
        </p:spPr>
        <p:txBody>
          <a:bodyPr wrap="square" lIns="0" tIns="0" rIns="0" bIns="0"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Input Size</a:t>
            </a:r>
            <a:endParaRPr lang="en-US" sz="1000" dirty="0"/>
          </a:p>
        </p:txBody>
      </p:sp>
      <p:sp>
        <p:nvSpPr>
          <p:cNvPr id="63" name="Text 61"/>
          <p:cNvSpPr/>
          <p:nvPr/>
        </p:nvSpPr>
        <p:spPr>
          <a:xfrm>
            <a:off x="7589520" y="4114800"/>
            <a:ext cx="1280160" cy="365760"/>
          </a:xfrm>
          <a:prstGeom prst="rect">
            <a:avLst/>
          </a:prstGeom>
          <a:noFill/>
          <a:ln/>
        </p:spPr>
        <p:txBody>
          <a:bodyPr wrap="square" lIns="0" tIns="0" rIns="0" bIns="0" rtlCol="0" anchor="ctr"/>
          <a:lstStyle/>
          <a:p>
            <a:pPr algn="ctr" indent="0" marL="0">
              <a:buNone/>
            </a:pPr>
            <a:r>
              <a:rPr lang="en-US" sz="1700" b="1" dirty="0">
                <a:solidFill>
                  <a:srgbClr val="E8B84B"/>
                </a:solidFill>
                <a:latin typeface="Calibri" pitchFamily="34" charset="0"/>
                <a:ea typeface="Calibri" pitchFamily="34" charset="-122"/>
                <a:cs typeface="Calibri" pitchFamily="34" charset="-120"/>
              </a:rPr>
              <a:t>10</a:t>
            </a:r>
            <a:endParaRPr lang="en-US" sz="1700" dirty="0"/>
          </a:p>
        </p:txBody>
      </p:sp>
      <p:sp>
        <p:nvSpPr>
          <p:cNvPr id="64" name="Text 62"/>
          <p:cNvSpPr/>
          <p:nvPr/>
        </p:nvSpPr>
        <p:spPr>
          <a:xfrm>
            <a:off x="7589520" y="4480560"/>
            <a:ext cx="1280160" cy="274320"/>
          </a:xfrm>
          <a:prstGeom prst="rect">
            <a:avLst/>
          </a:prstGeom>
          <a:noFill/>
          <a:ln/>
        </p:spPr>
        <p:txBody>
          <a:bodyPr wrap="square" lIns="0" tIns="0" rIns="0" bIns="0"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Output Classes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The Convolution Operation: Mathematical Deep Dive</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The core computation behind every feature extraction step</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65760" y="1143000"/>
            <a:ext cx="4114800" cy="3657600"/>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6" name="Text 4"/>
          <p:cNvSpPr/>
          <p:nvPr/>
        </p:nvSpPr>
        <p:spPr>
          <a:xfrm>
            <a:off x="502920" y="1234440"/>
            <a:ext cx="3840480" cy="347472"/>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The Discrete 2D Convolution</a:t>
            </a:r>
            <a:endParaRPr lang="en-US" sz="1400" dirty="0"/>
          </a:p>
        </p:txBody>
      </p:sp>
      <p:sp>
        <p:nvSpPr>
          <p:cNvPr id="7" name="Text 5"/>
          <p:cNvSpPr/>
          <p:nvPr/>
        </p:nvSpPr>
        <p:spPr>
          <a:xfrm>
            <a:off x="502920" y="1664208"/>
            <a:ext cx="3840480" cy="502920"/>
          </a:xfrm>
          <a:prstGeom prst="rect">
            <a:avLst/>
          </a:prstGeom>
          <a:noFill/>
          <a:ln/>
        </p:spPr>
        <p:txBody>
          <a:bodyPr wrap="square" rtlCol="0" anchor="ctr"/>
          <a:lstStyle/>
          <a:p>
            <a:pPr algn="ctr" indent="0" marL="0">
              <a:buNone/>
            </a:pPr>
            <a:r>
              <a:rPr lang="en-US" sz="1300" b="1" dirty="0">
                <a:solidFill>
                  <a:srgbClr val="1A6B7A"/>
                </a:solidFill>
                <a:latin typeface="Calibri" pitchFamily="34" charset="0"/>
                <a:ea typeface="Calibri" pitchFamily="34" charset="-122"/>
                <a:cs typeface="Calibri" pitchFamily="34" charset="-120"/>
              </a:rPr>
              <a:t>(I * K)(i, j) = Σₘ Σₙ  I(i+m, j+n) · K(m, n)</a:t>
            </a:r>
            <a:endParaRPr lang="en-US" sz="1300" dirty="0"/>
          </a:p>
        </p:txBody>
      </p:sp>
      <p:sp>
        <p:nvSpPr>
          <p:cNvPr id="8" name="Text 6"/>
          <p:cNvSpPr/>
          <p:nvPr/>
        </p:nvSpPr>
        <p:spPr>
          <a:xfrm>
            <a:off x="502920" y="2212848"/>
            <a:ext cx="3840480" cy="2423160"/>
          </a:xfrm>
          <a:prstGeom prst="rect">
            <a:avLst/>
          </a:prstGeom>
          <a:noFill/>
          <a:ln/>
        </p:spPr>
        <p:txBody>
          <a:bodyPr wrap="square" rtlCol="0" anchor="ctr"/>
          <a:lstStyle/>
          <a:p>
            <a:pPr indent="0" marL="0">
              <a:buNone/>
            </a:pPr>
            <a:r>
              <a:rPr lang="en-US" sz="1150" b="1" dirty="0">
                <a:solidFill>
                  <a:srgbClr val="0B1D3A"/>
                </a:solidFill>
                <a:latin typeface="Calibri" pitchFamily="34" charset="0"/>
                <a:ea typeface="Calibri" pitchFamily="34" charset="-122"/>
                <a:cs typeface="Calibri" pitchFamily="34" charset="-120"/>
              </a:rPr>
              <a:t>Where:
</a:t>
            </a:r>
            <a:endParaRPr lang="en-US" sz="1150" dirty="0"/>
          </a:p>
          <a:p>
            <a:pPr indent="0" marL="0">
              <a:buNone/>
            </a:pPr>
            <a:r>
              <a:rPr lang="en-US" sz="1150" b="1" dirty="0">
                <a:solidFill>
                  <a:srgbClr val="1A6B7A"/>
                </a:solidFill>
                <a:latin typeface="Calibri" pitchFamily="34" charset="0"/>
                <a:ea typeface="Calibri" pitchFamily="34" charset="-122"/>
                <a:cs typeface="Calibri" pitchFamily="34" charset="-120"/>
              </a:rPr>
              <a:t>I </a:t>
            </a:r>
            <a:pPr indent="0" marL="0">
              <a:buNone/>
            </a:pPr>
            <a:r>
              <a:rPr lang="en-US" sz="1150" dirty="0">
                <a:solidFill>
                  <a:srgbClr val="3D4F6B"/>
                </a:solidFill>
                <a:latin typeface="Calibri" pitchFamily="34" charset="0"/>
                <a:ea typeface="Calibri" pitchFamily="34" charset="-122"/>
                <a:cs typeface="Calibri" pitchFamily="34" charset="-120"/>
              </a:rPr>
              <a:t>= Input feature map
</a:t>
            </a:r>
            <a:endParaRPr lang="en-US" sz="1150" dirty="0"/>
          </a:p>
          <a:p>
            <a:pPr indent="0" marL="0">
              <a:buNone/>
            </a:pPr>
            <a:r>
              <a:rPr lang="en-US" sz="1150" b="1" dirty="0">
                <a:solidFill>
                  <a:srgbClr val="1A6B7A"/>
                </a:solidFill>
                <a:latin typeface="Calibri" pitchFamily="34" charset="0"/>
                <a:ea typeface="Calibri" pitchFamily="34" charset="-122"/>
                <a:cs typeface="Calibri" pitchFamily="34" charset="-120"/>
              </a:rPr>
              <a:t>K </a:t>
            </a:r>
            <a:pPr indent="0" marL="0">
              <a:buNone/>
            </a:pPr>
            <a:r>
              <a:rPr lang="en-US" sz="1150" dirty="0">
                <a:solidFill>
                  <a:srgbClr val="3D4F6B"/>
                </a:solidFill>
                <a:latin typeface="Calibri" pitchFamily="34" charset="0"/>
                <a:ea typeface="Calibri" pitchFamily="34" charset="-122"/>
                <a:cs typeface="Calibri" pitchFamily="34" charset="-120"/>
              </a:rPr>
              <a:t>= Learned kernel (filter)
</a:t>
            </a:r>
            <a:endParaRPr lang="en-US" sz="1150" dirty="0"/>
          </a:p>
          <a:p>
            <a:pPr indent="0" marL="0">
              <a:buNone/>
            </a:pPr>
            <a:r>
              <a:rPr lang="en-US" sz="1150" b="1" dirty="0">
                <a:solidFill>
                  <a:srgbClr val="1A6B7A"/>
                </a:solidFill>
                <a:latin typeface="Calibri" pitchFamily="34" charset="0"/>
                <a:ea typeface="Calibri" pitchFamily="34" charset="-122"/>
                <a:cs typeface="Calibri" pitchFamily="34" charset="-120"/>
              </a:rPr>
              <a:t>(m, n) </a:t>
            </a:r>
            <a:pPr indent="0" marL="0">
              <a:buNone/>
            </a:pPr>
            <a:r>
              <a:rPr lang="en-US" sz="1150" dirty="0">
                <a:solidFill>
                  <a:srgbClr val="3D4F6B"/>
                </a:solidFill>
                <a:latin typeface="Calibri" pitchFamily="34" charset="0"/>
                <a:ea typeface="Calibri" pitchFamily="34" charset="-122"/>
                <a:cs typeface="Calibri" pitchFamily="34" charset="-120"/>
              </a:rPr>
              <a:t>= Kernel spatial indices
</a:t>
            </a:r>
            <a:endParaRPr lang="en-US" sz="1150" dirty="0"/>
          </a:p>
          <a:p>
            <a:pPr indent="0" marL="0">
              <a:buNone/>
            </a:pPr>
            <a:r>
              <a:rPr lang="en-US" sz="1150" b="1" dirty="0">
                <a:solidFill>
                  <a:srgbClr val="1A6B7A"/>
                </a:solidFill>
                <a:latin typeface="Calibri" pitchFamily="34" charset="0"/>
                <a:ea typeface="Calibri" pitchFamily="34" charset="-122"/>
                <a:cs typeface="Calibri" pitchFamily="34" charset="-120"/>
              </a:rPr>
              <a:t>(i, j) </a:t>
            </a:r>
            <a:pPr indent="0" marL="0">
              <a:buNone/>
            </a:pPr>
            <a:r>
              <a:rPr lang="en-US" sz="1150" dirty="0">
                <a:solidFill>
                  <a:srgbClr val="3D4F6B"/>
                </a:solidFill>
                <a:latin typeface="Calibri" pitchFamily="34" charset="0"/>
                <a:ea typeface="Calibri" pitchFamily="34" charset="-122"/>
                <a:cs typeface="Calibri" pitchFamily="34" charset="-120"/>
              </a:rPr>
              <a:t>= Output spatial position
</a:t>
            </a:r>
            <a:endParaRPr lang="en-US" sz="1150" dirty="0"/>
          </a:p>
          <a:p>
            <a:pPr indent="0" marL="0">
              <a:buNone/>
            </a:pPr>
            <a:r>
              <a:rPr lang="en-US" sz="1150" dirty="0">
                <a:solidFill>
                  <a:srgbClr val="3D4F6B"/>
                </a:solidFill>
                <a:latin typeface="Calibri" pitchFamily="34" charset="0"/>
                <a:ea typeface="Calibri" pitchFamily="34" charset="-122"/>
                <a:cs typeface="Calibri" pitchFamily="34" charset="-120"/>
              </a:rPr>
              <a:t>In LeNet: K = 5×5 = 25 weights
</a:t>
            </a:r>
            <a:endParaRPr lang="en-US" sz="1150" dirty="0"/>
          </a:p>
          <a:p>
            <a:pPr indent="0" marL="0">
              <a:buNone/>
            </a:pPr>
            <a:r>
              <a:rPr lang="en-US" sz="1150" dirty="0">
                <a:solidFill>
                  <a:srgbClr val="3D4F6B"/>
                </a:solidFill>
                <a:latin typeface="Calibri" pitchFamily="34" charset="0"/>
                <a:ea typeface="Calibri" pitchFamily="34" charset="-122"/>
                <a:cs typeface="Calibri" pitchFamily="34" charset="-120"/>
              </a:rPr>
              <a:t>+ 1 bias per filter = </a:t>
            </a:r>
            <a:pPr indent="0" marL="0">
              <a:buNone/>
            </a:pPr>
            <a:r>
              <a:rPr lang="en-US" sz="1150" b="1" dirty="0">
                <a:solidFill>
                  <a:srgbClr val="C8992A"/>
                </a:solidFill>
                <a:latin typeface="Calibri" pitchFamily="34" charset="0"/>
                <a:ea typeface="Calibri" pitchFamily="34" charset="-122"/>
                <a:cs typeface="Calibri" pitchFamily="34" charset="-120"/>
              </a:rPr>
              <a:t>26 params/filter</a:t>
            </a:r>
            <a:endParaRPr lang="en-US" sz="1150" dirty="0"/>
          </a:p>
        </p:txBody>
      </p:sp>
      <p:sp>
        <p:nvSpPr>
          <p:cNvPr id="9" name="Text 7"/>
          <p:cNvSpPr/>
          <p:nvPr/>
        </p:nvSpPr>
        <p:spPr>
          <a:xfrm>
            <a:off x="4709160" y="1143000"/>
            <a:ext cx="4114800" cy="320040"/>
          </a:xfrm>
          <a:prstGeom prst="rect">
            <a:avLst/>
          </a:prstGeom>
          <a:noFill/>
          <a:ln/>
        </p:spPr>
        <p:txBody>
          <a:bodyPr wrap="square" lIns="0" tIns="0" rIns="0" bIns="0" rtlCol="0" anchor="ctr"/>
          <a:lstStyle/>
          <a:p>
            <a:pPr indent="0" marL="0">
              <a:buNone/>
            </a:pPr>
            <a:r>
              <a:rPr lang="en-US" sz="1350" b="1" dirty="0">
                <a:solidFill>
                  <a:srgbClr val="0B1D3A"/>
                </a:solidFill>
                <a:latin typeface="Calibri" pitchFamily="34" charset="0"/>
                <a:ea typeface="Calibri" pitchFamily="34" charset="-122"/>
                <a:cs typeface="Calibri" pitchFamily="34" charset="-120"/>
              </a:rPr>
              <a:t>Sliding Window Intuition</a:t>
            </a:r>
            <a:endParaRPr lang="en-US" sz="1350" dirty="0"/>
          </a:p>
        </p:txBody>
      </p:sp>
      <p:sp>
        <p:nvSpPr>
          <p:cNvPr id="10" name="Shape 8"/>
          <p:cNvSpPr/>
          <p:nvPr/>
        </p:nvSpPr>
        <p:spPr>
          <a:xfrm>
            <a:off x="4709160" y="1527048"/>
            <a:ext cx="356616" cy="356616"/>
          </a:xfrm>
          <a:prstGeom prst="rect">
            <a:avLst/>
          </a:prstGeom>
          <a:solidFill>
            <a:srgbClr val="C8E6F7"/>
          </a:solidFill>
          <a:ln w="12700">
            <a:solidFill>
              <a:srgbClr val="B8C5D9"/>
            </a:solidFill>
            <a:prstDash val="solid"/>
          </a:ln>
        </p:spPr>
      </p:sp>
      <p:sp>
        <p:nvSpPr>
          <p:cNvPr id="11" name="Text 9"/>
          <p:cNvSpPr/>
          <p:nvPr/>
        </p:nvSpPr>
        <p:spPr>
          <a:xfrm>
            <a:off x="4709160" y="1527048"/>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3</a:t>
            </a:r>
            <a:endParaRPr lang="en-US" sz="1000" dirty="0"/>
          </a:p>
        </p:txBody>
      </p:sp>
      <p:sp>
        <p:nvSpPr>
          <p:cNvPr id="12" name="Shape 10"/>
          <p:cNvSpPr/>
          <p:nvPr/>
        </p:nvSpPr>
        <p:spPr>
          <a:xfrm>
            <a:off x="5065776" y="1527048"/>
            <a:ext cx="356616" cy="356616"/>
          </a:xfrm>
          <a:prstGeom prst="rect">
            <a:avLst/>
          </a:prstGeom>
          <a:solidFill>
            <a:srgbClr val="C8E6F7"/>
          </a:solidFill>
          <a:ln w="12700">
            <a:solidFill>
              <a:srgbClr val="B8C5D9"/>
            </a:solidFill>
            <a:prstDash val="solid"/>
          </a:ln>
        </p:spPr>
      </p:sp>
      <p:sp>
        <p:nvSpPr>
          <p:cNvPr id="13" name="Text 11"/>
          <p:cNvSpPr/>
          <p:nvPr/>
        </p:nvSpPr>
        <p:spPr>
          <a:xfrm>
            <a:off x="5065776" y="1527048"/>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1</a:t>
            </a:r>
            <a:endParaRPr lang="en-US" sz="1000" dirty="0"/>
          </a:p>
        </p:txBody>
      </p:sp>
      <p:sp>
        <p:nvSpPr>
          <p:cNvPr id="14" name="Shape 12"/>
          <p:cNvSpPr/>
          <p:nvPr/>
        </p:nvSpPr>
        <p:spPr>
          <a:xfrm>
            <a:off x="5422392" y="1527048"/>
            <a:ext cx="356616" cy="356616"/>
          </a:xfrm>
          <a:prstGeom prst="rect">
            <a:avLst/>
          </a:prstGeom>
          <a:solidFill>
            <a:srgbClr val="C8E6F7"/>
          </a:solidFill>
          <a:ln w="12700">
            <a:solidFill>
              <a:srgbClr val="B8C5D9"/>
            </a:solidFill>
            <a:prstDash val="solid"/>
          </a:ln>
        </p:spPr>
      </p:sp>
      <p:sp>
        <p:nvSpPr>
          <p:cNvPr id="15" name="Text 13"/>
          <p:cNvSpPr/>
          <p:nvPr/>
        </p:nvSpPr>
        <p:spPr>
          <a:xfrm>
            <a:off x="5422392" y="1527048"/>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2</a:t>
            </a:r>
            <a:endParaRPr lang="en-US" sz="1000" dirty="0"/>
          </a:p>
        </p:txBody>
      </p:sp>
      <p:sp>
        <p:nvSpPr>
          <p:cNvPr id="16" name="Shape 14"/>
          <p:cNvSpPr/>
          <p:nvPr/>
        </p:nvSpPr>
        <p:spPr>
          <a:xfrm>
            <a:off x="5779008" y="1527048"/>
            <a:ext cx="356616" cy="356616"/>
          </a:xfrm>
          <a:prstGeom prst="rect">
            <a:avLst/>
          </a:prstGeom>
          <a:solidFill>
            <a:srgbClr val="EEF2F8"/>
          </a:solidFill>
          <a:ln w="12700">
            <a:solidFill>
              <a:srgbClr val="B8C5D9"/>
            </a:solidFill>
            <a:prstDash val="solid"/>
          </a:ln>
        </p:spPr>
      </p:sp>
      <p:sp>
        <p:nvSpPr>
          <p:cNvPr id="17" name="Text 15"/>
          <p:cNvSpPr/>
          <p:nvPr/>
        </p:nvSpPr>
        <p:spPr>
          <a:xfrm>
            <a:off x="5779008" y="1527048"/>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1</a:t>
            </a:r>
            <a:endParaRPr lang="en-US" sz="1000" dirty="0"/>
          </a:p>
        </p:txBody>
      </p:sp>
      <p:sp>
        <p:nvSpPr>
          <p:cNvPr id="18" name="Shape 16"/>
          <p:cNvSpPr/>
          <p:nvPr/>
        </p:nvSpPr>
        <p:spPr>
          <a:xfrm>
            <a:off x="6135624" y="1527048"/>
            <a:ext cx="356616" cy="356616"/>
          </a:xfrm>
          <a:prstGeom prst="rect">
            <a:avLst/>
          </a:prstGeom>
          <a:solidFill>
            <a:srgbClr val="EEF2F8"/>
          </a:solidFill>
          <a:ln w="12700">
            <a:solidFill>
              <a:srgbClr val="B8C5D9"/>
            </a:solidFill>
            <a:prstDash val="solid"/>
          </a:ln>
        </p:spPr>
      </p:sp>
      <p:sp>
        <p:nvSpPr>
          <p:cNvPr id="19" name="Text 17"/>
          <p:cNvSpPr/>
          <p:nvPr/>
        </p:nvSpPr>
        <p:spPr>
          <a:xfrm>
            <a:off x="6135624" y="1527048"/>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0</a:t>
            </a:r>
            <a:endParaRPr lang="en-US" sz="1000" dirty="0"/>
          </a:p>
        </p:txBody>
      </p:sp>
      <p:sp>
        <p:nvSpPr>
          <p:cNvPr id="20" name="Shape 18"/>
          <p:cNvSpPr/>
          <p:nvPr/>
        </p:nvSpPr>
        <p:spPr>
          <a:xfrm>
            <a:off x="6492240" y="1527048"/>
            <a:ext cx="356616" cy="356616"/>
          </a:xfrm>
          <a:prstGeom prst="rect">
            <a:avLst/>
          </a:prstGeom>
          <a:solidFill>
            <a:srgbClr val="EEF2F8"/>
          </a:solidFill>
          <a:ln w="12700">
            <a:solidFill>
              <a:srgbClr val="B8C5D9"/>
            </a:solidFill>
            <a:prstDash val="solid"/>
          </a:ln>
        </p:spPr>
      </p:sp>
      <p:sp>
        <p:nvSpPr>
          <p:cNvPr id="21" name="Text 19"/>
          <p:cNvSpPr/>
          <p:nvPr/>
        </p:nvSpPr>
        <p:spPr>
          <a:xfrm>
            <a:off x="6492240" y="1527048"/>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2</a:t>
            </a:r>
            <a:endParaRPr lang="en-US" sz="1000" dirty="0"/>
          </a:p>
        </p:txBody>
      </p:sp>
      <p:sp>
        <p:nvSpPr>
          <p:cNvPr id="22" name="Shape 20"/>
          <p:cNvSpPr/>
          <p:nvPr/>
        </p:nvSpPr>
        <p:spPr>
          <a:xfrm>
            <a:off x="4709160" y="1883664"/>
            <a:ext cx="356616" cy="356616"/>
          </a:xfrm>
          <a:prstGeom prst="rect">
            <a:avLst/>
          </a:prstGeom>
          <a:solidFill>
            <a:srgbClr val="C8E6F7"/>
          </a:solidFill>
          <a:ln w="12700">
            <a:solidFill>
              <a:srgbClr val="B8C5D9"/>
            </a:solidFill>
            <a:prstDash val="solid"/>
          </a:ln>
        </p:spPr>
      </p:sp>
      <p:sp>
        <p:nvSpPr>
          <p:cNvPr id="23" name="Text 21"/>
          <p:cNvSpPr/>
          <p:nvPr/>
        </p:nvSpPr>
        <p:spPr>
          <a:xfrm>
            <a:off x="4709160" y="1883664"/>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0</a:t>
            </a:r>
            <a:endParaRPr lang="en-US" sz="1000" dirty="0"/>
          </a:p>
        </p:txBody>
      </p:sp>
      <p:sp>
        <p:nvSpPr>
          <p:cNvPr id="24" name="Shape 22"/>
          <p:cNvSpPr/>
          <p:nvPr/>
        </p:nvSpPr>
        <p:spPr>
          <a:xfrm>
            <a:off x="5065776" y="1883664"/>
            <a:ext cx="356616" cy="356616"/>
          </a:xfrm>
          <a:prstGeom prst="rect">
            <a:avLst/>
          </a:prstGeom>
          <a:solidFill>
            <a:srgbClr val="C8E6F7"/>
          </a:solidFill>
          <a:ln w="12700">
            <a:solidFill>
              <a:srgbClr val="B8C5D9"/>
            </a:solidFill>
            <a:prstDash val="solid"/>
          </a:ln>
        </p:spPr>
      </p:sp>
      <p:sp>
        <p:nvSpPr>
          <p:cNvPr id="25" name="Text 23"/>
          <p:cNvSpPr/>
          <p:nvPr/>
        </p:nvSpPr>
        <p:spPr>
          <a:xfrm>
            <a:off x="5065776" y="1883664"/>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5</a:t>
            </a:r>
            <a:endParaRPr lang="en-US" sz="1000" dirty="0"/>
          </a:p>
        </p:txBody>
      </p:sp>
      <p:sp>
        <p:nvSpPr>
          <p:cNvPr id="26" name="Shape 24"/>
          <p:cNvSpPr/>
          <p:nvPr/>
        </p:nvSpPr>
        <p:spPr>
          <a:xfrm>
            <a:off x="5422392" y="1883664"/>
            <a:ext cx="356616" cy="356616"/>
          </a:xfrm>
          <a:prstGeom prst="rect">
            <a:avLst/>
          </a:prstGeom>
          <a:solidFill>
            <a:srgbClr val="C8E6F7"/>
          </a:solidFill>
          <a:ln w="12700">
            <a:solidFill>
              <a:srgbClr val="B8C5D9"/>
            </a:solidFill>
            <a:prstDash val="solid"/>
          </a:ln>
        </p:spPr>
      </p:sp>
      <p:sp>
        <p:nvSpPr>
          <p:cNvPr id="27" name="Text 25"/>
          <p:cNvSpPr/>
          <p:nvPr/>
        </p:nvSpPr>
        <p:spPr>
          <a:xfrm>
            <a:off x="5422392" y="1883664"/>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3</a:t>
            </a:r>
            <a:endParaRPr lang="en-US" sz="1000" dirty="0"/>
          </a:p>
        </p:txBody>
      </p:sp>
      <p:sp>
        <p:nvSpPr>
          <p:cNvPr id="28" name="Shape 26"/>
          <p:cNvSpPr/>
          <p:nvPr/>
        </p:nvSpPr>
        <p:spPr>
          <a:xfrm>
            <a:off x="5779008" y="1883664"/>
            <a:ext cx="356616" cy="356616"/>
          </a:xfrm>
          <a:prstGeom prst="rect">
            <a:avLst/>
          </a:prstGeom>
          <a:solidFill>
            <a:srgbClr val="EEF2F8"/>
          </a:solidFill>
          <a:ln w="12700">
            <a:solidFill>
              <a:srgbClr val="B8C5D9"/>
            </a:solidFill>
            <a:prstDash val="solid"/>
          </a:ln>
        </p:spPr>
      </p:sp>
      <p:sp>
        <p:nvSpPr>
          <p:cNvPr id="29" name="Text 27"/>
          <p:cNvSpPr/>
          <p:nvPr/>
        </p:nvSpPr>
        <p:spPr>
          <a:xfrm>
            <a:off x="5779008" y="1883664"/>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2</a:t>
            </a:r>
            <a:endParaRPr lang="en-US" sz="1000" dirty="0"/>
          </a:p>
        </p:txBody>
      </p:sp>
      <p:sp>
        <p:nvSpPr>
          <p:cNvPr id="30" name="Shape 28"/>
          <p:cNvSpPr/>
          <p:nvPr/>
        </p:nvSpPr>
        <p:spPr>
          <a:xfrm>
            <a:off x="6135624" y="1883664"/>
            <a:ext cx="356616" cy="356616"/>
          </a:xfrm>
          <a:prstGeom prst="rect">
            <a:avLst/>
          </a:prstGeom>
          <a:solidFill>
            <a:srgbClr val="EEF2F8"/>
          </a:solidFill>
          <a:ln w="12700">
            <a:solidFill>
              <a:srgbClr val="B8C5D9"/>
            </a:solidFill>
            <a:prstDash val="solid"/>
          </a:ln>
        </p:spPr>
      </p:sp>
      <p:sp>
        <p:nvSpPr>
          <p:cNvPr id="31" name="Text 29"/>
          <p:cNvSpPr/>
          <p:nvPr/>
        </p:nvSpPr>
        <p:spPr>
          <a:xfrm>
            <a:off x="6135624" y="1883664"/>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1</a:t>
            </a:r>
            <a:endParaRPr lang="en-US" sz="1000" dirty="0"/>
          </a:p>
        </p:txBody>
      </p:sp>
      <p:sp>
        <p:nvSpPr>
          <p:cNvPr id="32" name="Shape 30"/>
          <p:cNvSpPr/>
          <p:nvPr/>
        </p:nvSpPr>
        <p:spPr>
          <a:xfrm>
            <a:off x="6492240" y="1883664"/>
            <a:ext cx="356616" cy="356616"/>
          </a:xfrm>
          <a:prstGeom prst="rect">
            <a:avLst/>
          </a:prstGeom>
          <a:solidFill>
            <a:srgbClr val="EEF2F8"/>
          </a:solidFill>
          <a:ln w="12700">
            <a:solidFill>
              <a:srgbClr val="B8C5D9"/>
            </a:solidFill>
            <a:prstDash val="solid"/>
          </a:ln>
        </p:spPr>
      </p:sp>
      <p:sp>
        <p:nvSpPr>
          <p:cNvPr id="33" name="Text 31"/>
          <p:cNvSpPr/>
          <p:nvPr/>
        </p:nvSpPr>
        <p:spPr>
          <a:xfrm>
            <a:off x="6492240" y="1883664"/>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3</a:t>
            </a:r>
            <a:endParaRPr lang="en-US" sz="1000" dirty="0"/>
          </a:p>
        </p:txBody>
      </p:sp>
      <p:sp>
        <p:nvSpPr>
          <p:cNvPr id="34" name="Shape 32"/>
          <p:cNvSpPr/>
          <p:nvPr/>
        </p:nvSpPr>
        <p:spPr>
          <a:xfrm>
            <a:off x="4709160" y="2240280"/>
            <a:ext cx="356616" cy="356616"/>
          </a:xfrm>
          <a:prstGeom prst="rect">
            <a:avLst/>
          </a:prstGeom>
          <a:solidFill>
            <a:srgbClr val="C8E6F7"/>
          </a:solidFill>
          <a:ln w="12700">
            <a:solidFill>
              <a:srgbClr val="B8C5D9"/>
            </a:solidFill>
            <a:prstDash val="solid"/>
          </a:ln>
        </p:spPr>
      </p:sp>
      <p:sp>
        <p:nvSpPr>
          <p:cNvPr id="35" name="Text 33"/>
          <p:cNvSpPr/>
          <p:nvPr/>
        </p:nvSpPr>
        <p:spPr>
          <a:xfrm>
            <a:off x="4709160" y="2240280"/>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2</a:t>
            </a:r>
            <a:endParaRPr lang="en-US" sz="1000" dirty="0"/>
          </a:p>
        </p:txBody>
      </p:sp>
      <p:sp>
        <p:nvSpPr>
          <p:cNvPr id="36" name="Shape 34"/>
          <p:cNvSpPr/>
          <p:nvPr/>
        </p:nvSpPr>
        <p:spPr>
          <a:xfrm>
            <a:off x="5065776" y="2240280"/>
            <a:ext cx="356616" cy="356616"/>
          </a:xfrm>
          <a:prstGeom prst="rect">
            <a:avLst/>
          </a:prstGeom>
          <a:solidFill>
            <a:srgbClr val="C8E6F7"/>
          </a:solidFill>
          <a:ln w="12700">
            <a:solidFill>
              <a:srgbClr val="B8C5D9"/>
            </a:solidFill>
            <a:prstDash val="solid"/>
          </a:ln>
        </p:spPr>
      </p:sp>
      <p:sp>
        <p:nvSpPr>
          <p:cNvPr id="37" name="Text 35"/>
          <p:cNvSpPr/>
          <p:nvPr/>
        </p:nvSpPr>
        <p:spPr>
          <a:xfrm>
            <a:off x="5065776" y="2240280"/>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1</a:t>
            </a:r>
            <a:endParaRPr lang="en-US" sz="1000" dirty="0"/>
          </a:p>
        </p:txBody>
      </p:sp>
      <p:sp>
        <p:nvSpPr>
          <p:cNvPr id="38" name="Shape 36"/>
          <p:cNvSpPr/>
          <p:nvPr/>
        </p:nvSpPr>
        <p:spPr>
          <a:xfrm>
            <a:off x="5422392" y="2240280"/>
            <a:ext cx="356616" cy="356616"/>
          </a:xfrm>
          <a:prstGeom prst="rect">
            <a:avLst/>
          </a:prstGeom>
          <a:solidFill>
            <a:srgbClr val="C8E6F7"/>
          </a:solidFill>
          <a:ln w="12700">
            <a:solidFill>
              <a:srgbClr val="B8C5D9"/>
            </a:solidFill>
            <a:prstDash val="solid"/>
          </a:ln>
        </p:spPr>
      </p:sp>
      <p:sp>
        <p:nvSpPr>
          <p:cNvPr id="39" name="Text 37"/>
          <p:cNvSpPr/>
          <p:nvPr/>
        </p:nvSpPr>
        <p:spPr>
          <a:xfrm>
            <a:off x="5422392" y="2240280"/>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0</a:t>
            </a:r>
            <a:endParaRPr lang="en-US" sz="1000" dirty="0"/>
          </a:p>
        </p:txBody>
      </p:sp>
      <p:sp>
        <p:nvSpPr>
          <p:cNvPr id="40" name="Shape 38"/>
          <p:cNvSpPr/>
          <p:nvPr/>
        </p:nvSpPr>
        <p:spPr>
          <a:xfrm>
            <a:off x="5779008" y="2240280"/>
            <a:ext cx="356616" cy="356616"/>
          </a:xfrm>
          <a:prstGeom prst="rect">
            <a:avLst/>
          </a:prstGeom>
          <a:solidFill>
            <a:srgbClr val="EEF2F8"/>
          </a:solidFill>
          <a:ln w="12700">
            <a:solidFill>
              <a:srgbClr val="B8C5D9"/>
            </a:solidFill>
            <a:prstDash val="solid"/>
          </a:ln>
        </p:spPr>
      </p:sp>
      <p:sp>
        <p:nvSpPr>
          <p:cNvPr id="41" name="Text 39"/>
          <p:cNvSpPr/>
          <p:nvPr/>
        </p:nvSpPr>
        <p:spPr>
          <a:xfrm>
            <a:off x="5779008" y="2240280"/>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2</a:t>
            </a:r>
            <a:endParaRPr lang="en-US" sz="1000" dirty="0"/>
          </a:p>
        </p:txBody>
      </p:sp>
      <p:sp>
        <p:nvSpPr>
          <p:cNvPr id="42" name="Shape 40"/>
          <p:cNvSpPr/>
          <p:nvPr/>
        </p:nvSpPr>
        <p:spPr>
          <a:xfrm>
            <a:off x="6135624" y="2240280"/>
            <a:ext cx="356616" cy="356616"/>
          </a:xfrm>
          <a:prstGeom prst="rect">
            <a:avLst/>
          </a:prstGeom>
          <a:solidFill>
            <a:srgbClr val="EEF2F8"/>
          </a:solidFill>
          <a:ln w="12700">
            <a:solidFill>
              <a:srgbClr val="B8C5D9"/>
            </a:solidFill>
            <a:prstDash val="solid"/>
          </a:ln>
        </p:spPr>
      </p:sp>
      <p:sp>
        <p:nvSpPr>
          <p:cNvPr id="43" name="Text 41"/>
          <p:cNvSpPr/>
          <p:nvPr/>
        </p:nvSpPr>
        <p:spPr>
          <a:xfrm>
            <a:off x="6135624" y="2240280"/>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4</a:t>
            </a:r>
            <a:endParaRPr lang="en-US" sz="1000" dirty="0"/>
          </a:p>
        </p:txBody>
      </p:sp>
      <p:sp>
        <p:nvSpPr>
          <p:cNvPr id="44" name="Shape 42"/>
          <p:cNvSpPr/>
          <p:nvPr/>
        </p:nvSpPr>
        <p:spPr>
          <a:xfrm>
            <a:off x="6492240" y="2240280"/>
            <a:ext cx="356616" cy="356616"/>
          </a:xfrm>
          <a:prstGeom prst="rect">
            <a:avLst/>
          </a:prstGeom>
          <a:solidFill>
            <a:srgbClr val="EEF2F8"/>
          </a:solidFill>
          <a:ln w="12700">
            <a:solidFill>
              <a:srgbClr val="B8C5D9"/>
            </a:solidFill>
            <a:prstDash val="solid"/>
          </a:ln>
        </p:spPr>
      </p:sp>
      <p:sp>
        <p:nvSpPr>
          <p:cNvPr id="45" name="Text 43"/>
          <p:cNvSpPr/>
          <p:nvPr/>
        </p:nvSpPr>
        <p:spPr>
          <a:xfrm>
            <a:off x="6492240" y="2240280"/>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1</a:t>
            </a:r>
            <a:endParaRPr lang="en-US" sz="1000" dirty="0"/>
          </a:p>
        </p:txBody>
      </p:sp>
      <p:sp>
        <p:nvSpPr>
          <p:cNvPr id="46" name="Shape 44"/>
          <p:cNvSpPr/>
          <p:nvPr/>
        </p:nvSpPr>
        <p:spPr>
          <a:xfrm>
            <a:off x="4709160" y="2596896"/>
            <a:ext cx="356616" cy="356616"/>
          </a:xfrm>
          <a:prstGeom prst="rect">
            <a:avLst/>
          </a:prstGeom>
          <a:solidFill>
            <a:srgbClr val="EEF2F8"/>
          </a:solidFill>
          <a:ln w="12700">
            <a:solidFill>
              <a:srgbClr val="B8C5D9"/>
            </a:solidFill>
            <a:prstDash val="solid"/>
          </a:ln>
        </p:spPr>
      </p:sp>
      <p:sp>
        <p:nvSpPr>
          <p:cNvPr id="47" name="Text 45"/>
          <p:cNvSpPr/>
          <p:nvPr/>
        </p:nvSpPr>
        <p:spPr>
          <a:xfrm>
            <a:off x="4709160" y="2596896"/>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3</a:t>
            </a:r>
            <a:endParaRPr lang="en-US" sz="1000" dirty="0"/>
          </a:p>
        </p:txBody>
      </p:sp>
      <p:sp>
        <p:nvSpPr>
          <p:cNvPr id="48" name="Shape 46"/>
          <p:cNvSpPr/>
          <p:nvPr/>
        </p:nvSpPr>
        <p:spPr>
          <a:xfrm>
            <a:off x="5065776" y="2596896"/>
            <a:ext cx="356616" cy="356616"/>
          </a:xfrm>
          <a:prstGeom prst="rect">
            <a:avLst/>
          </a:prstGeom>
          <a:solidFill>
            <a:srgbClr val="EEF2F8"/>
          </a:solidFill>
          <a:ln w="12700">
            <a:solidFill>
              <a:srgbClr val="B8C5D9"/>
            </a:solidFill>
            <a:prstDash val="solid"/>
          </a:ln>
        </p:spPr>
      </p:sp>
      <p:sp>
        <p:nvSpPr>
          <p:cNvPr id="49" name="Text 47"/>
          <p:cNvSpPr/>
          <p:nvPr/>
        </p:nvSpPr>
        <p:spPr>
          <a:xfrm>
            <a:off x="5065776" y="2596896"/>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0</a:t>
            </a:r>
            <a:endParaRPr lang="en-US" sz="1000" dirty="0"/>
          </a:p>
        </p:txBody>
      </p:sp>
      <p:sp>
        <p:nvSpPr>
          <p:cNvPr id="50" name="Shape 48"/>
          <p:cNvSpPr/>
          <p:nvPr/>
        </p:nvSpPr>
        <p:spPr>
          <a:xfrm>
            <a:off x="5422392" y="2596896"/>
            <a:ext cx="356616" cy="356616"/>
          </a:xfrm>
          <a:prstGeom prst="rect">
            <a:avLst/>
          </a:prstGeom>
          <a:solidFill>
            <a:srgbClr val="EEF2F8"/>
          </a:solidFill>
          <a:ln w="12700">
            <a:solidFill>
              <a:srgbClr val="B8C5D9"/>
            </a:solidFill>
            <a:prstDash val="solid"/>
          </a:ln>
        </p:spPr>
      </p:sp>
      <p:sp>
        <p:nvSpPr>
          <p:cNvPr id="51" name="Text 49"/>
          <p:cNvSpPr/>
          <p:nvPr/>
        </p:nvSpPr>
        <p:spPr>
          <a:xfrm>
            <a:off x="5422392" y="2596896"/>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5</a:t>
            </a:r>
            <a:endParaRPr lang="en-US" sz="1000" dirty="0"/>
          </a:p>
        </p:txBody>
      </p:sp>
      <p:sp>
        <p:nvSpPr>
          <p:cNvPr id="52" name="Shape 50"/>
          <p:cNvSpPr/>
          <p:nvPr/>
        </p:nvSpPr>
        <p:spPr>
          <a:xfrm>
            <a:off x="5779008" y="2596896"/>
            <a:ext cx="356616" cy="356616"/>
          </a:xfrm>
          <a:prstGeom prst="rect">
            <a:avLst/>
          </a:prstGeom>
          <a:solidFill>
            <a:srgbClr val="EEF2F8"/>
          </a:solidFill>
          <a:ln w="12700">
            <a:solidFill>
              <a:srgbClr val="B8C5D9"/>
            </a:solidFill>
            <a:prstDash val="solid"/>
          </a:ln>
        </p:spPr>
      </p:sp>
      <p:sp>
        <p:nvSpPr>
          <p:cNvPr id="53" name="Text 51"/>
          <p:cNvSpPr/>
          <p:nvPr/>
        </p:nvSpPr>
        <p:spPr>
          <a:xfrm>
            <a:off x="5779008" y="2596896"/>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1</a:t>
            </a:r>
            <a:endParaRPr lang="en-US" sz="1000" dirty="0"/>
          </a:p>
        </p:txBody>
      </p:sp>
      <p:sp>
        <p:nvSpPr>
          <p:cNvPr id="54" name="Shape 52"/>
          <p:cNvSpPr/>
          <p:nvPr/>
        </p:nvSpPr>
        <p:spPr>
          <a:xfrm>
            <a:off x="6135624" y="2596896"/>
            <a:ext cx="356616" cy="356616"/>
          </a:xfrm>
          <a:prstGeom prst="rect">
            <a:avLst/>
          </a:prstGeom>
          <a:solidFill>
            <a:srgbClr val="EEF2F8"/>
          </a:solidFill>
          <a:ln w="12700">
            <a:solidFill>
              <a:srgbClr val="B8C5D9"/>
            </a:solidFill>
            <a:prstDash val="solid"/>
          </a:ln>
        </p:spPr>
      </p:sp>
      <p:sp>
        <p:nvSpPr>
          <p:cNvPr id="55" name="Text 53"/>
          <p:cNvSpPr/>
          <p:nvPr/>
        </p:nvSpPr>
        <p:spPr>
          <a:xfrm>
            <a:off x="6135624" y="2596896"/>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2</a:t>
            </a:r>
            <a:endParaRPr lang="en-US" sz="1000" dirty="0"/>
          </a:p>
        </p:txBody>
      </p:sp>
      <p:sp>
        <p:nvSpPr>
          <p:cNvPr id="56" name="Shape 54"/>
          <p:cNvSpPr/>
          <p:nvPr/>
        </p:nvSpPr>
        <p:spPr>
          <a:xfrm>
            <a:off x="6492240" y="2596896"/>
            <a:ext cx="356616" cy="356616"/>
          </a:xfrm>
          <a:prstGeom prst="rect">
            <a:avLst/>
          </a:prstGeom>
          <a:solidFill>
            <a:srgbClr val="EEF2F8"/>
          </a:solidFill>
          <a:ln w="12700">
            <a:solidFill>
              <a:srgbClr val="B8C5D9"/>
            </a:solidFill>
            <a:prstDash val="solid"/>
          </a:ln>
        </p:spPr>
      </p:sp>
      <p:sp>
        <p:nvSpPr>
          <p:cNvPr id="57" name="Text 55"/>
          <p:cNvSpPr/>
          <p:nvPr/>
        </p:nvSpPr>
        <p:spPr>
          <a:xfrm>
            <a:off x="6492240" y="2596896"/>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3</a:t>
            </a:r>
            <a:endParaRPr lang="en-US" sz="1000" dirty="0"/>
          </a:p>
        </p:txBody>
      </p:sp>
      <p:sp>
        <p:nvSpPr>
          <p:cNvPr id="58" name="Shape 56"/>
          <p:cNvSpPr/>
          <p:nvPr/>
        </p:nvSpPr>
        <p:spPr>
          <a:xfrm>
            <a:off x="4709160" y="2953512"/>
            <a:ext cx="356616" cy="356616"/>
          </a:xfrm>
          <a:prstGeom prst="rect">
            <a:avLst/>
          </a:prstGeom>
          <a:solidFill>
            <a:srgbClr val="EEF2F8"/>
          </a:solidFill>
          <a:ln w="12700">
            <a:solidFill>
              <a:srgbClr val="B8C5D9"/>
            </a:solidFill>
            <a:prstDash val="solid"/>
          </a:ln>
        </p:spPr>
      </p:sp>
      <p:sp>
        <p:nvSpPr>
          <p:cNvPr id="59" name="Text 57"/>
          <p:cNvSpPr/>
          <p:nvPr/>
        </p:nvSpPr>
        <p:spPr>
          <a:xfrm>
            <a:off x="4709160" y="2953512"/>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3</a:t>
            </a:r>
            <a:endParaRPr lang="en-US" sz="1000" dirty="0"/>
          </a:p>
        </p:txBody>
      </p:sp>
      <p:sp>
        <p:nvSpPr>
          <p:cNvPr id="60" name="Shape 58"/>
          <p:cNvSpPr/>
          <p:nvPr/>
        </p:nvSpPr>
        <p:spPr>
          <a:xfrm>
            <a:off x="5065776" y="2953512"/>
            <a:ext cx="356616" cy="356616"/>
          </a:xfrm>
          <a:prstGeom prst="rect">
            <a:avLst/>
          </a:prstGeom>
          <a:solidFill>
            <a:srgbClr val="EEF2F8"/>
          </a:solidFill>
          <a:ln w="12700">
            <a:solidFill>
              <a:srgbClr val="B8C5D9"/>
            </a:solidFill>
            <a:prstDash val="solid"/>
          </a:ln>
        </p:spPr>
      </p:sp>
      <p:sp>
        <p:nvSpPr>
          <p:cNvPr id="61" name="Text 59"/>
          <p:cNvSpPr/>
          <p:nvPr/>
        </p:nvSpPr>
        <p:spPr>
          <a:xfrm>
            <a:off x="5065776" y="2953512"/>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2</a:t>
            </a:r>
            <a:endParaRPr lang="en-US" sz="1000" dirty="0"/>
          </a:p>
        </p:txBody>
      </p:sp>
      <p:sp>
        <p:nvSpPr>
          <p:cNvPr id="62" name="Shape 60"/>
          <p:cNvSpPr/>
          <p:nvPr/>
        </p:nvSpPr>
        <p:spPr>
          <a:xfrm>
            <a:off x="5422392" y="2953512"/>
            <a:ext cx="356616" cy="356616"/>
          </a:xfrm>
          <a:prstGeom prst="rect">
            <a:avLst/>
          </a:prstGeom>
          <a:solidFill>
            <a:srgbClr val="EEF2F8"/>
          </a:solidFill>
          <a:ln w="12700">
            <a:solidFill>
              <a:srgbClr val="B8C5D9"/>
            </a:solidFill>
            <a:prstDash val="solid"/>
          </a:ln>
        </p:spPr>
      </p:sp>
      <p:sp>
        <p:nvSpPr>
          <p:cNvPr id="63" name="Text 61"/>
          <p:cNvSpPr/>
          <p:nvPr/>
        </p:nvSpPr>
        <p:spPr>
          <a:xfrm>
            <a:off x="5422392" y="2953512"/>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1</a:t>
            </a:r>
            <a:endParaRPr lang="en-US" sz="1000" dirty="0"/>
          </a:p>
        </p:txBody>
      </p:sp>
      <p:sp>
        <p:nvSpPr>
          <p:cNvPr id="64" name="Shape 62"/>
          <p:cNvSpPr/>
          <p:nvPr/>
        </p:nvSpPr>
        <p:spPr>
          <a:xfrm>
            <a:off x="5779008" y="2953512"/>
            <a:ext cx="356616" cy="356616"/>
          </a:xfrm>
          <a:prstGeom prst="rect">
            <a:avLst/>
          </a:prstGeom>
          <a:solidFill>
            <a:srgbClr val="EEF2F8"/>
          </a:solidFill>
          <a:ln w="12700">
            <a:solidFill>
              <a:srgbClr val="B8C5D9"/>
            </a:solidFill>
            <a:prstDash val="solid"/>
          </a:ln>
        </p:spPr>
      </p:sp>
      <p:sp>
        <p:nvSpPr>
          <p:cNvPr id="65" name="Text 63"/>
          <p:cNvSpPr/>
          <p:nvPr/>
        </p:nvSpPr>
        <p:spPr>
          <a:xfrm>
            <a:off x="5779008" y="2953512"/>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0</a:t>
            </a:r>
            <a:endParaRPr lang="en-US" sz="1000" dirty="0"/>
          </a:p>
        </p:txBody>
      </p:sp>
      <p:sp>
        <p:nvSpPr>
          <p:cNvPr id="66" name="Shape 64"/>
          <p:cNvSpPr/>
          <p:nvPr/>
        </p:nvSpPr>
        <p:spPr>
          <a:xfrm>
            <a:off x="6135624" y="2953512"/>
            <a:ext cx="356616" cy="356616"/>
          </a:xfrm>
          <a:prstGeom prst="rect">
            <a:avLst/>
          </a:prstGeom>
          <a:solidFill>
            <a:srgbClr val="EEF2F8"/>
          </a:solidFill>
          <a:ln w="12700">
            <a:solidFill>
              <a:srgbClr val="B8C5D9"/>
            </a:solidFill>
            <a:prstDash val="solid"/>
          </a:ln>
        </p:spPr>
      </p:sp>
      <p:sp>
        <p:nvSpPr>
          <p:cNvPr id="67" name="Text 65"/>
          <p:cNvSpPr/>
          <p:nvPr/>
        </p:nvSpPr>
        <p:spPr>
          <a:xfrm>
            <a:off x="6135624" y="2953512"/>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4</a:t>
            </a:r>
            <a:endParaRPr lang="en-US" sz="1000" dirty="0"/>
          </a:p>
        </p:txBody>
      </p:sp>
      <p:sp>
        <p:nvSpPr>
          <p:cNvPr id="68" name="Shape 66"/>
          <p:cNvSpPr/>
          <p:nvPr/>
        </p:nvSpPr>
        <p:spPr>
          <a:xfrm>
            <a:off x="6492240" y="2953512"/>
            <a:ext cx="356616" cy="356616"/>
          </a:xfrm>
          <a:prstGeom prst="rect">
            <a:avLst/>
          </a:prstGeom>
          <a:solidFill>
            <a:srgbClr val="EEF2F8"/>
          </a:solidFill>
          <a:ln w="12700">
            <a:solidFill>
              <a:srgbClr val="B8C5D9"/>
            </a:solidFill>
            <a:prstDash val="solid"/>
          </a:ln>
        </p:spPr>
      </p:sp>
      <p:sp>
        <p:nvSpPr>
          <p:cNvPr id="69" name="Text 67"/>
          <p:cNvSpPr/>
          <p:nvPr/>
        </p:nvSpPr>
        <p:spPr>
          <a:xfrm>
            <a:off x="6492240" y="2953512"/>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2</a:t>
            </a:r>
            <a:endParaRPr lang="en-US" sz="1000" dirty="0"/>
          </a:p>
        </p:txBody>
      </p:sp>
      <p:sp>
        <p:nvSpPr>
          <p:cNvPr id="70" name="Shape 68"/>
          <p:cNvSpPr/>
          <p:nvPr/>
        </p:nvSpPr>
        <p:spPr>
          <a:xfrm>
            <a:off x="4709160" y="3310128"/>
            <a:ext cx="356616" cy="356616"/>
          </a:xfrm>
          <a:prstGeom prst="rect">
            <a:avLst/>
          </a:prstGeom>
          <a:solidFill>
            <a:srgbClr val="EEF2F8"/>
          </a:solidFill>
          <a:ln w="12700">
            <a:solidFill>
              <a:srgbClr val="B8C5D9"/>
            </a:solidFill>
            <a:prstDash val="solid"/>
          </a:ln>
        </p:spPr>
      </p:sp>
      <p:sp>
        <p:nvSpPr>
          <p:cNvPr id="71" name="Text 69"/>
          <p:cNvSpPr/>
          <p:nvPr/>
        </p:nvSpPr>
        <p:spPr>
          <a:xfrm>
            <a:off x="4709160" y="3310128"/>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0</a:t>
            </a:r>
            <a:endParaRPr lang="en-US" sz="1000" dirty="0"/>
          </a:p>
        </p:txBody>
      </p:sp>
      <p:sp>
        <p:nvSpPr>
          <p:cNvPr id="72" name="Shape 70"/>
          <p:cNvSpPr/>
          <p:nvPr/>
        </p:nvSpPr>
        <p:spPr>
          <a:xfrm>
            <a:off x="5065776" y="3310128"/>
            <a:ext cx="356616" cy="356616"/>
          </a:xfrm>
          <a:prstGeom prst="rect">
            <a:avLst/>
          </a:prstGeom>
          <a:solidFill>
            <a:srgbClr val="EEF2F8"/>
          </a:solidFill>
          <a:ln w="12700">
            <a:solidFill>
              <a:srgbClr val="B8C5D9"/>
            </a:solidFill>
            <a:prstDash val="solid"/>
          </a:ln>
        </p:spPr>
      </p:sp>
      <p:sp>
        <p:nvSpPr>
          <p:cNvPr id="73" name="Text 71"/>
          <p:cNvSpPr/>
          <p:nvPr/>
        </p:nvSpPr>
        <p:spPr>
          <a:xfrm>
            <a:off x="5065776" y="3310128"/>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3</a:t>
            </a:r>
            <a:endParaRPr lang="en-US" sz="1000" dirty="0"/>
          </a:p>
        </p:txBody>
      </p:sp>
      <p:sp>
        <p:nvSpPr>
          <p:cNvPr id="74" name="Shape 72"/>
          <p:cNvSpPr/>
          <p:nvPr/>
        </p:nvSpPr>
        <p:spPr>
          <a:xfrm>
            <a:off x="5422392" y="3310128"/>
            <a:ext cx="356616" cy="356616"/>
          </a:xfrm>
          <a:prstGeom prst="rect">
            <a:avLst/>
          </a:prstGeom>
          <a:solidFill>
            <a:srgbClr val="EEF2F8"/>
          </a:solidFill>
          <a:ln w="12700">
            <a:solidFill>
              <a:srgbClr val="B8C5D9"/>
            </a:solidFill>
            <a:prstDash val="solid"/>
          </a:ln>
        </p:spPr>
      </p:sp>
      <p:sp>
        <p:nvSpPr>
          <p:cNvPr id="75" name="Text 73"/>
          <p:cNvSpPr/>
          <p:nvPr/>
        </p:nvSpPr>
        <p:spPr>
          <a:xfrm>
            <a:off x="5422392" y="3310128"/>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1</a:t>
            </a:r>
            <a:endParaRPr lang="en-US" sz="1000" dirty="0"/>
          </a:p>
        </p:txBody>
      </p:sp>
      <p:sp>
        <p:nvSpPr>
          <p:cNvPr id="76" name="Shape 74"/>
          <p:cNvSpPr/>
          <p:nvPr/>
        </p:nvSpPr>
        <p:spPr>
          <a:xfrm>
            <a:off x="5779008" y="3310128"/>
            <a:ext cx="356616" cy="356616"/>
          </a:xfrm>
          <a:prstGeom prst="rect">
            <a:avLst/>
          </a:prstGeom>
          <a:solidFill>
            <a:srgbClr val="EEF2F8"/>
          </a:solidFill>
          <a:ln w="12700">
            <a:solidFill>
              <a:srgbClr val="B8C5D9"/>
            </a:solidFill>
            <a:prstDash val="solid"/>
          </a:ln>
        </p:spPr>
      </p:sp>
      <p:sp>
        <p:nvSpPr>
          <p:cNvPr id="77" name="Text 75"/>
          <p:cNvSpPr/>
          <p:nvPr/>
        </p:nvSpPr>
        <p:spPr>
          <a:xfrm>
            <a:off x="5779008" y="3310128"/>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2</a:t>
            </a:r>
            <a:endParaRPr lang="en-US" sz="1000" dirty="0"/>
          </a:p>
        </p:txBody>
      </p:sp>
      <p:sp>
        <p:nvSpPr>
          <p:cNvPr id="78" name="Shape 76"/>
          <p:cNvSpPr/>
          <p:nvPr/>
        </p:nvSpPr>
        <p:spPr>
          <a:xfrm>
            <a:off x="6135624" y="3310128"/>
            <a:ext cx="356616" cy="356616"/>
          </a:xfrm>
          <a:prstGeom prst="rect">
            <a:avLst/>
          </a:prstGeom>
          <a:solidFill>
            <a:srgbClr val="EEF2F8"/>
          </a:solidFill>
          <a:ln w="12700">
            <a:solidFill>
              <a:srgbClr val="B8C5D9"/>
            </a:solidFill>
            <a:prstDash val="solid"/>
          </a:ln>
        </p:spPr>
      </p:sp>
      <p:sp>
        <p:nvSpPr>
          <p:cNvPr id="79" name="Text 77"/>
          <p:cNvSpPr/>
          <p:nvPr/>
        </p:nvSpPr>
        <p:spPr>
          <a:xfrm>
            <a:off x="6135624" y="3310128"/>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1</a:t>
            </a:r>
            <a:endParaRPr lang="en-US" sz="1000" dirty="0"/>
          </a:p>
        </p:txBody>
      </p:sp>
      <p:sp>
        <p:nvSpPr>
          <p:cNvPr id="80" name="Shape 78"/>
          <p:cNvSpPr/>
          <p:nvPr/>
        </p:nvSpPr>
        <p:spPr>
          <a:xfrm>
            <a:off x="6492240" y="3310128"/>
            <a:ext cx="356616" cy="356616"/>
          </a:xfrm>
          <a:prstGeom prst="rect">
            <a:avLst/>
          </a:prstGeom>
          <a:solidFill>
            <a:srgbClr val="EEF2F8"/>
          </a:solidFill>
          <a:ln w="12700">
            <a:solidFill>
              <a:srgbClr val="B8C5D9"/>
            </a:solidFill>
            <a:prstDash val="solid"/>
          </a:ln>
        </p:spPr>
      </p:sp>
      <p:sp>
        <p:nvSpPr>
          <p:cNvPr id="81" name="Text 79"/>
          <p:cNvSpPr/>
          <p:nvPr/>
        </p:nvSpPr>
        <p:spPr>
          <a:xfrm>
            <a:off x="6492240" y="3310128"/>
            <a:ext cx="356616" cy="356616"/>
          </a:xfrm>
          <a:prstGeom prst="rect">
            <a:avLst/>
          </a:prstGeom>
          <a:noFill/>
          <a:ln/>
        </p:spPr>
        <p:txBody>
          <a:bodyPr wrap="square" lIns="0" tIns="0" rIns="0" bIns="0" rtlCol="0" anchor="ctr"/>
          <a:lstStyle/>
          <a:p>
            <a:pPr algn="ctr" indent="0" marL="0">
              <a:buNone/>
            </a:pPr>
            <a:r>
              <a:rPr lang="en-US" sz="1000" dirty="0">
                <a:solidFill>
                  <a:srgbClr val="6B7D99"/>
                </a:solidFill>
                <a:latin typeface="Calibri" pitchFamily="34" charset="0"/>
                <a:ea typeface="Calibri" pitchFamily="34" charset="-122"/>
                <a:cs typeface="Calibri" pitchFamily="34" charset="-120"/>
              </a:rPr>
              <a:t>0</a:t>
            </a:r>
            <a:endParaRPr lang="en-US" sz="1000" dirty="0"/>
          </a:p>
        </p:txBody>
      </p:sp>
      <p:sp>
        <p:nvSpPr>
          <p:cNvPr id="82" name="Text 80"/>
          <p:cNvSpPr/>
          <p:nvPr/>
        </p:nvSpPr>
        <p:spPr>
          <a:xfrm>
            <a:off x="4709160" y="3694176"/>
            <a:ext cx="2139696" cy="246888"/>
          </a:xfrm>
          <a:prstGeom prst="rect">
            <a:avLst/>
          </a:prstGeom>
          <a:noFill/>
          <a:ln/>
        </p:spPr>
        <p:txBody>
          <a:bodyPr wrap="square" lIns="0" tIns="0" rIns="0" bIns="0" rtlCol="0" anchor="ctr"/>
          <a:lstStyle/>
          <a:p>
            <a:pPr algn="ctr" indent="0" marL="0">
              <a:buNone/>
            </a:pPr>
            <a:r>
              <a:rPr lang="en-US" sz="950" i="1" dirty="0">
                <a:solidFill>
                  <a:srgbClr val="6B7D99"/>
                </a:solidFill>
                <a:latin typeface="Calibri" pitchFamily="34" charset="0"/>
                <a:ea typeface="Calibri" pitchFamily="34" charset="-122"/>
                <a:cs typeface="Calibri" pitchFamily="34" charset="-120"/>
              </a:rPr>
              <a:t>Input Image (6×6)</a:t>
            </a:r>
            <a:endParaRPr lang="en-US" sz="950" dirty="0"/>
          </a:p>
        </p:txBody>
      </p:sp>
      <p:sp>
        <p:nvSpPr>
          <p:cNvPr id="83" name="Text 81"/>
          <p:cNvSpPr/>
          <p:nvPr/>
        </p:nvSpPr>
        <p:spPr>
          <a:xfrm>
            <a:off x="6958584" y="2029968"/>
            <a:ext cx="274320" cy="320040"/>
          </a:xfrm>
          <a:prstGeom prst="rect">
            <a:avLst/>
          </a:prstGeom>
          <a:noFill/>
          <a:ln/>
        </p:spPr>
        <p:txBody>
          <a:bodyPr wrap="square" lIns="0" tIns="0" rIns="0" bIns="0" rtlCol="0" anchor="ctr"/>
          <a:lstStyle/>
          <a:p>
            <a:pPr algn="ctr" indent="0" marL="0">
              <a:buNone/>
            </a:pPr>
            <a:r>
              <a:rPr lang="en-US" sz="1800" b="1" dirty="0">
                <a:solidFill>
                  <a:srgbClr val="C8992A"/>
                </a:solidFill>
                <a:latin typeface="Calibri" pitchFamily="34" charset="0"/>
                <a:ea typeface="Calibri" pitchFamily="34" charset="-122"/>
                <a:cs typeface="Calibri" pitchFamily="34" charset="-120"/>
              </a:rPr>
              <a:t>✕</a:t>
            </a:r>
            <a:endParaRPr lang="en-US" sz="1800" dirty="0"/>
          </a:p>
        </p:txBody>
      </p:sp>
      <p:sp>
        <p:nvSpPr>
          <p:cNvPr id="84" name="Shape 82"/>
          <p:cNvSpPr/>
          <p:nvPr/>
        </p:nvSpPr>
        <p:spPr>
          <a:xfrm>
            <a:off x="7306056" y="1527048"/>
            <a:ext cx="356616" cy="356616"/>
          </a:xfrm>
          <a:prstGeom prst="rect">
            <a:avLst/>
          </a:prstGeom>
          <a:solidFill>
            <a:srgbClr val="FFF0CC"/>
          </a:solidFill>
          <a:ln w="12700">
            <a:solidFill>
              <a:srgbClr val="C8992A"/>
            </a:solidFill>
            <a:prstDash val="solid"/>
          </a:ln>
        </p:spPr>
      </p:sp>
      <p:sp>
        <p:nvSpPr>
          <p:cNvPr id="85" name="Text 83"/>
          <p:cNvSpPr/>
          <p:nvPr/>
        </p:nvSpPr>
        <p:spPr>
          <a:xfrm>
            <a:off x="7306056" y="1527048"/>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1</a:t>
            </a:r>
            <a:endParaRPr lang="en-US" sz="1000" dirty="0"/>
          </a:p>
        </p:txBody>
      </p:sp>
      <p:sp>
        <p:nvSpPr>
          <p:cNvPr id="86" name="Shape 84"/>
          <p:cNvSpPr/>
          <p:nvPr/>
        </p:nvSpPr>
        <p:spPr>
          <a:xfrm>
            <a:off x="7662672" y="1527048"/>
            <a:ext cx="356616" cy="356616"/>
          </a:xfrm>
          <a:prstGeom prst="rect">
            <a:avLst/>
          </a:prstGeom>
          <a:solidFill>
            <a:srgbClr val="FFF0CC"/>
          </a:solidFill>
          <a:ln w="12700">
            <a:solidFill>
              <a:srgbClr val="C8992A"/>
            </a:solidFill>
            <a:prstDash val="solid"/>
          </a:ln>
        </p:spPr>
      </p:sp>
      <p:sp>
        <p:nvSpPr>
          <p:cNvPr id="87" name="Text 85"/>
          <p:cNvSpPr/>
          <p:nvPr/>
        </p:nvSpPr>
        <p:spPr>
          <a:xfrm>
            <a:off x="7662672" y="1527048"/>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0</a:t>
            </a:r>
            <a:endParaRPr lang="en-US" sz="1000" dirty="0"/>
          </a:p>
        </p:txBody>
      </p:sp>
      <p:sp>
        <p:nvSpPr>
          <p:cNvPr id="88" name="Shape 86"/>
          <p:cNvSpPr/>
          <p:nvPr/>
        </p:nvSpPr>
        <p:spPr>
          <a:xfrm>
            <a:off x="8019288" y="1527048"/>
            <a:ext cx="356616" cy="356616"/>
          </a:xfrm>
          <a:prstGeom prst="rect">
            <a:avLst/>
          </a:prstGeom>
          <a:solidFill>
            <a:srgbClr val="FFF0CC"/>
          </a:solidFill>
          <a:ln w="12700">
            <a:solidFill>
              <a:srgbClr val="C8992A"/>
            </a:solidFill>
            <a:prstDash val="solid"/>
          </a:ln>
        </p:spPr>
      </p:sp>
      <p:sp>
        <p:nvSpPr>
          <p:cNvPr id="89" name="Text 87"/>
          <p:cNvSpPr/>
          <p:nvPr/>
        </p:nvSpPr>
        <p:spPr>
          <a:xfrm>
            <a:off x="8019288" y="1527048"/>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-1</a:t>
            </a:r>
            <a:endParaRPr lang="en-US" sz="1000" dirty="0"/>
          </a:p>
        </p:txBody>
      </p:sp>
      <p:sp>
        <p:nvSpPr>
          <p:cNvPr id="90" name="Shape 88"/>
          <p:cNvSpPr/>
          <p:nvPr/>
        </p:nvSpPr>
        <p:spPr>
          <a:xfrm>
            <a:off x="7306056" y="1883664"/>
            <a:ext cx="356616" cy="356616"/>
          </a:xfrm>
          <a:prstGeom prst="rect">
            <a:avLst/>
          </a:prstGeom>
          <a:solidFill>
            <a:srgbClr val="FFF0CC"/>
          </a:solidFill>
          <a:ln w="12700">
            <a:solidFill>
              <a:srgbClr val="C8992A"/>
            </a:solidFill>
            <a:prstDash val="solid"/>
          </a:ln>
        </p:spPr>
      </p:sp>
      <p:sp>
        <p:nvSpPr>
          <p:cNvPr id="91" name="Text 89"/>
          <p:cNvSpPr/>
          <p:nvPr/>
        </p:nvSpPr>
        <p:spPr>
          <a:xfrm>
            <a:off x="7306056" y="1883664"/>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1</a:t>
            </a:r>
            <a:endParaRPr lang="en-US" sz="1000" dirty="0"/>
          </a:p>
        </p:txBody>
      </p:sp>
      <p:sp>
        <p:nvSpPr>
          <p:cNvPr id="92" name="Shape 90"/>
          <p:cNvSpPr/>
          <p:nvPr/>
        </p:nvSpPr>
        <p:spPr>
          <a:xfrm>
            <a:off x="7662672" y="1883664"/>
            <a:ext cx="356616" cy="356616"/>
          </a:xfrm>
          <a:prstGeom prst="rect">
            <a:avLst/>
          </a:prstGeom>
          <a:solidFill>
            <a:srgbClr val="FFF0CC"/>
          </a:solidFill>
          <a:ln w="12700">
            <a:solidFill>
              <a:srgbClr val="C8992A"/>
            </a:solidFill>
            <a:prstDash val="solid"/>
          </a:ln>
        </p:spPr>
      </p:sp>
      <p:sp>
        <p:nvSpPr>
          <p:cNvPr id="93" name="Text 91"/>
          <p:cNvSpPr/>
          <p:nvPr/>
        </p:nvSpPr>
        <p:spPr>
          <a:xfrm>
            <a:off x="7662672" y="1883664"/>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0</a:t>
            </a:r>
            <a:endParaRPr lang="en-US" sz="1000" dirty="0"/>
          </a:p>
        </p:txBody>
      </p:sp>
      <p:sp>
        <p:nvSpPr>
          <p:cNvPr id="94" name="Shape 92"/>
          <p:cNvSpPr/>
          <p:nvPr/>
        </p:nvSpPr>
        <p:spPr>
          <a:xfrm>
            <a:off x="8019288" y="1883664"/>
            <a:ext cx="356616" cy="356616"/>
          </a:xfrm>
          <a:prstGeom prst="rect">
            <a:avLst/>
          </a:prstGeom>
          <a:solidFill>
            <a:srgbClr val="FFF0CC"/>
          </a:solidFill>
          <a:ln w="12700">
            <a:solidFill>
              <a:srgbClr val="C8992A"/>
            </a:solidFill>
            <a:prstDash val="solid"/>
          </a:ln>
        </p:spPr>
      </p:sp>
      <p:sp>
        <p:nvSpPr>
          <p:cNvPr id="95" name="Text 93"/>
          <p:cNvSpPr/>
          <p:nvPr/>
        </p:nvSpPr>
        <p:spPr>
          <a:xfrm>
            <a:off x="8019288" y="1883664"/>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-1</a:t>
            </a:r>
            <a:endParaRPr lang="en-US" sz="1000" dirty="0"/>
          </a:p>
        </p:txBody>
      </p:sp>
      <p:sp>
        <p:nvSpPr>
          <p:cNvPr id="96" name="Shape 94"/>
          <p:cNvSpPr/>
          <p:nvPr/>
        </p:nvSpPr>
        <p:spPr>
          <a:xfrm>
            <a:off x="7306056" y="2240280"/>
            <a:ext cx="356616" cy="356616"/>
          </a:xfrm>
          <a:prstGeom prst="rect">
            <a:avLst/>
          </a:prstGeom>
          <a:solidFill>
            <a:srgbClr val="FFF0CC"/>
          </a:solidFill>
          <a:ln w="12700">
            <a:solidFill>
              <a:srgbClr val="C8992A"/>
            </a:solidFill>
            <a:prstDash val="solid"/>
          </a:ln>
        </p:spPr>
      </p:sp>
      <p:sp>
        <p:nvSpPr>
          <p:cNvPr id="97" name="Text 95"/>
          <p:cNvSpPr/>
          <p:nvPr/>
        </p:nvSpPr>
        <p:spPr>
          <a:xfrm>
            <a:off x="7306056" y="2240280"/>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1</a:t>
            </a:r>
            <a:endParaRPr lang="en-US" sz="1000" dirty="0"/>
          </a:p>
        </p:txBody>
      </p:sp>
      <p:sp>
        <p:nvSpPr>
          <p:cNvPr id="98" name="Shape 96"/>
          <p:cNvSpPr/>
          <p:nvPr/>
        </p:nvSpPr>
        <p:spPr>
          <a:xfrm>
            <a:off x="7662672" y="2240280"/>
            <a:ext cx="356616" cy="356616"/>
          </a:xfrm>
          <a:prstGeom prst="rect">
            <a:avLst/>
          </a:prstGeom>
          <a:solidFill>
            <a:srgbClr val="FFF0CC"/>
          </a:solidFill>
          <a:ln w="12700">
            <a:solidFill>
              <a:srgbClr val="C8992A"/>
            </a:solidFill>
            <a:prstDash val="solid"/>
          </a:ln>
        </p:spPr>
      </p:sp>
      <p:sp>
        <p:nvSpPr>
          <p:cNvPr id="99" name="Text 97"/>
          <p:cNvSpPr/>
          <p:nvPr/>
        </p:nvSpPr>
        <p:spPr>
          <a:xfrm>
            <a:off x="7662672" y="2240280"/>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0</a:t>
            </a:r>
            <a:endParaRPr lang="en-US" sz="1000" dirty="0"/>
          </a:p>
        </p:txBody>
      </p:sp>
      <p:sp>
        <p:nvSpPr>
          <p:cNvPr id="100" name="Shape 98"/>
          <p:cNvSpPr/>
          <p:nvPr/>
        </p:nvSpPr>
        <p:spPr>
          <a:xfrm>
            <a:off x="8019288" y="2240280"/>
            <a:ext cx="356616" cy="356616"/>
          </a:xfrm>
          <a:prstGeom prst="rect">
            <a:avLst/>
          </a:prstGeom>
          <a:solidFill>
            <a:srgbClr val="FFF0CC"/>
          </a:solidFill>
          <a:ln w="12700">
            <a:solidFill>
              <a:srgbClr val="C8992A"/>
            </a:solidFill>
            <a:prstDash val="solid"/>
          </a:ln>
        </p:spPr>
      </p:sp>
      <p:sp>
        <p:nvSpPr>
          <p:cNvPr id="101" name="Text 99"/>
          <p:cNvSpPr/>
          <p:nvPr/>
        </p:nvSpPr>
        <p:spPr>
          <a:xfrm>
            <a:off x="8019288" y="2240280"/>
            <a:ext cx="356616" cy="356616"/>
          </a:xfrm>
          <a:prstGeom prst="rect">
            <a:avLst/>
          </a:prstGeom>
          <a:noFill/>
          <a:ln/>
        </p:spPr>
        <p:txBody>
          <a:bodyPr wrap="square" lIns="0" tIns="0" rIns="0" bIns="0"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-1</a:t>
            </a:r>
            <a:endParaRPr lang="en-US" sz="1000" dirty="0"/>
          </a:p>
        </p:txBody>
      </p:sp>
      <p:sp>
        <p:nvSpPr>
          <p:cNvPr id="102" name="Text 100"/>
          <p:cNvSpPr/>
          <p:nvPr/>
        </p:nvSpPr>
        <p:spPr>
          <a:xfrm>
            <a:off x="7306056" y="2624328"/>
            <a:ext cx="1069848" cy="246888"/>
          </a:xfrm>
          <a:prstGeom prst="rect">
            <a:avLst/>
          </a:prstGeom>
          <a:noFill/>
          <a:ln/>
        </p:spPr>
        <p:txBody>
          <a:bodyPr wrap="square" lIns="0" tIns="0" rIns="0" bIns="0" rtlCol="0" anchor="ctr"/>
          <a:lstStyle/>
          <a:p>
            <a:pPr algn="ctr" indent="0" marL="0">
              <a:buNone/>
            </a:pPr>
            <a:r>
              <a:rPr lang="en-US" sz="950" i="1" dirty="0">
                <a:solidFill>
                  <a:srgbClr val="6B7D99"/>
                </a:solidFill>
                <a:latin typeface="Calibri" pitchFamily="34" charset="0"/>
                <a:ea typeface="Calibri" pitchFamily="34" charset="-122"/>
                <a:cs typeface="Calibri" pitchFamily="34" charset="-120"/>
              </a:rPr>
              <a:t>Kernel (3×3)</a:t>
            </a:r>
            <a:endParaRPr lang="en-US" sz="950" dirty="0"/>
          </a:p>
        </p:txBody>
      </p:sp>
      <p:sp>
        <p:nvSpPr>
          <p:cNvPr id="103" name="Text 101"/>
          <p:cNvSpPr/>
          <p:nvPr/>
        </p:nvSpPr>
        <p:spPr>
          <a:xfrm>
            <a:off x="4709160" y="3931920"/>
            <a:ext cx="4114800" cy="1965960"/>
          </a:xfrm>
          <a:prstGeom prst="rect">
            <a:avLst/>
          </a:prstGeom>
          <a:solidFill>
            <a:srgbClr val="FFFFFF"/>
          </a:solidFill>
          <a:ln/>
        </p:spPr>
        <p:txBody>
          <a:bodyPr wrap="square" rtlCol="0" anchor="ctr"/>
          <a:lstStyle/>
          <a:p>
            <a:pPr indent="0" marL="0">
              <a:buNone/>
            </a:pPr>
            <a:r>
              <a:rPr lang="en-US" sz="1150" dirty="0">
                <a:solidFill>
                  <a:srgbClr val="3D4F6B"/>
                </a:solidFill>
                <a:latin typeface="Calibri" pitchFamily="34" charset="0"/>
                <a:ea typeface="Calibri" pitchFamily="34" charset="-122"/>
                <a:cs typeface="Calibri" pitchFamily="34" charset="-120"/>
              </a:rPr>
              <a:t>→  Result = Σ(element-wise ×)</a:t>
            </a:r>
            <a:endParaRPr lang="en-US" sz="1150" dirty="0"/>
          </a:p>
          <a:p>
            <a:pPr indent="0" marL="0">
              <a:buNone/>
            </a:pPr>
            <a:r>
              <a:rPr lang="en-US" sz="1150" dirty="0">
                <a:solidFill>
                  <a:srgbClr val="3D4F6B"/>
                </a:solidFill>
                <a:latin typeface="Calibri" pitchFamily="34" charset="0"/>
                <a:ea typeface="Calibri" pitchFamily="34" charset="-122"/>
                <a:cs typeface="Calibri" pitchFamily="34" charset="-120"/>
              </a:rPr>
              <a:t>= 3·1 + 1·0 + 2·(-1)</a:t>
            </a:r>
            <a:endParaRPr lang="en-US" sz="1150" dirty="0"/>
          </a:p>
          <a:p>
            <a:pPr indent="0" marL="0">
              <a:buNone/>
            </a:pPr>
            <a:r>
              <a:rPr lang="en-US" sz="1150" dirty="0">
                <a:solidFill>
                  <a:srgbClr val="3D4F6B"/>
                </a:solidFill>
                <a:latin typeface="Calibri" pitchFamily="34" charset="0"/>
                <a:ea typeface="Calibri" pitchFamily="34" charset="-122"/>
                <a:cs typeface="Calibri" pitchFamily="34" charset="-120"/>
              </a:rPr>
              <a:t>+ 0·1 + 5·0 + 3·(-1)</a:t>
            </a:r>
            <a:endParaRPr lang="en-US" sz="1150" dirty="0"/>
          </a:p>
          <a:p>
            <a:pPr indent="0" marL="0">
              <a:buNone/>
            </a:pPr>
            <a:r>
              <a:rPr lang="en-US" sz="1150" dirty="0">
                <a:solidFill>
                  <a:srgbClr val="3D4F6B"/>
                </a:solidFill>
                <a:latin typeface="Calibri" pitchFamily="34" charset="0"/>
                <a:ea typeface="Calibri" pitchFamily="34" charset="-122"/>
                <a:cs typeface="Calibri" pitchFamily="34" charset="-120"/>
              </a:rPr>
              <a:t>+ 2·1 + 1·0 + 0·(-1)</a:t>
            </a:r>
            <a:endParaRPr lang="en-US" sz="1150" dirty="0"/>
          </a:p>
          <a:p>
            <a:pPr indent="0" marL="0">
              <a:buNone/>
            </a:pPr>
            <a:endParaRPr lang="en-US" sz="1150" dirty="0"/>
          </a:p>
          <a:p>
            <a:pPr indent="0" marL="0">
              <a:buNone/>
            </a:pPr>
            <a:r>
              <a:rPr lang="en-US" sz="1150" dirty="0">
                <a:solidFill>
                  <a:srgbClr val="3D4F6B"/>
                </a:solidFill>
                <a:latin typeface="Calibri" pitchFamily="34" charset="0"/>
                <a:ea typeface="Calibri" pitchFamily="34" charset="-122"/>
                <a:cs typeface="Calibri" pitchFamily="34" charset="-120"/>
              </a:rPr>
              <a:t>= 3+0-2+0+0-3+2+0-0</a:t>
            </a:r>
            <a:endParaRPr lang="en-US" sz="1150" dirty="0"/>
          </a:p>
          <a:p>
            <a:pPr indent="0" marL="0">
              <a:buNone/>
            </a:pPr>
            <a:r>
              <a:rPr lang="en-US" sz="1150" dirty="0">
                <a:solidFill>
                  <a:srgbClr val="3D4F6B"/>
                </a:solidFill>
                <a:latin typeface="Calibri" pitchFamily="34" charset="0"/>
                <a:ea typeface="Calibri" pitchFamily="34" charset="-122"/>
                <a:cs typeface="Calibri" pitchFamily="34" charset="-120"/>
              </a:rPr>
              <a:t>= 0</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Layer C1: First Convolutional Layer</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Input: 32×32×1  →  Output: 28×28×6  |  6 feature maps, 5×5 kernels</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65760" y="1170432"/>
            <a:ext cx="2084832" cy="1664208"/>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1170432"/>
            <a:ext cx="2084832" cy="384048"/>
          </a:xfrm>
          <a:prstGeom prst="rect">
            <a:avLst/>
          </a:prstGeom>
          <a:solidFill>
            <a:srgbClr val="0B1D3A"/>
          </a:solidFill>
          <a:ln w="12700">
            <a:solidFill>
              <a:srgbClr val="0B1D3A"/>
            </a:solidFill>
            <a:prstDash val="solid"/>
          </a:ln>
        </p:spPr>
      </p:sp>
      <p:sp>
        <p:nvSpPr>
          <p:cNvPr id="7" name="Text 5"/>
          <p:cNvSpPr/>
          <p:nvPr/>
        </p:nvSpPr>
        <p:spPr>
          <a:xfrm>
            <a:off x="457200" y="1207008"/>
            <a:ext cx="192024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Kernel Size</a:t>
            </a:r>
            <a:endParaRPr lang="en-US" sz="1100" dirty="0"/>
          </a:p>
        </p:txBody>
      </p:sp>
      <p:sp>
        <p:nvSpPr>
          <p:cNvPr id="8" name="Text 6"/>
          <p:cNvSpPr/>
          <p:nvPr/>
        </p:nvSpPr>
        <p:spPr>
          <a:xfrm>
            <a:off x="475488" y="1627632"/>
            <a:ext cx="1901952" cy="1097280"/>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5 × 5 pixels</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25 weights per filter</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Learned via backpropagation</a:t>
            </a:r>
            <a:endParaRPr lang="en-US" sz="1050" dirty="0"/>
          </a:p>
        </p:txBody>
      </p:sp>
      <p:sp>
        <p:nvSpPr>
          <p:cNvPr id="9" name="Shape 7"/>
          <p:cNvSpPr/>
          <p:nvPr/>
        </p:nvSpPr>
        <p:spPr>
          <a:xfrm>
            <a:off x="2578608" y="1170432"/>
            <a:ext cx="2084832" cy="1664208"/>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2578608" y="1170432"/>
            <a:ext cx="2084832" cy="384048"/>
          </a:xfrm>
          <a:prstGeom prst="rect">
            <a:avLst/>
          </a:prstGeom>
          <a:solidFill>
            <a:srgbClr val="0B1D3A"/>
          </a:solidFill>
          <a:ln w="12700">
            <a:solidFill>
              <a:srgbClr val="0B1D3A"/>
            </a:solidFill>
            <a:prstDash val="solid"/>
          </a:ln>
        </p:spPr>
      </p:sp>
      <p:sp>
        <p:nvSpPr>
          <p:cNvPr id="11" name="Text 9"/>
          <p:cNvSpPr/>
          <p:nvPr/>
        </p:nvSpPr>
        <p:spPr>
          <a:xfrm>
            <a:off x="2670048" y="1207008"/>
            <a:ext cx="192024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Feature Maps</a:t>
            </a:r>
            <a:endParaRPr lang="en-US" sz="1100" dirty="0"/>
          </a:p>
        </p:txBody>
      </p:sp>
      <p:sp>
        <p:nvSpPr>
          <p:cNvPr id="12" name="Text 10"/>
          <p:cNvSpPr/>
          <p:nvPr/>
        </p:nvSpPr>
        <p:spPr>
          <a:xfrm>
            <a:off x="2688336" y="1627632"/>
            <a:ext cx="1901952" cy="1097280"/>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6 independent filters</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Each detects a different feature</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6 × 28 × 28 = 4,704 neurons</a:t>
            </a:r>
            <a:endParaRPr lang="en-US" sz="1050" dirty="0"/>
          </a:p>
        </p:txBody>
      </p:sp>
      <p:sp>
        <p:nvSpPr>
          <p:cNvPr id="13" name="Shape 11"/>
          <p:cNvSpPr/>
          <p:nvPr/>
        </p:nvSpPr>
        <p:spPr>
          <a:xfrm>
            <a:off x="365760" y="2999232"/>
            <a:ext cx="2084832" cy="1664208"/>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2999232"/>
            <a:ext cx="2084832" cy="384048"/>
          </a:xfrm>
          <a:prstGeom prst="rect">
            <a:avLst/>
          </a:prstGeom>
          <a:solidFill>
            <a:srgbClr val="0B1D3A"/>
          </a:solidFill>
          <a:ln w="12700">
            <a:solidFill>
              <a:srgbClr val="0B1D3A"/>
            </a:solidFill>
            <a:prstDash val="solid"/>
          </a:ln>
        </p:spPr>
      </p:sp>
      <p:sp>
        <p:nvSpPr>
          <p:cNvPr id="15" name="Text 13"/>
          <p:cNvSpPr/>
          <p:nvPr/>
        </p:nvSpPr>
        <p:spPr>
          <a:xfrm>
            <a:off x="457200" y="3035808"/>
            <a:ext cx="192024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Output Size Formula</a:t>
            </a:r>
            <a:endParaRPr lang="en-US" sz="1100" dirty="0"/>
          </a:p>
        </p:txBody>
      </p:sp>
      <p:sp>
        <p:nvSpPr>
          <p:cNvPr id="16" name="Text 14"/>
          <p:cNvSpPr/>
          <p:nvPr/>
        </p:nvSpPr>
        <p:spPr>
          <a:xfrm>
            <a:off x="475488" y="3456432"/>
            <a:ext cx="1901952" cy="1097280"/>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(32 − 5) / 1 + 1 = 28</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Stride = 1  |  No padding</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Same formula applies to C3, C5</a:t>
            </a:r>
            <a:endParaRPr lang="en-US" sz="1050" dirty="0"/>
          </a:p>
        </p:txBody>
      </p:sp>
      <p:sp>
        <p:nvSpPr>
          <p:cNvPr id="17" name="Shape 15"/>
          <p:cNvSpPr/>
          <p:nvPr/>
        </p:nvSpPr>
        <p:spPr>
          <a:xfrm>
            <a:off x="2578608" y="2999232"/>
            <a:ext cx="2084832" cy="1664208"/>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18" name="Shape 16"/>
          <p:cNvSpPr/>
          <p:nvPr/>
        </p:nvSpPr>
        <p:spPr>
          <a:xfrm>
            <a:off x="2578608" y="2999232"/>
            <a:ext cx="2084832" cy="384048"/>
          </a:xfrm>
          <a:prstGeom prst="rect">
            <a:avLst/>
          </a:prstGeom>
          <a:solidFill>
            <a:srgbClr val="0B1D3A"/>
          </a:solidFill>
          <a:ln w="12700">
            <a:solidFill>
              <a:srgbClr val="0B1D3A"/>
            </a:solidFill>
            <a:prstDash val="solid"/>
          </a:ln>
        </p:spPr>
      </p:sp>
      <p:sp>
        <p:nvSpPr>
          <p:cNvPr id="19" name="Text 17"/>
          <p:cNvSpPr/>
          <p:nvPr/>
        </p:nvSpPr>
        <p:spPr>
          <a:xfrm>
            <a:off x="2670048" y="3035808"/>
            <a:ext cx="192024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Parameters in C1</a:t>
            </a:r>
            <a:endParaRPr lang="en-US" sz="1100" dirty="0"/>
          </a:p>
        </p:txBody>
      </p:sp>
      <p:sp>
        <p:nvSpPr>
          <p:cNvPr id="20" name="Text 18"/>
          <p:cNvSpPr/>
          <p:nvPr/>
        </p:nvSpPr>
        <p:spPr>
          <a:xfrm>
            <a:off x="2688336" y="3456432"/>
            <a:ext cx="1901952" cy="1097280"/>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6 filters × (5×5 + 1 bias)</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 6 × 26 = 156 parameters</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Shared across all spatial positions</a:t>
            </a:r>
            <a:endParaRPr lang="en-US" sz="1050" dirty="0"/>
          </a:p>
        </p:txBody>
      </p:sp>
      <p:sp>
        <p:nvSpPr>
          <p:cNvPr id="21" name="Text 19"/>
          <p:cNvSpPr/>
          <p:nvPr/>
        </p:nvSpPr>
        <p:spPr>
          <a:xfrm>
            <a:off x="4956048" y="1170432"/>
            <a:ext cx="3840480" cy="347472"/>
          </a:xfrm>
          <a:prstGeom prst="rect">
            <a:avLst/>
          </a:prstGeom>
          <a:noFill/>
          <a:ln/>
        </p:spPr>
        <p:txBody>
          <a:bodyPr wrap="square" lIns="0" tIns="0" rIns="0" bIns="0" rtlCol="0" anchor="ctr"/>
          <a:lstStyle/>
          <a:p>
            <a:pPr indent="0" marL="0">
              <a:buNone/>
            </a:pPr>
            <a:r>
              <a:rPr lang="en-US" sz="1350" b="1" dirty="0">
                <a:solidFill>
                  <a:srgbClr val="0B1D3A"/>
                </a:solidFill>
                <a:latin typeface="Calibri" pitchFamily="34" charset="0"/>
                <a:ea typeface="Calibri" pitchFamily="34" charset="-122"/>
                <a:cs typeface="Calibri" pitchFamily="34" charset="-120"/>
              </a:rPr>
              <a:t>What Each Feature Map Detects</a:t>
            </a:r>
            <a:endParaRPr lang="en-US" sz="1350" dirty="0"/>
          </a:p>
        </p:txBody>
      </p:sp>
      <p:sp>
        <p:nvSpPr>
          <p:cNvPr id="22" name="Shape 20"/>
          <p:cNvSpPr/>
          <p:nvPr/>
        </p:nvSpPr>
        <p:spPr>
          <a:xfrm>
            <a:off x="4956048" y="1609344"/>
            <a:ext cx="1115568" cy="1188720"/>
          </a:xfrm>
          <a:prstGeom prst="rect">
            <a:avLst/>
          </a:prstGeom>
          <a:solidFill>
            <a:srgbClr val="E8F4F7"/>
          </a:solidFill>
          <a:ln w="12700">
            <a:solidFill>
              <a:srgbClr val="B8C5D9"/>
            </a:solidFill>
            <a:prstDash val="solid"/>
          </a:ln>
        </p:spPr>
      </p:sp>
      <p:sp>
        <p:nvSpPr>
          <p:cNvPr id="23" name="Text 21"/>
          <p:cNvSpPr/>
          <p:nvPr/>
        </p:nvSpPr>
        <p:spPr>
          <a:xfrm>
            <a:off x="4956048" y="1655064"/>
            <a:ext cx="1115568" cy="274320"/>
          </a:xfrm>
          <a:prstGeom prst="rect">
            <a:avLst/>
          </a:prstGeom>
          <a:noFill/>
          <a:ln/>
        </p:spPr>
        <p:txBody>
          <a:bodyPr wrap="square" lIns="0" tIns="0" rIns="0" bIns="0" rtlCol="0" anchor="ctr"/>
          <a:lstStyle/>
          <a:p>
            <a:pPr algn="ctr" indent="0" marL="0">
              <a:buNone/>
            </a:pPr>
            <a:r>
              <a:rPr lang="en-US" sz="1100" b="1" dirty="0">
                <a:solidFill>
                  <a:srgbClr val="0B1D3A"/>
                </a:solidFill>
                <a:latin typeface="Calibri" pitchFamily="34" charset="0"/>
                <a:ea typeface="Calibri" pitchFamily="34" charset="-122"/>
                <a:cs typeface="Calibri" pitchFamily="34" charset="-120"/>
              </a:rPr>
              <a:t>FM 1</a:t>
            </a:r>
            <a:endParaRPr lang="en-US" sz="1100" dirty="0"/>
          </a:p>
        </p:txBody>
      </p:sp>
      <p:sp>
        <p:nvSpPr>
          <p:cNvPr id="24" name="Text 22"/>
          <p:cNvSpPr/>
          <p:nvPr/>
        </p:nvSpPr>
        <p:spPr>
          <a:xfrm>
            <a:off x="4956048" y="1956816"/>
            <a:ext cx="1115568" cy="594360"/>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Horizontal</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Edges</a:t>
            </a:r>
            <a:endParaRPr lang="en-US" sz="1000" dirty="0"/>
          </a:p>
        </p:txBody>
      </p:sp>
      <p:sp>
        <p:nvSpPr>
          <p:cNvPr id="25" name="Text 23"/>
          <p:cNvSpPr/>
          <p:nvPr/>
        </p:nvSpPr>
        <p:spPr>
          <a:xfrm>
            <a:off x="4956048" y="2569464"/>
            <a:ext cx="1115568" cy="201168"/>
          </a:xfrm>
          <a:prstGeom prst="rect">
            <a:avLst/>
          </a:prstGeom>
          <a:noFill/>
          <a:ln/>
        </p:spPr>
        <p:txBody>
          <a:bodyPr wrap="square" lIns="0" tIns="0" rIns="0" bIns="0" rtlCol="0" anchor="ctr"/>
          <a:lstStyle/>
          <a:p>
            <a:pPr algn="ctr" indent="0" marL="0">
              <a:buNone/>
            </a:pPr>
            <a:r>
              <a:rPr lang="en-US" sz="850" i="1" dirty="0">
                <a:solidFill>
                  <a:srgbClr val="6B7D99"/>
                </a:solidFill>
                <a:latin typeface="Calibri" pitchFamily="34" charset="0"/>
                <a:ea typeface="Calibri" pitchFamily="34" charset="-122"/>
                <a:cs typeface="Calibri" pitchFamily="34" charset="-120"/>
              </a:rPr>
              <a:t>28×28</a:t>
            </a:r>
            <a:endParaRPr lang="en-US" sz="850" dirty="0"/>
          </a:p>
        </p:txBody>
      </p:sp>
      <p:sp>
        <p:nvSpPr>
          <p:cNvPr id="26" name="Shape 24"/>
          <p:cNvSpPr/>
          <p:nvPr/>
        </p:nvSpPr>
        <p:spPr>
          <a:xfrm>
            <a:off x="6163056" y="1609344"/>
            <a:ext cx="1115568" cy="1188720"/>
          </a:xfrm>
          <a:prstGeom prst="rect">
            <a:avLst/>
          </a:prstGeom>
          <a:solidFill>
            <a:srgbClr val="FFF0CC"/>
          </a:solidFill>
          <a:ln w="12700">
            <a:solidFill>
              <a:srgbClr val="B8C5D9"/>
            </a:solidFill>
            <a:prstDash val="solid"/>
          </a:ln>
        </p:spPr>
      </p:sp>
      <p:sp>
        <p:nvSpPr>
          <p:cNvPr id="27" name="Text 25"/>
          <p:cNvSpPr/>
          <p:nvPr/>
        </p:nvSpPr>
        <p:spPr>
          <a:xfrm>
            <a:off x="6163056" y="1655064"/>
            <a:ext cx="1115568" cy="274320"/>
          </a:xfrm>
          <a:prstGeom prst="rect">
            <a:avLst/>
          </a:prstGeom>
          <a:noFill/>
          <a:ln/>
        </p:spPr>
        <p:txBody>
          <a:bodyPr wrap="square" lIns="0" tIns="0" rIns="0" bIns="0" rtlCol="0" anchor="ctr"/>
          <a:lstStyle/>
          <a:p>
            <a:pPr algn="ctr" indent="0" marL="0">
              <a:buNone/>
            </a:pPr>
            <a:r>
              <a:rPr lang="en-US" sz="1100" b="1" dirty="0">
                <a:solidFill>
                  <a:srgbClr val="0B1D3A"/>
                </a:solidFill>
                <a:latin typeface="Calibri" pitchFamily="34" charset="0"/>
                <a:ea typeface="Calibri" pitchFamily="34" charset="-122"/>
                <a:cs typeface="Calibri" pitchFamily="34" charset="-120"/>
              </a:rPr>
              <a:t>FM 2</a:t>
            </a:r>
            <a:endParaRPr lang="en-US" sz="1100" dirty="0"/>
          </a:p>
        </p:txBody>
      </p:sp>
      <p:sp>
        <p:nvSpPr>
          <p:cNvPr id="28" name="Text 26"/>
          <p:cNvSpPr/>
          <p:nvPr/>
        </p:nvSpPr>
        <p:spPr>
          <a:xfrm>
            <a:off x="6163056" y="1956816"/>
            <a:ext cx="1115568" cy="594360"/>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Vertical</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Edges</a:t>
            </a:r>
            <a:endParaRPr lang="en-US" sz="1000" dirty="0"/>
          </a:p>
        </p:txBody>
      </p:sp>
      <p:sp>
        <p:nvSpPr>
          <p:cNvPr id="29" name="Text 27"/>
          <p:cNvSpPr/>
          <p:nvPr/>
        </p:nvSpPr>
        <p:spPr>
          <a:xfrm>
            <a:off x="6163056" y="2569464"/>
            <a:ext cx="1115568" cy="201168"/>
          </a:xfrm>
          <a:prstGeom prst="rect">
            <a:avLst/>
          </a:prstGeom>
          <a:noFill/>
          <a:ln/>
        </p:spPr>
        <p:txBody>
          <a:bodyPr wrap="square" lIns="0" tIns="0" rIns="0" bIns="0" rtlCol="0" anchor="ctr"/>
          <a:lstStyle/>
          <a:p>
            <a:pPr algn="ctr" indent="0" marL="0">
              <a:buNone/>
            </a:pPr>
            <a:r>
              <a:rPr lang="en-US" sz="850" i="1" dirty="0">
                <a:solidFill>
                  <a:srgbClr val="6B7D99"/>
                </a:solidFill>
                <a:latin typeface="Calibri" pitchFamily="34" charset="0"/>
                <a:ea typeface="Calibri" pitchFamily="34" charset="-122"/>
                <a:cs typeface="Calibri" pitchFamily="34" charset="-120"/>
              </a:rPr>
              <a:t>28×28</a:t>
            </a:r>
            <a:endParaRPr lang="en-US" sz="850" dirty="0"/>
          </a:p>
        </p:txBody>
      </p:sp>
      <p:sp>
        <p:nvSpPr>
          <p:cNvPr id="30" name="Shape 28"/>
          <p:cNvSpPr/>
          <p:nvPr/>
        </p:nvSpPr>
        <p:spPr>
          <a:xfrm>
            <a:off x="7370064" y="1609344"/>
            <a:ext cx="1115568" cy="1188720"/>
          </a:xfrm>
          <a:prstGeom prst="rect">
            <a:avLst/>
          </a:prstGeom>
          <a:solidFill>
            <a:srgbClr val="F0E8F7"/>
          </a:solidFill>
          <a:ln w="12700">
            <a:solidFill>
              <a:srgbClr val="B8C5D9"/>
            </a:solidFill>
            <a:prstDash val="solid"/>
          </a:ln>
        </p:spPr>
      </p:sp>
      <p:sp>
        <p:nvSpPr>
          <p:cNvPr id="31" name="Text 29"/>
          <p:cNvSpPr/>
          <p:nvPr/>
        </p:nvSpPr>
        <p:spPr>
          <a:xfrm>
            <a:off x="7370064" y="1655064"/>
            <a:ext cx="1115568" cy="274320"/>
          </a:xfrm>
          <a:prstGeom prst="rect">
            <a:avLst/>
          </a:prstGeom>
          <a:noFill/>
          <a:ln/>
        </p:spPr>
        <p:txBody>
          <a:bodyPr wrap="square" lIns="0" tIns="0" rIns="0" bIns="0" rtlCol="0" anchor="ctr"/>
          <a:lstStyle/>
          <a:p>
            <a:pPr algn="ctr" indent="0" marL="0">
              <a:buNone/>
            </a:pPr>
            <a:r>
              <a:rPr lang="en-US" sz="1100" b="1" dirty="0">
                <a:solidFill>
                  <a:srgbClr val="0B1D3A"/>
                </a:solidFill>
                <a:latin typeface="Calibri" pitchFamily="34" charset="0"/>
                <a:ea typeface="Calibri" pitchFamily="34" charset="-122"/>
                <a:cs typeface="Calibri" pitchFamily="34" charset="-120"/>
              </a:rPr>
              <a:t>FM 3</a:t>
            </a:r>
            <a:endParaRPr lang="en-US" sz="1100" dirty="0"/>
          </a:p>
        </p:txBody>
      </p:sp>
      <p:sp>
        <p:nvSpPr>
          <p:cNvPr id="32" name="Text 30"/>
          <p:cNvSpPr/>
          <p:nvPr/>
        </p:nvSpPr>
        <p:spPr>
          <a:xfrm>
            <a:off x="7370064" y="1956816"/>
            <a:ext cx="1115568" cy="594360"/>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Diagonal</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+45°</a:t>
            </a:r>
            <a:endParaRPr lang="en-US" sz="1000" dirty="0"/>
          </a:p>
        </p:txBody>
      </p:sp>
      <p:sp>
        <p:nvSpPr>
          <p:cNvPr id="33" name="Text 31"/>
          <p:cNvSpPr/>
          <p:nvPr/>
        </p:nvSpPr>
        <p:spPr>
          <a:xfrm>
            <a:off x="7370064" y="2569464"/>
            <a:ext cx="1115568" cy="201168"/>
          </a:xfrm>
          <a:prstGeom prst="rect">
            <a:avLst/>
          </a:prstGeom>
          <a:noFill/>
          <a:ln/>
        </p:spPr>
        <p:txBody>
          <a:bodyPr wrap="square" lIns="0" tIns="0" rIns="0" bIns="0" rtlCol="0" anchor="ctr"/>
          <a:lstStyle/>
          <a:p>
            <a:pPr algn="ctr" indent="0" marL="0">
              <a:buNone/>
            </a:pPr>
            <a:r>
              <a:rPr lang="en-US" sz="850" i="1" dirty="0">
                <a:solidFill>
                  <a:srgbClr val="6B7D99"/>
                </a:solidFill>
                <a:latin typeface="Calibri" pitchFamily="34" charset="0"/>
                <a:ea typeface="Calibri" pitchFamily="34" charset="-122"/>
                <a:cs typeface="Calibri" pitchFamily="34" charset="-120"/>
              </a:rPr>
              <a:t>28×28</a:t>
            </a:r>
            <a:endParaRPr lang="en-US" sz="850" dirty="0"/>
          </a:p>
        </p:txBody>
      </p:sp>
      <p:sp>
        <p:nvSpPr>
          <p:cNvPr id="34" name="Shape 32"/>
          <p:cNvSpPr/>
          <p:nvPr/>
        </p:nvSpPr>
        <p:spPr>
          <a:xfrm>
            <a:off x="4956048" y="2889504"/>
            <a:ext cx="1115568" cy="1188720"/>
          </a:xfrm>
          <a:prstGeom prst="rect">
            <a:avLst/>
          </a:prstGeom>
          <a:solidFill>
            <a:srgbClr val="E8F7EE"/>
          </a:solidFill>
          <a:ln w="12700">
            <a:solidFill>
              <a:srgbClr val="B8C5D9"/>
            </a:solidFill>
            <a:prstDash val="solid"/>
          </a:ln>
        </p:spPr>
      </p:sp>
      <p:sp>
        <p:nvSpPr>
          <p:cNvPr id="35" name="Text 33"/>
          <p:cNvSpPr/>
          <p:nvPr/>
        </p:nvSpPr>
        <p:spPr>
          <a:xfrm>
            <a:off x="4956048" y="2935224"/>
            <a:ext cx="1115568" cy="274320"/>
          </a:xfrm>
          <a:prstGeom prst="rect">
            <a:avLst/>
          </a:prstGeom>
          <a:noFill/>
          <a:ln/>
        </p:spPr>
        <p:txBody>
          <a:bodyPr wrap="square" lIns="0" tIns="0" rIns="0" bIns="0" rtlCol="0" anchor="ctr"/>
          <a:lstStyle/>
          <a:p>
            <a:pPr algn="ctr" indent="0" marL="0">
              <a:buNone/>
            </a:pPr>
            <a:r>
              <a:rPr lang="en-US" sz="1100" b="1" dirty="0">
                <a:solidFill>
                  <a:srgbClr val="0B1D3A"/>
                </a:solidFill>
                <a:latin typeface="Calibri" pitchFamily="34" charset="0"/>
                <a:ea typeface="Calibri" pitchFamily="34" charset="-122"/>
                <a:cs typeface="Calibri" pitchFamily="34" charset="-120"/>
              </a:rPr>
              <a:t>FM 4</a:t>
            </a:r>
            <a:endParaRPr lang="en-US" sz="1100" dirty="0"/>
          </a:p>
        </p:txBody>
      </p:sp>
      <p:sp>
        <p:nvSpPr>
          <p:cNvPr id="36" name="Text 34"/>
          <p:cNvSpPr/>
          <p:nvPr/>
        </p:nvSpPr>
        <p:spPr>
          <a:xfrm>
            <a:off x="4956048" y="3236976"/>
            <a:ext cx="1115568" cy="594360"/>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Diagonal</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-45°</a:t>
            </a:r>
            <a:endParaRPr lang="en-US" sz="1000" dirty="0"/>
          </a:p>
        </p:txBody>
      </p:sp>
      <p:sp>
        <p:nvSpPr>
          <p:cNvPr id="37" name="Text 35"/>
          <p:cNvSpPr/>
          <p:nvPr/>
        </p:nvSpPr>
        <p:spPr>
          <a:xfrm>
            <a:off x="4956048" y="3849624"/>
            <a:ext cx="1115568" cy="201168"/>
          </a:xfrm>
          <a:prstGeom prst="rect">
            <a:avLst/>
          </a:prstGeom>
          <a:noFill/>
          <a:ln/>
        </p:spPr>
        <p:txBody>
          <a:bodyPr wrap="square" lIns="0" tIns="0" rIns="0" bIns="0" rtlCol="0" anchor="ctr"/>
          <a:lstStyle/>
          <a:p>
            <a:pPr algn="ctr" indent="0" marL="0">
              <a:buNone/>
            </a:pPr>
            <a:r>
              <a:rPr lang="en-US" sz="850" i="1" dirty="0">
                <a:solidFill>
                  <a:srgbClr val="6B7D99"/>
                </a:solidFill>
                <a:latin typeface="Calibri" pitchFamily="34" charset="0"/>
                <a:ea typeface="Calibri" pitchFamily="34" charset="-122"/>
                <a:cs typeface="Calibri" pitchFamily="34" charset="-120"/>
              </a:rPr>
              <a:t>28×28</a:t>
            </a:r>
            <a:endParaRPr lang="en-US" sz="850" dirty="0"/>
          </a:p>
        </p:txBody>
      </p:sp>
      <p:sp>
        <p:nvSpPr>
          <p:cNvPr id="38" name="Shape 36"/>
          <p:cNvSpPr/>
          <p:nvPr/>
        </p:nvSpPr>
        <p:spPr>
          <a:xfrm>
            <a:off x="6163056" y="2889504"/>
            <a:ext cx="1115568" cy="1188720"/>
          </a:xfrm>
          <a:prstGeom prst="rect">
            <a:avLst/>
          </a:prstGeom>
          <a:solidFill>
            <a:srgbClr val="F7E8E8"/>
          </a:solidFill>
          <a:ln w="12700">
            <a:solidFill>
              <a:srgbClr val="B8C5D9"/>
            </a:solidFill>
            <a:prstDash val="solid"/>
          </a:ln>
        </p:spPr>
      </p:sp>
      <p:sp>
        <p:nvSpPr>
          <p:cNvPr id="39" name="Text 37"/>
          <p:cNvSpPr/>
          <p:nvPr/>
        </p:nvSpPr>
        <p:spPr>
          <a:xfrm>
            <a:off x="6163056" y="2935224"/>
            <a:ext cx="1115568" cy="274320"/>
          </a:xfrm>
          <a:prstGeom prst="rect">
            <a:avLst/>
          </a:prstGeom>
          <a:noFill/>
          <a:ln/>
        </p:spPr>
        <p:txBody>
          <a:bodyPr wrap="square" lIns="0" tIns="0" rIns="0" bIns="0" rtlCol="0" anchor="ctr"/>
          <a:lstStyle/>
          <a:p>
            <a:pPr algn="ctr" indent="0" marL="0">
              <a:buNone/>
            </a:pPr>
            <a:r>
              <a:rPr lang="en-US" sz="1100" b="1" dirty="0">
                <a:solidFill>
                  <a:srgbClr val="0B1D3A"/>
                </a:solidFill>
                <a:latin typeface="Calibri" pitchFamily="34" charset="0"/>
                <a:ea typeface="Calibri" pitchFamily="34" charset="-122"/>
                <a:cs typeface="Calibri" pitchFamily="34" charset="-120"/>
              </a:rPr>
              <a:t>FM 5</a:t>
            </a:r>
            <a:endParaRPr lang="en-US" sz="1100" dirty="0"/>
          </a:p>
        </p:txBody>
      </p:sp>
      <p:sp>
        <p:nvSpPr>
          <p:cNvPr id="40" name="Text 38"/>
          <p:cNvSpPr/>
          <p:nvPr/>
        </p:nvSpPr>
        <p:spPr>
          <a:xfrm>
            <a:off x="6163056" y="3236976"/>
            <a:ext cx="1115568" cy="594360"/>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Blobs &amp;</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Corners</a:t>
            </a:r>
            <a:endParaRPr lang="en-US" sz="1000" dirty="0"/>
          </a:p>
        </p:txBody>
      </p:sp>
      <p:sp>
        <p:nvSpPr>
          <p:cNvPr id="41" name="Text 39"/>
          <p:cNvSpPr/>
          <p:nvPr/>
        </p:nvSpPr>
        <p:spPr>
          <a:xfrm>
            <a:off x="6163056" y="3849624"/>
            <a:ext cx="1115568" cy="201168"/>
          </a:xfrm>
          <a:prstGeom prst="rect">
            <a:avLst/>
          </a:prstGeom>
          <a:noFill/>
          <a:ln/>
        </p:spPr>
        <p:txBody>
          <a:bodyPr wrap="square" lIns="0" tIns="0" rIns="0" bIns="0" rtlCol="0" anchor="ctr"/>
          <a:lstStyle/>
          <a:p>
            <a:pPr algn="ctr" indent="0" marL="0">
              <a:buNone/>
            </a:pPr>
            <a:r>
              <a:rPr lang="en-US" sz="850" i="1" dirty="0">
                <a:solidFill>
                  <a:srgbClr val="6B7D99"/>
                </a:solidFill>
                <a:latin typeface="Calibri" pitchFamily="34" charset="0"/>
                <a:ea typeface="Calibri" pitchFamily="34" charset="-122"/>
                <a:cs typeface="Calibri" pitchFamily="34" charset="-120"/>
              </a:rPr>
              <a:t>28×28</a:t>
            </a:r>
            <a:endParaRPr lang="en-US" sz="850" dirty="0"/>
          </a:p>
        </p:txBody>
      </p:sp>
      <p:sp>
        <p:nvSpPr>
          <p:cNvPr id="42" name="Shape 40"/>
          <p:cNvSpPr/>
          <p:nvPr/>
        </p:nvSpPr>
        <p:spPr>
          <a:xfrm>
            <a:off x="7370064" y="2889504"/>
            <a:ext cx="1115568" cy="1188720"/>
          </a:xfrm>
          <a:prstGeom prst="rect">
            <a:avLst/>
          </a:prstGeom>
          <a:solidFill>
            <a:srgbClr val="FFF5E8"/>
          </a:solidFill>
          <a:ln w="12700">
            <a:solidFill>
              <a:srgbClr val="B8C5D9"/>
            </a:solidFill>
            <a:prstDash val="solid"/>
          </a:ln>
        </p:spPr>
      </p:sp>
      <p:sp>
        <p:nvSpPr>
          <p:cNvPr id="43" name="Text 41"/>
          <p:cNvSpPr/>
          <p:nvPr/>
        </p:nvSpPr>
        <p:spPr>
          <a:xfrm>
            <a:off x="7370064" y="2935224"/>
            <a:ext cx="1115568" cy="274320"/>
          </a:xfrm>
          <a:prstGeom prst="rect">
            <a:avLst/>
          </a:prstGeom>
          <a:noFill/>
          <a:ln/>
        </p:spPr>
        <p:txBody>
          <a:bodyPr wrap="square" lIns="0" tIns="0" rIns="0" bIns="0" rtlCol="0" anchor="ctr"/>
          <a:lstStyle/>
          <a:p>
            <a:pPr algn="ctr" indent="0" marL="0">
              <a:buNone/>
            </a:pPr>
            <a:r>
              <a:rPr lang="en-US" sz="1100" b="1" dirty="0">
                <a:solidFill>
                  <a:srgbClr val="0B1D3A"/>
                </a:solidFill>
                <a:latin typeface="Calibri" pitchFamily="34" charset="0"/>
                <a:ea typeface="Calibri" pitchFamily="34" charset="-122"/>
                <a:cs typeface="Calibri" pitchFamily="34" charset="-120"/>
              </a:rPr>
              <a:t>FM 6</a:t>
            </a:r>
            <a:endParaRPr lang="en-US" sz="1100" dirty="0"/>
          </a:p>
        </p:txBody>
      </p:sp>
      <p:sp>
        <p:nvSpPr>
          <p:cNvPr id="44" name="Text 42"/>
          <p:cNvSpPr/>
          <p:nvPr/>
        </p:nvSpPr>
        <p:spPr>
          <a:xfrm>
            <a:off x="7370064" y="3236976"/>
            <a:ext cx="1115568" cy="594360"/>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Curves &amp;</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Arcs</a:t>
            </a:r>
            <a:endParaRPr lang="en-US" sz="1000" dirty="0"/>
          </a:p>
        </p:txBody>
      </p:sp>
      <p:sp>
        <p:nvSpPr>
          <p:cNvPr id="45" name="Text 43"/>
          <p:cNvSpPr/>
          <p:nvPr/>
        </p:nvSpPr>
        <p:spPr>
          <a:xfrm>
            <a:off x="7370064" y="3849624"/>
            <a:ext cx="1115568" cy="201168"/>
          </a:xfrm>
          <a:prstGeom prst="rect">
            <a:avLst/>
          </a:prstGeom>
          <a:noFill/>
          <a:ln/>
        </p:spPr>
        <p:txBody>
          <a:bodyPr wrap="square" lIns="0" tIns="0" rIns="0" bIns="0" rtlCol="0" anchor="ctr"/>
          <a:lstStyle/>
          <a:p>
            <a:pPr algn="ctr" indent="0" marL="0">
              <a:buNone/>
            </a:pPr>
            <a:r>
              <a:rPr lang="en-US" sz="850" i="1" dirty="0">
                <a:solidFill>
                  <a:srgbClr val="6B7D99"/>
                </a:solidFill>
                <a:latin typeface="Calibri" pitchFamily="34" charset="0"/>
                <a:ea typeface="Calibri" pitchFamily="34" charset="-122"/>
                <a:cs typeface="Calibri" pitchFamily="34" charset="-120"/>
              </a:rPr>
              <a:t>28×28</a:t>
            </a:r>
            <a:endParaRPr lang="en-US" sz="850" dirty="0"/>
          </a:p>
        </p:txBody>
      </p:sp>
      <p:sp>
        <p:nvSpPr>
          <p:cNvPr id="46" name="Shape 44"/>
          <p:cNvSpPr/>
          <p:nvPr/>
        </p:nvSpPr>
        <p:spPr>
          <a:xfrm>
            <a:off x="4956048" y="3977640"/>
            <a:ext cx="3794760" cy="868680"/>
          </a:xfrm>
          <a:prstGeom prst="rect">
            <a:avLst/>
          </a:prstGeom>
          <a:solidFill>
            <a:srgbClr val="0B1D3A"/>
          </a:solidFill>
          <a:ln w="12700">
            <a:solidFill>
              <a:srgbClr val="0B1D3A"/>
            </a:solidFill>
            <a:prstDash val="solid"/>
          </a:ln>
        </p:spPr>
      </p:sp>
      <p:sp>
        <p:nvSpPr>
          <p:cNvPr id="47" name="Shape 45"/>
          <p:cNvSpPr/>
          <p:nvPr/>
        </p:nvSpPr>
        <p:spPr>
          <a:xfrm>
            <a:off x="4956048" y="3977640"/>
            <a:ext cx="73152" cy="868680"/>
          </a:xfrm>
          <a:prstGeom prst="rect">
            <a:avLst/>
          </a:prstGeom>
          <a:solidFill>
            <a:srgbClr val="C8992A"/>
          </a:solidFill>
          <a:ln w="12700">
            <a:solidFill>
              <a:srgbClr val="C8992A"/>
            </a:solidFill>
            <a:prstDash val="solid"/>
          </a:ln>
        </p:spPr>
      </p:sp>
      <p:sp>
        <p:nvSpPr>
          <p:cNvPr id="48" name="Text 46"/>
          <p:cNvSpPr/>
          <p:nvPr/>
        </p:nvSpPr>
        <p:spPr>
          <a:xfrm>
            <a:off x="5120640" y="4005072"/>
            <a:ext cx="3520440" cy="274320"/>
          </a:xfrm>
          <a:prstGeom prst="rect">
            <a:avLst/>
          </a:prstGeom>
          <a:noFill/>
          <a:ln/>
        </p:spPr>
        <p:txBody>
          <a:bodyPr wrap="square" lIns="0" tIns="0" rIns="0" bIns="0" rtlCol="0" anchor="ctr"/>
          <a:lstStyle/>
          <a:p>
            <a:pPr indent="0" marL="0">
              <a:buNone/>
            </a:pPr>
            <a:r>
              <a:rPr lang="en-US" sz="1100" b="1" dirty="0">
                <a:solidFill>
                  <a:srgbClr val="E8B84B"/>
                </a:solidFill>
                <a:latin typeface="Calibri" pitchFamily="34" charset="0"/>
                <a:ea typeface="Calibri" pitchFamily="34" charset="-122"/>
                <a:cs typeface="Calibri" pitchFamily="34" charset="-120"/>
              </a:rPr>
              <a:t>Weight Sharing Insight</a:t>
            </a:r>
            <a:endParaRPr lang="en-US" sz="1100" dirty="0"/>
          </a:p>
        </p:txBody>
      </p:sp>
      <p:sp>
        <p:nvSpPr>
          <p:cNvPr id="49" name="Text 47"/>
          <p:cNvSpPr/>
          <p:nvPr/>
        </p:nvSpPr>
        <p:spPr>
          <a:xfrm>
            <a:off x="5120640" y="4279392"/>
            <a:ext cx="3520440" cy="502920"/>
          </a:xfrm>
          <a:prstGeom prst="rect">
            <a:avLst/>
          </a:prstGeom>
          <a:noFill/>
          <a:ln/>
        </p:spPr>
        <p:txBody>
          <a:bodyPr wrap="square" rtlCol="0" anchor="ctr"/>
          <a:lstStyle/>
          <a:p>
            <a:pPr indent="0" marL="0">
              <a:buNone/>
            </a:pPr>
            <a:r>
              <a:rPr lang="en-US" sz="950" dirty="0">
                <a:solidFill>
                  <a:srgbClr val="B8C5D9"/>
                </a:solidFill>
                <a:latin typeface="Calibri" pitchFamily="34" charset="0"/>
                <a:ea typeface="Calibri" pitchFamily="34" charset="-122"/>
                <a:cs typeface="Calibri" pitchFamily="34" charset="-120"/>
              </a:rPr>
              <a:t>Each of the 6 filters uses the SAME 26 weights everywhere on the image.</a:t>
            </a:r>
            <a:endParaRPr lang="en-US" sz="950" dirty="0"/>
          </a:p>
          <a:p>
            <a:pPr indent="0" marL="0">
              <a:buNone/>
            </a:pPr>
            <a:r>
              <a:rPr lang="en-US" sz="950" dirty="0">
                <a:solidFill>
                  <a:srgbClr val="B8C5D9"/>
                </a:solidFill>
                <a:latin typeface="Calibri" pitchFamily="34" charset="0"/>
                <a:ea typeface="Calibri" pitchFamily="34" charset="-122"/>
                <a:cs typeface="Calibri" pitchFamily="34" charset="-120"/>
              </a:rPr>
              <a:t>This enforces translation equivariance — a cat ear is detected anywhere.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Layer S2: Subsampling (Average Pooling)</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Input: 28×28×6  →  Output: 14×14×6  |  Spatial compression without losing features</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Text 3"/>
          <p:cNvSpPr/>
          <p:nvPr/>
        </p:nvSpPr>
        <p:spPr>
          <a:xfrm>
            <a:off x="365760" y="1170432"/>
            <a:ext cx="4754880" cy="347472"/>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How Average Pooling Works</a:t>
            </a:r>
            <a:endParaRPr lang="en-US" sz="1400" dirty="0"/>
          </a:p>
        </p:txBody>
      </p:sp>
      <p:sp>
        <p:nvSpPr>
          <p:cNvPr id="6" name="Shape 4"/>
          <p:cNvSpPr/>
          <p:nvPr/>
        </p:nvSpPr>
        <p:spPr>
          <a:xfrm>
            <a:off x="365760" y="1600200"/>
            <a:ext cx="530352" cy="530352"/>
          </a:xfrm>
          <a:prstGeom prst="rect">
            <a:avLst/>
          </a:prstGeom>
          <a:solidFill>
            <a:srgbClr val="C8E6F7"/>
          </a:solidFill>
          <a:ln w="12700">
            <a:solidFill>
              <a:srgbClr val="B8C5D9"/>
            </a:solidFill>
            <a:prstDash val="solid"/>
          </a:ln>
        </p:spPr>
      </p:sp>
      <p:sp>
        <p:nvSpPr>
          <p:cNvPr id="7" name="Text 5"/>
          <p:cNvSpPr/>
          <p:nvPr/>
        </p:nvSpPr>
        <p:spPr>
          <a:xfrm>
            <a:off x="365760" y="1600200"/>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1</a:t>
            </a:r>
            <a:endParaRPr lang="en-US" sz="1400" dirty="0"/>
          </a:p>
        </p:txBody>
      </p:sp>
      <p:sp>
        <p:nvSpPr>
          <p:cNvPr id="8" name="Shape 6"/>
          <p:cNvSpPr/>
          <p:nvPr/>
        </p:nvSpPr>
        <p:spPr>
          <a:xfrm>
            <a:off x="896112" y="1600200"/>
            <a:ext cx="530352" cy="530352"/>
          </a:xfrm>
          <a:prstGeom prst="rect">
            <a:avLst/>
          </a:prstGeom>
          <a:solidFill>
            <a:srgbClr val="C8E6F7"/>
          </a:solidFill>
          <a:ln w="12700">
            <a:solidFill>
              <a:srgbClr val="B8C5D9"/>
            </a:solidFill>
            <a:prstDash val="solid"/>
          </a:ln>
        </p:spPr>
      </p:sp>
      <p:sp>
        <p:nvSpPr>
          <p:cNvPr id="9" name="Text 7"/>
          <p:cNvSpPr/>
          <p:nvPr/>
        </p:nvSpPr>
        <p:spPr>
          <a:xfrm>
            <a:off x="896112" y="1600200"/>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2</a:t>
            </a:r>
            <a:endParaRPr lang="en-US" sz="1400" dirty="0"/>
          </a:p>
        </p:txBody>
      </p:sp>
      <p:sp>
        <p:nvSpPr>
          <p:cNvPr id="10" name="Shape 8"/>
          <p:cNvSpPr/>
          <p:nvPr/>
        </p:nvSpPr>
        <p:spPr>
          <a:xfrm>
            <a:off x="1426464" y="1600200"/>
            <a:ext cx="530352" cy="530352"/>
          </a:xfrm>
          <a:prstGeom prst="rect">
            <a:avLst/>
          </a:prstGeom>
          <a:solidFill>
            <a:srgbClr val="C8F7DA"/>
          </a:solidFill>
          <a:ln w="12700">
            <a:solidFill>
              <a:srgbClr val="B8C5D9"/>
            </a:solidFill>
            <a:prstDash val="solid"/>
          </a:ln>
        </p:spPr>
      </p:sp>
      <p:sp>
        <p:nvSpPr>
          <p:cNvPr id="11" name="Text 9"/>
          <p:cNvSpPr/>
          <p:nvPr/>
        </p:nvSpPr>
        <p:spPr>
          <a:xfrm>
            <a:off x="1426464" y="1600200"/>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3</a:t>
            </a:r>
            <a:endParaRPr lang="en-US" sz="1400" dirty="0"/>
          </a:p>
        </p:txBody>
      </p:sp>
      <p:sp>
        <p:nvSpPr>
          <p:cNvPr id="12" name="Shape 10"/>
          <p:cNvSpPr/>
          <p:nvPr/>
        </p:nvSpPr>
        <p:spPr>
          <a:xfrm>
            <a:off x="1956816" y="1600200"/>
            <a:ext cx="530352" cy="530352"/>
          </a:xfrm>
          <a:prstGeom prst="rect">
            <a:avLst/>
          </a:prstGeom>
          <a:solidFill>
            <a:srgbClr val="C8F7DA"/>
          </a:solidFill>
          <a:ln w="12700">
            <a:solidFill>
              <a:srgbClr val="B8C5D9"/>
            </a:solidFill>
            <a:prstDash val="solid"/>
          </a:ln>
        </p:spPr>
      </p:sp>
      <p:sp>
        <p:nvSpPr>
          <p:cNvPr id="13" name="Text 11"/>
          <p:cNvSpPr/>
          <p:nvPr/>
        </p:nvSpPr>
        <p:spPr>
          <a:xfrm>
            <a:off x="1956816" y="1600200"/>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4</a:t>
            </a:r>
            <a:endParaRPr lang="en-US" sz="1400" dirty="0"/>
          </a:p>
        </p:txBody>
      </p:sp>
      <p:sp>
        <p:nvSpPr>
          <p:cNvPr id="14" name="Shape 12"/>
          <p:cNvSpPr/>
          <p:nvPr/>
        </p:nvSpPr>
        <p:spPr>
          <a:xfrm>
            <a:off x="365760" y="2130552"/>
            <a:ext cx="530352" cy="530352"/>
          </a:xfrm>
          <a:prstGeom prst="rect">
            <a:avLst/>
          </a:prstGeom>
          <a:solidFill>
            <a:srgbClr val="C8E6F7"/>
          </a:solidFill>
          <a:ln w="12700">
            <a:solidFill>
              <a:srgbClr val="B8C5D9"/>
            </a:solidFill>
            <a:prstDash val="solid"/>
          </a:ln>
        </p:spPr>
      </p:sp>
      <p:sp>
        <p:nvSpPr>
          <p:cNvPr id="15" name="Text 13"/>
          <p:cNvSpPr/>
          <p:nvPr/>
        </p:nvSpPr>
        <p:spPr>
          <a:xfrm>
            <a:off x="365760" y="2130552"/>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5</a:t>
            </a:r>
            <a:endParaRPr lang="en-US" sz="1400" dirty="0"/>
          </a:p>
        </p:txBody>
      </p:sp>
      <p:sp>
        <p:nvSpPr>
          <p:cNvPr id="16" name="Shape 14"/>
          <p:cNvSpPr/>
          <p:nvPr/>
        </p:nvSpPr>
        <p:spPr>
          <a:xfrm>
            <a:off x="896112" y="2130552"/>
            <a:ext cx="530352" cy="530352"/>
          </a:xfrm>
          <a:prstGeom prst="rect">
            <a:avLst/>
          </a:prstGeom>
          <a:solidFill>
            <a:srgbClr val="C8E6F7"/>
          </a:solidFill>
          <a:ln w="12700">
            <a:solidFill>
              <a:srgbClr val="B8C5D9"/>
            </a:solidFill>
            <a:prstDash val="solid"/>
          </a:ln>
        </p:spPr>
      </p:sp>
      <p:sp>
        <p:nvSpPr>
          <p:cNvPr id="17" name="Text 15"/>
          <p:cNvSpPr/>
          <p:nvPr/>
        </p:nvSpPr>
        <p:spPr>
          <a:xfrm>
            <a:off x="896112" y="2130552"/>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6</a:t>
            </a:r>
            <a:endParaRPr lang="en-US" sz="1400" dirty="0"/>
          </a:p>
        </p:txBody>
      </p:sp>
      <p:sp>
        <p:nvSpPr>
          <p:cNvPr id="18" name="Shape 16"/>
          <p:cNvSpPr/>
          <p:nvPr/>
        </p:nvSpPr>
        <p:spPr>
          <a:xfrm>
            <a:off x="1426464" y="2130552"/>
            <a:ext cx="530352" cy="530352"/>
          </a:xfrm>
          <a:prstGeom prst="rect">
            <a:avLst/>
          </a:prstGeom>
          <a:solidFill>
            <a:srgbClr val="C8F7DA"/>
          </a:solidFill>
          <a:ln w="12700">
            <a:solidFill>
              <a:srgbClr val="B8C5D9"/>
            </a:solidFill>
            <a:prstDash val="solid"/>
          </a:ln>
        </p:spPr>
      </p:sp>
      <p:sp>
        <p:nvSpPr>
          <p:cNvPr id="19" name="Text 17"/>
          <p:cNvSpPr/>
          <p:nvPr/>
        </p:nvSpPr>
        <p:spPr>
          <a:xfrm>
            <a:off x="1426464" y="2130552"/>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7</a:t>
            </a:r>
            <a:endParaRPr lang="en-US" sz="1400" dirty="0"/>
          </a:p>
        </p:txBody>
      </p:sp>
      <p:sp>
        <p:nvSpPr>
          <p:cNvPr id="20" name="Shape 18"/>
          <p:cNvSpPr/>
          <p:nvPr/>
        </p:nvSpPr>
        <p:spPr>
          <a:xfrm>
            <a:off x="1956816" y="2130552"/>
            <a:ext cx="530352" cy="530352"/>
          </a:xfrm>
          <a:prstGeom prst="rect">
            <a:avLst/>
          </a:prstGeom>
          <a:solidFill>
            <a:srgbClr val="C8F7DA"/>
          </a:solidFill>
          <a:ln w="12700">
            <a:solidFill>
              <a:srgbClr val="B8C5D9"/>
            </a:solidFill>
            <a:prstDash val="solid"/>
          </a:ln>
        </p:spPr>
      </p:sp>
      <p:sp>
        <p:nvSpPr>
          <p:cNvPr id="21" name="Text 19"/>
          <p:cNvSpPr/>
          <p:nvPr/>
        </p:nvSpPr>
        <p:spPr>
          <a:xfrm>
            <a:off x="1956816" y="2130552"/>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8</a:t>
            </a:r>
            <a:endParaRPr lang="en-US" sz="1400" dirty="0"/>
          </a:p>
        </p:txBody>
      </p:sp>
      <p:sp>
        <p:nvSpPr>
          <p:cNvPr id="22" name="Shape 20"/>
          <p:cNvSpPr/>
          <p:nvPr/>
        </p:nvSpPr>
        <p:spPr>
          <a:xfrm>
            <a:off x="365760" y="2660904"/>
            <a:ext cx="530352" cy="530352"/>
          </a:xfrm>
          <a:prstGeom prst="rect">
            <a:avLst/>
          </a:prstGeom>
          <a:solidFill>
            <a:srgbClr val="F7ECC8"/>
          </a:solidFill>
          <a:ln w="12700">
            <a:solidFill>
              <a:srgbClr val="B8C5D9"/>
            </a:solidFill>
            <a:prstDash val="solid"/>
          </a:ln>
        </p:spPr>
      </p:sp>
      <p:sp>
        <p:nvSpPr>
          <p:cNvPr id="23" name="Text 21"/>
          <p:cNvSpPr/>
          <p:nvPr/>
        </p:nvSpPr>
        <p:spPr>
          <a:xfrm>
            <a:off x="365760" y="2660904"/>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1</a:t>
            </a:r>
            <a:endParaRPr lang="en-US" sz="1400" dirty="0"/>
          </a:p>
        </p:txBody>
      </p:sp>
      <p:sp>
        <p:nvSpPr>
          <p:cNvPr id="24" name="Shape 22"/>
          <p:cNvSpPr/>
          <p:nvPr/>
        </p:nvSpPr>
        <p:spPr>
          <a:xfrm>
            <a:off x="896112" y="2660904"/>
            <a:ext cx="530352" cy="530352"/>
          </a:xfrm>
          <a:prstGeom prst="rect">
            <a:avLst/>
          </a:prstGeom>
          <a:solidFill>
            <a:srgbClr val="F7ECC8"/>
          </a:solidFill>
          <a:ln w="12700">
            <a:solidFill>
              <a:srgbClr val="B8C5D9"/>
            </a:solidFill>
            <a:prstDash val="solid"/>
          </a:ln>
        </p:spPr>
      </p:sp>
      <p:sp>
        <p:nvSpPr>
          <p:cNvPr id="25" name="Text 23"/>
          <p:cNvSpPr/>
          <p:nvPr/>
        </p:nvSpPr>
        <p:spPr>
          <a:xfrm>
            <a:off x="896112" y="2660904"/>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0</a:t>
            </a:r>
            <a:endParaRPr lang="en-US" sz="1400" dirty="0"/>
          </a:p>
        </p:txBody>
      </p:sp>
      <p:sp>
        <p:nvSpPr>
          <p:cNvPr id="26" name="Shape 24"/>
          <p:cNvSpPr/>
          <p:nvPr/>
        </p:nvSpPr>
        <p:spPr>
          <a:xfrm>
            <a:off x="1426464" y="2660904"/>
            <a:ext cx="530352" cy="530352"/>
          </a:xfrm>
          <a:prstGeom prst="rect">
            <a:avLst/>
          </a:prstGeom>
          <a:solidFill>
            <a:srgbClr val="F7C8E6"/>
          </a:solidFill>
          <a:ln w="12700">
            <a:solidFill>
              <a:srgbClr val="B8C5D9"/>
            </a:solidFill>
            <a:prstDash val="solid"/>
          </a:ln>
        </p:spPr>
      </p:sp>
      <p:sp>
        <p:nvSpPr>
          <p:cNvPr id="27" name="Text 25"/>
          <p:cNvSpPr/>
          <p:nvPr/>
        </p:nvSpPr>
        <p:spPr>
          <a:xfrm>
            <a:off x="1426464" y="2660904"/>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2</a:t>
            </a:r>
            <a:endParaRPr lang="en-US" sz="1400" dirty="0"/>
          </a:p>
        </p:txBody>
      </p:sp>
      <p:sp>
        <p:nvSpPr>
          <p:cNvPr id="28" name="Shape 26"/>
          <p:cNvSpPr/>
          <p:nvPr/>
        </p:nvSpPr>
        <p:spPr>
          <a:xfrm>
            <a:off x="1956816" y="2660904"/>
            <a:ext cx="530352" cy="530352"/>
          </a:xfrm>
          <a:prstGeom prst="rect">
            <a:avLst/>
          </a:prstGeom>
          <a:solidFill>
            <a:srgbClr val="F7C8E6"/>
          </a:solidFill>
          <a:ln w="12700">
            <a:solidFill>
              <a:srgbClr val="B8C5D9"/>
            </a:solidFill>
            <a:prstDash val="solid"/>
          </a:ln>
        </p:spPr>
      </p:sp>
      <p:sp>
        <p:nvSpPr>
          <p:cNvPr id="29" name="Text 27"/>
          <p:cNvSpPr/>
          <p:nvPr/>
        </p:nvSpPr>
        <p:spPr>
          <a:xfrm>
            <a:off x="1956816" y="2660904"/>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3</a:t>
            </a:r>
            <a:endParaRPr lang="en-US" sz="1400" dirty="0"/>
          </a:p>
        </p:txBody>
      </p:sp>
      <p:sp>
        <p:nvSpPr>
          <p:cNvPr id="30" name="Shape 28"/>
          <p:cNvSpPr/>
          <p:nvPr/>
        </p:nvSpPr>
        <p:spPr>
          <a:xfrm>
            <a:off x="365760" y="3191256"/>
            <a:ext cx="530352" cy="530352"/>
          </a:xfrm>
          <a:prstGeom prst="rect">
            <a:avLst/>
          </a:prstGeom>
          <a:solidFill>
            <a:srgbClr val="F7ECC8"/>
          </a:solidFill>
          <a:ln w="12700">
            <a:solidFill>
              <a:srgbClr val="B8C5D9"/>
            </a:solidFill>
            <a:prstDash val="solid"/>
          </a:ln>
        </p:spPr>
      </p:sp>
      <p:sp>
        <p:nvSpPr>
          <p:cNvPr id="31" name="Text 29"/>
          <p:cNvSpPr/>
          <p:nvPr/>
        </p:nvSpPr>
        <p:spPr>
          <a:xfrm>
            <a:off x="365760" y="3191256"/>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4</a:t>
            </a:r>
            <a:endParaRPr lang="en-US" sz="1400" dirty="0"/>
          </a:p>
        </p:txBody>
      </p:sp>
      <p:sp>
        <p:nvSpPr>
          <p:cNvPr id="32" name="Shape 30"/>
          <p:cNvSpPr/>
          <p:nvPr/>
        </p:nvSpPr>
        <p:spPr>
          <a:xfrm>
            <a:off x="896112" y="3191256"/>
            <a:ext cx="530352" cy="530352"/>
          </a:xfrm>
          <a:prstGeom prst="rect">
            <a:avLst/>
          </a:prstGeom>
          <a:solidFill>
            <a:srgbClr val="F7ECC8"/>
          </a:solidFill>
          <a:ln w="12700">
            <a:solidFill>
              <a:srgbClr val="B8C5D9"/>
            </a:solidFill>
            <a:prstDash val="solid"/>
          </a:ln>
        </p:spPr>
      </p:sp>
      <p:sp>
        <p:nvSpPr>
          <p:cNvPr id="33" name="Text 31"/>
          <p:cNvSpPr/>
          <p:nvPr/>
        </p:nvSpPr>
        <p:spPr>
          <a:xfrm>
            <a:off x="896112" y="3191256"/>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5</a:t>
            </a:r>
            <a:endParaRPr lang="en-US" sz="1400" dirty="0"/>
          </a:p>
        </p:txBody>
      </p:sp>
      <p:sp>
        <p:nvSpPr>
          <p:cNvPr id="34" name="Shape 32"/>
          <p:cNvSpPr/>
          <p:nvPr/>
        </p:nvSpPr>
        <p:spPr>
          <a:xfrm>
            <a:off x="1426464" y="3191256"/>
            <a:ext cx="530352" cy="530352"/>
          </a:xfrm>
          <a:prstGeom prst="rect">
            <a:avLst/>
          </a:prstGeom>
          <a:solidFill>
            <a:srgbClr val="F7C8E6"/>
          </a:solidFill>
          <a:ln w="12700">
            <a:solidFill>
              <a:srgbClr val="B8C5D9"/>
            </a:solidFill>
            <a:prstDash val="solid"/>
          </a:ln>
        </p:spPr>
      </p:sp>
      <p:sp>
        <p:nvSpPr>
          <p:cNvPr id="35" name="Text 33"/>
          <p:cNvSpPr/>
          <p:nvPr/>
        </p:nvSpPr>
        <p:spPr>
          <a:xfrm>
            <a:off x="1426464" y="3191256"/>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3</a:t>
            </a:r>
            <a:endParaRPr lang="en-US" sz="1400" dirty="0"/>
          </a:p>
        </p:txBody>
      </p:sp>
      <p:sp>
        <p:nvSpPr>
          <p:cNvPr id="36" name="Shape 34"/>
          <p:cNvSpPr/>
          <p:nvPr/>
        </p:nvSpPr>
        <p:spPr>
          <a:xfrm>
            <a:off x="1956816" y="3191256"/>
            <a:ext cx="530352" cy="530352"/>
          </a:xfrm>
          <a:prstGeom prst="rect">
            <a:avLst/>
          </a:prstGeom>
          <a:solidFill>
            <a:srgbClr val="F7C8E6"/>
          </a:solidFill>
          <a:ln w="12700">
            <a:solidFill>
              <a:srgbClr val="B8C5D9"/>
            </a:solidFill>
            <a:prstDash val="solid"/>
          </a:ln>
        </p:spPr>
      </p:sp>
      <p:sp>
        <p:nvSpPr>
          <p:cNvPr id="37" name="Text 35"/>
          <p:cNvSpPr/>
          <p:nvPr/>
        </p:nvSpPr>
        <p:spPr>
          <a:xfrm>
            <a:off x="1956816" y="3191256"/>
            <a:ext cx="530352" cy="530352"/>
          </a:xfrm>
          <a:prstGeom prst="rect">
            <a:avLst/>
          </a:prstGeom>
          <a:noFill/>
          <a:ln/>
        </p:spPr>
        <p:txBody>
          <a:bodyPr wrap="square" lIns="0" tIns="0" rIns="0" bIns="0" rtlCol="0" anchor="ctr"/>
          <a:lstStyle/>
          <a:p>
            <a:pPr algn="ctr" indent="0" marL="0">
              <a:buNone/>
            </a:pPr>
            <a:r>
              <a:rPr lang="en-US" sz="1400" b="1" dirty="0">
                <a:solidFill>
                  <a:srgbClr val="0B1D3A"/>
                </a:solidFill>
                <a:latin typeface="Calibri" pitchFamily="34" charset="0"/>
                <a:ea typeface="Calibri" pitchFamily="34" charset="-122"/>
                <a:cs typeface="Calibri" pitchFamily="34" charset="-120"/>
              </a:rPr>
              <a:t>2</a:t>
            </a:r>
            <a:endParaRPr lang="en-US" sz="1400" dirty="0"/>
          </a:p>
        </p:txBody>
      </p:sp>
      <p:sp>
        <p:nvSpPr>
          <p:cNvPr id="38" name="Text 36"/>
          <p:cNvSpPr/>
          <p:nvPr/>
        </p:nvSpPr>
        <p:spPr>
          <a:xfrm>
            <a:off x="365760" y="3767328"/>
            <a:ext cx="2121408" cy="384048"/>
          </a:xfrm>
          <a:prstGeom prst="rect">
            <a:avLst/>
          </a:prstGeom>
          <a:noFill/>
          <a:ln/>
        </p:spPr>
        <p:txBody>
          <a:bodyPr wrap="square" lIns="0" tIns="0" rIns="0" bIns="0" rtlCol="0" anchor="ctr"/>
          <a:lstStyle/>
          <a:p>
            <a:pPr algn="ctr" indent="0" marL="0">
              <a:buNone/>
            </a:pPr>
            <a:r>
              <a:rPr lang="en-US" sz="950" i="1" dirty="0">
                <a:solidFill>
                  <a:srgbClr val="6B7D99"/>
                </a:solidFill>
                <a:latin typeface="Calibri" pitchFamily="34" charset="0"/>
                <a:ea typeface="Calibri" pitchFamily="34" charset="-122"/>
                <a:cs typeface="Calibri" pitchFamily="34" charset="-120"/>
              </a:rPr>
              <a:t>28×28 Input</a:t>
            </a:r>
            <a:endParaRPr lang="en-US" sz="950" dirty="0"/>
          </a:p>
          <a:p>
            <a:pPr algn="ctr" indent="0" marL="0">
              <a:buNone/>
            </a:pPr>
            <a:r>
              <a:rPr lang="en-US" sz="950" i="1" dirty="0">
                <a:solidFill>
                  <a:srgbClr val="6B7D99"/>
                </a:solidFill>
                <a:latin typeface="Calibri" pitchFamily="34" charset="0"/>
                <a:ea typeface="Calibri" pitchFamily="34" charset="-122"/>
                <a:cs typeface="Calibri" pitchFamily="34" charset="-120"/>
              </a:rPr>
              <a:t>(shown as 4×4 for clarity)</a:t>
            </a:r>
            <a:endParaRPr lang="en-US" sz="950" dirty="0"/>
          </a:p>
        </p:txBody>
      </p:sp>
      <p:sp>
        <p:nvSpPr>
          <p:cNvPr id="39" name="Text 37"/>
          <p:cNvSpPr/>
          <p:nvPr/>
        </p:nvSpPr>
        <p:spPr>
          <a:xfrm>
            <a:off x="2596896" y="2459736"/>
            <a:ext cx="320040" cy="402336"/>
          </a:xfrm>
          <a:prstGeom prst="rect">
            <a:avLst/>
          </a:prstGeom>
          <a:noFill/>
          <a:ln/>
        </p:spPr>
        <p:txBody>
          <a:bodyPr wrap="square" lIns="0" tIns="0" rIns="0" bIns="0" rtlCol="0" anchor="ctr"/>
          <a:lstStyle/>
          <a:p>
            <a:pPr algn="ctr" indent="0" marL="0">
              <a:buNone/>
            </a:pPr>
            <a:r>
              <a:rPr lang="en-US" sz="2000" b="1" dirty="0">
                <a:solidFill>
                  <a:srgbClr val="C8992A"/>
                </a:solidFill>
                <a:latin typeface="Calibri" pitchFamily="34" charset="0"/>
                <a:ea typeface="Calibri" pitchFamily="34" charset="-122"/>
                <a:cs typeface="Calibri" pitchFamily="34" charset="-120"/>
              </a:rPr>
              <a:t>→</a:t>
            </a:r>
            <a:endParaRPr lang="en-US" sz="2000" dirty="0"/>
          </a:p>
        </p:txBody>
      </p:sp>
      <p:sp>
        <p:nvSpPr>
          <p:cNvPr id="40" name="Shape 38"/>
          <p:cNvSpPr/>
          <p:nvPr/>
        </p:nvSpPr>
        <p:spPr>
          <a:xfrm>
            <a:off x="3035808" y="2130552"/>
            <a:ext cx="636422" cy="636422"/>
          </a:xfrm>
          <a:prstGeom prst="rect">
            <a:avLst/>
          </a:prstGeom>
          <a:solidFill>
            <a:srgbClr val="C8E6F7"/>
          </a:solidFill>
          <a:ln w="12700">
            <a:solidFill>
              <a:srgbClr val="1A6B7A"/>
            </a:solidFill>
            <a:prstDash val="solid"/>
          </a:ln>
        </p:spPr>
      </p:sp>
      <p:sp>
        <p:nvSpPr>
          <p:cNvPr id="41" name="Text 39"/>
          <p:cNvSpPr/>
          <p:nvPr/>
        </p:nvSpPr>
        <p:spPr>
          <a:xfrm>
            <a:off x="3035808" y="2130552"/>
            <a:ext cx="636422" cy="636422"/>
          </a:xfrm>
          <a:prstGeom prst="rect">
            <a:avLst/>
          </a:prstGeom>
          <a:noFill/>
          <a:ln/>
        </p:spPr>
        <p:txBody>
          <a:bodyPr wrap="square" lIns="0" tIns="0" rIns="0" bIns="0" rtlCol="0" anchor="ctr"/>
          <a:lstStyle/>
          <a:p>
            <a:pPr algn="ctr" indent="0" marL="0">
              <a:buNone/>
            </a:pPr>
            <a:r>
              <a:rPr lang="en-US" sz="1200" b="1" dirty="0">
                <a:solidFill>
                  <a:srgbClr val="0B1D3A"/>
                </a:solidFill>
                <a:latin typeface="Calibri" pitchFamily="34" charset="0"/>
                <a:ea typeface="Calibri" pitchFamily="34" charset="-122"/>
                <a:cs typeface="Calibri" pitchFamily="34" charset="-120"/>
              </a:rPr>
              <a:t>3.5</a:t>
            </a:r>
            <a:endParaRPr lang="en-US" sz="1200" dirty="0"/>
          </a:p>
        </p:txBody>
      </p:sp>
      <p:sp>
        <p:nvSpPr>
          <p:cNvPr id="42" name="Shape 40"/>
          <p:cNvSpPr/>
          <p:nvPr/>
        </p:nvSpPr>
        <p:spPr>
          <a:xfrm>
            <a:off x="3672230" y="2130552"/>
            <a:ext cx="636422" cy="636422"/>
          </a:xfrm>
          <a:prstGeom prst="rect">
            <a:avLst/>
          </a:prstGeom>
          <a:solidFill>
            <a:srgbClr val="C8F7DA"/>
          </a:solidFill>
          <a:ln w="12700">
            <a:solidFill>
              <a:srgbClr val="1A6B7A"/>
            </a:solidFill>
            <a:prstDash val="solid"/>
          </a:ln>
        </p:spPr>
      </p:sp>
      <p:sp>
        <p:nvSpPr>
          <p:cNvPr id="43" name="Text 41"/>
          <p:cNvSpPr/>
          <p:nvPr/>
        </p:nvSpPr>
        <p:spPr>
          <a:xfrm>
            <a:off x="3672230" y="2130552"/>
            <a:ext cx="636422" cy="636422"/>
          </a:xfrm>
          <a:prstGeom prst="rect">
            <a:avLst/>
          </a:prstGeom>
          <a:noFill/>
          <a:ln/>
        </p:spPr>
        <p:txBody>
          <a:bodyPr wrap="square" lIns="0" tIns="0" rIns="0" bIns="0" rtlCol="0" anchor="ctr"/>
          <a:lstStyle/>
          <a:p>
            <a:pPr algn="ctr" indent="0" marL="0">
              <a:buNone/>
            </a:pPr>
            <a:r>
              <a:rPr lang="en-US" sz="1200" b="1" dirty="0">
                <a:solidFill>
                  <a:srgbClr val="0B1D3A"/>
                </a:solidFill>
                <a:latin typeface="Calibri" pitchFamily="34" charset="0"/>
                <a:ea typeface="Calibri" pitchFamily="34" charset="-122"/>
                <a:cs typeface="Calibri" pitchFamily="34" charset="-120"/>
              </a:rPr>
              <a:t>5.5</a:t>
            </a:r>
            <a:endParaRPr lang="en-US" sz="1200" dirty="0"/>
          </a:p>
        </p:txBody>
      </p:sp>
      <p:sp>
        <p:nvSpPr>
          <p:cNvPr id="44" name="Shape 42"/>
          <p:cNvSpPr/>
          <p:nvPr/>
        </p:nvSpPr>
        <p:spPr>
          <a:xfrm>
            <a:off x="3035808" y="2766974"/>
            <a:ext cx="636422" cy="636422"/>
          </a:xfrm>
          <a:prstGeom prst="rect">
            <a:avLst/>
          </a:prstGeom>
          <a:solidFill>
            <a:srgbClr val="F7ECC8"/>
          </a:solidFill>
          <a:ln w="12700">
            <a:solidFill>
              <a:srgbClr val="1A6B7A"/>
            </a:solidFill>
            <a:prstDash val="solid"/>
          </a:ln>
        </p:spPr>
      </p:sp>
      <p:sp>
        <p:nvSpPr>
          <p:cNvPr id="45" name="Text 43"/>
          <p:cNvSpPr/>
          <p:nvPr/>
        </p:nvSpPr>
        <p:spPr>
          <a:xfrm>
            <a:off x="3035808" y="2766974"/>
            <a:ext cx="636422" cy="636422"/>
          </a:xfrm>
          <a:prstGeom prst="rect">
            <a:avLst/>
          </a:prstGeom>
          <a:noFill/>
          <a:ln/>
        </p:spPr>
        <p:txBody>
          <a:bodyPr wrap="square" lIns="0" tIns="0" rIns="0" bIns="0" rtlCol="0" anchor="ctr"/>
          <a:lstStyle/>
          <a:p>
            <a:pPr algn="ctr" indent="0" marL="0">
              <a:buNone/>
            </a:pPr>
            <a:r>
              <a:rPr lang="en-US" sz="1200" b="1" dirty="0">
                <a:solidFill>
                  <a:srgbClr val="0B1D3A"/>
                </a:solidFill>
                <a:latin typeface="Calibri" pitchFamily="34" charset="0"/>
                <a:ea typeface="Calibri" pitchFamily="34" charset="-122"/>
                <a:cs typeface="Calibri" pitchFamily="34" charset="-120"/>
              </a:rPr>
              <a:t>2.5</a:t>
            </a:r>
            <a:endParaRPr lang="en-US" sz="1200" dirty="0"/>
          </a:p>
        </p:txBody>
      </p:sp>
      <p:sp>
        <p:nvSpPr>
          <p:cNvPr id="46" name="Shape 44"/>
          <p:cNvSpPr/>
          <p:nvPr/>
        </p:nvSpPr>
        <p:spPr>
          <a:xfrm>
            <a:off x="3672230" y="2766974"/>
            <a:ext cx="636422" cy="636422"/>
          </a:xfrm>
          <a:prstGeom prst="rect">
            <a:avLst/>
          </a:prstGeom>
          <a:solidFill>
            <a:srgbClr val="F7C8E6"/>
          </a:solidFill>
          <a:ln w="12700">
            <a:solidFill>
              <a:srgbClr val="1A6B7A"/>
            </a:solidFill>
            <a:prstDash val="solid"/>
          </a:ln>
        </p:spPr>
      </p:sp>
      <p:sp>
        <p:nvSpPr>
          <p:cNvPr id="47" name="Text 45"/>
          <p:cNvSpPr/>
          <p:nvPr/>
        </p:nvSpPr>
        <p:spPr>
          <a:xfrm>
            <a:off x="3672230" y="2766974"/>
            <a:ext cx="636422" cy="636422"/>
          </a:xfrm>
          <a:prstGeom prst="rect">
            <a:avLst/>
          </a:prstGeom>
          <a:noFill/>
          <a:ln/>
        </p:spPr>
        <p:txBody>
          <a:bodyPr wrap="square" lIns="0" tIns="0" rIns="0" bIns="0" rtlCol="0" anchor="ctr"/>
          <a:lstStyle/>
          <a:p>
            <a:pPr algn="ctr" indent="0" marL="0">
              <a:buNone/>
            </a:pPr>
            <a:r>
              <a:rPr lang="en-US" sz="1200" b="1" dirty="0">
                <a:solidFill>
                  <a:srgbClr val="0B1D3A"/>
                </a:solidFill>
                <a:latin typeface="Calibri" pitchFamily="34" charset="0"/>
                <a:ea typeface="Calibri" pitchFamily="34" charset="-122"/>
                <a:cs typeface="Calibri" pitchFamily="34" charset="-120"/>
              </a:rPr>
              <a:t>3.0</a:t>
            </a:r>
            <a:endParaRPr lang="en-US" sz="1200" dirty="0"/>
          </a:p>
        </p:txBody>
      </p:sp>
      <p:sp>
        <p:nvSpPr>
          <p:cNvPr id="48" name="Text 46"/>
          <p:cNvSpPr/>
          <p:nvPr/>
        </p:nvSpPr>
        <p:spPr>
          <a:xfrm>
            <a:off x="3035808" y="3449117"/>
            <a:ext cx="1272845" cy="384048"/>
          </a:xfrm>
          <a:prstGeom prst="rect">
            <a:avLst/>
          </a:prstGeom>
          <a:noFill/>
          <a:ln/>
        </p:spPr>
        <p:txBody>
          <a:bodyPr wrap="square" lIns="0" tIns="0" rIns="0" bIns="0" rtlCol="0" anchor="ctr"/>
          <a:lstStyle/>
          <a:p>
            <a:pPr algn="ctr" indent="0" marL="0">
              <a:buNone/>
            </a:pPr>
            <a:r>
              <a:rPr lang="en-US" sz="950" i="1" dirty="0">
                <a:solidFill>
                  <a:srgbClr val="6B7D99"/>
                </a:solidFill>
                <a:latin typeface="Calibri" pitchFamily="34" charset="0"/>
                <a:ea typeface="Calibri" pitchFamily="34" charset="-122"/>
                <a:cs typeface="Calibri" pitchFamily="34" charset="-120"/>
              </a:rPr>
              <a:t>14×14 Output</a:t>
            </a:r>
            <a:endParaRPr lang="en-US" sz="950" dirty="0"/>
          </a:p>
          <a:p>
            <a:pPr algn="ctr" indent="0" marL="0">
              <a:buNone/>
            </a:pPr>
            <a:r>
              <a:rPr lang="en-US" sz="950" i="1" dirty="0">
                <a:solidFill>
                  <a:srgbClr val="6B7D99"/>
                </a:solidFill>
                <a:latin typeface="Calibri" pitchFamily="34" charset="0"/>
                <a:ea typeface="Calibri" pitchFamily="34" charset="-122"/>
                <a:cs typeface="Calibri" pitchFamily="34" charset="-120"/>
              </a:rPr>
              <a:t>(avg of each 2×2 block)</a:t>
            </a:r>
            <a:endParaRPr lang="en-US" sz="950" dirty="0"/>
          </a:p>
        </p:txBody>
      </p:sp>
      <p:sp>
        <p:nvSpPr>
          <p:cNvPr id="49" name="Shape 47"/>
          <p:cNvSpPr/>
          <p:nvPr/>
        </p:nvSpPr>
        <p:spPr>
          <a:xfrm>
            <a:off x="365760" y="3520440"/>
            <a:ext cx="4754880" cy="804672"/>
          </a:xfrm>
          <a:prstGeom prst="rect">
            <a:avLst/>
          </a:prstGeom>
          <a:solidFill>
            <a:srgbClr val="0B1D3A"/>
          </a:solidFill>
          <a:ln w="12700">
            <a:solidFill>
              <a:srgbClr val="0B1D3A"/>
            </a:solidFill>
            <a:prstDash val="solid"/>
          </a:ln>
        </p:spPr>
      </p:sp>
      <p:sp>
        <p:nvSpPr>
          <p:cNvPr id="50" name="Text 48"/>
          <p:cNvSpPr/>
          <p:nvPr/>
        </p:nvSpPr>
        <p:spPr>
          <a:xfrm>
            <a:off x="502920" y="3547872"/>
            <a:ext cx="4572000" cy="347472"/>
          </a:xfrm>
          <a:prstGeom prst="rect">
            <a:avLst/>
          </a:prstGeom>
          <a:noFill/>
          <a:ln/>
        </p:spPr>
        <p:txBody>
          <a:bodyPr wrap="square" lIns="0" tIns="0" rIns="0" bIns="0" rtlCol="0" anchor="ctr"/>
          <a:lstStyle/>
          <a:p>
            <a:pPr indent="0" marL="0">
              <a:buNone/>
            </a:pPr>
            <a:r>
              <a:rPr lang="en-US" sz="1150" b="1" dirty="0">
                <a:solidFill>
                  <a:srgbClr val="E8B84B"/>
                </a:solidFill>
                <a:latin typeface="Calibri" pitchFamily="34" charset="0"/>
                <a:ea typeface="Calibri" pitchFamily="34" charset="-122"/>
                <a:cs typeface="Calibri" pitchFamily="34" charset="-120"/>
              </a:rPr>
              <a:t>S2 Formula:   Output(i,j) = trainable_weight × avg(patch) + bias</a:t>
            </a:r>
            <a:endParaRPr lang="en-US" sz="1150" dirty="0"/>
          </a:p>
        </p:txBody>
      </p:sp>
      <p:sp>
        <p:nvSpPr>
          <p:cNvPr id="51" name="Text 49"/>
          <p:cNvSpPr/>
          <p:nvPr/>
        </p:nvSpPr>
        <p:spPr>
          <a:xfrm>
            <a:off x="502920" y="3877056"/>
            <a:ext cx="4572000" cy="384048"/>
          </a:xfrm>
          <a:prstGeom prst="rect">
            <a:avLst/>
          </a:prstGeom>
          <a:noFill/>
          <a:ln/>
        </p:spPr>
        <p:txBody>
          <a:bodyPr wrap="square" lIns="0" tIns="0" rIns="0" bIns="0" rtlCol="0" anchor="ctr"/>
          <a:lstStyle/>
          <a:p>
            <a:pPr indent="0" marL="0">
              <a:buNone/>
            </a:pPr>
            <a:r>
              <a:rPr lang="en-US" sz="1000" dirty="0">
                <a:solidFill>
                  <a:srgbClr val="B8C5D9"/>
                </a:solidFill>
                <a:latin typeface="Calibri" pitchFamily="34" charset="0"/>
                <a:ea typeface="Calibri" pitchFamily="34" charset="-122"/>
                <a:cs typeface="Calibri" pitchFamily="34" charset="-120"/>
              </a:rPr>
              <a:t>This is unique to original LeNet — modern networks just average with no extra weights.</a:t>
            </a:r>
            <a:endParaRPr lang="en-US" sz="1000" dirty="0"/>
          </a:p>
        </p:txBody>
      </p:sp>
      <p:sp>
        <p:nvSpPr>
          <p:cNvPr id="52" name="Shape 50"/>
          <p:cNvSpPr/>
          <p:nvPr/>
        </p:nvSpPr>
        <p:spPr>
          <a:xfrm>
            <a:off x="4956048" y="1170432"/>
            <a:ext cx="1901952" cy="171907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53" name="Shape 51"/>
          <p:cNvSpPr/>
          <p:nvPr/>
        </p:nvSpPr>
        <p:spPr>
          <a:xfrm>
            <a:off x="4956048" y="1170432"/>
            <a:ext cx="64008" cy="1719072"/>
          </a:xfrm>
          <a:prstGeom prst="rect">
            <a:avLst/>
          </a:prstGeom>
          <a:solidFill>
            <a:srgbClr val="C8992A"/>
          </a:solidFill>
          <a:ln w="12700">
            <a:solidFill>
              <a:srgbClr val="C8992A"/>
            </a:solidFill>
            <a:prstDash val="solid"/>
          </a:ln>
        </p:spPr>
      </p:sp>
      <p:sp>
        <p:nvSpPr>
          <p:cNvPr id="54" name="Text 52"/>
          <p:cNvSpPr/>
          <p:nvPr/>
        </p:nvSpPr>
        <p:spPr>
          <a:xfrm>
            <a:off x="5111496" y="1261872"/>
            <a:ext cx="1673352" cy="292608"/>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Pool Size</a:t>
            </a:r>
            <a:endParaRPr lang="en-US" sz="1200" dirty="0"/>
          </a:p>
        </p:txBody>
      </p:sp>
      <p:sp>
        <p:nvSpPr>
          <p:cNvPr id="55" name="Text 53"/>
          <p:cNvSpPr/>
          <p:nvPr/>
        </p:nvSpPr>
        <p:spPr>
          <a:xfrm>
            <a:off x="5111496" y="1554480"/>
            <a:ext cx="1673352" cy="1243584"/>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2 × 2 window</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No overlap (stride = 2)</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Halves both width and height</a:t>
            </a:r>
            <a:endParaRPr lang="en-US" sz="1050" dirty="0"/>
          </a:p>
        </p:txBody>
      </p:sp>
      <p:sp>
        <p:nvSpPr>
          <p:cNvPr id="56" name="Shape 54"/>
          <p:cNvSpPr/>
          <p:nvPr/>
        </p:nvSpPr>
        <p:spPr>
          <a:xfrm>
            <a:off x="6967728" y="1170432"/>
            <a:ext cx="1901952" cy="171907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57" name="Shape 55"/>
          <p:cNvSpPr/>
          <p:nvPr/>
        </p:nvSpPr>
        <p:spPr>
          <a:xfrm>
            <a:off x="6967728" y="1170432"/>
            <a:ext cx="64008" cy="1719072"/>
          </a:xfrm>
          <a:prstGeom prst="rect">
            <a:avLst/>
          </a:prstGeom>
          <a:solidFill>
            <a:srgbClr val="C8992A"/>
          </a:solidFill>
          <a:ln w="12700">
            <a:solidFill>
              <a:srgbClr val="C8992A"/>
            </a:solidFill>
            <a:prstDash val="solid"/>
          </a:ln>
        </p:spPr>
      </p:sp>
      <p:sp>
        <p:nvSpPr>
          <p:cNvPr id="58" name="Text 56"/>
          <p:cNvSpPr/>
          <p:nvPr/>
        </p:nvSpPr>
        <p:spPr>
          <a:xfrm>
            <a:off x="7123176" y="1261872"/>
            <a:ext cx="1673352" cy="292608"/>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Purpose</a:t>
            </a:r>
            <a:endParaRPr lang="en-US" sz="1200" dirty="0"/>
          </a:p>
        </p:txBody>
      </p:sp>
      <p:sp>
        <p:nvSpPr>
          <p:cNvPr id="59" name="Text 57"/>
          <p:cNvSpPr/>
          <p:nvPr/>
        </p:nvSpPr>
        <p:spPr>
          <a:xfrm>
            <a:off x="7123176" y="1554480"/>
            <a:ext cx="1673352" cy="1243584"/>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Reduce spatial resolution</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Increase translation invariance</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Reduce computation for next layer</a:t>
            </a:r>
            <a:endParaRPr lang="en-US" sz="1050" dirty="0"/>
          </a:p>
        </p:txBody>
      </p:sp>
      <p:sp>
        <p:nvSpPr>
          <p:cNvPr id="60" name="Shape 58"/>
          <p:cNvSpPr/>
          <p:nvPr/>
        </p:nvSpPr>
        <p:spPr>
          <a:xfrm>
            <a:off x="4956048" y="3017520"/>
            <a:ext cx="1901952" cy="171907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61" name="Shape 59"/>
          <p:cNvSpPr/>
          <p:nvPr/>
        </p:nvSpPr>
        <p:spPr>
          <a:xfrm>
            <a:off x="4956048" y="3017520"/>
            <a:ext cx="64008" cy="1719072"/>
          </a:xfrm>
          <a:prstGeom prst="rect">
            <a:avLst/>
          </a:prstGeom>
          <a:solidFill>
            <a:srgbClr val="C8992A"/>
          </a:solidFill>
          <a:ln w="12700">
            <a:solidFill>
              <a:srgbClr val="C8992A"/>
            </a:solidFill>
            <a:prstDash val="solid"/>
          </a:ln>
        </p:spPr>
      </p:sp>
      <p:sp>
        <p:nvSpPr>
          <p:cNvPr id="62" name="Text 60"/>
          <p:cNvSpPr/>
          <p:nvPr/>
        </p:nvSpPr>
        <p:spPr>
          <a:xfrm>
            <a:off x="5111496" y="3108960"/>
            <a:ext cx="1673352" cy="292608"/>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Parameters in S2</a:t>
            </a:r>
            <a:endParaRPr lang="en-US" sz="1200" dirty="0"/>
          </a:p>
        </p:txBody>
      </p:sp>
      <p:sp>
        <p:nvSpPr>
          <p:cNvPr id="63" name="Text 61"/>
          <p:cNvSpPr/>
          <p:nvPr/>
        </p:nvSpPr>
        <p:spPr>
          <a:xfrm>
            <a:off x="5111496" y="3401568"/>
            <a:ext cx="1673352" cy="1243584"/>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1 weight + 1 bias per map</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 6 × 2 = 12 parameters</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(tiny compared to conv layers)</a:t>
            </a:r>
            <a:endParaRPr lang="en-US" sz="1050" dirty="0"/>
          </a:p>
        </p:txBody>
      </p:sp>
      <p:sp>
        <p:nvSpPr>
          <p:cNvPr id="64" name="Shape 62"/>
          <p:cNvSpPr/>
          <p:nvPr/>
        </p:nvSpPr>
        <p:spPr>
          <a:xfrm>
            <a:off x="6967728" y="3017520"/>
            <a:ext cx="1901952" cy="171907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65" name="Shape 63"/>
          <p:cNvSpPr/>
          <p:nvPr/>
        </p:nvSpPr>
        <p:spPr>
          <a:xfrm>
            <a:off x="6967728" y="3017520"/>
            <a:ext cx="64008" cy="1719072"/>
          </a:xfrm>
          <a:prstGeom prst="rect">
            <a:avLst/>
          </a:prstGeom>
          <a:solidFill>
            <a:srgbClr val="C8992A"/>
          </a:solidFill>
          <a:ln w="12700">
            <a:solidFill>
              <a:srgbClr val="C8992A"/>
            </a:solidFill>
            <a:prstDash val="solid"/>
          </a:ln>
        </p:spPr>
      </p:sp>
      <p:sp>
        <p:nvSpPr>
          <p:cNvPr id="66" name="Text 64"/>
          <p:cNvSpPr/>
          <p:nvPr/>
        </p:nvSpPr>
        <p:spPr>
          <a:xfrm>
            <a:off x="7123176" y="3108960"/>
            <a:ext cx="1673352" cy="292608"/>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LeNet vs Modern</a:t>
            </a:r>
            <a:endParaRPr lang="en-US" sz="1200" dirty="0"/>
          </a:p>
        </p:txBody>
      </p:sp>
      <p:sp>
        <p:nvSpPr>
          <p:cNvPr id="67" name="Text 65"/>
          <p:cNvSpPr/>
          <p:nvPr/>
        </p:nvSpPr>
        <p:spPr>
          <a:xfrm>
            <a:off x="7123176" y="3401568"/>
            <a:ext cx="1673352" cy="1243584"/>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LeNet: Trainable avg pool</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Modern: Fixed max pool</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Max pool empirically works better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Layer C3: Partial Connectivity — Breaking Symmetry</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Input: 14×14×6  →  Output: 10×10×16  |  LeCun's deliberate asymmetry</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Text 3"/>
          <p:cNvSpPr/>
          <p:nvPr/>
        </p:nvSpPr>
        <p:spPr>
          <a:xfrm>
            <a:off x="365760" y="1170432"/>
            <a:ext cx="5303520" cy="329184"/>
          </a:xfrm>
          <a:prstGeom prst="rect">
            <a:avLst/>
          </a:prstGeom>
          <a:noFill/>
          <a:ln/>
        </p:spPr>
        <p:txBody>
          <a:bodyPr wrap="square" lIns="0" tIns="0" rIns="0" bIns="0" rtlCol="0" anchor="ctr"/>
          <a:lstStyle/>
          <a:p>
            <a:pPr indent="0" marL="0">
              <a:buNone/>
            </a:pPr>
            <a:r>
              <a:rPr lang="en-US" sz="1250" b="1" dirty="0">
                <a:solidFill>
                  <a:srgbClr val="0B1D3A"/>
                </a:solidFill>
                <a:latin typeface="Calibri" pitchFamily="34" charset="0"/>
                <a:ea typeface="Calibri" pitchFamily="34" charset="-122"/>
                <a:cs typeface="Calibri" pitchFamily="34" charset="-120"/>
              </a:rPr>
              <a:t>C3 Connection Table — Which S2 Maps Feed Each C3 Map</a:t>
            </a:r>
            <a:endParaRPr lang="en-US" sz="1250" dirty="0"/>
          </a:p>
        </p:txBody>
      </p:sp>
      <p:sp>
        <p:nvSpPr>
          <p:cNvPr id="6" name="Shape 4"/>
          <p:cNvSpPr/>
          <p:nvPr/>
        </p:nvSpPr>
        <p:spPr>
          <a:xfrm>
            <a:off x="868680" y="1572768"/>
            <a:ext cx="292608" cy="274320"/>
          </a:xfrm>
          <a:prstGeom prst="rect">
            <a:avLst/>
          </a:prstGeom>
          <a:solidFill>
            <a:srgbClr val="0B1D3A"/>
          </a:solidFill>
          <a:ln w="12700">
            <a:solidFill>
              <a:srgbClr val="0B1D3A"/>
            </a:solidFill>
            <a:prstDash val="solid"/>
          </a:ln>
        </p:spPr>
      </p:sp>
      <p:sp>
        <p:nvSpPr>
          <p:cNvPr id="7" name="Text 5"/>
          <p:cNvSpPr/>
          <p:nvPr/>
        </p:nvSpPr>
        <p:spPr>
          <a:xfrm>
            <a:off x="868680"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0</a:t>
            </a:r>
            <a:endParaRPr lang="en-US" sz="750" dirty="0"/>
          </a:p>
        </p:txBody>
      </p:sp>
      <p:sp>
        <p:nvSpPr>
          <p:cNvPr id="8" name="Shape 6"/>
          <p:cNvSpPr/>
          <p:nvPr/>
        </p:nvSpPr>
        <p:spPr>
          <a:xfrm>
            <a:off x="1161288" y="1572768"/>
            <a:ext cx="292608" cy="274320"/>
          </a:xfrm>
          <a:prstGeom prst="rect">
            <a:avLst/>
          </a:prstGeom>
          <a:solidFill>
            <a:srgbClr val="0B1D3A"/>
          </a:solidFill>
          <a:ln w="12700">
            <a:solidFill>
              <a:srgbClr val="0B1D3A"/>
            </a:solidFill>
            <a:prstDash val="solid"/>
          </a:ln>
        </p:spPr>
      </p:sp>
      <p:sp>
        <p:nvSpPr>
          <p:cNvPr id="9" name="Text 7"/>
          <p:cNvSpPr/>
          <p:nvPr/>
        </p:nvSpPr>
        <p:spPr>
          <a:xfrm>
            <a:off x="1161288"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10" name="Shape 8"/>
          <p:cNvSpPr/>
          <p:nvPr/>
        </p:nvSpPr>
        <p:spPr>
          <a:xfrm>
            <a:off x="1453896" y="1572768"/>
            <a:ext cx="292608" cy="274320"/>
          </a:xfrm>
          <a:prstGeom prst="rect">
            <a:avLst/>
          </a:prstGeom>
          <a:solidFill>
            <a:srgbClr val="0B1D3A"/>
          </a:solidFill>
          <a:ln w="12700">
            <a:solidFill>
              <a:srgbClr val="0B1D3A"/>
            </a:solidFill>
            <a:prstDash val="solid"/>
          </a:ln>
        </p:spPr>
      </p:sp>
      <p:sp>
        <p:nvSpPr>
          <p:cNvPr id="11" name="Text 9"/>
          <p:cNvSpPr/>
          <p:nvPr/>
        </p:nvSpPr>
        <p:spPr>
          <a:xfrm>
            <a:off x="1453896"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12" name="Shape 10"/>
          <p:cNvSpPr/>
          <p:nvPr/>
        </p:nvSpPr>
        <p:spPr>
          <a:xfrm>
            <a:off x="1746504" y="1572768"/>
            <a:ext cx="292608" cy="274320"/>
          </a:xfrm>
          <a:prstGeom prst="rect">
            <a:avLst/>
          </a:prstGeom>
          <a:solidFill>
            <a:srgbClr val="0B1D3A"/>
          </a:solidFill>
          <a:ln w="12700">
            <a:solidFill>
              <a:srgbClr val="0B1D3A"/>
            </a:solidFill>
            <a:prstDash val="solid"/>
          </a:ln>
        </p:spPr>
      </p:sp>
      <p:sp>
        <p:nvSpPr>
          <p:cNvPr id="13" name="Text 11"/>
          <p:cNvSpPr/>
          <p:nvPr/>
        </p:nvSpPr>
        <p:spPr>
          <a:xfrm>
            <a:off x="1746504"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14" name="Shape 12"/>
          <p:cNvSpPr/>
          <p:nvPr/>
        </p:nvSpPr>
        <p:spPr>
          <a:xfrm>
            <a:off x="2039112" y="1572768"/>
            <a:ext cx="292608" cy="274320"/>
          </a:xfrm>
          <a:prstGeom prst="rect">
            <a:avLst/>
          </a:prstGeom>
          <a:solidFill>
            <a:srgbClr val="0B1D3A"/>
          </a:solidFill>
          <a:ln w="12700">
            <a:solidFill>
              <a:srgbClr val="0B1D3A"/>
            </a:solidFill>
            <a:prstDash val="solid"/>
          </a:ln>
        </p:spPr>
      </p:sp>
      <p:sp>
        <p:nvSpPr>
          <p:cNvPr id="15" name="Text 13"/>
          <p:cNvSpPr/>
          <p:nvPr/>
        </p:nvSpPr>
        <p:spPr>
          <a:xfrm>
            <a:off x="2039112"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16" name="Shape 14"/>
          <p:cNvSpPr/>
          <p:nvPr/>
        </p:nvSpPr>
        <p:spPr>
          <a:xfrm>
            <a:off x="2331720" y="1572768"/>
            <a:ext cx="292608" cy="274320"/>
          </a:xfrm>
          <a:prstGeom prst="rect">
            <a:avLst/>
          </a:prstGeom>
          <a:solidFill>
            <a:srgbClr val="0B1D3A"/>
          </a:solidFill>
          <a:ln w="12700">
            <a:solidFill>
              <a:srgbClr val="0B1D3A"/>
            </a:solidFill>
            <a:prstDash val="solid"/>
          </a:ln>
        </p:spPr>
      </p:sp>
      <p:sp>
        <p:nvSpPr>
          <p:cNvPr id="17" name="Text 15"/>
          <p:cNvSpPr/>
          <p:nvPr/>
        </p:nvSpPr>
        <p:spPr>
          <a:xfrm>
            <a:off x="2331720"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18" name="Shape 16"/>
          <p:cNvSpPr/>
          <p:nvPr/>
        </p:nvSpPr>
        <p:spPr>
          <a:xfrm>
            <a:off x="2624328" y="1572768"/>
            <a:ext cx="292608" cy="274320"/>
          </a:xfrm>
          <a:prstGeom prst="rect">
            <a:avLst/>
          </a:prstGeom>
          <a:solidFill>
            <a:srgbClr val="0B1D3A"/>
          </a:solidFill>
          <a:ln w="12700">
            <a:solidFill>
              <a:srgbClr val="0B1D3A"/>
            </a:solidFill>
            <a:prstDash val="solid"/>
          </a:ln>
        </p:spPr>
      </p:sp>
      <p:sp>
        <p:nvSpPr>
          <p:cNvPr id="19" name="Text 17"/>
          <p:cNvSpPr/>
          <p:nvPr/>
        </p:nvSpPr>
        <p:spPr>
          <a:xfrm>
            <a:off x="2624328"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p>
        </p:txBody>
      </p:sp>
      <p:sp>
        <p:nvSpPr>
          <p:cNvPr id="20" name="Shape 18"/>
          <p:cNvSpPr/>
          <p:nvPr/>
        </p:nvSpPr>
        <p:spPr>
          <a:xfrm>
            <a:off x="2916936" y="1572768"/>
            <a:ext cx="292608" cy="274320"/>
          </a:xfrm>
          <a:prstGeom prst="rect">
            <a:avLst/>
          </a:prstGeom>
          <a:solidFill>
            <a:srgbClr val="0B1D3A"/>
          </a:solidFill>
          <a:ln w="12700">
            <a:solidFill>
              <a:srgbClr val="0B1D3A"/>
            </a:solidFill>
            <a:prstDash val="solid"/>
          </a:ln>
        </p:spPr>
      </p:sp>
      <p:sp>
        <p:nvSpPr>
          <p:cNvPr id="21" name="Text 19"/>
          <p:cNvSpPr/>
          <p:nvPr/>
        </p:nvSpPr>
        <p:spPr>
          <a:xfrm>
            <a:off x="2916936"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7</a:t>
            </a:r>
            <a:endParaRPr lang="en-US" sz="750" dirty="0"/>
          </a:p>
        </p:txBody>
      </p:sp>
      <p:sp>
        <p:nvSpPr>
          <p:cNvPr id="22" name="Shape 20"/>
          <p:cNvSpPr/>
          <p:nvPr/>
        </p:nvSpPr>
        <p:spPr>
          <a:xfrm>
            <a:off x="3209544" y="1572768"/>
            <a:ext cx="292608" cy="274320"/>
          </a:xfrm>
          <a:prstGeom prst="rect">
            <a:avLst/>
          </a:prstGeom>
          <a:solidFill>
            <a:srgbClr val="0B1D3A"/>
          </a:solidFill>
          <a:ln w="12700">
            <a:solidFill>
              <a:srgbClr val="0B1D3A"/>
            </a:solidFill>
            <a:prstDash val="solid"/>
          </a:ln>
        </p:spPr>
      </p:sp>
      <p:sp>
        <p:nvSpPr>
          <p:cNvPr id="23" name="Text 21"/>
          <p:cNvSpPr/>
          <p:nvPr/>
        </p:nvSpPr>
        <p:spPr>
          <a:xfrm>
            <a:off x="3209544"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8</a:t>
            </a:r>
            <a:endParaRPr lang="en-US" sz="750" dirty="0"/>
          </a:p>
        </p:txBody>
      </p:sp>
      <p:sp>
        <p:nvSpPr>
          <p:cNvPr id="24" name="Shape 22"/>
          <p:cNvSpPr/>
          <p:nvPr/>
        </p:nvSpPr>
        <p:spPr>
          <a:xfrm>
            <a:off x="3502152" y="1572768"/>
            <a:ext cx="292608" cy="274320"/>
          </a:xfrm>
          <a:prstGeom prst="rect">
            <a:avLst/>
          </a:prstGeom>
          <a:solidFill>
            <a:srgbClr val="0B1D3A"/>
          </a:solidFill>
          <a:ln w="12700">
            <a:solidFill>
              <a:srgbClr val="0B1D3A"/>
            </a:solidFill>
            <a:prstDash val="solid"/>
          </a:ln>
        </p:spPr>
      </p:sp>
      <p:sp>
        <p:nvSpPr>
          <p:cNvPr id="25" name="Text 23"/>
          <p:cNvSpPr/>
          <p:nvPr/>
        </p:nvSpPr>
        <p:spPr>
          <a:xfrm>
            <a:off x="3502152"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9</a:t>
            </a:r>
            <a:endParaRPr lang="en-US" sz="750" dirty="0"/>
          </a:p>
        </p:txBody>
      </p:sp>
      <p:sp>
        <p:nvSpPr>
          <p:cNvPr id="26" name="Shape 24"/>
          <p:cNvSpPr/>
          <p:nvPr/>
        </p:nvSpPr>
        <p:spPr>
          <a:xfrm>
            <a:off x="3794760" y="1572768"/>
            <a:ext cx="292608" cy="274320"/>
          </a:xfrm>
          <a:prstGeom prst="rect">
            <a:avLst/>
          </a:prstGeom>
          <a:solidFill>
            <a:srgbClr val="0B1D3A"/>
          </a:solidFill>
          <a:ln w="12700">
            <a:solidFill>
              <a:srgbClr val="0B1D3A"/>
            </a:solidFill>
            <a:prstDash val="solid"/>
          </a:ln>
        </p:spPr>
      </p:sp>
      <p:sp>
        <p:nvSpPr>
          <p:cNvPr id="27" name="Text 25"/>
          <p:cNvSpPr/>
          <p:nvPr/>
        </p:nvSpPr>
        <p:spPr>
          <a:xfrm>
            <a:off x="3794760"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10</a:t>
            </a:r>
            <a:endParaRPr lang="en-US" sz="750" dirty="0"/>
          </a:p>
        </p:txBody>
      </p:sp>
      <p:sp>
        <p:nvSpPr>
          <p:cNvPr id="28" name="Shape 26"/>
          <p:cNvSpPr/>
          <p:nvPr/>
        </p:nvSpPr>
        <p:spPr>
          <a:xfrm>
            <a:off x="4087368" y="1572768"/>
            <a:ext cx="292608" cy="274320"/>
          </a:xfrm>
          <a:prstGeom prst="rect">
            <a:avLst/>
          </a:prstGeom>
          <a:solidFill>
            <a:srgbClr val="0B1D3A"/>
          </a:solidFill>
          <a:ln w="12700">
            <a:solidFill>
              <a:srgbClr val="0B1D3A"/>
            </a:solidFill>
            <a:prstDash val="solid"/>
          </a:ln>
        </p:spPr>
      </p:sp>
      <p:sp>
        <p:nvSpPr>
          <p:cNvPr id="29" name="Text 27"/>
          <p:cNvSpPr/>
          <p:nvPr/>
        </p:nvSpPr>
        <p:spPr>
          <a:xfrm>
            <a:off x="4087368"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11</a:t>
            </a:r>
            <a:endParaRPr lang="en-US" sz="750" dirty="0"/>
          </a:p>
        </p:txBody>
      </p:sp>
      <p:sp>
        <p:nvSpPr>
          <p:cNvPr id="30" name="Shape 28"/>
          <p:cNvSpPr/>
          <p:nvPr/>
        </p:nvSpPr>
        <p:spPr>
          <a:xfrm>
            <a:off x="4379976" y="1572768"/>
            <a:ext cx="292608" cy="274320"/>
          </a:xfrm>
          <a:prstGeom prst="rect">
            <a:avLst/>
          </a:prstGeom>
          <a:solidFill>
            <a:srgbClr val="0B1D3A"/>
          </a:solidFill>
          <a:ln w="12700">
            <a:solidFill>
              <a:srgbClr val="0B1D3A"/>
            </a:solidFill>
            <a:prstDash val="solid"/>
          </a:ln>
        </p:spPr>
      </p:sp>
      <p:sp>
        <p:nvSpPr>
          <p:cNvPr id="31" name="Text 29"/>
          <p:cNvSpPr/>
          <p:nvPr/>
        </p:nvSpPr>
        <p:spPr>
          <a:xfrm>
            <a:off x="4379976"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12</a:t>
            </a:r>
            <a:endParaRPr lang="en-US" sz="750" dirty="0"/>
          </a:p>
        </p:txBody>
      </p:sp>
      <p:sp>
        <p:nvSpPr>
          <p:cNvPr id="32" name="Shape 30"/>
          <p:cNvSpPr/>
          <p:nvPr/>
        </p:nvSpPr>
        <p:spPr>
          <a:xfrm>
            <a:off x="4672584" y="1572768"/>
            <a:ext cx="292608" cy="274320"/>
          </a:xfrm>
          <a:prstGeom prst="rect">
            <a:avLst/>
          </a:prstGeom>
          <a:solidFill>
            <a:srgbClr val="0B1D3A"/>
          </a:solidFill>
          <a:ln w="12700">
            <a:solidFill>
              <a:srgbClr val="0B1D3A"/>
            </a:solidFill>
            <a:prstDash val="solid"/>
          </a:ln>
        </p:spPr>
      </p:sp>
      <p:sp>
        <p:nvSpPr>
          <p:cNvPr id="33" name="Text 31"/>
          <p:cNvSpPr/>
          <p:nvPr/>
        </p:nvSpPr>
        <p:spPr>
          <a:xfrm>
            <a:off x="4672584"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13</a:t>
            </a:r>
            <a:endParaRPr lang="en-US" sz="750" dirty="0"/>
          </a:p>
        </p:txBody>
      </p:sp>
      <p:sp>
        <p:nvSpPr>
          <p:cNvPr id="34" name="Shape 32"/>
          <p:cNvSpPr/>
          <p:nvPr/>
        </p:nvSpPr>
        <p:spPr>
          <a:xfrm>
            <a:off x="4965192" y="1572768"/>
            <a:ext cx="292608" cy="274320"/>
          </a:xfrm>
          <a:prstGeom prst="rect">
            <a:avLst/>
          </a:prstGeom>
          <a:solidFill>
            <a:srgbClr val="0B1D3A"/>
          </a:solidFill>
          <a:ln w="12700">
            <a:solidFill>
              <a:srgbClr val="0B1D3A"/>
            </a:solidFill>
            <a:prstDash val="solid"/>
          </a:ln>
        </p:spPr>
      </p:sp>
      <p:sp>
        <p:nvSpPr>
          <p:cNvPr id="35" name="Text 33"/>
          <p:cNvSpPr/>
          <p:nvPr/>
        </p:nvSpPr>
        <p:spPr>
          <a:xfrm>
            <a:off x="4965192"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14</a:t>
            </a:r>
            <a:endParaRPr lang="en-US" sz="750" dirty="0"/>
          </a:p>
        </p:txBody>
      </p:sp>
      <p:sp>
        <p:nvSpPr>
          <p:cNvPr id="36" name="Shape 34"/>
          <p:cNvSpPr/>
          <p:nvPr/>
        </p:nvSpPr>
        <p:spPr>
          <a:xfrm>
            <a:off x="5257800" y="1572768"/>
            <a:ext cx="292608" cy="274320"/>
          </a:xfrm>
          <a:prstGeom prst="rect">
            <a:avLst/>
          </a:prstGeom>
          <a:solidFill>
            <a:srgbClr val="0B1D3A"/>
          </a:solidFill>
          <a:ln w="12700">
            <a:solidFill>
              <a:srgbClr val="0B1D3A"/>
            </a:solidFill>
            <a:prstDash val="solid"/>
          </a:ln>
        </p:spPr>
      </p:sp>
      <p:sp>
        <p:nvSpPr>
          <p:cNvPr id="37" name="Text 35"/>
          <p:cNvSpPr/>
          <p:nvPr/>
        </p:nvSpPr>
        <p:spPr>
          <a:xfrm>
            <a:off x="5257800" y="1572768"/>
            <a:ext cx="292608"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15</a:t>
            </a:r>
            <a:endParaRPr lang="en-US" sz="750" dirty="0"/>
          </a:p>
        </p:txBody>
      </p:sp>
      <p:sp>
        <p:nvSpPr>
          <p:cNvPr id="38" name="Shape 36"/>
          <p:cNvSpPr/>
          <p:nvPr/>
        </p:nvSpPr>
        <p:spPr>
          <a:xfrm>
            <a:off x="365760" y="1847088"/>
            <a:ext cx="475488" cy="320040"/>
          </a:xfrm>
          <a:prstGeom prst="rect">
            <a:avLst/>
          </a:prstGeom>
          <a:solidFill>
            <a:srgbClr val="1A6B7A"/>
          </a:solidFill>
          <a:ln w="12700">
            <a:solidFill>
              <a:srgbClr val="1A6B7A"/>
            </a:solidFill>
            <a:prstDash val="solid"/>
          </a:ln>
        </p:spPr>
      </p:sp>
      <p:sp>
        <p:nvSpPr>
          <p:cNvPr id="39" name="Text 37"/>
          <p:cNvSpPr/>
          <p:nvPr/>
        </p:nvSpPr>
        <p:spPr>
          <a:xfrm>
            <a:off x="365760" y="1847088"/>
            <a:ext cx="475488" cy="32004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S2:0</a:t>
            </a:r>
            <a:endParaRPr lang="en-US" sz="750" dirty="0"/>
          </a:p>
        </p:txBody>
      </p:sp>
      <p:sp>
        <p:nvSpPr>
          <p:cNvPr id="40" name="Shape 38"/>
          <p:cNvSpPr/>
          <p:nvPr/>
        </p:nvSpPr>
        <p:spPr>
          <a:xfrm>
            <a:off x="868680" y="1847088"/>
            <a:ext cx="292608" cy="320040"/>
          </a:xfrm>
          <a:prstGeom prst="rect">
            <a:avLst/>
          </a:prstGeom>
          <a:solidFill>
            <a:srgbClr val="C8992A"/>
          </a:solidFill>
          <a:ln w="12700">
            <a:solidFill>
              <a:srgbClr val="B8C5D9"/>
            </a:solidFill>
            <a:prstDash val="solid"/>
          </a:ln>
        </p:spPr>
      </p:sp>
      <p:sp>
        <p:nvSpPr>
          <p:cNvPr id="41" name="Text 39"/>
          <p:cNvSpPr/>
          <p:nvPr/>
        </p:nvSpPr>
        <p:spPr>
          <a:xfrm>
            <a:off x="868680"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2" name="Shape 40"/>
          <p:cNvSpPr/>
          <p:nvPr/>
        </p:nvSpPr>
        <p:spPr>
          <a:xfrm>
            <a:off x="1161288" y="1847088"/>
            <a:ext cx="292608" cy="320040"/>
          </a:xfrm>
          <a:prstGeom prst="rect">
            <a:avLst/>
          </a:prstGeom>
          <a:solidFill>
            <a:srgbClr val="F0F4FA"/>
          </a:solidFill>
          <a:ln w="12700">
            <a:solidFill>
              <a:srgbClr val="B8C5D9"/>
            </a:solidFill>
            <a:prstDash val="solid"/>
          </a:ln>
        </p:spPr>
      </p:sp>
      <p:sp>
        <p:nvSpPr>
          <p:cNvPr id="43" name="Shape 41"/>
          <p:cNvSpPr/>
          <p:nvPr/>
        </p:nvSpPr>
        <p:spPr>
          <a:xfrm>
            <a:off x="1453896" y="1847088"/>
            <a:ext cx="292608" cy="320040"/>
          </a:xfrm>
          <a:prstGeom prst="rect">
            <a:avLst/>
          </a:prstGeom>
          <a:solidFill>
            <a:srgbClr val="F0F4FA"/>
          </a:solidFill>
          <a:ln w="12700">
            <a:solidFill>
              <a:srgbClr val="B8C5D9"/>
            </a:solidFill>
            <a:prstDash val="solid"/>
          </a:ln>
        </p:spPr>
      </p:sp>
      <p:sp>
        <p:nvSpPr>
          <p:cNvPr id="44" name="Shape 42"/>
          <p:cNvSpPr/>
          <p:nvPr/>
        </p:nvSpPr>
        <p:spPr>
          <a:xfrm>
            <a:off x="1746504" y="1847088"/>
            <a:ext cx="292608" cy="320040"/>
          </a:xfrm>
          <a:prstGeom prst="rect">
            <a:avLst/>
          </a:prstGeom>
          <a:solidFill>
            <a:srgbClr val="F0F4FA"/>
          </a:solidFill>
          <a:ln w="12700">
            <a:solidFill>
              <a:srgbClr val="B8C5D9"/>
            </a:solidFill>
            <a:prstDash val="solid"/>
          </a:ln>
        </p:spPr>
      </p:sp>
      <p:sp>
        <p:nvSpPr>
          <p:cNvPr id="45" name="Shape 43"/>
          <p:cNvSpPr/>
          <p:nvPr/>
        </p:nvSpPr>
        <p:spPr>
          <a:xfrm>
            <a:off x="2039112" y="1847088"/>
            <a:ext cx="292608" cy="320040"/>
          </a:xfrm>
          <a:prstGeom prst="rect">
            <a:avLst/>
          </a:prstGeom>
          <a:solidFill>
            <a:srgbClr val="C8992A"/>
          </a:solidFill>
          <a:ln w="12700">
            <a:solidFill>
              <a:srgbClr val="B8C5D9"/>
            </a:solidFill>
            <a:prstDash val="solid"/>
          </a:ln>
        </p:spPr>
      </p:sp>
      <p:sp>
        <p:nvSpPr>
          <p:cNvPr id="46" name="Text 44"/>
          <p:cNvSpPr/>
          <p:nvPr/>
        </p:nvSpPr>
        <p:spPr>
          <a:xfrm>
            <a:off x="2039112"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7" name="Shape 45"/>
          <p:cNvSpPr/>
          <p:nvPr/>
        </p:nvSpPr>
        <p:spPr>
          <a:xfrm>
            <a:off x="2331720" y="1847088"/>
            <a:ext cx="292608" cy="320040"/>
          </a:xfrm>
          <a:prstGeom prst="rect">
            <a:avLst/>
          </a:prstGeom>
          <a:solidFill>
            <a:srgbClr val="C8992A"/>
          </a:solidFill>
          <a:ln w="12700">
            <a:solidFill>
              <a:srgbClr val="B8C5D9"/>
            </a:solidFill>
            <a:prstDash val="solid"/>
          </a:ln>
        </p:spPr>
      </p:sp>
      <p:sp>
        <p:nvSpPr>
          <p:cNvPr id="48" name="Text 46"/>
          <p:cNvSpPr/>
          <p:nvPr/>
        </p:nvSpPr>
        <p:spPr>
          <a:xfrm>
            <a:off x="2331720"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9" name="Shape 47"/>
          <p:cNvSpPr/>
          <p:nvPr/>
        </p:nvSpPr>
        <p:spPr>
          <a:xfrm>
            <a:off x="2624328" y="1847088"/>
            <a:ext cx="292608" cy="320040"/>
          </a:xfrm>
          <a:prstGeom prst="rect">
            <a:avLst/>
          </a:prstGeom>
          <a:solidFill>
            <a:srgbClr val="C8992A"/>
          </a:solidFill>
          <a:ln w="12700">
            <a:solidFill>
              <a:srgbClr val="B8C5D9"/>
            </a:solidFill>
            <a:prstDash val="solid"/>
          </a:ln>
        </p:spPr>
      </p:sp>
      <p:sp>
        <p:nvSpPr>
          <p:cNvPr id="50" name="Text 48"/>
          <p:cNvSpPr/>
          <p:nvPr/>
        </p:nvSpPr>
        <p:spPr>
          <a:xfrm>
            <a:off x="2624328"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1" name="Shape 49"/>
          <p:cNvSpPr/>
          <p:nvPr/>
        </p:nvSpPr>
        <p:spPr>
          <a:xfrm>
            <a:off x="2916936" y="1847088"/>
            <a:ext cx="292608" cy="320040"/>
          </a:xfrm>
          <a:prstGeom prst="rect">
            <a:avLst/>
          </a:prstGeom>
          <a:solidFill>
            <a:srgbClr val="F0F4FA"/>
          </a:solidFill>
          <a:ln w="12700">
            <a:solidFill>
              <a:srgbClr val="B8C5D9"/>
            </a:solidFill>
            <a:prstDash val="solid"/>
          </a:ln>
        </p:spPr>
      </p:sp>
      <p:sp>
        <p:nvSpPr>
          <p:cNvPr id="52" name="Shape 50"/>
          <p:cNvSpPr/>
          <p:nvPr/>
        </p:nvSpPr>
        <p:spPr>
          <a:xfrm>
            <a:off x="3209544" y="1847088"/>
            <a:ext cx="292608" cy="320040"/>
          </a:xfrm>
          <a:prstGeom prst="rect">
            <a:avLst/>
          </a:prstGeom>
          <a:solidFill>
            <a:srgbClr val="F0F4FA"/>
          </a:solidFill>
          <a:ln w="12700">
            <a:solidFill>
              <a:srgbClr val="B8C5D9"/>
            </a:solidFill>
            <a:prstDash val="solid"/>
          </a:ln>
        </p:spPr>
      </p:sp>
      <p:sp>
        <p:nvSpPr>
          <p:cNvPr id="53" name="Shape 51"/>
          <p:cNvSpPr/>
          <p:nvPr/>
        </p:nvSpPr>
        <p:spPr>
          <a:xfrm>
            <a:off x="3502152" y="1847088"/>
            <a:ext cx="292608" cy="320040"/>
          </a:xfrm>
          <a:prstGeom prst="rect">
            <a:avLst/>
          </a:prstGeom>
          <a:solidFill>
            <a:srgbClr val="C8992A"/>
          </a:solidFill>
          <a:ln w="12700">
            <a:solidFill>
              <a:srgbClr val="B8C5D9"/>
            </a:solidFill>
            <a:prstDash val="solid"/>
          </a:ln>
        </p:spPr>
      </p:sp>
      <p:sp>
        <p:nvSpPr>
          <p:cNvPr id="54" name="Text 52"/>
          <p:cNvSpPr/>
          <p:nvPr/>
        </p:nvSpPr>
        <p:spPr>
          <a:xfrm>
            <a:off x="3502152"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5" name="Shape 53"/>
          <p:cNvSpPr/>
          <p:nvPr/>
        </p:nvSpPr>
        <p:spPr>
          <a:xfrm>
            <a:off x="3794760" y="1847088"/>
            <a:ext cx="292608" cy="320040"/>
          </a:xfrm>
          <a:prstGeom prst="rect">
            <a:avLst/>
          </a:prstGeom>
          <a:solidFill>
            <a:srgbClr val="C8992A"/>
          </a:solidFill>
          <a:ln w="12700">
            <a:solidFill>
              <a:srgbClr val="B8C5D9"/>
            </a:solidFill>
            <a:prstDash val="solid"/>
          </a:ln>
        </p:spPr>
      </p:sp>
      <p:sp>
        <p:nvSpPr>
          <p:cNvPr id="56" name="Text 54"/>
          <p:cNvSpPr/>
          <p:nvPr/>
        </p:nvSpPr>
        <p:spPr>
          <a:xfrm>
            <a:off x="3794760"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7" name="Shape 55"/>
          <p:cNvSpPr/>
          <p:nvPr/>
        </p:nvSpPr>
        <p:spPr>
          <a:xfrm>
            <a:off x="4087368" y="1847088"/>
            <a:ext cx="292608" cy="320040"/>
          </a:xfrm>
          <a:prstGeom prst="rect">
            <a:avLst/>
          </a:prstGeom>
          <a:solidFill>
            <a:srgbClr val="C8992A"/>
          </a:solidFill>
          <a:ln w="12700">
            <a:solidFill>
              <a:srgbClr val="B8C5D9"/>
            </a:solidFill>
            <a:prstDash val="solid"/>
          </a:ln>
        </p:spPr>
      </p:sp>
      <p:sp>
        <p:nvSpPr>
          <p:cNvPr id="58" name="Text 56"/>
          <p:cNvSpPr/>
          <p:nvPr/>
        </p:nvSpPr>
        <p:spPr>
          <a:xfrm>
            <a:off x="4087368"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9" name="Shape 57"/>
          <p:cNvSpPr/>
          <p:nvPr/>
        </p:nvSpPr>
        <p:spPr>
          <a:xfrm>
            <a:off x="4379976" y="1847088"/>
            <a:ext cx="292608" cy="320040"/>
          </a:xfrm>
          <a:prstGeom prst="rect">
            <a:avLst/>
          </a:prstGeom>
          <a:solidFill>
            <a:srgbClr val="C8992A"/>
          </a:solidFill>
          <a:ln w="12700">
            <a:solidFill>
              <a:srgbClr val="B8C5D9"/>
            </a:solidFill>
            <a:prstDash val="solid"/>
          </a:ln>
        </p:spPr>
      </p:sp>
      <p:sp>
        <p:nvSpPr>
          <p:cNvPr id="60" name="Text 58"/>
          <p:cNvSpPr/>
          <p:nvPr/>
        </p:nvSpPr>
        <p:spPr>
          <a:xfrm>
            <a:off x="4379976"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1" name="Shape 59"/>
          <p:cNvSpPr/>
          <p:nvPr/>
        </p:nvSpPr>
        <p:spPr>
          <a:xfrm>
            <a:off x="4672584" y="1847088"/>
            <a:ext cx="292608" cy="320040"/>
          </a:xfrm>
          <a:prstGeom prst="rect">
            <a:avLst/>
          </a:prstGeom>
          <a:solidFill>
            <a:srgbClr val="F0F4FA"/>
          </a:solidFill>
          <a:ln w="12700">
            <a:solidFill>
              <a:srgbClr val="B8C5D9"/>
            </a:solidFill>
            <a:prstDash val="solid"/>
          </a:ln>
        </p:spPr>
      </p:sp>
      <p:sp>
        <p:nvSpPr>
          <p:cNvPr id="62" name="Shape 60"/>
          <p:cNvSpPr/>
          <p:nvPr/>
        </p:nvSpPr>
        <p:spPr>
          <a:xfrm>
            <a:off x="4965192" y="1847088"/>
            <a:ext cx="292608" cy="320040"/>
          </a:xfrm>
          <a:prstGeom prst="rect">
            <a:avLst/>
          </a:prstGeom>
          <a:solidFill>
            <a:srgbClr val="C8992A"/>
          </a:solidFill>
          <a:ln w="12700">
            <a:solidFill>
              <a:srgbClr val="B8C5D9"/>
            </a:solidFill>
            <a:prstDash val="solid"/>
          </a:ln>
        </p:spPr>
      </p:sp>
      <p:sp>
        <p:nvSpPr>
          <p:cNvPr id="63" name="Text 61"/>
          <p:cNvSpPr/>
          <p:nvPr/>
        </p:nvSpPr>
        <p:spPr>
          <a:xfrm>
            <a:off x="4965192"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4" name="Shape 62"/>
          <p:cNvSpPr/>
          <p:nvPr/>
        </p:nvSpPr>
        <p:spPr>
          <a:xfrm>
            <a:off x="5257800" y="1847088"/>
            <a:ext cx="292608" cy="320040"/>
          </a:xfrm>
          <a:prstGeom prst="rect">
            <a:avLst/>
          </a:prstGeom>
          <a:solidFill>
            <a:srgbClr val="C8992A"/>
          </a:solidFill>
          <a:ln w="12700">
            <a:solidFill>
              <a:srgbClr val="B8C5D9"/>
            </a:solidFill>
            <a:prstDash val="solid"/>
          </a:ln>
        </p:spPr>
      </p:sp>
      <p:sp>
        <p:nvSpPr>
          <p:cNvPr id="65" name="Text 63"/>
          <p:cNvSpPr/>
          <p:nvPr/>
        </p:nvSpPr>
        <p:spPr>
          <a:xfrm>
            <a:off x="5257800" y="18470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6" name="Shape 64"/>
          <p:cNvSpPr/>
          <p:nvPr/>
        </p:nvSpPr>
        <p:spPr>
          <a:xfrm>
            <a:off x="365760" y="2167128"/>
            <a:ext cx="475488" cy="320040"/>
          </a:xfrm>
          <a:prstGeom prst="rect">
            <a:avLst/>
          </a:prstGeom>
          <a:solidFill>
            <a:srgbClr val="1A6B7A"/>
          </a:solidFill>
          <a:ln w="12700">
            <a:solidFill>
              <a:srgbClr val="1A6B7A"/>
            </a:solidFill>
            <a:prstDash val="solid"/>
          </a:ln>
        </p:spPr>
      </p:sp>
      <p:sp>
        <p:nvSpPr>
          <p:cNvPr id="67" name="Text 65"/>
          <p:cNvSpPr/>
          <p:nvPr/>
        </p:nvSpPr>
        <p:spPr>
          <a:xfrm>
            <a:off x="365760" y="2167128"/>
            <a:ext cx="475488" cy="32004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S2:1</a:t>
            </a:r>
            <a:endParaRPr lang="en-US" sz="750" dirty="0"/>
          </a:p>
        </p:txBody>
      </p:sp>
      <p:sp>
        <p:nvSpPr>
          <p:cNvPr id="68" name="Shape 66"/>
          <p:cNvSpPr/>
          <p:nvPr/>
        </p:nvSpPr>
        <p:spPr>
          <a:xfrm>
            <a:off x="868680" y="2167128"/>
            <a:ext cx="292608" cy="320040"/>
          </a:xfrm>
          <a:prstGeom prst="rect">
            <a:avLst/>
          </a:prstGeom>
          <a:solidFill>
            <a:srgbClr val="C8992A"/>
          </a:solidFill>
          <a:ln w="12700">
            <a:solidFill>
              <a:srgbClr val="B8C5D9"/>
            </a:solidFill>
            <a:prstDash val="solid"/>
          </a:ln>
        </p:spPr>
      </p:sp>
      <p:sp>
        <p:nvSpPr>
          <p:cNvPr id="69" name="Text 67"/>
          <p:cNvSpPr/>
          <p:nvPr/>
        </p:nvSpPr>
        <p:spPr>
          <a:xfrm>
            <a:off x="868680"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70" name="Shape 68"/>
          <p:cNvSpPr/>
          <p:nvPr/>
        </p:nvSpPr>
        <p:spPr>
          <a:xfrm>
            <a:off x="1161288" y="2167128"/>
            <a:ext cx="292608" cy="320040"/>
          </a:xfrm>
          <a:prstGeom prst="rect">
            <a:avLst/>
          </a:prstGeom>
          <a:solidFill>
            <a:srgbClr val="C8992A"/>
          </a:solidFill>
          <a:ln w="12700">
            <a:solidFill>
              <a:srgbClr val="B8C5D9"/>
            </a:solidFill>
            <a:prstDash val="solid"/>
          </a:ln>
        </p:spPr>
      </p:sp>
      <p:sp>
        <p:nvSpPr>
          <p:cNvPr id="71" name="Text 69"/>
          <p:cNvSpPr/>
          <p:nvPr/>
        </p:nvSpPr>
        <p:spPr>
          <a:xfrm>
            <a:off x="1161288"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72" name="Shape 70"/>
          <p:cNvSpPr/>
          <p:nvPr/>
        </p:nvSpPr>
        <p:spPr>
          <a:xfrm>
            <a:off x="1453896" y="2167128"/>
            <a:ext cx="292608" cy="320040"/>
          </a:xfrm>
          <a:prstGeom prst="rect">
            <a:avLst/>
          </a:prstGeom>
          <a:solidFill>
            <a:srgbClr val="F0F4FA"/>
          </a:solidFill>
          <a:ln w="12700">
            <a:solidFill>
              <a:srgbClr val="B8C5D9"/>
            </a:solidFill>
            <a:prstDash val="solid"/>
          </a:ln>
        </p:spPr>
      </p:sp>
      <p:sp>
        <p:nvSpPr>
          <p:cNvPr id="73" name="Shape 71"/>
          <p:cNvSpPr/>
          <p:nvPr/>
        </p:nvSpPr>
        <p:spPr>
          <a:xfrm>
            <a:off x="1746504" y="2167128"/>
            <a:ext cx="292608" cy="320040"/>
          </a:xfrm>
          <a:prstGeom prst="rect">
            <a:avLst/>
          </a:prstGeom>
          <a:solidFill>
            <a:srgbClr val="F0F4FA"/>
          </a:solidFill>
          <a:ln w="12700">
            <a:solidFill>
              <a:srgbClr val="B8C5D9"/>
            </a:solidFill>
            <a:prstDash val="solid"/>
          </a:ln>
        </p:spPr>
      </p:sp>
      <p:sp>
        <p:nvSpPr>
          <p:cNvPr id="74" name="Shape 72"/>
          <p:cNvSpPr/>
          <p:nvPr/>
        </p:nvSpPr>
        <p:spPr>
          <a:xfrm>
            <a:off x="2039112" y="2167128"/>
            <a:ext cx="292608" cy="320040"/>
          </a:xfrm>
          <a:prstGeom prst="rect">
            <a:avLst/>
          </a:prstGeom>
          <a:solidFill>
            <a:srgbClr val="F0F4FA"/>
          </a:solidFill>
          <a:ln w="12700">
            <a:solidFill>
              <a:srgbClr val="B8C5D9"/>
            </a:solidFill>
            <a:prstDash val="solid"/>
          </a:ln>
        </p:spPr>
      </p:sp>
      <p:sp>
        <p:nvSpPr>
          <p:cNvPr id="75" name="Shape 73"/>
          <p:cNvSpPr/>
          <p:nvPr/>
        </p:nvSpPr>
        <p:spPr>
          <a:xfrm>
            <a:off x="2331720" y="2167128"/>
            <a:ext cx="292608" cy="320040"/>
          </a:xfrm>
          <a:prstGeom prst="rect">
            <a:avLst/>
          </a:prstGeom>
          <a:solidFill>
            <a:srgbClr val="C8992A"/>
          </a:solidFill>
          <a:ln w="12700">
            <a:solidFill>
              <a:srgbClr val="B8C5D9"/>
            </a:solidFill>
            <a:prstDash val="solid"/>
          </a:ln>
        </p:spPr>
      </p:sp>
      <p:sp>
        <p:nvSpPr>
          <p:cNvPr id="76" name="Text 74"/>
          <p:cNvSpPr/>
          <p:nvPr/>
        </p:nvSpPr>
        <p:spPr>
          <a:xfrm>
            <a:off x="2331720"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77" name="Shape 75"/>
          <p:cNvSpPr/>
          <p:nvPr/>
        </p:nvSpPr>
        <p:spPr>
          <a:xfrm>
            <a:off x="2624328" y="2167128"/>
            <a:ext cx="292608" cy="320040"/>
          </a:xfrm>
          <a:prstGeom prst="rect">
            <a:avLst/>
          </a:prstGeom>
          <a:solidFill>
            <a:srgbClr val="C8992A"/>
          </a:solidFill>
          <a:ln w="12700">
            <a:solidFill>
              <a:srgbClr val="B8C5D9"/>
            </a:solidFill>
            <a:prstDash val="solid"/>
          </a:ln>
        </p:spPr>
      </p:sp>
      <p:sp>
        <p:nvSpPr>
          <p:cNvPr id="78" name="Text 76"/>
          <p:cNvSpPr/>
          <p:nvPr/>
        </p:nvSpPr>
        <p:spPr>
          <a:xfrm>
            <a:off x="2624328"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79" name="Shape 77"/>
          <p:cNvSpPr/>
          <p:nvPr/>
        </p:nvSpPr>
        <p:spPr>
          <a:xfrm>
            <a:off x="2916936" y="2167128"/>
            <a:ext cx="292608" cy="320040"/>
          </a:xfrm>
          <a:prstGeom prst="rect">
            <a:avLst/>
          </a:prstGeom>
          <a:solidFill>
            <a:srgbClr val="C8992A"/>
          </a:solidFill>
          <a:ln w="12700">
            <a:solidFill>
              <a:srgbClr val="B8C5D9"/>
            </a:solidFill>
            <a:prstDash val="solid"/>
          </a:ln>
        </p:spPr>
      </p:sp>
      <p:sp>
        <p:nvSpPr>
          <p:cNvPr id="80" name="Text 78"/>
          <p:cNvSpPr/>
          <p:nvPr/>
        </p:nvSpPr>
        <p:spPr>
          <a:xfrm>
            <a:off x="2916936"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81" name="Shape 79"/>
          <p:cNvSpPr/>
          <p:nvPr/>
        </p:nvSpPr>
        <p:spPr>
          <a:xfrm>
            <a:off x="3209544" y="2167128"/>
            <a:ext cx="292608" cy="320040"/>
          </a:xfrm>
          <a:prstGeom prst="rect">
            <a:avLst/>
          </a:prstGeom>
          <a:solidFill>
            <a:srgbClr val="F0F4FA"/>
          </a:solidFill>
          <a:ln w="12700">
            <a:solidFill>
              <a:srgbClr val="B8C5D9"/>
            </a:solidFill>
            <a:prstDash val="solid"/>
          </a:ln>
        </p:spPr>
      </p:sp>
      <p:sp>
        <p:nvSpPr>
          <p:cNvPr id="82" name="Shape 80"/>
          <p:cNvSpPr/>
          <p:nvPr/>
        </p:nvSpPr>
        <p:spPr>
          <a:xfrm>
            <a:off x="3502152" y="2167128"/>
            <a:ext cx="292608" cy="320040"/>
          </a:xfrm>
          <a:prstGeom prst="rect">
            <a:avLst/>
          </a:prstGeom>
          <a:solidFill>
            <a:srgbClr val="F0F4FA"/>
          </a:solidFill>
          <a:ln w="12700">
            <a:solidFill>
              <a:srgbClr val="B8C5D9"/>
            </a:solidFill>
            <a:prstDash val="solid"/>
          </a:ln>
        </p:spPr>
      </p:sp>
      <p:sp>
        <p:nvSpPr>
          <p:cNvPr id="83" name="Shape 81"/>
          <p:cNvSpPr/>
          <p:nvPr/>
        </p:nvSpPr>
        <p:spPr>
          <a:xfrm>
            <a:off x="3794760" y="2167128"/>
            <a:ext cx="292608" cy="320040"/>
          </a:xfrm>
          <a:prstGeom prst="rect">
            <a:avLst/>
          </a:prstGeom>
          <a:solidFill>
            <a:srgbClr val="C8992A"/>
          </a:solidFill>
          <a:ln w="12700">
            <a:solidFill>
              <a:srgbClr val="B8C5D9"/>
            </a:solidFill>
            <a:prstDash val="solid"/>
          </a:ln>
        </p:spPr>
      </p:sp>
      <p:sp>
        <p:nvSpPr>
          <p:cNvPr id="84" name="Text 82"/>
          <p:cNvSpPr/>
          <p:nvPr/>
        </p:nvSpPr>
        <p:spPr>
          <a:xfrm>
            <a:off x="3794760"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85" name="Shape 83"/>
          <p:cNvSpPr/>
          <p:nvPr/>
        </p:nvSpPr>
        <p:spPr>
          <a:xfrm>
            <a:off x="4087368" y="2167128"/>
            <a:ext cx="292608" cy="320040"/>
          </a:xfrm>
          <a:prstGeom prst="rect">
            <a:avLst/>
          </a:prstGeom>
          <a:solidFill>
            <a:srgbClr val="C8992A"/>
          </a:solidFill>
          <a:ln w="12700">
            <a:solidFill>
              <a:srgbClr val="B8C5D9"/>
            </a:solidFill>
            <a:prstDash val="solid"/>
          </a:ln>
        </p:spPr>
      </p:sp>
      <p:sp>
        <p:nvSpPr>
          <p:cNvPr id="86" name="Text 84"/>
          <p:cNvSpPr/>
          <p:nvPr/>
        </p:nvSpPr>
        <p:spPr>
          <a:xfrm>
            <a:off x="4087368"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87" name="Shape 85"/>
          <p:cNvSpPr/>
          <p:nvPr/>
        </p:nvSpPr>
        <p:spPr>
          <a:xfrm>
            <a:off x="4379976" y="2167128"/>
            <a:ext cx="292608" cy="320040"/>
          </a:xfrm>
          <a:prstGeom prst="rect">
            <a:avLst/>
          </a:prstGeom>
          <a:solidFill>
            <a:srgbClr val="C8992A"/>
          </a:solidFill>
          <a:ln w="12700">
            <a:solidFill>
              <a:srgbClr val="B8C5D9"/>
            </a:solidFill>
            <a:prstDash val="solid"/>
          </a:ln>
        </p:spPr>
      </p:sp>
      <p:sp>
        <p:nvSpPr>
          <p:cNvPr id="88" name="Text 86"/>
          <p:cNvSpPr/>
          <p:nvPr/>
        </p:nvSpPr>
        <p:spPr>
          <a:xfrm>
            <a:off x="4379976"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89" name="Shape 87"/>
          <p:cNvSpPr/>
          <p:nvPr/>
        </p:nvSpPr>
        <p:spPr>
          <a:xfrm>
            <a:off x="4672584" y="2167128"/>
            <a:ext cx="292608" cy="320040"/>
          </a:xfrm>
          <a:prstGeom prst="rect">
            <a:avLst/>
          </a:prstGeom>
          <a:solidFill>
            <a:srgbClr val="C8992A"/>
          </a:solidFill>
          <a:ln w="12700">
            <a:solidFill>
              <a:srgbClr val="B8C5D9"/>
            </a:solidFill>
            <a:prstDash val="solid"/>
          </a:ln>
        </p:spPr>
      </p:sp>
      <p:sp>
        <p:nvSpPr>
          <p:cNvPr id="90" name="Text 88"/>
          <p:cNvSpPr/>
          <p:nvPr/>
        </p:nvSpPr>
        <p:spPr>
          <a:xfrm>
            <a:off x="4672584"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91" name="Shape 89"/>
          <p:cNvSpPr/>
          <p:nvPr/>
        </p:nvSpPr>
        <p:spPr>
          <a:xfrm>
            <a:off x="4965192" y="2167128"/>
            <a:ext cx="292608" cy="320040"/>
          </a:xfrm>
          <a:prstGeom prst="rect">
            <a:avLst/>
          </a:prstGeom>
          <a:solidFill>
            <a:srgbClr val="F0F4FA"/>
          </a:solidFill>
          <a:ln w="12700">
            <a:solidFill>
              <a:srgbClr val="B8C5D9"/>
            </a:solidFill>
            <a:prstDash val="solid"/>
          </a:ln>
        </p:spPr>
      </p:sp>
      <p:sp>
        <p:nvSpPr>
          <p:cNvPr id="92" name="Shape 90"/>
          <p:cNvSpPr/>
          <p:nvPr/>
        </p:nvSpPr>
        <p:spPr>
          <a:xfrm>
            <a:off x="5257800" y="2167128"/>
            <a:ext cx="292608" cy="320040"/>
          </a:xfrm>
          <a:prstGeom prst="rect">
            <a:avLst/>
          </a:prstGeom>
          <a:solidFill>
            <a:srgbClr val="C8992A"/>
          </a:solidFill>
          <a:ln w="12700">
            <a:solidFill>
              <a:srgbClr val="B8C5D9"/>
            </a:solidFill>
            <a:prstDash val="solid"/>
          </a:ln>
        </p:spPr>
      </p:sp>
      <p:sp>
        <p:nvSpPr>
          <p:cNvPr id="93" name="Text 91"/>
          <p:cNvSpPr/>
          <p:nvPr/>
        </p:nvSpPr>
        <p:spPr>
          <a:xfrm>
            <a:off x="5257800" y="216712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94" name="Shape 92"/>
          <p:cNvSpPr/>
          <p:nvPr/>
        </p:nvSpPr>
        <p:spPr>
          <a:xfrm>
            <a:off x="365760" y="2487168"/>
            <a:ext cx="475488" cy="320040"/>
          </a:xfrm>
          <a:prstGeom prst="rect">
            <a:avLst/>
          </a:prstGeom>
          <a:solidFill>
            <a:srgbClr val="1A6B7A"/>
          </a:solidFill>
          <a:ln w="12700">
            <a:solidFill>
              <a:srgbClr val="1A6B7A"/>
            </a:solidFill>
            <a:prstDash val="solid"/>
          </a:ln>
        </p:spPr>
      </p:sp>
      <p:sp>
        <p:nvSpPr>
          <p:cNvPr id="95" name="Text 93"/>
          <p:cNvSpPr/>
          <p:nvPr/>
        </p:nvSpPr>
        <p:spPr>
          <a:xfrm>
            <a:off x="365760" y="2487168"/>
            <a:ext cx="475488" cy="32004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S2:2</a:t>
            </a:r>
            <a:endParaRPr lang="en-US" sz="750" dirty="0"/>
          </a:p>
        </p:txBody>
      </p:sp>
      <p:sp>
        <p:nvSpPr>
          <p:cNvPr id="96" name="Shape 94"/>
          <p:cNvSpPr/>
          <p:nvPr/>
        </p:nvSpPr>
        <p:spPr>
          <a:xfrm>
            <a:off x="868680" y="2487168"/>
            <a:ext cx="292608" cy="320040"/>
          </a:xfrm>
          <a:prstGeom prst="rect">
            <a:avLst/>
          </a:prstGeom>
          <a:solidFill>
            <a:srgbClr val="C8992A"/>
          </a:solidFill>
          <a:ln w="12700">
            <a:solidFill>
              <a:srgbClr val="B8C5D9"/>
            </a:solidFill>
            <a:prstDash val="solid"/>
          </a:ln>
        </p:spPr>
      </p:sp>
      <p:sp>
        <p:nvSpPr>
          <p:cNvPr id="97" name="Text 95"/>
          <p:cNvSpPr/>
          <p:nvPr/>
        </p:nvSpPr>
        <p:spPr>
          <a:xfrm>
            <a:off x="868680"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98" name="Shape 96"/>
          <p:cNvSpPr/>
          <p:nvPr/>
        </p:nvSpPr>
        <p:spPr>
          <a:xfrm>
            <a:off x="1161288" y="2487168"/>
            <a:ext cx="292608" cy="320040"/>
          </a:xfrm>
          <a:prstGeom prst="rect">
            <a:avLst/>
          </a:prstGeom>
          <a:solidFill>
            <a:srgbClr val="C8992A"/>
          </a:solidFill>
          <a:ln w="12700">
            <a:solidFill>
              <a:srgbClr val="B8C5D9"/>
            </a:solidFill>
            <a:prstDash val="solid"/>
          </a:ln>
        </p:spPr>
      </p:sp>
      <p:sp>
        <p:nvSpPr>
          <p:cNvPr id="99" name="Text 97"/>
          <p:cNvSpPr/>
          <p:nvPr/>
        </p:nvSpPr>
        <p:spPr>
          <a:xfrm>
            <a:off x="1161288"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00" name="Shape 98"/>
          <p:cNvSpPr/>
          <p:nvPr/>
        </p:nvSpPr>
        <p:spPr>
          <a:xfrm>
            <a:off x="1453896" y="2487168"/>
            <a:ext cx="292608" cy="320040"/>
          </a:xfrm>
          <a:prstGeom prst="rect">
            <a:avLst/>
          </a:prstGeom>
          <a:solidFill>
            <a:srgbClr val="C8992A"/>
          </a:solidFill>
          <a:ln w="12700">
            <a:solidFill>
              <a:srgbClr val="B8C5D9"/>
            </a:solidFill>
            <a:prstDash val="solid"/>
          </a:ln>
        </p:spPr>
      </p:sp>
      <p:sp>
        <p:nvSpPr>
          <p:cNvPr id="101" name="Text 99"/>
          <p:cNvSpPr/>
          <p:nvPr/>
        </p:nvSpPr>
        <p:spPr>
          <a:xfrm>
            <a:off x="1453896"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02" name="Shape 100"/>
          <p:cNvSpPr/>
          <p:nvPr/>
        </p:nvSpPr>
        <p:spPr>
          <a:xfrm>
            <a:off x="1746504" y="2487168"/>
            <a:ext cx="292608" cy="320040"/>
          </a:xfrm>
          <a:prstGeom prst="rect">
            <a:avLst/>
          </a:prstGeom>
          <a:solidFill>
            <a:srgbClr val="F0F4FA"/>
          </a:solidFill>
          <a:ln w="12700">
            <a:solidFill>
              <a:srgbClr val="B8C5D9"/>
            </a:solidFill>
            <a:prstDash val="solid"/>
          </a:ln>
        </p:spPr>
      </p:sp>
      <p:sp>
        <p:nvSpPr>
          <p:cNvPr id="103" name="Shape 101"/>
          <p:cNvSpPr/>
          <p:nvPr/>
        </p:nvSpPr>
        <p:spPr>
          <a:xfrm>
            <a:off x="2039112" y="2487168"/>
            <a:ext cx="292608" cy="320040"/>
          </a:xfrm>
          <a:prstGeom prst="rect">
            <a:avLst/>
          </a:prstGeom>
          <a:solidFill>
            <a:srgbClr val="F0F4FA"/>
          </a:solidFill>
          <a:ln w="12700">
            <a:solidFill>
              <a:srgbClr val="B8C5D9"/>
            </a:solidFill>
            <a:prstDash val="solid"/>
          </a:ln>
        </p:spPr>
      </p:sp>
      <p:sp>
        <p:nvSpPr>
          <p:cNvPr id="104" name="Shape 102"/>
          <p:cNvSpPr/>
          <p:nvPr/>
        </p:nvSpPr>
        <p:spPr>
          <a:xfrm>
            <a:off x="2331720" y="2487168"/>
            <a:ext cx="292608" cy="320040"/>
          </a:xfrm>
          <a:prstGeom prst="rect">
            <a:avLst/>
          </a:prstGeom>
          <a:solidFill>
            <a:srgbClr val="F0F4FA"/>
          </a:solidFill>
          <a:ln w="12700">
            <a:solidFill>
              <a:srgbClr val="B8C5D9"/>
            </a:solidFill>
            <a:prstDash val="solid"/>
          </a:ln>
        </p:spPr>
      </p:sp>
      <p:sp>
        <p:nvSpPr>
          <p:cNvPr id="105" name="Shape 103"/>
          <p:cNvSpPr/>
          <p:nvPr/>
        </p:nvSpPr>
        <p:spPr>
          <a:xfrm>
            <a:off x="2624328" y="2487168"/>
            <a:ext cx="292608" cy="320040"/>
          </a:xfrm>
          <a:prstGeom prst="rect">
            <a:avLst/>
          </a:prstGeom>
          <a:solidFill>
            <a:srgbClr val="C8992A"/>
          </a:solidFill>
          <a:ln w="12700">
            <a:solidFill>
              <a:srgbClr val="B8C5D9"/>
            </a:solidFill>
            <a:prstDash val="solid"/>
          </a:ln>
        </p:spPr>
      </p:sp>
      <p:sp>
        <p:nvSpPr>
          <p:cNvPr id="106" name="Text 104"/>
          <p:cNvSpPr/>
          <p:nvPr/>
        </p:nvSpPr>
        <p:spPr>
          <a:xfrm>
            <a:off x="2624328"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07" name="Shape 105"/>
          <p:cNvSpPr/>
          <p:nvPr/>
        </p:nvSpPr>
        <p:spPr>
          <a:xfrm>
            <a:off x="2916936" y="2487168"/>
            <a:ext cx="292608" cy="320040"/>
          </a:xfrm>
          <a:prstGeom prst="rect">
            <a:avLst/>
          </a:prstGeom>
          <a:solidFill>
            <a:srgbClr val="C8992A"/>
          </a:solidFill>
          <a:ln w="12700">
            <a:solidFill>
              <a:srgbClr val="B8C5D9"/>
            </a:solidFill>
            <a:prstDash val="solid"/>
          </a:ln>
        </p:spPr>
      </p:sp>
      <p:sp>
        <p:nvSpPr>
          <p:cNvPr id="108" name="Text 106"/>
          <p:cNvSpPr/>
          <p:nvPr/>
        </p:nvSpPr>
        <p:spPr>
          <a:xfrm>
            <a:off x="2916936"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09" name="Shape 107"/>
          <p:cNvSpPr/>
          <p:nvPr/>
        </p:nvSpPr>
        <p:spPr>
          <a:xfrm>
            <a:off x="3209544" y="2487168"/>
            <a:ext cx="292608" cy="320040"/>
          </a:xfrm>
          <a:prstGeom prst="rect">
            <a:avLst/>
          </a:prstGeom>
          <a:solidFill>
            <a:srgbClr val="C8992A"/>
          </a:solidFill>
          <a:ln w="12700">
            <a:solidFill>
              <a:srgbClr val="B8C5D9"/>
            </a:solidFill>
            <a:prstDash val="solid"/>
          </a:ln>
        </p:spPr>
      </p:sp>
      <p:sp>
        <p:nvSpPr>
          <p:cNvPr id="110" name="Text 108"/>
          <p:cNvSpPr/>
          <p:nvPr/>
        </p:nvSpPr>
        <p:spPr>
          <a:xfrm>
            <a:off x="3209544"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11" name="Shape 109"/>
          <p:cNvSpPr/>
          <p:nvPr/>
        </p:nvSpPr>
        <p:spPr>
          <a:xfrm>
            <a:off x="3502152" y="2487168"/>
            <a:ext cx="292608" cy="320040"/>
          </a:xfrm>
          <a:prstGeom prst="rect">
            <a:avLst/>
          </a:prstGeom>
          <a:solidFill>
            <a:srgbClr val="F0F4FA"/>
          </a:solidFill>
          <a:ln w="12700">
            <a:solidFill>
              <a:srgbClr val="B8C5D9"/>
            </a:solidFill>
            <a:prstDash val="solid"/>
          </a:ln>
        </p:spPr>
      </p:sp>
      <p:sp>
        <p:nvSpPr>
          <p:cNvPr id="112" name="Shape 110"/>
          <p:cNvSpPr/>
          <p:nvPr/>
        </p:nvSpPr>
        <p:spPr>
          <a:xfrm>
            <a:off x="3794760" y="2487168"/>
            <a:ext cx="292608" cy="320040"/>
          </a:xfrm>
          <a:prstGeom prst="rect">
            <a:avLst/>
          </a:prstGeom>
          <a:solidFill>
            <a:srgbClr val="F0F4FA"/>
          </a:solidFill>
          <a:ln w="12700">
            <a:solidFill>
              <a:srgbClr val="B8C5D9"/>
            </a:solidFill>
            <a:prstDash val="solid"/>
          </a:ln>
        </p:spPr>
      </p:sp>
      <p:sp>
        <p:nvSpPr>
          <p:cNvPr id="113" name="Shape 111"/>
          <p:cNvSpPr/>
          <p:nvPr/>
        </p:nvSpPr>
        <p:spPr>
          <a:xfrm>
            <a:off x="4087368" y="2487168"/>
            <a:ext cx="292608" cy="320040"/>
          </a:xfrm>
          <a:prstGeom prst="rect">
            <a:avLst/>
          </a:prstGeom>
          <a:solidFill>
            <a:srgbClr val="C8992A"/>
          </a:solidFill>
          <a:ln w="12700">
            <a:solidFill>
              <a:srgbClr val="B8C5D9"/>
            </a:solidFill>
            <a:prstDash val="solid"/>
          </a:ln>
        </p:spPr>
      </p:sp>
      <p:sp>
        <p:nvSpPr>
          <p:cNvPr id="114" name="Text 112"/>
          <p:cNvSpPr/>
          <p:nvPr/>
        </p:nvSpPr>
        <p:spPr>
          <a:xfrm>
            <a:off x="4087368"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15" name="Shape 113"/>
          <p:cNvSpPr/>
          <p:nvPr/>
        </p:nvSpPr>
        <p:spPr>
          <a:xfrm>
            <a:off x="4379976" y="2487168"/>
            <a:ext cx="292608" cy="320040"/>
          </a:xfrm>
          <a:prstGeom prst="rect">
            <a:avLst/>
          </a:prstGeom>
          <a:solidFill>
            <a:srgbClr val="F0F4FA"/>
          </a:solidFill>
          <a:ln w="12700">
            <a:solidFill>
              <a:srgbClr val="B8C5D9"/>
            </a:solidFill>
            <a:prstDash val="solid"/>
          </a:ln>
        </p:spPr>
      </p:sp>
      <p:sp>
        <p:nvSpPr>
          <p:cNvPr id="116" name="Shape 114"/>
          <p:cNvSpPr/>
          <p:nvPr/>
        </p:nvSpPr>
        <p:spPr>
          <a:xfrm>
            <a:off x="4672584" y="2487168"/>
            <a:ext cx="292608" cy="320040"/>
          </a:xfrm>
          <a:prstGeom prst="rect">
            <a:avLst/>
          </a:prstGeom>
          <a:solidFill>
            <a:srgbClr val="C8992A"/>
          </a:solidFill>
          <a:ln w="12700">
            <a:solidFill>
              <a:srgbClr val="B8C5D9"/>
            </a:solidFill>
            <a:prstDash val="solid"/>
          </a:ln>
        </p:spPr>
      </p:sp>
      <p:sp>
        <p:nvSpPr>
          <p:cNvPr id="117" name="Text 115"/>
          <p:cNvSpPr/>
          <p:nvPr/>
        </p:nvSpPr>
        <p:spPr>
          <a:xfrm>
            <a:off x="4672584"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18" name="Shape 116"/>
          <p:cNvSpPr/>
          <p:nvPr/>
        </p:nvSpPr>
        <p:spPr>
          <a:xfrm>
            <a:off x="4965192" y="2487168"/>
            <a:ext cx="292608" cy="320040"/>
          </a:xfrm>
          <a:prstGeom prst="rect">
            <a:avLst/>
          </a:prstGeom>
          <a:solidFill>
            <a:srgbClr val="C8992A"/>
          </a:solidFill>
          <a:ln w="12700">
            <a:solidFill>
              <a:srgbClr val="B8C5D9"/>
            </a:solidFill>
            <a:prstDash val="solid"/>
          </a:ln>
        </p:spPr>
      </p:sp>
      <p:sp>
        <p:nvSpPr>
          <p:cNvPr id="119" name="Text 117"/>
          <p:cNvSpPr/>
          <p:nvPr/>
        </p:nvSpPr>
        <p:spPr>
          <a:xfrm>
            <a:off x="4965192"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20" name="Shape 118"/>
          <p:cNvSpPr/>
          <p:nvPr/>
        </p:nvSpPr>
        <p:spPr>
          <a:xfrm>
            <a:off x="5257800" y="2487168"/>
            <a:ext cx="292608" cy="320040"/>
          </a:xfrm>
          <a:prstGeom prst="rect">
            <a:avLst/>
          </a:prstGeom>
          <a:solidFill>
            <a:srgbClr val="C8992A"/>
          </a:solidFill>
          <a:ln w="12700">
            <a:solidFill>
              <a:srgbClr val="B8C5D9"/>
            </a:solidFill>
            <a:prstDash val="solid"/>
          </a:ln>
        </p:spPr>
      </p:sp>
      <p:sp>
        <p:nvSpPr>
          <p:cNvPr id="121" name="Text 119"/>
          <p:cNvSpPr/>
          <p:nvPr/>
        </p:nvSpPr>
        <p:spPr>
          <a:xfrm>
            <a:off x="5257800" y="248716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22" name="Shape 120"/>
          <p:cNvSpPr/>
          <p:nvPr/>
        </p:nvSpPr>
        <p:spPr>
          <a:xfrm>
            <a:off x="365760" y="2807208"/>
            <a:ext cx="475488" cy="320040"/>
          </a:xfrm>
          <a:prstGeom prst="rect">
            <a:avLst/>
          </a:prstGeom>
          <a:solidFill>
            <a:srgbClr val="1A6B7A"/>
          </a:solidFill>
          <a:ln w="12700">
            <a:solidFill>
              <a:srgbClr val="1A6B7A"/>
            </a:solidFill>
            <a:prstDash val="solid"/>
          </a:ln>
        </p:spPr>
      </p:sp>
      <p:sp>
        <p:nvSpPr>
          <p:cNvPr id="123" name="Text 121"/>
          <p:cNvSpPr/>
          <p:nvPr/>
        </p:nvSpPr>
        <p:spPr>
          <a:xfrm>
            <a:off x="365760" y="2807208"/>
            <a:ext cx="475488" cy="32004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S2:3</a:t>
            </a:r>
            <a:endParaRPr lang="en-US" sz="750" dirty="0"/>
          </a:p>
        </p:txBody>
      </p:sp>
      <p:sp>
        <p:nvSpPr>
          <p:cNvPr id="124" name="Shape 122"/>
          <p:cNvSpPr/>
          <p:nvPr/>
        </p:nvSpPr>
        <p:spPr>
          <a:xfrm>
            <a:off x="868680" y="2807208"/>
            <a:ext cx="292608" cy="320040"/>
          </a:xfrm>
          <a:prstGeom prst="rect">
            <a:avLst/>
          </a:prstGeom>
          <a:solidFill>
            <a:srgbClr val="F0F4FA"/>
          </a:solidFill>
          <a:ln w="12700">
            <a:solidFill>
              <a:srgbClr val="B8C5D9"/>
            </a:solidFill>
            <a:prstDash val="solid"/>
          </a:ln>
        </p:spPr>
      </p:sp>
      <p:sp>
        <p:nvSpPr>
          <p:cNvPr id="125" name="Shape 123"/>
          <p:cNvSpPr/>
          <p:nvPr/>
        </p:nvSpPr>
        <p:spPr>
          <a:xfrm>
            <a:off x="1161288" y="2807208"/>
            <a:ext cx="292608" cy="320040"/>
          </a:xfrm>
          <a:prstGeom prst="rect">
            <a:avLst/>
          </a:prstGeom>
          <a:solidFill>
            <a:srgbClr val="C8992A"/>
          </a:solidFill>
          <a:ln w="12700">
            <a:solidFill>
              <a:srgbClr val="B8C5D9"/>
            </a:solidFill>
            <a:prstDash val="solid"/>
          </a:ln>
        </p:spPr>
      </p:sp>
      <p:sp>
        <p:nvSpPr>
          <p:cNvPr id="126" name="Text 124"/>
          <p:cNvSpPr/>
          <p:nvPr/>
        </p:nvSpPr>
        <p:spPr>
          <a:xfrm>
            <a:off x="1161288"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27" name="Shape 125"/>
          <p:cNvSpPr/>
          <p:nvPr/>
        </p:nvSpPr>
        <p:spPr>
          <a:xfrm>
            <a:off x="1453896" y="2807208"/>
            <a:ext cx="292608" cy="320040"/>
          </a:xfrm>
          <a:prstGeom prst="rect">
            <a:avLst/>
          </a:prstGeom>
          <a:solidFill>
            <a:srgbClr val="C8992A"/>
          </a:solidFill>
          <a:ln w="12700">
            <a:solidFill>
              <a:srgbClr val="B8C5D9"/>
            </a:solidFill>
            <a:prstDash val="solid"/>
          </a:ln>
        </p:spPr>
      </p:sp>
      <p:sp>
        <p:nvSpPr>
          <p:cNvPr id="128" name="Text 126"/>
          <p:cNvSpPr/>
          <p:nvPr/>
        </p:nvSpPr>
        <p:spPr>
          <a:xfrm>
            <a:off x="1453896"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29" name="Shape 127"/>
          <p:cNvSpPr/>
          <p:nvPr/>
        </p:nvSpPr>
        <p:spPr>
          <a:xfrm>
            <a:off x="1746504" y="2807208"/>
            <a:ext cx="292608" cy="320040"/>
          </a:xfrm>
          <a:prstGeom prst="rect">
            <a:avLst/>
          </a:prstGeom>
          <a:solidFill>
            <a:srgbClr val="C8992A"/>
          </a:solidFill>
          <a:ln w="12700">
            <a:solidFill>
              <a:srgbClr val="B8C5D9"/>
            </a:solidFill>
            <a:prstDash val="solid"/>
          </a:ln>
        </p:spPr>
      </p:sp>
      <p:sp>
        <p:nvSpPr>
          <p:cNvPr id="130" name="Text 128"/>
          <p:cNvSpPr/>
          <p:nvPr/>
        </p:nvSpPr>
        <p:spPr>
          <a:xfrm>
            <a:off x="1746504"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31" name="Shape 129"/>
          <p:cNvSpPr/>
          <p:nvPr/>
        </p:nvSpPr>
        <p:spPr>
          <a:xfrm>
            <a:off x="2039112" y="2807208"/>
            <a:ext cx="292608" cy="320040"/>
          </a:xfrm>
          <a:prstGeom prst="rect">
            <a:avLst/>
          </a:prstGeom>
          <a:solidFill>
            <a:srgbClr val="F0F4FA"/>
          </a:solidFill>
          <a:ln w="12700">
            <a:solidFill>
              <a:srgbClr val="B8C5D9"/>
            </a:solidFill>
            <a:prstDash val="solid"/>
          </a:ln>
        </p:spPr>
      </p:sp>
      <p:sp>
        <p:nvSpPr>
          <p:cNvPr id="132" name="Shape 130"/>
          <p:cNvSpPr/>
          <p:nvPr/>
        </p:nvSpPr>
        <p:spPr>
          <a:xfrm>
            <a:off x="2331720" y="2807208"/>
            <a:ext cx="292608" cy="320040"/>
          </a:xfrm>
          <a:prstGeom prst="rect">
            <a:avLst/>
          </a:prstGeom>
          <a:solidFill>
            <a:srgbClr val="F0F4FA"/>
          </a:solidFill>
          <a:ln w="12700">
            <a:solidFill>
              <a:srgbClr val="B8C5D9"/>
            </a:solidFill>
            <a:prstDash val="solid"/>
          </a:ln>
        </p:spPr>
      </p:sp>
      <p:sp>
        <p:nvSpPr>
          <p:cNvPr id="133" name="Shape 131"/>
          <p:cNvSpPr/>
          <p:nvPr/>
        </p:nvSpPr>
        <p:spPr>
          <a:xfrm>
            <a:off x="2624328" y="2807208"/>
            <a:ext cx="292608" cy="320040"/>
          </a:xfrm>
          <a:prstGeom prst="rect">
            <a:avLst/>
          </a:prstGeom>
          <a:solidFill>
            <a:srgbClr val="C8992A"/>
          </a:solidFill>
          <a:ln w="12700">
            <a:solidFill>
              <a:srgbClr val="B8C5D9"/>
            </a:solidFill>
            <a:prstDash val="solid"/>
          </a:ln>
        </p:spPr>
      </p:sp>
      <p:sp>
        <p:nvSpPr>
          <p:cNvPr id="134" name="Text 132"/>
          <p:cNvSpPr/>
          <p:nvPr/>
        </p:nvSpPr>
        <p:spPr>
          <a:xfrm>
            <a:off x="2624328"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35" name="Shape 133"/>
          <p:cNvSpPr/>
          <p:nvPr/>
        </p:nvSpPr>
        <p:spPr>
          <a:xfrm>
            <a:off x="2916936" y="2807208"/>
            <a:ext cx="292608" cy="320040"/>
          </a:xfrm>
          <a:prstGeom prst="rect">
            <a:avLst/>
          </a:prstGeom>
          <a:solidFill>
            <a:srgbClr val="C8992A"/>
          </a:solidFill>
          <a:ln w="12700">
            <a:solidFill>
              <a:srgbClr val="B8C5D9"/>
            </a:solidFill>
            <a:prstDash val="solid"/>
          </a:ln>
        </p:spPr>
      </p:sp>
      <p:sp>
        <p:nvSpPr>
          <p:cNvPr id="136" name="Text 134"/>
          <p:cNvSpPr/>
          <p:nvPr/>
        </p:nvSpPr>
        <p:spPr>
          <a:xfrm>
            <a:off x="2916936"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37" name="Shape 135"/>
          <p:cNvSpPr/>
          <p:nvPr/>
        </p:nvSpPr>
        <p:spPr>
          <a:xfrm>
            <a:off x="3209544" y="2807208"/>
            <a:ext cx="292608" cy="320040"/>
          </a:xfrm>
          <a:prstGeom prst="rect">
            <a:avLst/>
          </a:prstGeom>
          <a:solidFill>
            <a:srgbClr val="C8992A"/>
          </a:solidFill>
          <a:ln w="12700">
            <a:solidFill>
              <a:srgbClr val="B8C5D9"/>
            </a:solidFill>
            <a:prstDash val="solid"/>
          </a:ln>
        </p:spPr>
      </p:sp>
      <p:sp>
        <p:nvSpPr>
          <p:cNvPr id="138" name="Text 136"/>
          <p:cNvSpPr/>
          <p:nvPr/>
        </p:nvSpPr>
        <p:spPr>
          <a:xfrm>
            <a:off x="3209544"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39" name="Shape 137"/>
          <p:cNvSpPr/>
          <p:nvPr/>
        </p:nvSpPr>
        <p:spPr>
          <a:xfrm>
            <a:off x="3502152" y="2807208"/>
            <a:ext cx="292608" cy="320040"/>
          </a:xfrm>
          <a:prstGeom prst="rect">
            <a:avLst/>
          </a:prstGeom>
          <a:solidFill>
            <a:srgbClr val="C8992A"/>
          </a:solidFill>
          <a:ln w="12700">
            <a:solidFill>
              <a:srgbClr val="B8C5D9"/>
            </a:solidFill>
            <a:prstDash val="solid"/>
          </a:ln>
        </p:spPr>
      </p:sp>
      <p:sp>
        <p:nvSpPr>
          <p:cNvPr id="140" name="Text 138"/>
          <p:cNvSpPr/>
          <p:nvPr/>
        </p:nvSpPr>
        <p:spPr>
          <a:xfrm>
            <a:off x="3502152"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41" name="Shape 139"/>
          <p:cNvSpPr/>
          <p:nvPr/>
        </p:nvSpPr>
        <p:spPr>
          <a:xfrm>
            <a:off x="3794760" y="2807208"/>
            <a:ext cx="292608" cy="320040"/>
          </a:xfrm>
          <a:prstGeom prst="rect">
            <a:avLst/>
          </a:prstGeom>
          <a:solidFill>
            <a:srgbClr val="F0F4FA"/>
          </a:solidFill>
          <a:ln w="12700">
            <a:solidFill>
              <a:srgbClr val="B8C5D9"/>
            </a:solidFill>
            <a:prstDash val="solid"/>
          </a:ln>
        </p:spPr>
      </p:sp>
      <p:sp>
        <p:nvSpPr>
          <p:cNvPr id="142" name="Shape 140"/>
          <p:cNvSpPr/>
          <p:nvPr/>
        </p:nvSpPr>
        <p:spPr>
          <a:xfrm>
            <a:off x="4087368" y="2807208"/>
            <a:ext cx="292608" cy="320040"/>
          </a:xfrm>
          <a:prstGeom prst="rect">
            <a:avLst/>
          </a:prstGeom>
          <a:solidFill>
            <a:srgbClr val="F0F4FA"/>
          </a:solidFill>
          <a:ln w="12700">
            <a:solidFill>
              <a:srgbClr val="B8C5D9"/>
            </a:solidFill>
            <a:prstDash val="solid"/>
          </a:ln>
        </p:spPr>
      </p:sp>
      <p:sp>
        <p:nvSpPr>
          <p:cNvPr id="143" name="Shape 141"/>
          <p:cNvSpPr/>
          <p:nvPr/>
        </p:nvSpPr>
        <p:spPr>
          <a:xfrm>
            <a:off x="4379976" y="2807208"/>
            <a:ext cx="292608" cy="320040"/>
          </a:xfrm>
          <a:prstGeom prst="rect">
            <a:avLst/>
          </a:prstGeom>
          <a:solidFill>
            <a:srgbClr val="C8992A"/>
          </a:solidFill>
          <a:ln w="12700">
            <a:solidFill>
              <a:srgbClr val="B8C5D9"/>
            </a:solidFill>
            <a:prstDash val="solid"/>
          </a:ln>
        </p:spPr>
      </p:sp>
      <p:sp>
        <p:nvSpPr>
          <p:cNvPr id="144" name="Text 142"/>
          <p:cNvSpPr/>
          <p:nvPr/>
        </p:nvSpPr>
        <p:spPr>
          <a:xfrm>
            <a:off x="4379976"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45" name="Shape 143"/>
          <p:cNvSpPr/>
          <p:nvPr/>
        </p:nvSpPr>
        <p:spPr>
          <a:xfrm>
            <a:off x="4672584" y="2807208"/>
            <a:ext cx="292608" cy="320040"/>
          </a:xfrm>
          <a:prstGeom prst="rect">
            <a:avLst/>
          </a:prstGeom>
          <a:solidFill>
            <a:srgbClr val="F0F4FA"/>
          </a:solidFill>
          <a:ln w="12700">
            <a:solidFill>
              <a:srgbClr val="B8C5D9"/>
            </a:solidFill>
            <a:prstDash val="solid"/>
          </a:ln>
        </p:spPr>
      </p:sp>
      <p:sp>
        <p:nvSpPr>
          <p:cNvPr id="146" name="Shape 144"/>
          <p:cNvSpPr/>
          <p:nvPr/>
        </p:nvSpPr>
        <p:spPr>
          <a:xfrm>
            <a:off x="4965192" y="2807208"/>
            <a:ext cx="292608" cy="320040"/>
          </a:xfrm>
          <a:prstGeom prst="rect">
            <a:avLst/>
          </a:prstGeom>
          <a:solidFill>
            <a:srgbClr val="C8992A"/>
          </a:solidFill>
          <a:ln w="12700">
            <a:solidFill>
              <a:srgbClr val="B8C5D9"/>
            </a:solidFill>
            <a:prstDash val="solid"/>
          </a:ln>
        </p:spPr>
      </p:sp>
      <p:sp>
        <p:nvSpPr>
          <p:cNvPr id="147" name="Text 145"/>
          <p:cNvSpPr/>
          <p:nvPr/>
        </p:nvSpPr>
        <p:spPr>
          <a:xfrm>
            <a:off x="4965192"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48" name="Shape 146"/>
          <p:cNvSpPr/>
          <p:nvPr/>
        </p:nvSpPr>
        <p:spPr>
          <a:xfrm>
            <a:off x="5257800" y="2807208"/>
            <a:ext cx="292608" cy="320040"/>
          </a:xfrm>
          <a:prstGeom prst="rect">
            <a:avLst/>
          </a:prstGeom>
          <a:solidFill>
            <a:srgbClr val="C8992A"/>
          </a:solidFill>
          <a:ln w="12700">
            <a:solidFill>
              <a:srgbClr val="B8C5D9"/>
            </a:solidFill>
            <a:prstDash val="solid"/>
          </a:ln>
        </p:spPr>
      </p:sp>
      <p:sp>
        <p:nvSpPr>
          <p:cNvPr id="149" name="Text 147"/>
          <p:cNvSpPr/>
          <p:nvPr/>
        </p:nvSpPr>
        <p:spPr>
          <a:xfrm>
            <a:off x="5257800" y="280720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50" name="Shape 148"/>
          <p:cNvSpPr/>
          <p:nvPr/>
        </p:nvSpPr>
        <p:spPr>
          <a:xfrm>
            <a:off x="365760" y="3127248"/>
            <a:ext cx="475488" cy="320040"/>
          </a:xfrm>
          <a:prstGeom prst="rect">
            <a:avLst/>
          </a:prstGeom>
          <a:solidFill>
            <a:srgbClr val="1A6B7A"/>
          </a:solidFill>
          <a:ln w="12700">
            <a:solidFill>
              <a:srgbClr val="1A6B7A"/>
            </a:solidFill>
            <a:prstDash val="solid"/>
          </a:ln>
        </p:spPr>
      </p:sp>
      <p:sp>
        <p:nvSpPr>
          <p:cNvPr id="151" name="Text 149"/>
          <p:cNvSpPr/>
          <p:nvPr/>
        </p:nvSpPr>
        <p:spPr>
          <a:xfrm>
            <a:off x="365760" y="3127248"/>
            <a:ext cx="475488" cy="32004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S2:4</a:t>
            </a:r>
            <a:endParaRPr lang="en-US" sz="750" dirty="0"/>
          </a:p>
        </p:txBody>
      </p:sp>
      <p:sp>
        <p:nvSpPr>
          <p:cNvPr id="152" name="Shape 150"/>
          <p:cNvSpPr/>
          <p:nvPr/>
        </p:nvSpPr>
        <p:spPr>
          <a:xfrm>
            <a:off x="868680" y="3127248"/>
            <a:ext cx="292608" cy="320040"/>
          </a:xfrm>
          <a:prstGeom prst="rect">
            <a:avLst/>
          </a:prstGeom>
          <a:solidFill>
            <a:srgbClr val="F0F4FA"/>
          </a:solidFill>
          <a:ln w="12700">
            <a:solidFill>
              <a:srgbClr val="B8C5D9"/>
            </a:solidFill>
            <a:prstDash val="solid"/>
          </a:ln>
        </p:spPr>
      </p:sp>
      <p:sp>
        <p:nvSpPr>
          <p:cNvPr id="153" name="Shape 151"/>
          <p:cNvSpPr/>
          <p:nvPr/>
        </p:nvSpPr>
        <p:spPr>
          <a:xfrm>
            <a:off x="1161288" y="3127248"/>
            <a:ext cx="292608" cy="320040"/>
          </a:xfrm>
          <a:prstGeom prst="rect">
            <a:avLst/>
          </a:prstGeom>
          <a:solidFill>
            <a:srgbClr val="F0F4FA"/>
          </a:solidFill>
          <a:ln w="12700">
            <a:solidFill>
              <a:srgbClr val="B8C5D9"/>
            </a:solidFill>
            <a:prstDash val="solid"/>
          </a:ln>
        </p:spPr>
      </p:sp>
      <p:sp>
        <p:nvSpPr>
          <p:cNvPr id="154" name="Shape 152"/>
          <p:cNvSpPr/>
          <p:nvPr/>
        </p:nvSpPr>
        <p:spPr>
          <a:xfrm>
            <a:off x="1453896" y="3127248"/>
            <a:ext cx="292608" cy="320040"/>
          </a:xfrm>
          <a:prstGeom prst="rect">
            <a:avLst/>
          </a:prstGeom>
          <a:solidFill>
            <a:srgbClr val="C8992A"/>
          </a:solidFill>
          <a:ln w="12700">
            <a:solidFill>
              <a:srgbClr val="B8C5D9"/>
            </a:solidFill>
            <a:prstDash val="solid"/>
          </a:ln>
        </p:spPr>
      </p:sp>
      <p:sp>
        <p:nvSpPr>
          <p:cNvPr id="155" name="Text 153"/>
          <p:cNvSpPr/>
          <p:nvPr/>
        </p:nvSpPr>
        <p:spPr>
          <a:xfrm>
            <a:off x="1453896"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56" name="Shape 154"/>
          <p:cNvSpPr/>
          <p:nvPr/>
        </p:nvSpPr>
        <p:spPr>
          <a:xfrm>
            <a:off x="1746504" y="3127248"/>
            <a:ext cx="292608" cy="320040"/>
          </a:xfrm>
          <a:prstGeom prst="rect">
            <a:avLst/>
          </a:prstGeom>
          <a:solidFill>
            <a:srgbClr val="C8992A"/>
          </a:solidFill>
          <a:ln w="12700">
            <a:solidFill>
              <a:srgbClr val="B8C5D9"/>
            </a:solidFill>
            <a:prstDash val="solid"/>
          </a:ln>
        </p:spPr>
      </p:sp>
      <p:sp>
        <p:nvSpPr>
          <p:cNvPr id="157" name="Text 155"/>
          <p:cNvSpPr/>
          <p:nvPr/>
        </p:nvSpPr>
        <p:spPr>
          <a:xfrm>
            <a:off x="1746504"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58" name="Shape 156"/>
          <p:cNvSpPr/>
          <p:nvPr/>
        </p:nvSpPr>
        <p:spPr>
          <a:xfrm>
            <a:off x="2039112" y="3127248"/>
            <a:ext cx="292608" cy="320040"/>
          </a:xfrm>
          <a:prstGeom prst="rect">
            <a:avLst/>
          </a:prstGeom>
          <a:solidFill>
            <a:srgbClr val="C8992A"/>
          </a:solidFill>
          <a:ln w="12700">
            <a:solidFill>
              <a:srgbClr val="B8C5D9"/>
            </a:solidFill>
            <a:prstDash val="solid"/>
          </a:ln>
        </p:spPr>
      </p:sp>
      <p:sp>
        <p:nvSpPr>
          <p:cNvPr id="159" name="Text 157"/>
          <p:cNvSpPr/>
          <p:nvPr/>
        </p:nvSpPr>
        <p:spPr>
          <a:xfrm>
            <a:off x="2039112"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60" name="Shape 158"/>
          <p:cNvSpPr/>
          <p:nvPr/>
        </p:nvSpPr>
        <p:spPr>
          <a:xfrm>
            <a:off x="2331720" y="3127248"/>
            <a:ext cx="292608" cy="320040"/>
          </a:xfrm>
          <a:prstGeom prst="rect">
            <a:avLst/>
          </a:prstGeom>
          <a:solidFill>
            <a:srgbClr val="F0F4FA"/>
          </a:solidFill>
          <a:ln w="12700">
            <a:solidFill>
              <a:srgbClr val="B8C5D9"/>
            </a:solidFill>
            <a:prstDash val="solid"/>
          </a:ln>
        </p:spPr>
      </p:sp>
      <p:sp>
        <p:nvSpPr>
          <p:cNvPr id="161" name="Shape 159"/>
          <p:cNvSpPr/>
          <p:nvPr/>
        </p:nvSpPr>
        <p:spPr>
          <a:xfrm>
            <a:off x="2624328" y="3127248"/>
            <a:ext cx="292608" cy="320040"/>
          </a:xfrm>
          <a:prstGeom prst="rect">
            <a:avLst/>
          </a:prstGeom>
          <a:solidFill>
            <a:srgbClr val="F0F4FA"/>
          </a:solidFill>
          <a:ln w="12700">
            <a:solidFill>
              <a:srgbClr val="B8C5D9"/>
            </a:solidFill>
            <a:prstDash val="solid"/>
          </a:ln>
        </p:spPr>
      </p:sp>
      <p:sp>
        <p:nvSpPr>
          <p:cNvPr id="162" name="Shape 160"/>
          <p:cNvSpPr/>
          <p:nvPr/>
        </p:nvSpPr>
        <p:spPr>
          <a:xfrm>
            <a:off x="2916936" y="3127248"/>
            <a:ext cx="292608" cy="320040"/>
          </a:xfrm>
          <a:prstGeom prst="rect">
            <a:avLst/>
          </a:prstGeom>
          <a:solidFill>
            <a:srgbClr val="C8992A"/>
          </a:solidFill>
          <a:ln w="12700">
            <a:solidFill>
              <a:srgbClr val="B8C5D9"/>
            </a:solidFill>
            <a:prstDash val="solid"/>
          </a:ln>
        </p:spPr>
      </p:sp>
      <p:sp>
        <p:nvSpPr>
          <p:cNvPr id="163" name="Text 161"/>
          <p:cNvSpPr/>
          <p:nvPr/>
        </p:nvSpPr>
        <p:spPr>
          <a:xfrm>
            <a:off x="2916936"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64" name="Shape 162"/>
          <p:cNvSpPr/>
          <p:nvPr/>
        </p:nvSpPr>
        <p:spPr>
          <a:xfrm>
            <a:off x="3209544" y="3127248"/>
            <a:ext cx="292608" cy="320040"/>
          </a:xfrm>
          <a:prstGeom prst="rect">
            <a:avLst/>
          </a:prstGeom>
          <a:solidFill>
            <a:srgbClr val="C8992A"/>
          </a:solidFill>
          <a:ln w="12700">
            <a:solidFill>
              <a:srgbClr val="B8C5D9"/>
            </a:solidFill>
            <a:prstDash val="solid"/>
          </a:ln>
        </p:spPr>
      </p:sp>
      <p:sp>
        <p:nvSpPr>
          <p:cNvPr id="165" name="Text 163"/>
          <p:cNvSpPr/>
          <p:nvPr/>
        </p:nvSpPr>
        <p:spPr>
          <a:xfrm>
            <a:off x="3209544"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66" name="Shape 164"/>
          <p:cNvSpPr/>
          <p:nvPr/>
        </p:nvSpPr>
        <p:spPr>
          <a:xfrm>
            <a:off x="3502152" y="3127248"/>
            <a:ext cx="292608" cy="320040"/>
          </a:xfrm>
          <a:prstGeom prst="rect">
            <a:avLst/>
          </a:prstGeom>
          <a:solidFill>
            <a:srgbClr val="C8992A"/>
          </a:solidFill>
          <a:ln w="12700">
            <a:solidFill>
              <a:srgbClr val="B8C5D9"/>
            </a:solidFill>
            <a:prstDash val="solid"/>
          </a:ln>
        </p:spPr>
      </p:sp>
      <p:sp>
        <p:nvSpPr>
          <p:cNvPr id="167" name="Text 165"/>
          <p:cNvSpPr/>
          <p:nvPr/>
        </p:nvSpPr>
        <p:spPr>
          <a:xfrm>
            <a:off x="3502152"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68" name="Shape 166"/>
          <p:cNvSpPr/>
          <p:nvPr/>
        </p:nvSpPr>
        <p:spPr>
          <a:xfrm>
            <a:off x="3794760" y="3127248"/>
            <a:ext cx="292608" cy="320040"/>
          </a:xfrm>
          <a:prstGeom prst="rect">
            <a:avLst/>
          </a:prstGeom>
          <a:solidFill>
            <a:srgbClr val="C8992A"/>
          </a:solidFill>
          <a:ln w="12700">
            <a:solidFill>
              <a:srgbClr val="B8C5D9"/>
            </a:solidFill>
            <a:prstDash val="solid"/>
          </a:ln>
        </p:spPr>
      </p:sp>
      <p:sp>
        <p:nvSpPr>
          <p:cNvPr id="169" name="Text 167"/>
          <p:cNvSpPr/>
          <p:nvPr/>
        </p:nvSpPr>
        <p:spPr>
          <a:xfrm>
            <a:off x="3794760"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70" name="Shape 168"/>
          <p:cNvSpPr/>
          <p:nvPr/>
        </p:nvSpPr>
        <p:spPr>
          <a:xfrm>
            <a:off x="4087368" y="3127248"/>
            <a:ext cx="292608" cy="320040"/>
          </a:xfrm>
          <a:prstGeom prst="rect">
            <a:avLst/>
          </a:prstGeom>
          <a:solidFill>
            <a:srgbClr val="F0F4FA"/>
          </a:solidFill>
          <a:ln w="12700">
            <a:solidFill>
              <a:srgbClr val="B8C5D9"/>
            </a:solidFill>
            <a:prstDash val="solid"/>
          </a:ln>
        </p:spPr>
      </p:sp>
      <p:sp>
        <p:nvSpPr>
          <p:cNvPr id="171" name="Shape 169"/>
          <p:cNvSpPr/>
          <p:nvPr/>
        </p:nvSpPr>
        <p:spPr>
          <a:xfrm>
            <a:off x="4379976" y="3127248"/>
            <a:ext cx="292608" cy="320040"/>
          </a:xfrm>
          <a:prstGeom prst="rect">
            <a:avLst/>
          </a:prstGeom>
          <a:solidFill>
            <a:srgbClr val="C8992A"/>
          </a:solidFill>
          <a:ln w="12700">
            <a:solidFill>
              <a:srgbClr val="B8C5D9"/>
            </a:solidFill>
            <a:prstDash val="solid"/>
          </a:ln>
        </p:spPr>
      </p:sp>
      <p:sp>
        <p:nvSpPr>
          <p:cNvPr id="172" name="Text 170"/>
          <p:cNvSpPr/>
          <p:nvPr/>
        </p:nvSpPr>
        <p:spPr>
          <a:xfrm>
            <a:off x="4379976"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73" name="Shape 171"/>
          <p:cNvSpPr/>
          <p:nvPr/>
        </p:nvSpPr>
        <p:spPr>
          <a:xfrm>
            <a:off x="4672584" y="3127248"/>
            <a:ext cx="292608" cy="320040"/>
          </a:xfrm>
          <a:prstGeom prst="rect">
            <a:avLst/>
          </a:prstGeom>
          <a:solidFill>
            <a:srgbClr val="C8992A"/>
          </a:solidFill>
          <a:ln w="12700">
            <a:solidFill>
              <a:srgbClr val="B8C5D9"/>
            </a:solidFill>
            <a:prstDash val="solid"/>
          </a:ln>
        </p:spPr>
      </p:sp>
      <p:sp>
        <p:nvSpPr>
          <p:cNvPr id="174" name="Text 172"/>
          <p:cNvSpPr/>
          <p:nvPr/>
        </p:nvSpPr>
        <p:spPr>
          <a:xfrm>
            <a:off x="4672584"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75" name="Shape 173"/>
          <p:cNvSpPr/>
          <p:nvPr/>
        </p:nvSpPr>
        <p:spPr>
          <a:xfrm>
            <a:off x="4965192" y="3127248"/>
            <a:ext cx="292608" cy="320040"/>
          </a:xfrm>
          <a:prstGeom prst="rect">
            <a:avLst/>
          </a:prstGeom>
          <a:solidFill>
            <a:srgbClr val="F0F4FA"/>
          </a:solidFill>
          <a:ln w="12700">
            <a:solidFill>
              <a:srgbClr val="B8C5D9"/>
            </a:solidFill>
            <a:prstDash val="solid"/>
          </a:ln>
        </p:spPr>
      </p:sp>
      <p:sp>
        <p:nvSpPr>
          <p:cNvPr id="176" name="Shape 174"/>
          <p:cNvSpPr/>
          <p:nvPr/>
        </p:nvSpPr>
        <p:spPr>
          <a:xfrm>
            <a:off x="5257800" y="3127248"/>
            <a:ext cx="292608" cy="320040"/>
          </a:xfrm>
          <a:prstGeom prst="rect">
            <a:avLst/>
          </a:prstGeom>
          <a:solidFill>
            <a:srgbClr val="C8992A"/>
          </a:solidFill>
          <a:ln w="12700">
            <a:solidFill>
              <a:srgbClr val="B8C5D9"/>
            </a:solidFill>
            <a:prstDash val="solid"/>
          </a:ln>
        </p:spPr>
      </p:sp>
      <p:sp>
        <p:nvSpPr>
          <p:cNvPr id="177" name="Text 175"/>
          <p:cNvSpPr/>
          <p:nvPr/>
        </p:nvSpPr>
        <p:spPr>
          <a:xfrm>
            <a:off x="5257800" y="312724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78" name="Shape 176"/>
          <p:cNvSpPr/>
          <p:nvPr/>
        </p:nvSpPr>
        <p:spPr>
          <a:xfrm>
            <a:off x="365760" y="3447288"/>
            <a:ext cx="475488" cy="320040"/>
          </a:xfrm>
          <a:prstGeom prst="rect">
            <a:avLst/>
          </a:prstGeom>
          <a:solidFill>
            <a:srgbClr val="1A6B7A"/>
          </a:solidFill>
          <a:ln w="12700">
            <a:solidFill>
              <a:srgbClr val="1A6B7A"/>
            </a:solidFill>
            <a:prstDash val="solid"/>
          </a:ln>
        </p:spPr>
      </p:sp>
      <p:sp>
        <p:nvSpPr>
          <p:cNvPr id="179" name="Text 177"/>
          <p:cNvSpPr/>
          <p:nvPr/>
        </p:nvSpPr>
        <p:spPr>
          <a:xfrm>
            <a:off x="365760" y="3447288"/>
            <a:ext cx="475488" cy="32004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S2:5</a:t>
            </a:r>
            <a:endParaRPr lang="en-US" sz="750" dirty="0"/>
          </a:p>
        </p:txBody>
      </p:sp>
      <p:sp>
        <p:nvSpPr>
          <p:cNvPr id="180" name="Shape 178"/>
          <p:cNvSpPr/>
          <p:nvPr/>
        </p:nvSpPr>
        <p:spPr>
          <a:xfrm>
            <a:off x="868680" y="3447288"/>
            <a:ext cx="292608" cy="320040"/>
          </a:xfrm>
          <a:prstGeom prst="rect">
            <a:avLst/>
          </a:prstGeom>
          <a:solidFill>
            <a:srgbClr val="F0F4FA"/>
          </a:solidFill>
          <a:ln w="12700">
            <a:solidFill>
              <a:srgbClr val="B8C5D9"/>
            </a:solidFill>
            <a:prstDash val="solid"/>
          </a:ln>
        </p:spPr>
      </p:sp>
      <p:sp>
        <p:nvSpPr>
          <p:cNvPr id="181" name="Shape 179"/>
          <p:cNvSpPr/>
          <p:nvPr/>
        </p:nvSpPr>
        <p:spPr>
          <a:xfrm>
            <a:off x="1161288" y="3447288"/>
            <a:ext cx="292608" cy="320040"/>
          </a:xfrm>
          <a:prstGeom prst="rect">
            <a:avLst/>
          </a:prstGeom>
          <a:solidFill>
            <a:srgbClr val="F0F4FA"/>
          </a:solidFill>
          <a:ln w="12700">
            <a:solidFill>
              <a:srgbClr val="B8C5D9"/>
            </a:solidFill>
            <a:prstDash val="solid"/>
          </a:ln>
        </p:spPr>
      </p:sp>
      <p:sp>
        <p:nvSpPr>
          <p:cNvPr id="182" name="Shape 180"/>
          <p:cNvSpPr/>
          <p:nvPr/>
        </p:nvSpPr>
        <p:spPr>
          <a:xfrm>
            <a:off x="1453896" y="3447288"/>
            <a:ext cx="292608" cy="320040"/>
          </a:xfrm>
          <a:prstGeom prst="rect">
            <a:avLst/>
          </a:prstGeom>
          <a:solidFill>
            <a:srgbClr val="F0F4FA"/>
          </a:solidFill>
          <a:ln w="12700">
            <a:solidFill>
              <a:srgbClr val="B8C5D9"/>
            </a:solidFill>
            <a:prstDash val="solid"/>
          </a:ln>
        </p:spPr>
      </p:sp>
      <p:sp>
        <p:nvSpPr>
          <p:cNvPr id="183" name="Shape 181"/>
          <p:cNvSpPr/>
          <p:nvPr/>
        </p:nvSpPr>
        <p:spPr>
          <a:xfrm>
            <a:off x="1746504" y="3447288"/>
            <a:ext cx="292608" cy="320040"/>
          </a:xfrm>
          <a:prstGeom prst="rect">
            <a:avLst/>
          </a:prstGeom>
          <a:solidFill>
            <a:srgbClr val="C8992A"/>
          </a:solidFill>
          <a:ln w="12700">
            <a:solidFill>
              <a:srgbClr val="B8C5D9"/>
            </a:solidFill>
            <a:prstDash val="solid"/>
          </a:ln>
        </p:spPr>
      </p:sp>
      <p:sp>
        <p:nvSpPr>
          <p:cNvPr id="184" name="Text 182"/>
          <p:cNvSpPr/>
          <p:nvPr/>
        </p:nvSpPr>
        <p:spPr>
          <a:xfrm>
            <a:off x="1746504"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85" name="Shape 183"/>
          <p:cNvSpPr/>
          <p:nvPr/>
        </p:nvSpPr>
        <p:spPr>
          <a:xfrm>
            <a:off x="2039112" y="3447288"/>
            <a:ext cx="292608" cy="320040"/>
          </a:xfrm>
          <a:prstGeom prst="rect">
            <a:avLst/>
          </a:prstGeom>
          <a:solidFill>
            <a:srgbClr val="C8992A"/>
          </a:solidFill>
          <a:ln w="12700">
            <a:solidFill>
              <a:srgbClr val="B8C5D9"/>
            </a:solidFill>
            <a:prstDash val="solid"/>
          </a:ln>
        </p:spPr>
      </p:sp>
      <p:sp>
        <p:nvSpPr>
          <p:cNvPr id="186" name="Text 184"/>
          <p:cNvSpPr/>
          <p:nvPr/>
        </p:nvSpPr>
        <p:spPr>
          <a:xfrm>
            <a:off x="2039112"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87" name="Shape 185"/>
          <p:cNvSpPr/>
          <p:nvPr/>
        </p:nvSpPr>
        <p:spPr>
          <a:xfrm>
            <a:off x="2331720" y="3447288"/>
            <a:ext cx="292608" cy="320040"/>
          </a:xfrm>
          <a:prstGeom prst="rect">
            <a:avLst/>
          </a:prstGeom>
          <a:solidFill>
            <a:srgbClr val="C8992A"/>
          </a:solidFill>
          <a:ln w="12700">
            <a:solidFill>
              <a:srgbClr val="B8C5D9"/>
            </a:solidFill>
            <a:prstDash val="solid"/>
          </a:ln>
        </p:spPr>
      </p:sp>
      <p:sp>
        <p:nvSpPr>
          <p:cNvPr id="188" name="Text 186"/>
          <p:cNvSpPr/>
          <p:nvPr/>
        </p:nvSpPr>
        <p:spPr>
          <a:xfrm>
            <a:off x="2331720"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89" name="Shape 187"/>
          <p:cNvSpPr/>
          <p:nvPr/>
        </p:nvSpPr>
        <p:spPr>
          <a:xfrm>
            <a:off x="2624328" y="3447288"/>
            <a:ext cx="292608" cy="320040"/>
          </a:xfrm>
          <a:prstGeom prst="rect">
            <a:avLst/>
          </a:prstGeom>
          <a:solidFill>
            <a:srgbClr val="F0F4FA"/>
          </a:solidFill>
          <a:ln w="12700">
            <a:solidFill>
              <a:srgbClr val="B8C5D9"/>
            </a:solidFill>
            <a:prstDash val="solid"/>
          </a:ln>
        </p:spPr>
      </p:sp>
      <p:sp>
        <p:nvSpPr>
          <p:cNvPr id="190" name="Shape 188"/>
          <p:cNvSpPr/>
          <p:nvPr/>
        </p:nvSpPr>
        <p:spPr>
          <a:xfrm>
            <a:off x="2916936" y="3447288"/>
            <a:ext cx="292608" cy="320040"/>
          </a:xfrm>
          <a:prstGeom prst="rect">
            <a:avLst/>
          </a:prstGeom>
          <a:solidFill>
            <a:srgbClr val="F0F4FA"/>
          </a:solidFill>
          <a:ln w="12700">
            <a:solidFill>
              <a:srgbClr val="B8C5D9"/>
            </a:solidFill>
            <a:prstDash val="solid"/>
          </a:ln>
        </p:spPr>
      </p:sp>
      <p:sp>
        <p:nvSpPr>
          <p:cNvPr id="191" name="Shape 189"/>
          <p:cNvSpPr/>
          <p:nvPr/>
        </p:nvSpPr>
        <p:spPr>
          <a:xfrm>
            <a:off x="3209544" y="3447288"/>
            <a:ext cx="292608" cy="320040"/>
          </a:xfrm>
          <a:prstGeom prst="rect">
            <a:avLst/>
          </a:prstGeom>
          <a:solidFill>
            <a:srgbClr val="C8992A"/>
          </a:solidFill>
          <a:ln w="12700">
            <a:solidFill>
              <a:srgbClr val="B8C5D9"/>
            </a:solidFill>
            <a:prstDash val="solid"/>
          </a:ln>
        </p:spPr>
      </p:sp>
      <p:sp>
        <p:nvSpPr>
          <p:cNvPr id="192" name="Text 190"/>
          <p:cNvSpPr/>
          <p:nvPr/>
        </p:nvSpPr>
        <p:spPr>
          <a:xfrm>
            <a:off x="3209544"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3" name="Shape 191"/>
          <p:cNvSpPr/>
          <p:nvPr/>
        </p:nvSpPr>
        <p:spPr>
          <a:xfrm>
            <a:off x="3502152" y="3447288"/>
            <a:ext cx="292608" cy="320040"/>
          </a:xfrm>
          <a:prstGeom prst="rect">
            <a:avLst/>
          </a:prstGeom>
          <a:solidFill>
            <a:srgbClr val="C8992A"/>
          </a:solidFill>
          <a:ln w="12700">
            <a:solidFill>
              <a:srgbClr val="B8C5D9"/>
            </a:solidFill>
            <a:prstDash val="solid"/>
          </a:ln>
        </p:spPr>
      </p:sp>
      <p:sp>
        <p:nvSpPr>
          <p:cNvPr id="194" name="Text 192"/>
          <p:cNvSpPr/>
          <p:nvPr/>
        </p:nvSpPr>
        <p:spPr>
          <a:xfrm>
            <a:off x="3502152"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5" name="Shape 193"/>
          <p:cNvSpPr/>
          <p:nvPr/>
        </p:nvSpPr>
        <p:spPr>
          <a:xfrm>
            <a:off x="3794760" y="3447288"/>
            <a:ext cx="292608" cy="320040"/>
          </a:xfrm>
          <a:prstGeom prst="rect">
            <a:avLst/>
          </a:prstGeom>
          <a:solidFill>
            <a:srgbClr val="C8992A"/>
          </a:solidFill>
          <a:ln w="12700">
            <a:solidFill>
              <a:srgbClr val="B8C5D9"/>
            </a:solidFill>
            <a:prstDash val="solid"/>
          </a:ln>
        </p:spPr>
      </p:sp>
      <p:sp>
        <p:nvSpPr>
          <p:cNvPr id="196" name="Text 194"/>
          <p:cNvSpPr/>
          <p:nvPr/>
        </p:nvSpPr>
        <p:spPr>
          <a:xfrm>
            <a:off x="3794760"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7" name="Shape 195"/>
          <p:cNvSpPr/>
          <p:nvPr/>
        </p:nvSpPr>
        <p:spPr>
          <a:xfrm>
            <a:off x="4087368" y="3447288"/>
            <a:ext cx="292608" cy="320040"/>
          </a:xfrm>
          <a:prstGeom prst="rect">
            <a:avLst/>
          </a:prstGeom>
          <a:solidFill>
            <a:srgbClr val="C8992A"/>
          </a:solidFill>
          <a:ln w="12700">
            <a:solidFill>
              <a:srgbClr val="B8C5D9"/>
            </a:solidFill>
            <a:prstDash val="solid"/>
          </a:ln>
        </p:spPr>
      </p:sp>
      <p:sp>
        <p:nvSpPr>
          <p:cNvPr id="198" name="Text 196"/>
          <p:cNvSpPr/>
          <p:nvPr/>
        </p:nvSpPr>
        <p:spPr>
          <a:xfrm>
            <a:off x="4087368"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9" name="Shape 197"/>
          <p:cNvSpPr/>
          <p:nvPr/>
        </p:nvSpPr>
        <p:spPr>
          <a:xfrm>
            <a:off x="4379976" y="3447288"/>
            <a:ext cx="292608" cy="320040"/>
          </a:xfrm>
          <a:prstGeom prst="rect">
            <a:avLst/>
          </a:prstGeom>
          <a:solidFill>
            <a:srgbClr val="F0F4FA"/>
          </a:solidFill>
          <a:ln w="12700">
            <a:solidFill>
              <a:srgbClr val="B8C5D9"/>
            </a:solidFill>
            <a:prstDash val="solid"/>
          </a:ln>
        </p:spPr>
      </p:sp>
      <p:sp>
        <p:nvSpPr>
          <p:cNvPr id="200" name="Shape 198"/>
          <p:cNvSpPr/>
          <p:nvPr/>
        </p:nvSpPr>
        <p:spPr>
          <a:xfrm>
            <a:off x="4672584" y="3447288"/>
            <a:ext cx="292608" cy="320040"/>
          </a:xfrm>
          <a:prstGeom prst="rect">
            <a:avLst/>
          </a:prstGeom>
          <a:solidFill>
            <a:srgbClr val="C8992A"/>
          </a:solidFill>
          <a:ln w="12700">
            <a:solidFill>
              <a:srgbClr val="B8C5D9"/>
            </a:solidFill>
            <a:prstDash val="solid"/>
          </a:ln>
        </p:spPr>
      </p:sp>
      <p:sp>
        <p:nvSpPr>
          <p:cNvPr id="201" name="Text 199"/>
          <p:cNvSpPr/>
          <p:nvPr/>
        </p:nvSpPr>
        <p:spPr>
          <a:xfrm>
            <a:off x="4672584"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02" name="Shape 200"/>
          <p:cNvSpPr/>
          <p:nvPr/>
        </p:nvSpPr>
        <p:spPr>
          <a:xfrm>
            <a:off x="4965192" y="3447288"/>
            <a:ext cx="292608" cy="320040"/>
          </a:xfrm>
          <a:prstGeom prst="rect">
            <a:avLst/>
          </a:prstGeom>
          <a:solidFill>
            <a:srgbClr val="C8992A"/>
          </a:solidFill>
          <a:ln w="12700">
            <a:solidFill>
              <a:srgbClr val="B8C5D9"/>
            </a:solidFill>
            <a:prstDash val="solid"/>
          </a:ln>
        </p:spPr>
      </p:sp>
      <p:sp>
        <p:nvSpPr>
          <p:cNvPr id="203" name="Text 201"/>
          <p:cNvSpPr/>
          <p:nvPr/>
        </p:nvSpPr>
        <p:spPr>
          <a:xfrm>
            <a:off x="4965192"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04" name="Shape 202"/>
          <p:cNvSpPr/>
          <p:nvPr/>
        </p:nvSpPr>
        <p:spPr>
          <a:xfrm>
            <a:off x="5257800" y="3447288"/>
            <a:ext cx="292608" cy="320040"/>
          </a:xfrm>
          <a:prstGeom prst="rect">
            <a:avLst/>
          </a:prstGeom>
          <a:solidFill>
            <a:srgbClr val="C8992A"/>
          </a:solidFill>
          <a:ln w="12700">
            <a:solidFill>
              <a:srgbClr val="B8C5D9"/>
            </a:solidFill>
            <a:prstDash val="solid"/>
          </a:ln>
        </p:spPr>
      </p:sp>
      <p:sp>
        <p:nvSpPr>
          <p:cNvPr id="205" name="Text 203"/>
          <p:cNvSpPr/>
          <p:nvPr/>
        </p:nvSpPr>
        <p:spPr>
          <a:xfrm>
            <a:off x="5257800" y="3447288"/>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06" name="Text 204"/>
          <p:cNvSpPr/>
          <p:nvPr/>
        </p:nvSpPr>
        <p:spPr>
          <a:xfrm>
            <a:off x="365760" y="3813048"/>
            <a:ext cx="5166360" cy="274320"/>
          </a:xfrm>
          <a:prstGeom prst="rect">
            <a:avLst/>
          </a:prstGeom>
          <a:noFill/>
          <a:ln/>
        </p:spPr>
        <p:txBody>
          <a:bodyPr wrap="square" lIns="0" tIns="0" rIns="0" bIns="0" rtlCol="0" anchor="ctr"/>
          <a:lstStyle/>
          <a:p>
            <a:pPr indent="0" marL="0">
              <a:buNone/>
            </a:pPr>
            <a:r>
              <a:rPr lang="en-US" sz="1000" i="1" dirty="0">
                <a:solidFill>
                  <a:srgbClr val="6B7D99"/>
                </a:solidFill>
                <a:latin typeface="Calibri" pitchFamily="34" charset="0"/>
                <a:ea typeface="Calibri" pitchFamily="34" charset="-122"/>
                <a:cs typeface="Calibri" pitchFamily="34" charset="-120"/>
              </a:rPr>
              <a:t>60 of 96 possible connections active</a:t>
            </a:r>
            <a:endParaRPr lang="en-US" sz="1000" dirty="0"/>
          </a:p>
        </p:txBody>
      </p:sp>
      <p:sp>
        <p:nvSpPr>
          <p:cNvPr id="207" name="Text 205"/>
          <p:cNvSpPr/>
          <p:nvPr/>
        </p:nvSpPr>
        <p:spPr>
          <a:xfrm>
            <a:off x="5532120" y="1170432"/>
            <a:ext cx="3246120" cy="320040"/>
          </a:xfrm>
          <a:prstGeom prst="rect">
            <a:avLst/>
          </a:prstGeom>
          <a:noFill/>
          <a:ln/>
        </p:spPr>
        <p:txBody>
          <a:bodyPr wrap="square" lIns="0" tIns="0" rIns="0" bIns="0" rtlCol="0" anchor="ctr"/>
          <a:lstStyle/>
          <a:p>
            <a:pPr indent="0" marL="0">
              <a:buNone/>
            </a:pPr>
            <a:r>
              <a:rPr lang="en-US" sz="1350" b="1" dirty="0">
                <a:solidFill>
                  <a:srgbClr val="0B1D3A"/>
                </a:solidFill>
                <a:latin typeface="Calibri" pitchFamily="34" charset="0"/>
                <a:ea typeface="Calibri" pitchFamily="34" charset="-122"/>
                <a:cs typeface="Calibri" pitchFamily="34" charset="-120"/>
              </a:rPr>
              <a:t>Parameter Calculation</a:t>
            </a:r>
            <a:endParaRPr lang="en-US" sz="1350" dirty="0"/>
          </a:p>
        </p:txBody>
      </p:sp>
      <p:sp>
        <p:nvSpPr>
          <p:cNvPr id="208" name="Shape 206"/>
          <p:cNvSpPr/>
          <p:nvPr/>
        </p:nvSpPr>
        <p:spPr>
          <a:xfrm>
            <a:off x="5532120" y="1581912"/>
            <a:ext cx="3246120" cy="841248"/>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209" name="Shape 207"/>
          <p:cNvSpPr/>
          <p:nvPr/>
        </p:nvSpPr>
        <p:spPr>
          <a:xfrm>
            <a:off x="5532120" y="1581912"/>
            <a:ext cx="64008" cy="841248"/>
          </a:xfrm>
          <a:prstGeom prst="rect">
            <a:avLst/>
          </a:prstGeom>
          <a:solidFill>
            <a:srgbClr val="C8992A"/>
          </a:solidFill>
          <a:ln w="12700">
            <a:solidFill>
              <a:srgbClr val="C8992A"/>
            </a:solidFill>
            <a:prstDash val="solid"/>
          </a:ln>
        </p:spPr>
      </p:sp>
      <p:sp>
        <p:nvSpPr>
          <p:cNvPr id="210" name="Text 208"/>
          <p:cNvSpPr/>
          <p:nvPr/>
        </p:nvSpPr>
        <p:spPr>
          <a:xfrm>
            <a:off x="5687568" y="1673352"/>
            <a:ext cx="3017520" cy="292608"/>
          </a:xfrm>
          <a:prstGeom prst="rect">
            <a:avLst/>
          </a:prstGeom>
          <a:noFill/>
          <a:ln/>
        </p:spPr>
        <p:txBody>
          <a:bodyPr wrap="square" lIns="0" tIns="0" rIns="0" bIns="0" rtlCol="0" anchor="ctr"/>
          <a:lstStyle/>
          <a:p>
            <a:pPr indent="0" marL="0">
              <a:buNone/>
            </a:pPr>
            <a:r>
              <a:rPr lang="en-US" sz="1100" b="1" dirty="0">
                <a:solidFill>
                  <a:srgbClr val="0B1D3A"/>
                </a:solidFill>
                <a:latin typeface="Calibri" pitchFamily="34" charset="0"/>
                <a:ea typeface="Calibri" pitchFamily="34" charset="-122"/>
                <a:cs typeface="Calibri" pitchFamily="34" charset="-120"/>
              </a:rPr>
              <a:t>Maps 0–5 (3 inputs)</a:t>
            </a:r>
            <a:endParaRPr lang="en-US" sz="1100" dirty="0"/>
          </a:p>
        </p:txBody>
      </p:sp>
      <p:sp>
        <p:nvSpPr>
          <p:cNvPr id="211" name="Text 209"/>
          <p:cNvSpPr/>
          <p:nvPr/>
        </p:nvSpPr>
        <p:spPr>
          <a:xfrm>
            <a:off x="5687568" y="1965960"/>
            <a:ext cx="3017520" cy="365760"/>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3 × 5×5 + 1 bias = 76 params</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 6 maps = 456 params</a:t>
            </a:r>
            <a:endParaRPr lang="en-US" sz="1000" dirty="0"/>
          </a:p>
        </p:txBody>
      </p:sp>
      <p:sp>
        <p:nvSpPr>
          <p:cNvPr id="212" name="Shape 210"/>
          <p:cNvSpPr/>
          <p:nvPr/>
        </p:nvSpPr>
        <p:spPr>
          <a:xfrm>
            <a:off x="5532120" y="2514600"/>
            <a:ext cx="3246120" cy="841248"/>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213" name="Shape 211"/>
          <p:cNvSpPr/>
          <p:nvPr/>
        </p:nvSpPr>
        <p:spPr>
          <a:xfrm>
            <a:off x="5532120" y="2514600"/>
            <a:ext cx="64008" cy="841248"/>
          </a:xfrm>
          <a:prstGeom prst="rect">
            <a:avLst/>
          </a:prstGeom>
          <a:solidFill>
            <a:srgbClr val="C8992A"/>
          </a:solidFill>
          <a:ln w="12700">
            <a:solidFill>
              <a:srgbClr val="C8992A"/>
            </a:solidFill>
            <a:prstDash val="solid"/>
          </a:ln>
        </p:spPr>
      </p:sp>
      <p:sp>
        <p:nvSpPr>
          <p:cNvPr id="214" name="Text 212"/>
          <p:cNvSpPr/>
          <p:nvPr/>
        </p:nvSpPr>
        <p:spPr>
          <a:xfrm>
            <a:off x="5687568" y="2606040"/>
            <a:ext cx="3017520" cy="292608"/>
          </a:xfrm>
          <a:prstGeom prst="rect">
            <a:avLst/>
          </a:prstGeom>
          <a:noFill/>
          <a:ln/>
        </p:spPr>
        <p:txBody>
          <a:bodyPr wrap="square" lIns="0" tIns="0" rIns="0" bIns="0" rtlCol="0" anchor="ctr"/>
          <a:lstStyle/>
          <a:p>
            <a:pPr indent="0" marL="0">
              <a:buNone/>
            </a:pPr>
            <a:r>
              <a:rPr lang="en-US" sz="1100" b="1" dirty="0">
                <a:solidFill>
                  <a:srgbClr val="0B1D3A"/>
                </a:solidFill>
                <a:latin typeface="Calibri" pitchFamily="34" charset="0"/>
                <a:ea typeface="Calibri" pitchFamily="34" charset="-122"/>
                <a:cs typeface="Calibri" pitchFamily="34" charset="-120"/>
              </a:rPr>
              <a:t>Maps 6–11 (4 inputs)</a:t>
            </a:r>
            <a:endParaRPr lang="en-US" sz="1100" dirty="0"/>
          </a:p>
        </p:txBody>
      </p:sp>
      <p:sp>
        <p:nvSpPr>
          <p:cNvPr id="215" name="Text 213"/>
          <p:cNvSpPr/>
          <p:nvPr/>
        </p:nvSpPr>
        <p:spPr>
          <a:xfrm>
            <a:off x="5687568" y="2898648"/>
            <a:ext cx="3017520" cy="365760"/>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4 × 5×5 + 1 bias = 101 params</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 6 maps = 606 params</a:t>
            </a:r>
            <a:endParaRPr lang="en-US" sz="1000" dirty="0"/>
          </a:p>
        </p:txBody>
      </p:sp>
      <p:sp>
        <p:nvSpPr>
          <p:cNvPr id="216" name="Shape 214"/>
          <p:cNvSpPr/>
          <p:nvPr/>
        </p:nvSpPr>
        <p:spPr>
          <a:xfrm>
            <a:off x="5532120" y="3447288"/>
            <a:ext cx="3246120" cy="841248"/>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217" name="Shape 215"/>
          <p:cNvSpPr/>
          <p:nvPr/>
        </p:nvSpPr>
        <p:spPr>
          <a:xfrm>
            <a:off x="5532120" y="3447288"/>
            <a:ext cx="64008" cy="841248"/>
          </a:xfrm>
          <a:prstGeom prst="rect">
            <a:avLst/>
          </a:prstGeom>
          <a:solidFill>
            <a:srgbClr val="C8992A"/>
          </a:solidFill>
          <a:ln w="12700">
            <a:solidFill>
              <a:srgbClr val="C8992A"/>
            </a:solidFill>
            <a:prstDash val="solid"/>
          </a:ln>
        </p:spPr>
      </p:sp>
      <p:sp>
        <p:nvSpPr>
          <p:cNvPr id="218" name="Text 216"/>
          <p:cNvSpPr/>
          <p:nvPr/>
        </p:nvSpPr>
        <p:spPr>
          <a:xfrm>
            <a:off x="5687568" y="3538728"/>
            <a:ext cx="3017520" cy="292608"/>
          </a:xfrm>
          <a:prstGeom prst="rect">
            <a:avLst/>
          </a:prstGeom>
          <a:noFill/>
          <a:ln/>
        </p:spPr>
        <p:txBody>
          <a:bodyPr wrap="square" lIns="0" tIns="0" rIns="0" bIns="0" rtlCol="0" anchor="ctr"/>
          <a:lstStyle/>
          <a:p>
            <a:pPr indent="0" marL="0">
              <a:buNone/>
            </a:pPr>
            <a:r>
              <a:rPr lang="en-US" sz="1100" b="1" dirty="0">
                <a:solidFill>
                  <a:srgbClr val="0B1D3A"/>
                </a:solidFill>
                <a:latin typeface="Calibri" pitchFamily="34" charset="0"/>
                <a:ea typeface="Calibri" pitchFamily="34" charset="-122"/>
                <a:cs typeface="Calibri" pitchFamily="34" charset="-120"/>
              </a:rPr>
              <a:t>Maps 12–14 (4 inputs)</a:t>
            </a:r>
            <a:endParaRPr lang="en-US" sz="1100" dirty="0"/>
          </a:p>
        </p:txBody>
      </p:sp>
      <p:sp>
        <p:nvSpPr>
          <p:cNvPr id="219" name="Text 217"/>
          <p:cNvSpPr/>
          <p:nvPr/>
        </p:nvSpPr>
        <p:spPr>
          <a:xfrm>
            <a:off x="5687568" y="3831336"/>
            <a:ext cx="3017520" cy="365760"/>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4 × 5×5 + 1 bias = 101 params</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 3 maps = 303 params</a:t>
            </a:r>
            <a:endParaRPr lang="en-US" sz="1000" dirty="0"/>
          </a:p>
        </p:txBody>
      </p:sp>
      <p:sp>
        <p:nvSpPr>
          <p:cNvPr id="220" name="Shape 218"/>
          <p:cNvSpPr/>
          <p:nvPr/>
        </p:nvSpPr>
        <p:spPr>
          <a:xfrm>
            <a:off x="5532120" y="4379976"/>
            <a:ext cx="3246120" cy="841248"/>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221" name="Shape 219"/>
          <p:cNvSpPr/>
          <p:nvPr/>
        </p:nvSpPr>
        <p:spPr>
          <a:xfrm>
            <a:off x="5532120" y="4379976"/>
            <a:ext cx="64008" cy="841248"/>
          </a:xfrm>
          <a:prstGeom prst="rect">
            <a:avLst/>
          </a:prstGeom>
          <a:solidFill>
            <a:srgbClr val="C8992A"/>
          </a:solidFill>
          <a:ln w="12700">
            <a:solidFill>
              <a:srgbClr val="C8992A"/>
            </a:solidFill>
            <a:prstDash val="solid"/>
          </a:ln>
        </p:spPr>
      </p:sp>
      <p:sp>
        <p:nvSpPr>
          <p:cNvPr id="222" name="Text 220"/>
          <p:cNvSpPr/>
          <p:nvPr/>
        </p:nvSpPr>
        <p:spPr>
          <a:xfrm>
            <a:off x="5687568" y="4471416"/>
            <a:ext cx="3017520" cy="292608"/>
          </a:xfrm>
          <a:prstGeom prst="rect">
            <a:avLst/>
          </a:prstGeom>
          <a:noFill/>
          <a:ln/>
        </p:spPr>
        <p:txBody>
          <a:bodyPr wrap="square" lIns="0" tIns="0" rIns="0" bIns="0" rtlCol="0" anchor="ctr"/>
          <a:lstStyle/>
          <a:p>
            <a:pPr indent="0" marL="0">
              <a:buNone/>
            </a:pPr>
            <a:r>
              <a:rPr lang="en-US" sz="1100" b="1" dirty="0">
                <a:solidFill>
                  <a:srgbClr val="0B1D3A"/>
                </a:solidFill>
                <a:latin typeface="Calibri" pitchFamily="34" charset="0"/>
                <a:ea typeface="Calibri" pitchFamily="34" charset="-122"/>
                <a:cs typeface="Calibri" pitchFamily="34" charset="-120"/>
              </a:rPr>
              <a:t>Map 15 (all 6 inputs)</a:t>
            </a:r>
            <a:endParaRPr lang="en-US" sz="1100" dirty="0"/>
          </a:p>
        </p:txBody>
      </p:sp>
      <p:sp>
        <p:nvSpPr>
          <p:cNvPr id="223" name="Text 221"/>
          <p:cNvSpPr/>
          <p:nvPr/>
        </p:nvSpPr>
        <p:spPr>
          <a:xfrm>
            <a:off x="5687568" y="4764024"/>
            <a:ext cx="3017520" cy="365760"/>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6 × 5×5 + 1 bias = 151 params</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 1 map = 151 params</a:t>
            </a:r>
            <a:endParaRPr lang="en-US" sz="1000" dirty="0"/>
          </a:p>
        </p:txBody>
      </p:sp>
      <p:sp>
        <p:nvSpPr>
          <p:cNvPr id="224" name="Shape 222"/>
          <p:cNvSpPr/>
          <p:nvPr/>
        </p:nvSpPr>
        <p:spPr>
          <a:xfrm>
            <a:off x="5532120" y="5312664"/>
            <a:ext cx="3246120" cy="502920"/>
          </a:xfrm>
          <a:prstGeom prst="rect">
            <a:avLst/>
          </a:prstGeom>
          <a:solidFill>
            <a:srgbClr val="0B1D3A"/>
          </a:solidFill>
          <a:ln w="12700">
            <a:solidFill>
              <a:srgbClr val="0B1D3A"/>
            </a:solidFill>
            <a:prstDash val="solid"/>
          </a:ln>
        </p:spPr>
      </p:sp>
      <p:sp>
        <p:nvSpPr>
          <p:cNvPr id="225" name="Text 223"/>
          <p:cNvSpPr/>
          <p:nvPr/>
        </p:nvSpPr>
        <p:spPr>
          <a:xfrm>
            <a:off x="5623560" y="5385816"/>
            <a:ext cx="3090672" cy="347472"/>
          </a:xfrm>
          <a:prstGeom prst="rect">
            <a:avLst/>
          </a:prstGeom>
          <a:noFill/>
          <a:ln/>
        </p:spPr>
        <p:txBody>
          <a:bodyPr wrap="square" lIns="0" tIns="0" rIns="0" bIns="0" rtlCol="0" anchor="ctr"/>
          <a:lstStyle/>
          <a:p>
            <a:pPr indent="0" marL="0">
              <a:buNone/>
            </a:pPr>
            <a:r>
              <a:rPr lang="en-US" sz="1100" b="1" dirty="0">
                <a:solidFill>
                  <a:srgbClr val="E8B84B"/>
                </a:solidFill>
                <a:latin typeface="Calibri" pitchFamily="34" charset="0"/>
                <a:ea typeface="Calibri" pitchFamily="34" charset="-122"/>
                <a:cs typeface="Calibri" pitchFamily="34" charset="-120"/>
              </a:rPr>
              <a:t>Total C3 Parameters:  456 + 606 + 303 + 151 = 1,516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Layers S4 → C5 → F6: The Deep Classifier Head</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From 5×5×16 spatial maps to 84 abstract feature neurons</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84048" y="1143000"/>
            <a:ext cx="2633472" cy="822960"/>
          </a:xfrm>
          <a:prstGeom prst="rect">
            <a:avLst/>
          </a:prstGeom>
          <a:solidFill>
            <a:srgbClr val="3D4F6B"/>
          </a:solidFill>
          <a:ln w="12700">
            <a:solidFill>
              <a:srgbClr val="3D4F6B"/>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384048" y="1188720"/>
            <a:ext cx="2633472" cy="40233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S4</a:t>
            </a:r>
            <a:endParaRPr lang="en-US" sz="2800" dirty="0"/>
          </a:p>
        </p:txBody>
      </p:sp>
      <p:sp>
        <p:nvSpPr>
          <p:cNvPr id="7" name="Text 5"/>
          <p:cNvSpPr/>
          <p:nvPr/>
        </p:nvSpPr>
        <p:spPr>
          <a:xfrm>
            <a:off x="384048" y="1572768"/>
            <a:ext cx="2633472" cy="347472"/>
          </a:xfrm>
          <a:prstGeom prst="rect">
            <a:avLst/>
          </a:prstGeom>
          <a:noFill/>
          <a:ln/>
        </p:spPr>
        <p:txBody>
          <a:bodyPr wrap="square" rtlCol="0" anchor="ctr"/>
          <a:lstStyle/>
          <a:p>
            <a:pPr algn="ctr" indent="0" marL="0">
              <a:buNone/>
            </a:pPr>
            <a:r>
              <a:rPr lang="en-US" sz="1050" dirty="0">
                <a:solidFill>
                  <a:srgbClr val="B8C5D9"/>
                </a:solidFill>
                <a:latin typeface="Calibri" pitchFamily="34" charset="0"/>
                <a:ea typeface="Calibri" pitchFamily="34" charset="-122"/>
                <a:cs typeface="Calibri" pitchFamily="34" charset="-120"/>
              </a:rPr>
              <a:t>Second Subsampling</a:t>
            </a:r>
            <a:endParaRPr lang="en-US" sz="1050" dirty="0"/>
          </a:p>
        </p:txBody>
      </p:sp>
      <p:sp>
        <p:nvSpPr>
          <p:cNvPr id="8" name="Shape 6"/>
          <p:cNvSpPr/>
          <p:nvPr/>
        </p:nvSpPr>
        <p:spPr>
          <a:xfrm>
            <a:off x="384048" y="1965960"/>
            <a:ext cx="2633472" cy="347472"/>
          </a:xfrm>
          <a:prstGeom prst="rect">
            <a:avLst/>
          </a:prstGeom>
          <a:solidFill>
            <a:srgbClr val="FDF3D8"/>
          </a:solidFill>
          <a:ln w="12700">
            <a:solidFill>
              <a:srgbClr val="C8992A"/>
            </a:solidFill>
            <a:prstDash val="solid"/>
          </a:ln>
        </p:spPr>
      </p:sp>
      <p:sp>
        <p:nvSpPr>
          <p:cNvPr id="9" name="Text 7"/>
          <p:cNvSpPr/>
          <p:nvPr/>
        </p:nvSpPr>
        <p:spPr>
          <a:xfrm>
            <a:off x="384048" y="1965960"/>
            <a:ext cx="2633472" cy="347472"/>
          </a:xfrm>
          <a:prstGeom prst="rect">
            <a:avLst/>
          </a:prstGeom>
          <a:noFill/>
          <a:ln/>
        </p:spPr>
        <p:txBody>
          <a:bodyPr wrap="square" lIns="0" tIns="0" rIns="0" bIns="0" rtlCol="0" anchor="ctr"/>
          <a:lstStyle/>
          <a:p>
            <a:pPr algn="ctr" indent="0" marL="0">
              <a:buNone/>
            </a:pPr>
            <a:r>
              <a:rPr lang="en-US" sz="1300" b="1" dirty="0">
                <a:solidFill>
                  <a:srgbClr val="C8992A"/>
                </a:solidFill>
                <a:latin typeface="Calibri" pitchFamily="34" charset="0"/>
                <a:ea typeface="Calibri" pitchFamily="34" charset="-122"/>
                <a:cs typeface="Calibri" pitchFamily="34" charset="-120"/>
              </a:rPr>
              <a:t>5×5×16</a:t>
            </a:r>
            <a:endParaRPr lang="en-US" sz="1300" dirty="0"/>
          </a:p>
        </p:txBody>
      </p:sp>
      <p:sp>
        <p:nvSpPr>
          <p:cNvPr id="10" name="Shape 8"/>
          <p:cNvSpPr/>
          <p:nvPr/>
        </p:nvSpPr>
        <p:spPr>
          <a:xfrm>
            <a:off x="384048" y="2313432"/>
            <a:ext cx="2633472" cy="2697480"/>
          </a:xfrm>
          <a:prstGeom prst="rect">
            <a:avLst/>
          </a:prstGeom>
          <a:solidFill>
            <a:srgbClr val="FFFFFF"/>
          </a:solidFill>
          <a:ln w="12700">
            <a:solidFill>
              <a:srgbClr val="DDE4F0"/>
            </a:solidFill>
            <a:prstDash val="solid"/>
          </a:ln>
        </p:spPr>
      </p:sp>
      <p:sp>
        <p:nvSpPr>
          <p:cNvPr id="11" name="Text 9"/>
          <p:cNvSpPr/>
          <p:nvPr/>
        </p:nvSpPr>
        <p:spPr>
          <a:xfrm>
            <a:off x="521208" y="2377440"/>
            <a:ext cx="2404872" cy="384048"/>
          </a:xfrm>
          <a:prstGeom prst="rect">
            <a:avLst/>
          </a:prstGeom>
          <a:noFill/>
          <a:ln/>
        </p:spPr>
        <p:txBody>
          <a:bodyPr wrap="square"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Identical to S2 in structure</a:t>
            </a:r>
            <a:endParaRPr lang="en-US" sz="1050" dirty="0"/>
          </a:p>
        </p:txBody>
      </p:sp>
      <p:sp>
        <p:nvSpPr>
          <p:cNvPr id="12" name="Text 10"/>
          <p:cNvSpPr/>
          <p:nvPr/>
        </p:nvSpPr>
        <p:spPr>
          <a:xfrm>
            <a:off x="521208" y="2779776"/>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2×2 average pool, stride 2</a:t>
            </a:r>
            <a:endParaRPr lang="en-US" sz="1050" dirty="0"/>
          </a:p>
        </p:txBody>
      </p:sp>
      <p:sp>
        <p:nvSpPr>
          <p:cNvPr id="13" name="Text 11"/>
          <p:cNvSpPr/>
          <p:nvPr/>
        </p:nvSpPr>
        <p:spPr>
          <a:xfrm>
            <a:off x="521208" y="3182112"/>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10×10 → 5×5 per map</a:t>
            </a:r>
            <a:endParaRPr lang="en-US" sz="1050" dirty="0"/>
          </a:p>
        </p:txBody>
      </p:sp>
      <p:sp>
        <p:nvSpPr>
          <p:cNvPr id="14" name="Text 12"/>
          <p:cNvSpPr/>
          <p:nvPr/>
        </p:nvSpPr>
        <p:spPr>
          <a:xfrm>
            <a:off x="521208" y="3584448"/>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16 weights + 16 biases = 32 params</a:t>
            </a:r>
            <a:endParaRPr lang="en-US" sz="1050" dirty="0"/>
          </a:p>
        </p:txBody>
      </p:sp>
      <p:sp>
        <p:nvSpPr>
          <p:cNvPr id="15" name="Text 13"/>
          <p:cNvSpPr/>
          <p:nvPr/>
        </p:nvSpPr>
        <p:spPr>
          <a:xfrm>
            <a:off x="521208" y="3986784"/>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Output: 5 × 5 × 16 = 400 values</a:t>
            </a:r>
            <a:endParaRPr lang="en-US" sz="1050" dirty="0"/>
          </a:p>
        </p:txBody>
      </p:sp>
      <p:sp>
        <p:nvSpPr>
          <p:cNvPr id="16" name="Text 14"/>
          <p:cNvSpPr/>
          <p:nvPr/>
        </p:nvSpPr>
        <p:spPr>
          <a:xfrm>
            <a:off x="521208" y="4389120"/>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Purpose: compress before C5</a:t>
            </a:r>
            <a:endParaRPr lang="en-US" sz="1050" dirty="0"/>
          </a:p>
        </p:txBody>
      </p:sp>
      <p:sp>
        <p:nvSpPr>
          <p:cNvPr id="17" name="Shape 15"/>
          <p:cNvSpPr/>
          <p:nvPr/>
        </p:nvSpPr>
        <p:spPr>
          <a:xfrm>
            <a:off x="3154680" y="1143000"/>
            <a:ext cx="2633472" cy="822960"/>
          </a:xfrm>
          <a:prstGeom prst="rect">
            <a:avLst/>
          </a:prstGeom>
          <a:solidFill>
            <a:srgbClr val="1A6B7A"/>
          </a:solidFill>
          <a:ln w="12700">
            <a:solidFill>
              <a:srgbClr val="1A6B7A"/>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3154680" y="1188720"/>
            <a:ext cx="2633472" cy="40233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C5</a:t>
            </a:r>
            <a:endParaRPr lang="en-US" sz="2800" dirty="0"/>
          </a:p>
        </p:txBody>
      </p:sp>
      <p:sp>
        <p:nvSpPr>
          <p:cNvPr id="19" name="Text 17"/>
          <p:cNvSpPr/>
          <p:nvPr/>
        </p:nvSpPr>
        <p:spPr>
          <a:xfrm>
            <a:off x="3154680" y="1572768"/>
            <a:ext cx="2633472" cy="347472"/>
          </a:xfrm>
          <a:prstGeom prst="rect">
            <a:avLst/>
          </a:prstGeom>
          <a:noFill/>
          <a:ln/>
        </p:spPr>
        <p:txBody>
          <a:bodyPr wrap="square" rtlCol="0" anchor="ctr"/>
          <a:lstStyle/>
          <a:p>
            <a:pPr algn="ctr" indent="0" marL="0">
              <a:buNone/>
            </a:pPr>
            <a:r>
              <a:rPr lang="en-US" sz="1050" dirty="0">
                <a:solidFill>
                  <a:srgbClr val="B8C5D9"/>
                </a:solidFill>
                <a:latin typeface="Calibri" pitchFamily="34" charset="0"/>
                <a:ea typeface="Calibri" pitchFamily="34" charset="-122"/>
                <a:cs typeface="Calibri" pitchFamily="34" charset="-120"/>
              </a:rPr>
              <a:t>Third Convolution (= FC Layer)</a:t>
            </a:r>
            <a:endParaRPr lang="en-US" sz="1050" dirty="0"/>
          </a:p>
        </p:txBody>
      </p:sp>
      <p:sp>
        <p:nvSpPr>
          <p:cNvPr id="20" name="Shape 18"/>
          <p:cNvSpPr/>
          <p:nvPr/>
        </p:nvSpPr>
        <p:spPr>
          <a:xfrm>
            <a:off x="3154680" y="1965960"/>
            <a:ext cx="2633472" cy="347472"/>
          </a:xfrm>
          <a:prstGeom prst="rect">
            <a:avLst/>
          </a:prstGeom>
          <a:solidFill>
            <a:srgbClr val="FDF3D8"/>
          </a:solidFill>
          <a:ln w="12700">
            <a:solidFill>
              <a:srgbClr val="C8992A"/>
            </a:solidFill>
            <a:prstDash val="solid"/>
          </a:ln>
        </p:spPr>
      </p:sp>
      <p:sp>
        <p:nvSpPr>
          <p:cNvPr id="21" name="Text 19"/>
          <p:cNvSpPr/>
          <p:nvPr/>
        </p:nvSpPr>
        <p:spPr>
          <a:xfrm>
            <a:off x="3154680" y="1965960"/>
            <a:ext cx="2633472" cy="347472"/>
          </a:xfrm>
          <a:prstGeom prst="rect">
            <a:avLst/>
          </a:prstGeom>
          <a:noFill/>
          <a:ln/>
        </p:spPr>
        <p:txBody>
          <a:bodyPr wrap="square" lIns="0" tIns="0" rIns="0" bIns="0" rtlCol="0" anchor="ctr"/>
          <a:lstStyle/>
          <a:p>
            <a:pPr algn="ctr" indent="0" marL="0">
              <a:buNone/>
            </a:pPr>
            <a:r>
              <a:rPr lang="en-US" sz="1300" b="1" dirty="0">
                <a:solidFill>
                  <a:srgbClr val="C8992A"/>
                </a:solidFill>
                <a:latin typeface="Calibri" pitchFamily="34" charset="0"/>
                <a:ea typeface="Calibri" pitchFamily="34" charset="-122"/>
                <a:cs typeface="Calibri" pitchFamily="34" charset="-120"/>
              </a:rPr>
              <a:t>1×1×120</a:t>
            </a:r>
            <a:endParaRPr lang="en-US" sz="1300" dirty="0"/>
          </a:p>
        </p:txBody>
      </p:sp>
      <p:sp>
        <p:nvSpPr>
          <p:cNvPr id="22" name="Shape 20"/>
          <p:cNvSpPr/>
          <p:nvPr/>
        </p:nvSpPr>
        <p:spPr>
          <a:xfrm>
            <a:off x="3154680" y="2313432"/>
            <a:ext cx="2633472" cy="2697480"/>
          </a:xfrm>
          <a:prstGeom prst="rect">
            <a:avLst/>
          </a:prstGeom>
          <a:solidFill>
            <a:srgbClr val="FFFFFF"/>
          </a:solidFill>
          <a:ln w="12700">
            <a:solidFill>
              <a:srgbClr val="DDE4F0"/>
            </a:solidFill>
            <a:prstDash val="solid"/>
          </a:ln>
        </p:spPr>
      </p:sp>
      <p:sp>
        <p:nvSpPr>
          <p:cNvPr id="23" name="Text 21"/>
          <p:cNvSpPr/>
          <p:nvPr/>
        </p:nvSpPr>
        <p:spPr>
          <a:xfrm>
            <a:off x="3291840" y="2377440"/>
            <a:ext cx="2404872" cy="384048"/>
          </a:xfrm>
          <a:prstGeom prst="rect">
            <a:avLst/>
          </a:prstGeom>
          <a:noFill/>
          <a:ln/>
        </p:spPr>
        <p:txBody>
          <a:bodyPr wrap="square"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120 filters of size 5×5×16</a:t>
            </a:r>
            <a:endParaRPr lang="en-US" sz="1050" dirty="0"/>
          </a:p>
        </p:txBody>
      </p:sp>
      <p:sp>
        <p:nvSpPr>
          <p:cNvPr id="24" name="Text 22"/>
          <p:cNvSpPr/>
          <p:nvPr/>
        </p:nvSpPr>
        <p:spPr>
          <a:xfrm>
            <a:off x="3291840" y="2779776"/>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Input is exactly 5×5 → output 1×1</a:t>
            </a:r>
            <a:endParaRPr lang="en-US" sz="1050" dirty="0"/>
          </a:p>
        </p:txBody>
      </p:sp>
      <p:sp>
        <p:nvSpPr>
          <p:cNvPr id="25" name="Text 23"/>
          <p:cNvSpPr/>
          <p:nvPr/>
        </p:nvSpPr>
        <p:spPr>
          <a:xfrm>
            <a:off x="3291840" y="3182112"/>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Mathematically identical to a fully connected layer</a:t>
            </a:r>
            <a:endParaRPr lang="en-US" sz="1050" dirty="0"/>
          </a:p>
        </p:txBody>
      </p:sp>
      <p:sp>
        <p:nvSpPr>
          <p:cNvPr id="26" name="Text 24"/>
          <p:cNvSpPr/>
          <p:nvPr/>
        </p:nvSpPr>
        <p:spPr>
          <a:xfrm>
            <a:off x="3291840" y="3584448"/>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Connections: 120 × (16 × 25 + 1) = 48,120</a:t>
            </a:r>
            <a:endParaRPr lang="en-US" sz="1050" dirty="0"/>
          </a:p>
        </p:txBody>
      </p:sp>
      <p:sp>
        <p:nvSpPr>
          <p:cNvPr id="27" name="Text 25"/>
          <p:cNvSpPr/>
          <p:nvPr/>
        </p:nvSpPr>
        <p:spPr>
          <a:xfrm>
            <a:off x="3291840" y="3986784"/>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Learns high-level combinations</a:t>
            </a:r>
            <a:endParaRPr lang="en-US" sz="1050" dirty="0"/>
          </a:p>
        </p:txBody>
      </p:sp>
      <p:sp>
        <p:nvSpPr>
          <p:cNvPr id="28" name="Text 26"/>
          <p:cNvSpPr/>
          <p:nvPr/>
        </p:nvSpPr>
        <p:spPr>
          <a:xfrm>
            <a:off x="3291840" y="4389120"/>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Each of 120 neurons sees the FULL input</a:t>
            </a:r>
            <a:endParaRPr lang="en-US" sz="1050" dirty="0"/>
          </a:p>
        </p:txBody>
      </p:sp>
      <p:sp>
        <p:nvSpPr>
          <p:cNvPr id="29" name="Shape 27"/>
          <p:cNvSpPr/>
          <p:nvPr/>
        </p:nvSpPr>
        <p:spPr>
          <a:xfrm>
            <a:off x="5925312" y="1143000"/>
            <a:ext cx="2633472" cy="822960"/>
          </a:xfrm>
          <a:prstGeom prst="rect">
            <a:avLst/>
          </a:prstGeom>
          <a:solidFill>
            <a:srgbClr val="0B1D3A"/>
          </a:solidFill>
          <a:ln w="12700">
            <a:solidFill>
              <a:srgbClr val="0B1D3A"/>
            </a:solidFill>
            <a:prstDash val="solid"/>
          </a:ln>
          <a:effectLst>
            <a:outerShdw sx="100000" sy="100000" kx="0" ky="0" algn="bl" rotWithShape="0" blurRad="101600" dist="38100" dir="8100000">
              <a:srgbClr val="000000">
                <a:alpha val="18000"/>
              </a:srgbClr>
            </a:outerShdw>
          </a:effectLst>
        </p:spPr>
      </p:sp>
      <p:sp>
        <p:nvSpPr>
          <p:cNvPr id="30" name="Text 28"/>
          <p:cNvSpPr/>
          <p:nvPr/>
        </p:nvSpPr>
        <p:spPr>
          <a:xfrm>
            <a:off x="5925312" y="1188720"/>
            <a:ext cx="2633472" cy="40233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F6</a:t>
            </a:r>
            <a:endParaRPr lang="en-US" sz="2800" dirty="0"/>
          </a:p>
        </p:txBody>
      </p:sp>
      <p:sp>
        <p:nvSpPr>
          <p:cNvPr id="31" name="Text 29"/>
          <p:cNvSpPr/>
          <p:nvPr/>
        </p:nvSpPr>
        <p:spPr>
          <a:xfrm>
            <a:off x="5925312" y="1572768"/>
            <a:ext cx="2633472" cy="347472"/>
          </a:xfrm>
          <a:prstGeom prst="rect">
            <a:avLst/>
          </a:prstGeom>
          <a:noFill/>
          <a:ln/>
        </p:spPr>
        <p:txBody>
          <a:bodyPr wrap="square" rtlCol="0" anchor="ctr"/>
          <a:lstStyle/>
          <a:p>
            <a:pPr algn="ctr" indent="0" marL="0">
              <a:buNone/>
            </a:pPr>
            <a:r>
              <a:rPr lang="en-US" sz="1050" dirty="0">
                <a:solidFill>
                  <a:srgbClr val="B8C5D9"/>
                </a:solidFill>
                <a:latin typeface="Calibri" pitchFamily="34" charset="0"/>
                <a:ea typeface="Calibri" pitchFamily="34" charset="-122"/>
                <a:cs typeface="Calibri" pitchFamily="34" charset="-120"/>
              </a:rPr>
              <a:t>Fully Connected Layer</a:t>
            </a:r>
            <a:endParaRPr lang="en-US" sz="1050" dirty="0"/>
          </a:p>
        </p:txBody>
      </p:sp>
      <p:sp>
        <p:nvSpPr>
          <p:cNvPr id="32" name="Shape 30"/>
          <p:cNvSpPr/>
          <p:nvPr/>
        </p:nvSpPr>
        <p:spPr>
          <a:xfrm>
            <a:off x="5925312" y="1965960"/>
            <a:ext cx="2633472" cy="347472"/>
          </a:xfrm>
          <a:prstGeom prst="rect">
            <a:avLst/>
          </a:prstGeom>
          <a:solidFill>
            <a:srgbClr val="FDF3D8"/>
          </a:solidFill>
          <a:ln w="12700">
            <a:solidFill>
              <a:srgbClr val="C8992A"/>
            </a:solidFill>
            <a:prstDash val="solid"/>
          </a:ln>
        </p:spPr>
      </p:sp>
      <p:sp>
        <p:nvSpPr>
          <p:cNvPr id="33" name="Text 31"/>
          <p:cNvSpPr/>
          <p:nvPr/>
        </p:nvSpPr>
        <p:spPr>
          <a:xfrm>
            <a:off x="5925312" y="1965960"/>
            <a:ext cx="2633472" cy="347472"/>
          </a:xfrm>
          <a:prstGeom prst="rect">
            <a:avLst/>
          </a:prstGeom>
          <a:noFill/>
          <a:ln/>
        </p:spPr>
        <p:txBody>
          <a:bodyPr wrap="square" lIns="0" tIns="0" rIns="0" bIns="0" rtlCol="0" anchor="ctr"/>
          <a:lstStyle/>
          <a:p>
            <a:pPr algn="ctr" indent="0" marL="0">
              <a:buNone/>
            </a:pPr>
            <a:r>
              <a:rPr lang="en-US" sz="1300" b="1" dirty="0">
                <a:solidFill>
                  <a:srgbClr val="C8992A"/>
                </a:solidFill>
                <a:latin typeface="Calibri" pitchFamily="34" charset="0"/>
                <a:ea typeface="Calibri" pitchFamily="34" charset="-122"/>
                <a:cs typeface="Calibri" pitchFamily="34" charset="-120"/>
              </a:rPr>
              <a:t>84 neurons</a:t>
            </a:r>
            <a:endParaRPr lang="en-US" sz="1300" dirty="0"/>
          </a:p>
        </p:txBody>
      </p:sp>
      <p:sp>
        <p:nvSpPr>
          <p:cNvPr id="34" name="Shape 32"/>
          <p:cNvSpPr/>
          <p:nvPr/>
        </p:nvSpPr>
        <p:spPr>
          <a:xfrm>
            <a:off x="5925312" y="2313432"/>
            <a:ext cx="2633472" cy="2697480"/>
          </a:xfrm>
          <a:prstGeom prst="rect">
            <a:avLst/>
          </a:prstGeom>
          <a:solidFill>
            <a:srgbClr val="FFFFFF"/>
          </a:solidFill>
          <a:ln w="12700">
            <a:solidFill>
              <a:srgbClr val="DDE4F0"/>
            </a:solidFill>
            <a:prstDash val="solid"/>
          </a:ln>
        </p:spPr>
      </p:sp>
      <p:sp>
        <p:nvSpPr>
          <p:cNvPr id="35" name="Text 33"/>
          <p:cNvSpPr/>
          <p:nvPr/>
        </p:nvSpPr>
        <p:spPr>
          <a:xfrm>
            <a:off x="6062472" y="2377440"/>
            <a:ext cx="2404872" cy="384048"/>
          </a:xfrm>
          <a:prstGeom prst="rect">
            <a:avLst/>
          </a:prstGeom>
          <a:noFill/>
          <a:ln/>
        </p:spPr>
        <p:txBody>
          <a:bodyPr wrap="square"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Classical dense layer</a:t>
            </a:r>
            <a:endParaRPr lang="en-US" sz="1050" dirty="0"/>
          </a:p>
        </p:txBody>
      </p:sp>
      <p:sp>
        <p:nvSpPr>
          <p:cNvPr id="36" name="Text 34"/>
          <p:cNvSpPr/>
          <p:nvPr/>
        </p:nvSpPr>
        <p:spPr>
          <a:xfrm>
            <a:off x="6062472" y="2779776"/>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84 × (120 + 1 bias) = 10,164 params</a:t>
            </a:r>
            <a:endParaRPr lang="en-US" sz="1050" dirty="0"/>
          </a:p>
        </p:txBody>
      </p:sp>
      <p:sp>
        <p:nvSpPr>
          <p:cNvPr id="37" name="Text 35"/>
          <p:cNvSpPr/>
          <p:nvPr/>
        </p:nvSpPr>
        <p:spPr>
          <a:xfrm>
            <a:off x="6062472" y="3182112"/>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84 was chosen deliberately:</a:t>
            </a:r>
            <a:endParaRPr lang="en-US" sz="1050" dirty="0"/>
          </a:p>
        </p:txBody>
      </p:sp>
      <p:sp>
        <p:nvSpPr>
          <p:cNvPr id="38" name="Text 36"/>
          <p:cNvSpPr/>
          <p:nvPr/>
        </p:nvSpPr>
        <p:spPr>
          <a:xfrm>
            <a:off x="6062472" y="3584448"/>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  → Matches ASCII 7×12 bitmap</a:t>
            </a:r>
            <a:endParaRPr lang="en-US" sz="1050" dirty="0"/>
          </a:p>
        </p:txBody>
      </p:sp>
      <p:sp>
        <p:nvSpPr>
          <p:cNvPr id="39" name="Text 37"/>
          <p:cNvSpPr/>
          <p:nvPr/>
        </p:nvSpPr>
        <p:spPr>
          <a:xfrm>
            <a:off x="6062472" y="3986784"/>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  → Each neuron encodes one bit</a:t>
            </a:r>
            <a:endParaRPr lang="en-US" sz="1050" dirty="0"/>
          </a:p>
        </p:txBody>
      </p:sp>
      <p:sp>
        <p:nvSpPr>
          <p:cNvPr id="40" name="Text 38"/>
          <p:cNvSpPr/>
          <p:nvPr/>
        </p:nvSpPr>
        <p:spPr>
          <a:xfrm>
            <a:off x="6062472" y="4389120"/>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  → of character shape</a:t>
            </a:r>
            <a:endParaRPr lang="en-US" sz="1050" dirty="0"/>
          </a:p>
        </p:txBody>
      </p:sp>
      <p:sp>
        <p:nvSpPr>
          <p:cNvPr id="41" name="Text 39"/>
          <p:cNvSpPr/>
          <p:nvPr/>
        </p:nvSpPr>
        <p:spPr>
          <a:xfrm>
            <a:off x="6062472" y="4791456"/>
            <a:ext cx="2404872" cy="384048"/>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Activation: tanh (original LeNet)</a:t>
            </a:r>
            <a:endParaRPr lang="en-US" sz="1050" dirty="0"/>
          </a:p>
        </p:txBody>
      </p:sp>
      <p:sp>
        <p:nvSpPr>
          <p:cNvPr id="42" name="Text 40"/>
          <p:cNvSpPr/>
          <p:nvPr/>
        </p:nvSpPr>
        <p:spPr>
          <a:xfrm>
            <a:off x="2999232" y="1417320"/>
            <a:ext cx="173736" cy="402336"/>
          </a:xfrm>
          <a:prstGeom prst="rect">
            <a:avLst/>
          </a:prstGeom>
          <a:noFill/>
          <a:ln/>
        </p:spPr>
        <p:txBody>
          <a:bodyPr wrap="square" lIns="0" tIns="0" rIns="0" bIns="0" rtlCol="0" anchor="ctr"/>
          <a:lstStyle/>
          <a:p>
            <a:pPr algn="ctr" indent="0" marL="0">
              <a:buNone/>
            </a:pPr>
            <a:r>
              <a:rPr lang="en-US" sz="2000" b="1" dirty="0">
                <a:solidFill>
                  <a:srgbClr val="C8992A"/>
                </a:solidFill>
                <a:latin typeface="Calibri" pitchFamily="34" charset="0"/>
                <a:ea typeface="Calibri" pitchFamily="34" charset="-122"/>
                <a:cs typeface="Calibri" pitchFamily="34" charset="-120"/>
              </a:rPr>
              <a:t>→</a:t>
            </a:r>
            <a:endParaRPr lang="en-US" sz="2000" dirty="0"/>
          </a:p>
        </p:txBody>
      </p:sp>
      <p:sp>
        <p:nvSpPr>
          <p:cNvPr id="43" name="Text 41"/>
          <p:cNvSpPr/>
          <p:nvPr/>
        </p:nvSpPr>
        <p:spPr>
          <a:xfrm>
            <a:off x="5769864" y="1417320"/>
            <a:ext cx="173736" cy="402336"/>
          </a:xfrm>
          <a:prstGeom prst="rect">
            <a:avLst/>
          </a:prstGeom>
          <a:noFill/>
          <a:ln/>
        </p:spPr>
        <p:txBody>
          <a:bodyPr wrap="square" lIns="0" tIns="0" rIns="0" bIns="0" rtlCol="0" anchor="ctr"/>
          <a:lstStyle/>
          <a:p>
            <a:pPr algn="ctr" indent="0" marL="0">
              <a:buNone/>
            </a:pPr>
            <a:r>
              <a:rPr lang="en-US" sz="2000" b="1" dirty="0">
                <a:solidFill>
                  <a:srgbClr val="C8992A"/>
                </a:solidFill>
                <a:latin typeface="Calibri" pitchFamily="34" charset="0"/>
                <a:ea typeface="Calibri" pitchFamily="34" charset="-122"/>
                <a:cs typeface="Calibri" pitchFamily="34" charset="-120"/>
              </a:rPr>
              <a:t>→</a:t>
            </a:r>
            <a:endParaRPr lang="en-US" sz="2000" dirty="0"/>
          </a:p>
        </p:txBody>
      </p:sp>
      <p:sp>
        <p:nvSpPr>
          <p:cNvPr id="44" name="Shape 42"/>
          <p:cNvSpPr/>
          <p:nvPr/>
        </p:nvSpPr>
        <p:spPr>
          <a:xfrm>
            <a:off x="384048" y="4663440"/>
            <a:ext cx="8394192" cy="365760"/>
          </a:xfrm>
          <a:prstGeom prst="rect">
            <a:avLst/>
          </a:prstGeom>
          <a:solidFill>
            <a:srgbClr val="0B1D3A"/>
          </a:solidFill>
          <a:ln w="12700">
            <a:solidFill>
              <a:srgbClr val="0B1D3A"/>
            </a:solidFill>
            <a:prstDash val="solid"/>
          </a:ln>
        </p:spPr>
      </p:sp>
      <p:sp>
        <p:nvSpPr>
          <p:cNvPr id="45" name="Text 43"/>
          <p:cNvSpPr/>
          <p:nvPr/>
        </p:nvSpPr>
        <p:spPr>
          <a:xfrm>
            <a:off x="502920" y="4690872"/>
            <a:ext cx="8229600" cy="301752"/>
          </a:xfrm>
          <a:prstGeom prst="rect">
            <a:avLst/>
          </a:prstGeom>
          <a:noFill/>
          <a:ln/>
        </p:spPr>
        <p:txBody>
          <a:bodyPr wrap="square" lIns="0" tIns="0" rIns="0" bIns="0" rtlCol="0" anchor="ctr"/>
          <a:lstStyle/>
          <a:p>
            <a:pPr algn="ctr" indent="0" marL="0">
              <a:buNone/>
            </a:pPr>
            <a:r>
              <a:rPr lang="en-US" sz="1100" dirty="0">
                <a:solidFill>
                  <a:srgbClr val="E8B84B"/>
                </a:solidFill>
                <a:latin typeface="Calibri" pitchFamily="34" charset="0"/>
                <a:ea typeface="Calibri" pitchFamily="34" charset="-122"/>
                <a:cs typeface="Calibri" pitchFamily="34" charset="-120"/>
              </a:rPr>
              <a:t>C5 + F6 together hold  48,120 + 10,164 = 58,284 parameters  ≈  97% of all LeNet parameters — this is where the model's 'knowledge' lives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Output Layer &amp; Activation Functions</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RBF Gaussian output units and the evolution from Sigmoid → Tanh → ReLU</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Text 3"/>
          <p:cNvSpPr/>
          <p:nvPr/>
        </p:nvSpPr>
        <p:spPr>
          <a:xfrm>
            <a:off x="365760" y="1170432"/>
            <a:ext cx="4206240" cy="329184"/>
          </a:xfrm>
          <a:prstGeom prst="rect">
            <a:avLst/>
          </a:prstGeom>
          <a:noFill/>
          <a:ln/>
        </p:spPr>
        <p:txBody>
          <a:bodyPr wrap="square" lIns="0" tIns="0" rIns="0" bIns="0" rtlCol="0" anchor="ctr"/>
          <a:lstStyle/>
          <a:p>
            <a:pPr indent="0" marL="0">
              <a:buNone/>
            </a:pPr>
            <a:r>
              <a:rPr lang="en-US" sz="1350" b="1" dirty="0">
                <a:solidFill>
                  <a:srgbClr val="0B1D3A"/>
                </a:solidFill>
                <a:latin typeface="Calibri" pitchFamily="34" charset="0"/>
                <a:ea typeface="Calibri" pitchFamily="34" charset="-122"/>
                <a:cs typeface="Calibri" pitchFamily="34" charset="-120"/>
              </a:rPr>
              <a:t>The Output Layer — Radial Basis Functions</a:t>
            </a:r>
            <a:endParaRPr lang="en-US" sz="1350" dirty="0"/>
          </a:p>
        </p:txBody>
      </p:sp>
      <p:sp>
        <p:nvSpPr>
          <p:cNvPr id="6" name="Shape 4"/>
          <p:cNvSpPr/>
          <p:nvPr/>
        </p:nvSpPr>
        <p:spPr>
          <a:xfrm>
            <a:off x="365760" y="1554480"/>
            <a:ext cx="4206240" cy="3200400"/>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7" name="Text 5"/>
          <p:cNvSpPr/>
          <p:nvPr/>
        </p:nvSpPr>
        <p:spPr>
          <a:xfrm>
            <a:off x="502920" y="1627632"/>
            <a:ext cx="3931920" cy="3035808"/>
          </a:xfrm>
          <a:prstGeom prst="rect">
            <a:avLst/>
          </a:prstGeom>
          <a:noFill/>
          <a:ln/>
        </p:spPr>
        <p:txBody>
          <a:bodyPr wrap="square"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10 Output Neurons
</a:t>
            </a:r>
            <a:endParaRPr lang="en-US" sz="1200" dirty="0"/>
          </a:p>
          <a:p>
            <a:pPr indent="0" marL="0">
              <a:buNone/>
            </a:pPr>
            <a:r>
              <a:rPr lang="en-US" sz="1100" dirty="0">
                <a:solidFill>
                  <a:srgbClr val="3D4F6B"/>
                </a:solidFill>
                <a:latin typeface="Calibri" pitchFamily="34" charset="0"/>
                <a:ea typeface="Calibri" pitchFamily="34" charset="-122"/>
                <a:cs typeface="Calibri" pitchFamily="34" charset="-120"/>
              </a:rPr>
              <a:t>One per digit class (0–9)
</a:t>
            </a:r>
            <a:endParaRPr lang="en-US" sz="1200" dirty="0"/>
          </a:p>
          <a:p>
            <a:pPr indent="0" marL="0">
              <a:buNone/>
            </a:pPr>
            <a:r>
              <a:rPr lang="en-US" sz="1150" b="1" dirty="0">
                <a:solidFill>
                  <a:srgbClr val="1A6B7A"/>
                </a:solidFill>
                <a:latin typeface="Calibri" pitchFamily="34" charset="0"/>
                <a:ea typeface="Calibri" pitchFamily="34" charset="-122"/>
                <a:cs typeface="Calibri" pitchFamily="34" charset="-120"/>
              </a:rPr>
              <a:t>RBF Formula:
</a:t>
            </a:r>
            <a:endParaRPr lang="en-US" sz="1200" dirty="0"/>
          </a:p>
          <a:p>
            <a:pPr indent="0" marL="0">
              <a:buNone/>
            </a:pPr>
            <a:r>
              <a:rPr lang="en-US" sz="1300" b="1" dirty="0">
                <a:solidFill>
                  <a:srgbClr val="3D4F6B"/>
                </a:solidFill>
                <a:latin typeface="Calibri" pitchFamily="34" charset="0"/>
                <a:ea typeface="Calibri" pitchFamily="34" charset="-122"/>
                <a:cs typeface="Calibri" pitchFamily="34" charset="-120"/>
              </a:rPr>
              <a:t>yᵢ = Σⱼ (xⱼ − wᵢⱼ)²
</a:t>
            </a:r>
            <a:endParaRPr lang="en-US" sz="1200" dirty="0"/>
          </a:p>
          <a:p>
            <a:pPr indent="0" marL="0">
              <a:buNone/>
            </a:pPr>
            <a:r>
              <a:rPr lang="en-US" sz="1050" dirty="0">
                <a:solidFill>
                  <a:srgbClr val="3D4F6B"/>
                </a:solidFill>
                <a:latin typeface="Calibri" pitchFamily="34" charset="0"/>
                <a:ea typeface="Calibri" pitchFamily="34" charset="-122"/>
                <a:cs typeface="Calibri" pitchFamily="34" charset="-120"/>
              </a:rPr>
              <a:t>Measures Euclidean distance
between F6 output and a
fixed target pattern wᵢ
</a:t>
            </a:r>
            <a:endParaRPr lang="en-US" sz="1200" dirty="0"/>
          </a:p>
          <a:p>
            <a:pPr indent="0" marL="0">
              <a:buNone/>
            </a:pPr>
            <a:r>
              <a:rPr lang="en-US" sz="1100" b="1" dirty="0">
                <a:solidFill>
                  <a:srgbClr val="0B1D3A"/>
                </a:solidFill>
                <a:latin typeface="Calibri" pitchFamily="34" charset="0"/>
                <a:ea typeface="Calibri" pitchFamily="34" charset="-122"/>
                <a:cs typeface="Calibri" pitchFamily="34" charset="-120"/>
              </a:rPr>
              <a:t>Predicted class:
</a:t>
            </a:r>
            <a:endParaRPr lang="en-US" sz="1200" dirty="0"/>
          </a:p>
          <a:p>
            <a:pPr indent="0" marL="0">
              <a:buNone/>
            </a:pPr>
            <a:r>
              <a:rPr lang="en-US" sz="1300" b="1" dirty="0">
                <a:solidFill>
                  <a:srgbClr val="1A6B7A"/>
                </a:solidFill>
                <a:latin typeface="Calibri" pitchFamily="34" charset="0"/>
                <a:ea typeface="Calibri" pitchFamily="34" charset="-122"/>
                <a:cs typeface="Calibri" pitchFamily="34" charset="-120"/>
              </a:rPr>
              <a:t>ŷ = argmin( yᵢ )
</a:t>
            </a:r>
            <a:endParaRPr lang="en-US" sz="1200" dirty="0"/>
          </a:p>
          <a:p>
            <a:pPr indent="0" marL="0">
              <a:buNone/>
            </a:pPr>
            <a:r>
              <a:rPr lang="en-US" sz="1050" dirty="0">
                <a:solidFill>
                  <a:srgbClr val="3D4F6B"/>
                </a:solidFill>
                <a:latin typeface="Calibri" pitchFamily="34" charset="0"/>
                <a:ea typeface="Calibri" pitchFamily="34" charset="-122"/>
                <a:cs typeface="Calibri" pitchFamily="34" charset="-120"/>
              </a:rPr>
              <a:t>Class with SMALLEST distance wins
</a:t>
            </a:r>
            <a:endParaRPr lang="en-US" sz="1200" dirty="0"/>
          </a:p>
          <a:p>
            <a:pPr indent="0" marL="0">
              <a:buNone/>
            </a:pPr>
            <a:r>
              <a:rPr lang="en-US" sz="1100" b="1" dirty="0">
                <a:solidFill>
                  <a:srgbClr val="0B1D3A"/>
                </a:solidFill>
                <a:latin typeface="Calibri" pitchFamily="34" charset="0"/>
                <a:ea typeface="Calibri" pitchFamily="34" charset="-122"/>
                <a:cs typeface="Calibri" pitchFamily="34" charset="-120"/>
              </a:rPr>
              <a:t>Modern equivalent:
</a:t>
            </a:r>
            <a:endParaRPr lang="en-US" sz="1200" dirty="0"/>
          </a:p>
          <a:p>
            <a:pPr indent="0" marL="0">
              <a:buNone/>
            </a:pPr>
            <a:r>
              <a:rPr lang="en-US" sz="1050" dirty="0">
                <a:solidFill>
                  <a:srgbClr val="1B7E5A"/>
                </a:solidFill>
                <a:latin typeface="Calibri" pitchFamily="34" charset="0"/>
                <a:ea typeface="Calibri" pitchFamily="34" charset="-122"/>
                <a:cs typeface="Calibri" pitchFamily="34" charset="-120"/>
              </a:rPr>
              <a:t>Dense(10) + Softmax</a:t>
            </a:r>
            <a:endParaRPr lang="en-US" sz="1200" dirty="0"/>
          </a:p>
          <a:p>
            <a:pPr indent="0" marL="0">
              <a:buNone/>
            </a:pPr>
            <a:r>
              <a:rPr lang="en-US" sz="1050" dirty="0">
                <a:solidFill>
                  <a:srgbClr val="1B7E5A"/>
                </a:solidFill>
                <a:latin typeface="Calibri" pitchFamily="34" charset="0"/>
                <a:ea typeface="Calibri" pitchFamily="34" charset="-122"/>
                <a:cs typeface="Calibri" pitchFamily="34" charset="-120"/>
              </a:rPr>
              <a:t>(argmax instead of argmin)</a:t>
            </a:r>
            <a:endParaRPr lang="en-US" sz="1200" dirty="0"/>
          </a:p>
        </p:txBody>
      </p:sp>
      <p:sp>
        <p:nvSpPr>
          <p:cNvPr id="8" name="Text 6"/>
          <p:cNvSpPr/>
          <p:nvPr/>
        </p:nvSpPr>
        <p:spPr>
          <a:xfrm>
            <a:off x="4800600" y="1170432"/>
            <a:ext cx="3977640" cy="329184"/>
          </a:xfrm>
          <a:prstGeom prst="rect">
            <a:avLst/>
          </a:prstGeom>
          <a:noFill/>
          <a:ln/>
        </p:spPr>
        <p:txBody>
          <a:bodyPr wrap="square" lIns="0" tIns="0" rIns="0" bIns="0" rtlCol="0" anchor="ctr"/>
          <a:lstStyle/>
          <a:p>
            <a:pPr indent="0" marL="0">
              <a:buNone/>
            </a:pPr>
            <a:r>
              <a:rPr lang="en-US" sz="1350" b="1" dirty="0">
                <a:solidFill>
                  <a:srgbClr val="0B1D3A"/>
                </a:solidFill>
                <a:latin typeface="Calibri" pitchFamily="34" charset="0"/>
                <a:ea typeface="Calibri" pitchFamily="34" charset="-122"/>
                <a:cs typeface="Calibri" pitchFamily="34" charset="-120"/>
              </a:rPr>
              <a:t>Activation Functions — Then vs Now</a:t>
            </a:r>
            <a:endParaRPr lang="en-US" sz="1350" dirty="0"/>
          </a:p>
        </p:txBody>
      </p:sp>
      <p:sp>
        <p:nvSpPr>
          <p:cNvPr id="9" name="Shape 7"/>
          <p:cNvSpPr/>
          <p:nvPr/>
        </p:nvSpPr>
        <p:spPr>
          <a:xfrm>
            <a:off x="4800600" y="1572768"/>
            <a:ext cx="3977640" cy="1024128"/>
          </a:xfrm>
          <a:prstGeom prst="rect">
            <a:avLst/>
          </a:prstGeom>
          <a:solidFill>
            <a:srgbClr val="FDECEA"/>
          </a:solidFill>
          <a:ln w="12700">
            <a:solidFill>
              <a:srgbClr val="C0392B"/>
            </a:solidFill>
            <a:prstDash val="solid"/>
          </a:ln>
        </p:spPr>
      </p:sp>
      <p:sp>
        <p:nvSpPr>
          <p:cNvPr id="10" name="Shape 8"/>
          <p:cNvSpPr/>
          <p:nvPr/>
        </p:nvSpPr>
        <p:spPr>
          <a:xfrm>
            <a:off x="4800600" y="1572768"/>
            <a:ext cx="73152" cy="1024128"/>
          </a:xfrm>
          <a:prstGeom prst="rect">
            <a:avLst/>
          </a:prstGeom>
          <a:solidFill>
            <a:srgbClr val="C0392B"/>
          </a:solidFill>
          <a:ln w="12700">
            <a:solidFill>
              <a:srgbClr val="C0392B"/>
            </a:solidFill>
            <a:prstDash val="solid"/>
          </a:ln>
        </p:spPr>
      </p:sp>
      <p:sp>
        <p:nvSpPr>
          <p:cNvPr id="11" name="Text 9"/>
          <p:cNvSpPr/>
          <p:nvPr/>
        </p:nvSpPr>
        <p:spPr>
          <a:xfrm>
            <a:off x="4937760" y="1618488"/>
            <a:ext cx="3703320" cy="292608"/>
          </a:xfrm>
          <a:prstGeom prst="rect">
            <a:avLst/>
          </a:prstGeom>
          <a:noFill/>
          <a:ln/>
        </p:spPr>
        <p:txBody>
          <a:bodyPr wrap="square" lIns="0" tIns="0" rIns="0" bIns="0"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Sigmoid  σ(x) = 1/(1+e⁻ˣ)</a:t>
            </a:r>
            <a:endParaRPr lang="en-US" sz="1050" dirty="0"/>
          </a:p>
        </p:txBody>
      </p:sp>
      <p:sp>
        <p:nvSpPr>
          <p:cNvPr id="12" name="Text 10"/>
          <p:cNvSpPr/>
          <p:nvPr/>
        </p:nvSpPr>
        <p:spPr>
          <a:xfrm>
            <a:off x="4937760" y="1892808"/>
            <a:ext cx="3703320" cy="228600"/>
          </a:xfrm>
          <a:prstGeom prst="rect">
            <a:avLst/>
          </a:prstGeom>
          <a:noFill/>
          <a:ln/>
        </p:spPr>
        <p:txBody>
          <a:bodyPr wrap="square" lIns="0" tIns="0" rIns="0" bIns="0" rtlCol="0" anchor="ctr"/>
          <a:lstStyle/>
          <a:p>
            <a:pPr indent="0" marL="0">
              <a:buNone/>
            </a:pPr>
            <a:r>
              <a:rPr lang="en-US" sz="900" i="1" dirty="0">
                <a:solidFill>
                  <a:srgbClr val="3D4F6B"/>
                </a:solidFill>
                <a:latin typeface="Calibri" pitchFamily="34" charset="0"/>
                <a:ea typeface="Calibri" pitchFamily="34" charset="-122"/>
                <a:cs typeface="Calibri" pitchFamily="34" charset="-120"/>
              </a:rPr>
              <a:t>Output: (0, 1)   |   LeNet C1, C3 (original)</a:t>
            </a:r>
            <a:endParaRPr lang="en-US" sz="900" dirty="0"/>
          </a:p>
        </p:txBody>
      </p:sp>
      <p:sp>
        <p:nvSpPr>
          <p:cNvPr id="13" name="Text 11"/>
          <p:cNvSpPr/>
          <p:nvPr/>
        </p:nvSpPr>
        <p:spPr>
          <a:xfrm>
            <a:off x="4937760" y="2121408"/>
            <a:ext cx="3703320" cy="411480"/>
          </a:xfrm>
          <a:prstGeom prst="rect">
            <a:avLst/>
          </a:prstGeom>
          <a:noFill/>
          <a:ln/>
        </p:spPr>
        <p:txBody>
          <a:bodyPr wrap="square" rtlCol="0" anchor="ctr"/>
          <a:lstStyle/>
          <a:p>
            <a:pPr indent="0" marL="0">
              <a:buNone/>
            </a:pPr>
            <a:r>
              <a:rPr lang="en-US" sz="900" dirty="0">
                <a:solidFill>
                  <a:srgbClr val="3D4F6B"/>
                </a:solidFill>
                <a:latin typeface="Calibri" pitchFamily="34" charset="0"/>
                <a:ea typeface="Calibri" pitchFamily="34" charset="-122"/>
                <a:cs typeface="Calibri" pitchFamily="34" charset="-120"/>
              </a:rPr>
              <a:t>✓ Smooth, bounded, probabilistic</a:t>
            </a:r>
            <a:endParaRPr lang="en-US" sz="900" dirty="0"/>
          </a:p>
          <a:p>
            <a:pPr indent="0" marL="0">
              <a:buNone/>
            </a:pPr>
            <a:r>
              <a:rPr lang="en-US" sz="900" dirty="0">
                <a:solidFill>
                  <a:srgbClr val="3D4F6B"/>
                </a:solidFill>
                <a:latin typeface="Calibri" pitchFamily="34" charset="0"/>
                <a:ea typeface="Calibri" pitchFamily="34" charset="-122"/>
                <a:cs typeface="Calibri" pitchFamily="34" charset="-120"/>
              </a:rPr>
              <a:t>✗ Vanishing gradients for |x|&gt;3 | Not zero-centred → slow convergence</a:t>
            </a:r>
            <a:endParaRPr lang="en-US" sz="900" dirty="0"/>
          </a:p>
        </p:txBody>
      </p:sp>
      <p:sp>
        <p:nvSpPr>
          <p:cNvPr id="14" name="Shape 12"/>
          <p:cNvSpPr/>
          <p:nvPr/>
        </p:nvSpPr>
        <p:spPr>
          <a:xfrm>
            <a:off x="4800600" y="2715768"/>
            <a:ext cx="3977640" cy="1024128"/>
          </a:xfrm>
          <a:prstGeom prst="rect">
            <a:avLst/>
          </a:prstGeom>
          <a:solidFill>
            <a:srgbClr val="E0F4F8"/>
          </a:solidFill>
          <a:ln w="12700">
            <a:solidFill>
              <a:srgbClr val="1A6B7A"/>
            </a:solidFill>
            <a:prstDash val="solid"/>
          </a:ln>
        </p:spPr>
      </p:sp>
      <p:sp>
        <p:nvSpPr>
          <p:cNvPr id="15" name="Shape 13"/>
          <p:cNvSpPr/>
          <p:nvPr/>
        </p:nvSpPr>
        <p:spPr>
          <a:xfrm>
            <a:off x="4800600" y="2715768"/>
            <a:ext cx="73152" cy="1024128"/>
          </a:xfrm>
          <a:prstGeom prst="rect">
            <a:avLst/>
          </a:prstGeom>
          <a:solidFill>
            <a:srgbClr val="1A6B7A"/>
          </a:solidFill>
          <a:ln w="12700">
            <a:solidFill>
              <a:srgbClr val="1A6B7A"/>
            </a:solidFill>
            <a:prstDash val="solid"/>
          </a:ln>
        </p:spPr>
      </p:sp>
      <p:sp>
        <p:nvSpPr>
          <p:cNvPr id="16" name="Text 14"/>
          <p:cNvSpPr/>
          <p:nvPr/>
        </p:nvSpPr>
        <p:spPr>
          <a:xfrm>
            <a:off x="4937760" y="2761488"/>
            <a:ext cx="3703320" cy="292608"/>
          </a:xfrm>
          <a:prstGeom prst="rect">
            <a:avLst/>
          </a:prstGeom>
          <a:noFill/>
          <a:ln/>
        </p:spPr>
        <p:txBody>
          <a:bodyPr wrap="square" lIns="0" tIns="0" rIns="0" bIns="0" rtlCol="0" anchor="ctr"/>
          <a:lstStyle/>
          <a:p>
            <a:pPr indent="0" marL="0">
              <a:buNone/>
            </a:pPr>
            <a:r>
              <a:rPr lang="en-US" sz="1050" b="1" dirty="0">
                <a:solidFill>
                  <a:srgbClr val="1A6B7A"/>
                </a:solidFill>
                <a:latin typeface="Calibri" pitchFamily="34" charset="0"/>
                <a:ea typeface="Calibri" pitchFamily="34" charset="-122"/>
                <a:cs typeface="Calibri" pitchFamily="34" charset="-120"/>
              </a:rPr>
              <a:t>Tanh  tanh(x) = (eˣ−e⁻ˣ)/(eˣ+e⁻ˣ)</a:t>
            </a:r>
            <a:endParaRPr lang="en-US" sz="1050" dirty="0"/>
          </a:p>
        </p:txBody>
      </p:sp>
      <p:sp>
        <p:nvSpPr>
          <p:cNvPr id="17" name="Text 15"/>
          <p:cNvSpPr/>
          <p:nvPr/>
        </p:nvSpPr>
        <p:spPr>
          <a:xfrm>
            <a:off x="4937760" y="3035808"/>
            <a:ext cx="3703320" cy="228600"/>
          </a:xfrm>
          <a:prstGeom prst="rect">
            <a:avLst/>
          </a:prstGeom>
          <a:noFill/>
          <a:ln/>
        </p:spPr>
        <p:txBody>
          <a:bodyPr wrap="square" lIns="0" tIns="0" rIns="0" bIns="0" rtlCol="0" anchor="ctr"/>
          <a:lstStyle/>
          <a:p>
            <a:pPr indent="0" marL="0">
              <a:buNone/>
            </a:pPr>
            <a:r>
              <a:rPr lang="en-US" sz="900" i="1" dirty="0">
                <a:solidFill>
                  <a:srgbClr val="3D4F6B"/>
                </a:solidFill>
                <a:latin typeface="Calibri" pitchFamily="34" charset="0"/>
                <a:ea typeface="Calibri" pitchFamily="34" charset="-122"/>
                <a:cs typeface="Calibri" pitchFamily="34" charset="-120"/>
              </a:rPr>
              <a:t>Output: (−1, 1)   |   LeNet F6 (original paper)</a:t>
            </a:r>
            <a:endParaRPr lang="en-US" sz="900" dirty="0"/>
          </a:p>
        </p:txBody>
      </p:sp>
      <p:sp>
        <p:nvSpPr>
          <p:cNvPr id="18" name="Text 16"/>
          <p:cNvSpPr/>
          <p:nvPr/>
        </p:nvSpPr>
        <p:spPr>
          <a:xfrm>
            <a:off x="4937760" y="3264408"/>
            <a:ext cx="3703320" cy="411480"/>
          </a:xfrm>
          <a:prstGeom prst="rect">
            <a:avLst/>
          </a:prstGeom>
          <a:noFill/>
          <a:ln/>
        </p:spPr>
        <p:txBody>
          <a:bodyPr wrap="square" rtlCol="0" anchor="ctr"/>
          <a:lstStyle/>
          <a:p>
            <a:pPr indent="0" marL="0">
              <a:buNone/>
            </a:pPr>
            <a:r>
              <a:rPr lang="en-US" sz="900" dirty="0">
                <a:solidFill>
                  <a:srgbClr val="3D4F6B"/>
                </a:solidFill>
                <a:latin typeface="Calibri" pitchFamily="34" charset="0"/>
                <a:ea typeface="Calibri" pitchFamily="34" charset="-122"/>
                <a:cs typeface="Calibri" pitchFamily="34" charset="-120"/>
              </a:rPr>
              <a:t>✓ Zero-centred → faster convergence | Smoother gradients than sigmoid</a:t>
            </a:r>
            <a:endParaRPr lang="en-US" sz="900" dirty="0"/>
          </a:p>
          <a:p>
            <a:pPr indent="0" marL="0">
              <a:buNone/>
            </a:pPr>
            <a:r>
              <a:rPr lang="en-US" sz="900" dirty="0">
                <a:solidFill>
                  <a:srgbClr val="3D4F6B"/>
                </a:solidFill>
                <a:latin typeface="Calibri" pitchFamily="34" charset="0"/>
                <a:ea typeface="Calibri" pitchFamily="34" charset="-122"/>
                <a:cs typeface="Calibri" pitchFamily="34" charset="-120"/>
              </a:rPr>
              <a:t>✗ Still suffers vanishing gradients | for large |x|</a:t>
            </a:r>
            <a:endParaRPr lang="en-US" sz="900" dirty="0"/>
          </a:p>
        </p:txBody>
      </p:sp>
      <p:sp>
        <p:nvSpPr>
          <p:cNvPr id="19" name="Shape 17"/>
          <p:cNvSpPr/>
          <p:nvPr/>
        </p:nvSpPr>
        <p:spPr>
          <a:xfrm>
            <a:off x="4800600" y="3858768"/>
            <a:ext cx="3977640" cy="1024128"/>
          </a:xfrm>
          <a:prstGeom prst="rect">
            <a:avLst/>
          </a:prstGeom>
          <a:solidFill>
            <a:srgbClr val="E3F7EE"/>
          </a:solidFill>
          <a:ln w="12700">
            <a:solidFill>
              <a:srgbClr val="1B7E5A"/>
            </a:solidFill>
            <a:prstDash val="solid"/>
          </a:ln>
        </p:spPr>
      </p:sp>
      <p:sp>
        <p:nvSpPr>
          <p:cNvPr id="20" name="Shape 18"/>
          <p:cNvSpPr/>
          <p:nvPr/>
        </p:nvSpPr>
        <p:spPr>
          <a:xfrm>
            <a:off x="4800600" y="3858768"/>
            <a:ext cx="73152" cy="1024128"/>
          </a:xfrm>
          <a:prstGeom prst="rect">
            <a:avLst/>
          </a:prstGeom>
          <a:solidFill>
            <a:srgbClr val="1B7E5A"/>
          </a:solidFill>
          <a:ln w="12700">
            <a:solidFill>
              <a:srgbClr val="1B7E5A"/>
            </a:solidFill>
            <a:prstDash val="solid"/>
          </a:ln>
        </p:spPr>
      </p:sp>
      <p:sp>
        <p:nvSpPr>
          <p:cNvPr id="21" name="Text 19"/>
          <p:cNvSpPr/>
          <p:nvPr/>
        </p:nvSpPr>
        <p:spPr>
          <a:xfrm>
            <a:off x="4937760" y="3904488"/>
            <a:ext cx="3703320" cy="292608"/>
          </a:xfrm>
          <a:prstGeom prst="rect">
            <a:avLst/>
          </a:prstGeom>
          <a:noFill/>
          <a:ln/>
        </p:spPr>
        <p:txBody>
          <a:bodyPr wrap="square" lIns="0" tIns="0" rIns="0" bIns="0" rtlCol="0" anchor="ctr"/>
          <a:lstStyle/>
          <a:p>
            <a:pPr indent="0" marL="0">
              <a:buNone/>
            </a:pPr>
            <a:r>
              <a:rPr lang="en-US" sz="1050" b="1" dirty="0">
                <a:solidFill>
                  <a:srgbClr val="1B7E5A"/>
                </a:solidFill>
                <a:latin typeface="Calibri" pitchFamily="34" charset="0"/>
                <a:ea typeface="Calibri" pitchFamily="34" charset="-122"/>
                <a:cs typeface="Calibri" pitchFamily="34" charset="-120"/>
              </a:rPr>
              <a:t>ReLU  f(x) = max(0, x)</a:t>
            </a:r>
            <a:endParaRPr lang="en-US" sz="1050" dirty="0"/>
          </a:p>
        </p:txBody>
      </p:sp>
      <p:sp>
        <p:nvSpPr>
          <p:cNvPr id="22" name="Text 20"/>
          <p:cNvSpPr/>
          <p:nvPr/>
        </p:nvSpPr>
        <p:spPr>
          <a:xfrm>
            <a:off x="4937760" y="4178808"/>
            <a:ext cx="3703320" cy="228600"/>
          </a:xfrm>
          <a:prstGeom prst="rect">
            <a:avLst/>
          </a:prstGeom>
          <a:noFill/>
          <a:ln/>
        </p:spPr>
        <p:txBody>
          <a:bodyPr wrap="square" lIns="0" tIns="0" rIns="0" bIns="0" rtlCol="0" anchor="ctr"/>
          <a:lstStyle/>
          <a:p>
            <a:pPr indent="0" marL="0">
              <a:buNone/>
            </a:pPr>
            <a:r>
              <a:rPr lang="en-US" sz="900" i="1" dirty="0">
                <a:solidFill>
                  <a:srgbClr val="3D4F6B"/>
                </a:solidFill>
                <a:latin typeface="Calibri" pitchFamily="34" charset="0"/>
                <a:ea typeface="Calibri" pitchFamily="34" charset="-122"/>
                <a:cs typeface="Calibri" pitchFamily="34" charset="-120"/>
              </a:rPr>
              <a:t>Output: [0, ∞)   |   AlexNet onwards — modern standard</a:t>
            </a:r>
            <a:endParaRPr lang="en-US" sz="900" dirty="0"/>
          </a:p>
        </p:txBody>
      </p:sp>
      <p:sp>
        <p:nvSpPr>
          <p:cNvPr id="23" name="Text 21"/>
          <p:cNvSpPr/>
          <p:nvPr/>
        </p:nvSpPr>
        <p:spPr>
          <a:xfrm>
            <a:off x="4937760" y="4407408"/>
            <a:ext cx="3703320" cy="411480"/>
          </a:xfrm>
          <a:prstGeom prst="rect">
            <a:avLst/>
          </a:prstGeom>
          <a:noFill/>
          <a:ln/>
        </p:spPr>
        <p:txBody>
          <a:bodyPr wrap="square" rtlCol="0" anchor="ctr"/>
          <a:lstStyle/>
          <a:p>
            <a:pPr indent="0" marL="0">
              <a:buNone/>
            </a:pPr>
            <a:r>
              <a:rPr lang="en-US" sz="900" dirty="0">
                <a:solidFill>
                  <a:srgbClr val="3D4F6B"/>
                </a:solidFill>
                <a:latin typeface="Calibri" pitchFamily="34" charset="0"/>
                <a:ea typeface="Calibri" pitchFamily="34" charset="-122"/>
                <a:cs typeface="Calibri" pitchFamily="34" charset="-120"/>
              </a:rPr>
              <a:t>✓ No vanishing gradient (positive side) | Computationally trivial</a:t>
            </a:r>
            <a:endParaRPr lang="en-US" sz="900" dirty="0"/>
          </a:p>
          <a:p>
            <a:pPr indent="0" marL="0">
              <a:buNone/>
            </a:pPr>
            <a:r>
              <a:rPr lang="en-US" sz="900" dirty="0">
                <a:solidFill>
                  <a:srgbClr val="3D4F6B"/>
                </a:solidFill>
                <a:latin typeface="Calibri" pitchFamily="34" charset="0"/>
                <a:ea typeface="Calibri" pitchFamily="34" charset="-122"/>
                <a:cs typeface="Calibri" pitchFamily="34" charset="-120"/>
              </a:rPr>
              <a:t>Sparse activation</a:t>
            </a:r>
            <a:endParaRPr lang="en-US" sz="900" dirty="0"/>
          </a:p>
          <a:p>
            <a:pPr indent="0" marL="0">
              <a:buNone/>
            </a:pPr>
            <a:r>
              <a:rPr lang="en-US" sz="900" dirty="0">
                <a:solidFill>
                  <a:srgbClr val="3D4F6B"/>
                </a:solidFill>
                <a:latin typeface="Calibri" pitchFamily="34" charset="0"/>
                <a:ea typeface="Calibri" pitchFamily="34" charset="-122"/>
                <a:cs typeface="Calibri" pitchFamily="34" charset="-120"/>
              </a:rPr>
              <a:t>✗ Dying ReLU (neurons stuck at 0) | Not bounded above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Complete Parameter Analysis</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Where exactly are LeNet's ~60,000 parameters?</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65760" y="1170432"/>
            <a:ext cx="566928" cy="347472"/>
          </a:xfrm>
          <a:prstGeom prst="rect">
            <a:avLst/>
          </a:prstGeom>
          <a:solidFill>
            <a:srgbClr val="0B1D3A"/>
          </a:solidFill>
          <a:ln w="12700">
            <a:solidFill>
              <a:srgbClr val="0B1D3A"/>
            </a:solidFill>
            <a:prstDash val="solid"/>
          </a:ln>
        </p:spPr>
      </p:sp>
      <p:sp>
        <p:nvSpPr>
          <p:cNvPr id="6" name="Text 4"/>
          <p:cNvSpPr/>
          <p:nvPr/>
        </p:nvSpPr>
        <p:spPr>
          <a:xfrm>
            <a:off x="365760" y="1170432"/>
            <a:ext cx="56692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p>
        </p:txBody>
      </p:sp>
      <p:sp>
        <p:nvSpPr>
          <p:cNvPr id="7" name="Shape 5"/>
          <p:cNvSpPr/>
          <p:nvPr/>
        </p:nvSpPr>
        <p:spPr>
          <a:xfrm>
            <a:off x="932688" y="1170432"/>
            <a:ext cx="1234440" cy="347472"/>
          </a:xfrm>
          <a:prstGeom prst="rect">
            <a:avLst/>
          </a:prstGeom>
          <a:solidFill>
            <a:srgbClr val="0B1D3A"/>
          </a:solidFill>
          <a:ln w="12700">
            <a:solidFill>
              <a:srgbClr val="0B1D3A"/>
            </a:solidFill>
            <a:prstDash val="solid"/>
          </a:ln>
        </p:spPr>
      </p:sp>
      <p:sp>
        <p:nvSpPr>
          <p:cNvPr id="8" name="Text 6"/>
          <p:cNvSpPr/>
          <p:nvPr/>
        </p:nvSpPr>
        <p:spPr>
          <a:xfrm>
            <a:off x="932688" y="1170432"/>
            <a:ext cx="12344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p>
        </p:txBody>
      </p:sp>
      <p:sp>
        <p:nvSpPr>
          <p:cNvPr id="9" name="Shape 7"/>
          <p:cNvSpPr/>
          <p:nvPr/>
        </p:nvSpPr>
        <p:spPr>
          <a:xfrm>
            <a:off x="2167128" y="1170432"/>
            <a:ext cx="2103120" cy="347472"/>
          </a:xfrm>
          <a:prstGeom prst="rect">
            <a:avLst/>
          </a:prstGeom>
          <a:solidFill>
            <a:srgbClr val="0B1D3A"/>
          </a:solidFill>
          <a:ln w="12700">
            <a:solidFill>
              <a:srgbClr val="0B1D3A"/>
            </a:solidFill>
            <a:prstDash val="solid"/>
          </a:ln>
        </p:spPr>
      </p:sp>
      <p:sp>
        <p:nvSpPr>
          <p:cNvPr id="10" name="Text 8"/>
          <p:cNvSpPr/>
          <p:nvPr/>
        </p:nvSpPr>
        <p:spPr>
          <a:xfrm>
            <a:off x="2167128" y="1170432"/>
            <a:ext cx="21031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Formula</a:t>
            </a:r>
            <a:endParaRPr lang="en-US" sz="1100" dirty="0"/>
          </a:p>
        </p:txBody>
      </p:sp>
      <p:sp>
        <p:nvSpPr>
          <p:cNvPr id="11" name="Shape 9"/>
          <p:cNvSpPr/>
          <p:nvPr/>
        </p:nvSpPr>
        <p:spPr>
          <a:xfrm>
            <a:off x="4270248" y="1170432"/>
            <a:ext cx="914400" cy="347472"/>
          </a:xfrm>
          <a:prstGeom prst="rect">
            <a:avLst/>
          </a:prstGeom>
          <a:solidFill>
            <a:srgbClr val="0B1D3A"/>
          </a:solidFill>
          <a:ln w="12700">
            <a:solidFill>
              <a:srgbClr val="0B1D3A"/>
            </a:solidFill>
            <a:prstDash val="solid"/>
          </a:ln>
        </p:spPr>
      </p:sp>
      <p:sp>
        <p:nvSpPr>
          <p:cNvPr id="12" name="Text 10"/>
          <p:cNvSpPr/>
          <p:nvPr/>
        </p:nvSpPr>
        <p:spPr>
          <a:xfrm>
            <a:off x="4270248" y="1170432"/>
            <a:ext cx="9144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Params</a:t>
            </a:r>
            <a:endParaRPr lang="en-US" sz="1100" dirty="0"/>
          </a:p>
        </p:txBody>
      </p:sp>
      <p:sp>
        <p:nvSpPr>
          <p:cNvPr id="13" name="Shape 11"/>
          <p:cNvSpPr/>
          <p:nvPr/>
        </p:nvSpPr>
        <p:spPr>
          <a:xfrm>
            <a:off x="5184648" y="1170432"/>
            <a:ext cx="822960" cy="347472"/>
          </a:xfrm>
          <a:prstGeom prst="rect">
            <a:avLst/>
          </a:prstGeom>
          <a:solidFill>
            <a:srgbClr val="0B1D3A"/>
          </a:solidFill>
          <a:ln w="12700">
            <a:solidFill>
              <a:srgbClr val="0B1D3A"/>
            </a:solidFill>
            <a:prstDash val="solid"/>
          </a:ln>
        </p:spPr>
      </p:sp>
      <p:sp>
        <p:nvSpPr>
          <p:cNvPr id="14" name="Text 12"/>
          <p:cNvSpPr/>
          <p:nvPr/>
        </p:nvSpPr>
        <p:spPr>
          <a:xfrm>
            <a:off x="5184648" y="1170432"/>
            <a:ext cx="8229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Total</a:t>
            </a:r>
            <a:endParaRPr lang="en-US" sz="1100" dirty="0"/>
          </a:p>
        </p:txBody>
      </p:sp>
      <p:sp>
        <p:nvSpPr>
          <p:cNvPr id="15" name="Shape 13"/>
          <p:cNvSpPr/>
          <p:nvPr/>
        </p:nvSpPr>
        <p:spPr>
          <a:xfrm>
            <a:off x="6007608" y="1170432"/>
            <a:ext cx="2743200" cy="347472"/>
          </a:xfrm>
          <a:prstGeom prst="rect">
            <a:avLst/>
          </a:prstGeom>
          <a:solidFill>
            <a:srgbClr val="0B1D3A"/>
          </a:solidFill>
          <a:ln w="12700">
            <a:solidFill>
              <a:srgbClr val="0B1D3A"/>
            </a:solidFill>
            <a:prstDash val="solid"/>
          </a:ln>
        </p:spPr>
      </p:sp>
      <p:sp>
        <p:nvSpPr>
          <p:cNvPr id="16" name="Text 14"/>
          <p:cNvSpPr/>
          <p:nvPr/>
        </p:nvSpPr>
        <p:spPr>
          <a:xfrm>
            <a:off x="6007608" y="1170432"/>
            <a:ext cx="27432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Visual</a:t>
            </a:r>
            <a:endParaRPr lang="en-US" sz="1100" dirty="0"/>
          </a:p>
        </p:txBody>
      </p:sp>
      <p:sp>
        <p:nvSpPr>
          <p:cNvPr id="17" name="Shape 15"/>
          <p:cNvSpPr/>
          <p:nvPr/>
        </p:nvSpPr>
        <p:spPr>
          <a:xfrm>
            <a:off x="365760" y="1517904"/>
            <a:ext cx="566928" cy="420624"/>
          </a:xfrm>
          <a:prstGeom prst="rect">
            <a:avLst/>
          </a:prstGeom>
          <a:solidFill>
            <a:srgbClr val="1A6B7A"/>
          </a:solidFill>
          <a:ln w="12700">
            <a:solidFill>
              <a:srgbClr val="DDE4F0"/>
            </a:solidFill>
            <a:prstDash val="solid"/>
          </a:ln>
        </p:spPr>
      </p:sp>
      <p:sp>
        <p:nvSpPr>
          <p:cNvPr id="18" name="Text 16"/>
          <p:cNvSpPr/>
          <p:nvPr/>
        </p:nvSpPr>
        <p:spPr>
          <a:xfrm>
            <a:off x="411480" y="1517904"/>
            <a:ext cx="475488" cy="420624"/>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C1</a:t>
            </a:r>
            <a:endParaRPr lang="en-US" sz="1050" dirty="0"/>
          </a:p>
        </p:txBody>
      </p:sp>
      <p:sp>
        <p:nvSpPr>
          <p:cNvPr id="19" name="Shape 17"/>
          <p:cNvSpPr/>
          <p:nvPr/>
        </p:nvSpPr>
        <p:spPr>
          <a:xfrm>
            <a:off x="932688" y="1517904"/>
            <a:ext cx="1234440" cy="420624"/>
          </a:xfrm>
          <a:prstGeom prst="rect">
            <a:avLst/>
          </a:prstGeom>
          <a:solidFill>
            <a:srgbClr val="FFFFFF"/>
          </a:solidFill>
          <a:ln w="12700">
            <a:solidFill>
              <a:srgbClr val="DDE4F0"/>
            </a:solidFill>
            <a:prstDash val="solid"/>
          </a:ln>
        </p:spPr>
      </p:sp>
      <p:sp>
        <p:nvSpPr>
          <p:cNvPr id="20" name="Text 18"/>
          <p:cNvSpPr/>
          <p:nvPr/>
        </p:nvSpPr>
        <p:spPr>
          <a:xfrm>
            <a:off x="978408" y="1517904"/>
            <a:ext cx="114300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Convolutional</a:t>
            </a:r>
            <a:endParaRPr lang="en-US" sz="1050" dirty="0"/>
          </a:p>
        </p:txBody>
      </p:sp>
      <p:sp>
        <p:nvSpPr>
          <p:cNvPr id="21" name="Shape 19"/>
          <p:cNvSpPr/>
          <p:nvPr/>
        </p:nvSpPr>
        <p:spPr>
          <a:xfrm>
            <a:off x="2167128" y="1517904"/>
            <a:ext cx="2103120" cy="420624"/>
          </a:xfrm>
          <a:prstGeom prst="rect">
            <a:avLst/>
          </a:prstGeom>
          <a:solidFill>
            <a:srgbClr val="FFFFFF"/>
          </a:solidFill>
          <a:ln w="12700">
            <a:solidFill>
              <a:srgbClr val="DDE4F0"/>
            </a:solidFill>
            <a:prstDash val="solid"/>
          </a:ln>
        </p:spPr>
      </p:sp>
      <p:sp>
        <p:nvSpPr>
          <p:cNvPr id="22" name="Text 20"/>
          <p:cNvSpPr/>
          <p:nvPr/>
        </p:nvSpPr>
        <p:spPr>
          <a:xfrm>
            <a:off x="2212848" y="1517904"/>
            <a:ext cx="201168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6 × (5×5×1 + 1)</a:t>
            </a:r>
            <a:endParaRPr lang="en-US" sz="1050" dirty="0"/>
          </a:p>
        </p:txBody>
      </p:sp>
      <p:sp>
        <p:nvSpPr>
          <p:cNvPr id="23" name="Shape 21"/>
          <p:cNvSpPr/>
          <p:nvPr/>
        </p:nvSpPr>
        <p:spPr>
          <a:xfrm>
            <a:off x="4270248" y="1517904"/>
            <a:ext cx="914400" cy="420624"/>
          </a:xfrm>
          <a:prstGeom prst="rect">
            <a:avLst/>
          </a:prstGeom>
          <a:solidFill>
            <a:srgbClr val="FFFFFF"/>
          </a:solidFill>
          <a:ln w="12700">
            <a:solidFill>
              <a:srgbClr val="DDE4F0"/>
            </a:solidFill>
            <a:prstDash val="solid"/>
          </a:ln>
        </p:spPr>
      </p:sp>
      <p:sp>
        <p:nvSpPr>
          <p:cNvPr id="24" name="Text 22"/>
          <p:cNvSpPr/>
          <p:nvPr/>
        </p:nvSpPr>
        <p:spPr>
          <a:xfrm>
            <a:off x="4315968" y="1517904"/>
            <a:ext cx="82296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156</a:t>
            </a:r>
            <a:endParaRPr lang="en-US" sz="1050" dirty="0"/>
          </a:p>
        </p:txBody>
      </p:sp>
      <p:sp>
        <p:nvSpPr>
          <p:cNvPr id="25" name="Shape 23"/>
          <p:cNvSpPr/>
          <p:nvPr/>
        </p:nvSpPr>
        <p:spPr>
          <a:xfrm>
            <a:off x="5184648" y="1517904"/>
            <a:ext cx="822960" cy="420624"/>
          </a:xfrm>
          <a:prstGeom prst="rect">
            <a:avLst/>
          </a:prstGeom>
          <a:solidFill>
            <a:srgbClr val="FFFFFF"/>
          </a:solidFill>
          <a:ln w="12700">
            <a:solidFill>
              <a:srgbClr val="DDE4F0"/>
            </a:solidFill>
            <a:prstDash val="solid"/>
          </a:ln>
        </p:spPr>
      </p:sp>
      <p:sp>
        <p:nvSpPr>
          <p:cNvPr id="26" name="Text 24"/>
          <p:cNvSpPr/>
          <p:nvPr/>
        </p:nvSpPr>
        <p:spPr>
          <a:xfrm>
            <a:off x="5230368" y="1517904"/>
            <a:ext cx="73152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0.3%</a:t>
            </a:r>
            <a:endParaRPr lang="en-US" sz="1050" dirty="0"/>
          </a:p>
        </p:txBody>
      </p:sp>
      <p:sp>
        <p:nvSpPr>
          <p:cNvPr id="27" name="Shape 25"/>
          <p:cNvSpPr/>
          <p:nvPr/>
        </p:nvSpPr>
        <p:spPr>
          <a:xfrm>
            <a:off x="6071616" y="1609344"/>
            <a:ext cx="54864" cy="237744"/>
          </a:xfrm>
          <a:prstGeom prst="rect">
            <a:avLst/>
          </a:prstGeom>
          <a:solidFill>
            <a:srgbClr val="1A6B7A"/>
          </a:solidFill>
          <a:ln w="12700">
            <a:solidFill>
              <a:srgbClr val="1A6B7A"/>
            </a:solidFill>
            <a:prstDash val="solid"/>
          </a:ln>
        </p:spPr>
      </p:sp>
      <p:sp>
        <p:nvSpPr>
          <p:cNvPr id="28" name="Text 26"/>
          <p:cNvSpPr/>
          <p:nvPr/>
        </p:nvSpPr>
        <p:spPr>
          <a:xfrm>
            <a:off x="6172200" y="1609344"/>
            <a:ext cx="2487168" cy="237744"/>
          </a:xfrm>
          <a:prstGeom prst="rect">
            <a:avLst/>
          </a:prstGeom>
          <a:noFill/>
          <a:ln/>
        </p:spPr>
        <p:txBody>
          <a:bodyPr wrap="square" lIns="0" tIns="0" rIns="0" bIns="0" rtlCol="0" anchor="ctr"/>
          <a:lstStyle/>
          <a:p>
            <a:pPr indent="0" marL="0">
              <a:buNone/>
            </a:pPr>
            <a:r>
              <a:rPr lang="en-US" sz="900" dirty="0">
                <a:solidFill>
                  <a:srgbClr val="6B7D99"/>
                </a:solidFill>
                <a:latin typeface="Calibri" pitchFamily="34" charset="0"/>
                <a:ea typeface="Calibri" pitchFamily="34" charset="-122"/>
                <a:cs typeface="Calibri" pitchFamily="34" charset="-120"/>
              </a:rPr>
              <a:t>156</a:t>
            </a:r>
            <a:endParaRPr lang="en-US" sz="900" dirty="0"/>
          </a:p>
        </p:txBody>
      </p:sp>
      <p:sp>
        <p:nvSpPr>
          <p:cNvPr id="29" name="Shape 27"/>
          <p:cNvSpPr/>
          <p:nvPr/>
        </p:nvSpPr>
        <p:spPr>
          <a:xfrm>
            <a:off x="365760" y="1938528"/>
            <a:ext cx="566928" cy="420624"/>
          </a:xfrm>
          <a:prstGeom prst="rect">
            <a:avLst/>
          </a:prstGeom>
          <a:solidFill>
            <a:srgbClr val="3D4F6B"/>
          </a:solidFill>
          <a:ln w="12700">
            <a:solidFill>
              <a:srgbClr val="DDE4F0"/>
            </a:solidFill>
            <a:prstDash val="solid"/>
          </a:ln>
        </p:spPr>
      </p:sp>
      <p:sp>
        <p:nvSpPr>
          <p:cNvPr id="30" name="Text 28"/>
          <p:cNvSpPr/>
          <p:nvPr/>
        </p:nvSpPr>
        <p:spPr>
          <a:xfrm>
            <a:off x="411480" y="1938528"/>
            <a:ext cx="475488" cy="420624"/>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S2</a:t>
            </a:r>
            <a:endParaRPr lang="en-US" sz="1050" dirty="0"/>
          </a:p>
        </p:txBody>
      </p:sp>
      <p:sp>
        <p:nvSpPr>
          <p:cNvPr id="31" name="Shape 29"/>
          <p:cNvSpPr/>
          <p:nvPr/>
        </p:nvSpPr>
        <p:spPr>
          <a:xfrm>
            <a:off x="932688" y="1938528"/>
            <a:ext cx="1234440" cy="420624"/>
          </a:xfrm>
          <a:prstGeom prst="rect">
            <a:avLst/>
          </a:prstGeom>
          <a:solidFill>
            <a:srgbClr val="F4F6FB"/>
          </a:solidFill>
          <a:ln w="12700">
            <a:solidFill>
              <a:srgbClr val="DDE4F0"/>
            </a:solidFill>
            <a:prstDash val="solid"/>
          </a:ln>
        </p:spPr>
      </p:sp>
      <p:sp>
        <p:nvSpPr>
          <p:cNvPr id="32" name="Text 30"/>
          <p:cNvSpPr/>
          <p:nvPr/>
        </p:nvSpPr>
        <p:spPr>
          <a:xfrm>
            <a:off x="978408" y="1938528"/>
            <a:ext cx="114300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Avg Pool</a:t>
            </a:r>
            <a:endParaRPr lang="en-US" sz="1050" dirty="0"/>
          </a:p>
        </p:txBody>
      </p:sp>
      <p:sp>
        <p:nvSpPr>
          <p:cNvPr id="33" name="Shape 31"/>
          <p:cNvSpPr/>
          <p:nvPr/>
        </p:nvSpPr>
        <p:spPr>
          <a:xfrm>
            <a:off x="2167128" y="1938528"/>
            <a:ext cx="2103120" cy="420624"/>
          </a:xfrm>
          <a:prstGeom prst="rect">
            <a:avLst/>
          </a:prstGeom>
          <a:solidFill>
            <a:srgbClr val="F4F6FB"/>
          </a:solidFill>
          <a:ln w="12700">
            <a:solidFill>
              <a:srgbClr val="DDE4F0"/>
            </a:solidFill>
            <a:prstDash val="solid"/>
          </a:ln>
        </p:spPr>
      </p:sp>
      <p:sp>
        <p:nvSpPr>
          <p:cNvPr id="34" name="Text 32"/>
          <p:cNvSpPr/>
          <p:nvPr/>
        </p:nvSpPr>
        <p:spPr>
          <a:xfrm>
            <a:off x="2212848" y="1938528"/>
            <a:ext cx="201168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6 × (1 + 1)</a:t>
            </a:r>
            <a:endParaRPr lang="en-US" sz="1050" dirty="0"/>
          </a:p>
        </p:txBody>
      </p:sp>
      <p:sp>
        <p:nvSpPr>
          <p:cNvPr id="35" name="Shape 33"/>
          <p:cNvSpPr/>
          <p:nvPr/>
        </p:nvSpPr>
        <p:spPr>
          <a:xfrm>
            <a:off x="4270248" y="1938528"/>
            <a:ext cx="914400" cy="420624"/>
          </a:xfrm>
          <a:prstGeom prst="rect">
            <a:avLst/>
          </a:prstGeom>
          <a:solidFill>
            <a:srgbClr val="F4F6FB"/>
          </a:solidFill>
          <a:ln w="12700">
            <a:solidFill>
              <a:srgbClr val="DDE4F0"/>
            </a:solidFill>
            <a:prstDash val="solid"/>
          </a:ln>
        </p:spPr>
      </p:sp>
      <p:sp>
        <p:nvSpPr>
          <p:cNvPr id="36" name="Text 34"/>
          <p:cNvSpPr/>
          <p:nvPr/>
        </p:nvSpPr>
        <p:spPr>
          <a:xfrm>
            <a:off x="4315968" y="1938528"/>
            <a:ext cx="82296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12</a:t>
            </a:r>
            <a:endParaRPr lang="en-US" sz="1050" dirty="0"/>
          </a:p>
        </p:txBody>
      </p:sp>
      <p:sp>
        <p:nvSpPr>
          <p:cNvPr id="37" name="Shape 35"/>
          <p:cNvSpPr/>
          <p:nvPr/>
        </p:nvSpPr>
        <p:spPr>
          <a:xfrm>
            <a:off x="5184648" y="1938528"/>
            <a:ext cx="822960" cy="420624"/>
          </a:xfrm>
          <a:prstGeom prst="rect">
            <a:avLst/>
          </a:prstGeom>
          <a:solidFill>
            <a:srgbClr val="F4F6FB"/>
          </a:solidFill>
          <a:ln w="12700">
            <a:solidFill>
              <a:srgbClr val="DDE4F0"/>
            </a:solidFill>
            <a:prstDash val="solid"/>
          </a:ln>
        </p:spPr>
      </p:sp>
      <p:sp>
        <p:nvSpPr>
          <p:cNvPr id="38" name="Text 36"/>
          <p:cNvSpPr/>
          <p:nvPr/>
        </p:nvSpPr>
        <p:spPr>
          <a:xfrm>
            <a:off x="5230368" y="1938528"/>
            <a:ext cx="73152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0.0%</a:t>
            </a:r>
            <a:endParaRPr lang="en-US" sz="1050" dirty="0"/>
          </a:p>
        </p:txBody>
      </p:sp>
      <p:sp>
        <p:nvSpPr>
          <p:cNvPr id="39" name="Shape 37"/>
          <p:cNvSpPr/>
          <p:nvPr/>
        </p:nvSpPr>
        <p:spPr>
          <a:xfrm>
            <a:off x="6071616" y="2029968"/>
            <a:ext cx="54864" cy="237744"/>
          </a:xfrm>
          <a:prstGeom prst="rect">
            <a:avLst/>
          </a:prstGeom>
          <a:solidFill>
            <a:srgbClr val="3D4F6B"/>
          </a:solidFill>
          <a:ln w="12700">
            <a:solidFill>
              <a:srgbClr val="3D4F6B"/>
            </a:solidFill>
            <a:prstDash val="solid"/>
          </a:ln>
        </p:spPr>
      </p:sp>
      <p:sp>
        <p:nvSpPr>
          <p:cNvPr id="40" name="Text 38"/>
          <p:cNvSpPr/>
          <p:nvPr/>
        </p:nvSpPr>
        <p:spPr>
          <a:xfrm>
            <a:off x="6172200" y="2029968"/>
            <a:ext cx="2487168" cy="237744"/>
          </a:xfrm>
          <a:prstGeom prst="rect">
            <a:avLst/>
          </a:prstGeom>
          <a:noFill/>
          <a:ln/>
        </p:spPr>
        <p:txBody>
          <a:bodyPr wrap="square" lIns="0" tIns="0" rIns="0" bIns="0" rtlCol="0" anchor="ctr"/>
          <a:lstStyle/>
          <a:p>
            <a:pPr indent="0" marL="0">
              <a:buNone/>
            </a:pPr>
            <a:r>
              <a:rPr lang="en-US" sz="900" dirty="0">
                <a:solidFill>
                  <a:srgbClr val="6B7D99"/>
                </a:solidFill>
                <a:latin typeface="Calibri" pitchFamily="34" charset="0"/>
                <a:ea typeface="Calibri" pitchFamily="34" charset="-122"/>
                <a:cs typeface="Calibri" pitchFamily="34" charset="-120"/>
              </a:rPr>
              <a:t>12</a:t>
            </a:r>
            <a:endParaRPr lang="en-US" sz="900" dirty="0"/>
          </a:p>
        </p:txBody>
      </p:sp>
      <p:sp>
        <p:nvSpPr>
          <p:cNvPr id="41" name="Shape 39"/>
          <p:cNvSpPr/>
          <p:nvPr/>
        </p:nvSpPr>
        <p:spPr>
          <a:xfrm>
            <a:off x="365760" y="2359152"/>
            <a:ext cx="566928" cy="420624"/>
          </a:xfrm>
          <a:prstGeom prst="rect">
            <a:avLst/>
          </a:prstGeom>
          <a:solidFill>
            <a:srgbClr val="1A6B7A"/>
          </a:solidFill>
          <a:ln w="12700">
            <a:solidFill>
              <a:srgbClr val="DDE4F0"/>
            </a:solidFill>
            <a:prstDash val="solid"/>
          </a:ln>
        </p:spPr>
      </p:sp>
      <p:sp>
        <p:nvSpPr>
          <p:cNvPr id="42" name="Text 40"/>
          <p:cNvSpPr/>
          <p:nvPr/>
        </p:nvSpPr>
        <p:spPr>
          <a:xfrm>
            <a:off x="411480" y="2359152"/>
            <a:ext cx="475488" cy="420624"/>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C3</a:t>
            </a:r>
            <a:endParaRPr lang="en-US" sz="1050" dirty="0"/>
          </a:p>
        </p:txBody>
      </p:sp>
      <p:sp>
        <p:nvSpPr>
          <p:cNvPr id="43" name="Shape 41"/>
          <p:cNvSpPr/>
          <p:nvPr/>
        </p:nvSpPr>
        <p:spPr>
          <a:xfrm>
            <a:off x="932688" y="2359152"/>
            <a:ext cx="1234440" cy="420624"/>
          </a:xfrm>
          <a:prstGeom prst="rect">
            <a:avLst/>
          </a:prstGeom>
          <a:solidFill>
            <a:srgbClr val="FFFFFF"/>
          </a:solidFill>
          <a:ln w="12700">
            <a:solidFill>
              <a:srgbClr val="DDE4F0"/>
            </a:solidFill>
            <a:prstDash val="solid"/>
          </a:ln>
        </p:spPr>
      </p:sp>
      <p:sp>
        <p:nvSpPr>
          <p:cNvPr id="44" name="Text 42"/>
          <p:cNvSpPr/>
          <p:nvPr/>
        </p:nvSpPr>
        <p:spPr>
          <a:xfrm>
            <a:off x="978408" y="2359152"/>
            <a:ext cx="114300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Convolutional</a:t>
            </a:r>
            <a:endParaRPr lang="en-US" sz="1050" dirty="0"/>
          </a:p>
        </p:txBody>
      </p:sp>
      <p:sp>
        <p:nvSpPr>
          <p:cNvPr id="45" name="Shape 43"/>
          <p:cNvSpPr/>
          <p:nvPr/>
        </p:nvSpPr>
        <p:spPr>
          <a:xfrm>
            <a:off x="2167128" y="2359152"/>
            <a:ext cx="2103120" cy="420624"/>
          </a:xfrm>
          <a:prstGeom prst="rect">
            <a:avLst/>
          </a:prstGeom>
          <a:solidFill>
            <a:srgbClr val="FFFFFF"/>
          </a:solidFill>
          <a:ln w="12700">
            <a:solidFill>
              <a:srgbClr val="DDE4F0"/>
            </a:solidFill>
            <a:prstDash val="solid"/>
          </a:ln>
        </p:spPr>
      </p:sp>
      <p:sp>
        <p:nvSpPr>
          <p:cNvPr id="46" name="Text 44"/>
          <p:cNvSpPr/>
          <p:nvPr/>
        </p:nvSpPr>
        <p:spPr>
          <a:xfrm>
            <a:off x="2212848" y="2359152"/>
            <a:ext cx="201168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Partial connect</a:t>
            </a:r>
            <a:endParaRPr lang="en-US" sz="1050" dirty="0"/>
          </a:p>
        </p:txBody>
      </p:sp>
      <p:sp>
        <p:nvSpPr>
          <p:cNvPr id="47" name="Shape 45"/>
          <p:cNvSpPr/>
          <p:nvPr/>
        </p:nvSpPr>
        <p:spPr>
          <a:xfrm>
            <a:off x="4270248" y="2359152"/>
            <a:ext cx="914400" cy="420624"/>
          </a:xfrm>
          <a:prstGeom prst="rect">
            <a:avLst/>
          </a:prstGeom>
          <a:solidFill>
            <a:srgbClr val="FFFFFF"/>
          </a:solidFill>
          <a:ln w="12700">
            <a:solidFill>
              <a:srgbClr val="DDE4F0"/>
            </a:solidFill>
            <a:prstDash val="solid"/>
          </a:ln>
        </p:spPr>
      </p:sp>
      <p:sp>
        <p:nvSpPr>
          <p:cNvPr id="48" name="Text 46"/>
          <p:cNvSpPr/>
          <p:nvPr/>
        </p:nvSpPr>
        <p:spPr>
          <a:xfrm>
            <a:off x="4315968" y="2359152"/>
            <a:ext cx="82296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1,516</a:t>
            </a:r>
            <a:endParaRPr lang="en-US" sz="1050" dirty="0"/>
          </a:p>
        </p:txBody>
      </p:sp>
      <p:sp>
        <p:nvSpPr>
          <p:cNvPr id="49" name="Shape 47"/>
          <p:cNvSpPr/>
          <p:nvPr/>
        </p:nvSpPr>
        <p:spPr>
          <a:xfrm>
            <a:off x="5184648" y="2359152"/>
            <a:ext cx="822960" cy="420624"/>
          </a:xfrm>
          <a:prstGeom prst="rect">
            <a:avLst/>
          </a:prstGeom>
          <a:solidFill>
            <a:srgbClr val="FFFFFF"/>
          </a:solidFill>
          <a:ln w="12700">
            <a:solidFill>
              <a:srgbClr val="DDE4F0"/>
            </a:solidFill>
            <a:prstDash val="solid"/>
          </a:ln>
        </p:spPr>
      </p:sp>
      <p:sp>
        <p:nvSpPr>
          <p:cNvPr id="50" name="Text 48"/>
          <p:cNvSpPr/>
          <p:nvPr/>
        </p:nvSpPr>
        <p:spPr>
          <a:xfrm>
            <a:off x="5230368" y="2359152"/>
            <a:ext cx="73152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2.5%</a:t>
            </a:r>
            <a:endParaRPr lang="en-US" sz="1050" dirty="0"/>
          </a:p>
        </p:txBody>
      </p:sp>
      <p:sp>
        <p:nvSpPr>
          <p:cNvPr id="51" name="Shape 49"/>
          <p:cNvSpPr/>
          <p:nvPr/>
        </p:nvSpPr>
        <p:spPr>
          <a:xfrm>
            <a:off x="6071616" y="2450592"/>
            <a:ext cx="65933" cy="237744"/>
          </a:xfrm>
          <a:prstGeom prst="rect">
            <a:avLst/>
          </a:prstGeom>
          <a:solidFill>
            <a:srgbClr val="1A6B7A"/>
          </a:solidFill>
          <a:ln w="12700">
            <a:solidFill>
              <a:srgbClr val="1A6B7A"/>
            </a:solidFill>
            <a:prstDash val="solid"/>
          </a:ln>
        </p:spPr>
      </p:sp>
      <p:sp>
        <p:nvSpPr>
          <p:cNvPr id="52" name="Text 50"/>
          <p:cNvSpPr/>
          <p:nvPr/>
        </p:nvSpPr>
        <p:spPr>
          <a:xfrm>
            <a:off x="6183269" y="2450592"/>
            <a:ext cx="2476099" cy="237744"/>
          </a:xfrm>
          <a:prstGeom prst="rect">
            <a:avLst/>
          </a:prstGeom>
          <a:noFill/>
          <a:ln/>
        </p:spPr>
        <p:txBody>
          <a:bodyPr wrap="square" lIns="0" tIns="0" rIns="0" bIns="0" rtlCol="0" anchor="ctr"/>
          <a:lstStyle/>
          <a:p>
            <a:pPr indent="0" marL="0">
              <a:buNone/>
            </a:pPr>
            <a:r>
              <a:rPr lang="en-US" sz="900" dirty="0">
                <a:solidFill>
                  <a:srgbClr val="6B7D99"/>
                </a:solidFill>
                <a:latin typeface="Calibri" pitchFamily="34" charset="0"/>
                <a:ea typeface="Calibri" pitchFamily="34" charset="-122"/>
                <a:cs typeface="Calibri" pitchFamily="34" charset="-120"/>
              </a:rPr>
              <a:t>1,516</a:t>
            </a:r>
            <a:endParaRPr lang="en-US" sz="900" dirty="0"/>
          </a:p>
        </p:txBody>
      </p:sp>
      <p:sp>
        <p:nvSpPr>
          <p:cNvPr id="53" name="Shape 51"/>
          <p:cNvSpPr/>
          <p:nvPr/>
        </p:nvSpPr>
        <p:spPr>
          <a:xfrm>
            <a:off x="365760" y="2779776"/>
            <a:ext cx="566928" cy="420624"/>
          </a:xfrm>
          <a:prstGeom prst="rect">
            <a:avLst/>
          </a:prstGeom>
          <a:solidFill>
            <a:srgbClr val="3D4F6B"/>
          </a:solidFill>
          <a:ln w="12700">
            <a:solidFill>
              <a:srgbClr val="DDE4F0"/>
            </a:solidFill>
            <a:prstDash val="solid"/>
          </a:ln>
        </p:spPr>
      </p:sp>
      <p:sp>
        <p:nvSpPr>
          <p:cNvPr id="54" name="Text 52"/>
          <p:cNvSpPr/>
          <p:nvPr/>
        </p:nvSpPr>
        <p:spPr>
          <a:xfrm>
            <a:off x="411480" y="2779776"/>
            <a:ext cx="475488" cy="420624"/>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S4</a:t>
            </a:r>
            <a:endParaRPr lang="en-US" sz="1050" dirty="0"/>
          </a:p>
        </p:txBody>
      </p:sp>
      <p:sp>
        <p:nvSpPr>
          <p:cNvPr id="55" name="Shape 53"/>
          <p:cNvSpPr/>
          <p:nvPr/>
        </p:nvSpPr>
        <p:spPr>
          <a:xfrm>
            <a:off x="932688" y="2779776"/>
            <a:ext cx="1234440" cy="420624"/>
          </a:xfrm>
          <a:prstGeom prst="rect">
            <a:avLst/>
          </a:prstGeom>
          <a:solidFill>
            <a:srgbClr val="F4F6FB"/>
          </a:solidFill>
          <a:ln w="12700">
            <a:solidFill>
              <a:srgbClr val="DDE4F0"/>
            </a:solidFill>
            <a:prstDash val="solid"/>
          </a:ln>
        </p:spPr>
      </p:sp>
      <p:sp>
        <p:nvSpPr>
          <p:cNvPr id="56" name="Text 54"/>
          <p:cNvSpPr/>
          <p:nvPr/>
        </p:nvSpPr>
        <p:spPr>
          <a:xfrm>
            <a:off x="978408" y="2779776"/>
            <a:ext cx="114300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Avg Pool</a:t>
            </a:r>
            <a:endParaRPr lang="en-US" sz="1050" dirty="0"/>
          </a:p>
        </p:txBody>
      </p:sp>
      <p:sp>
        <p:nvSpPr>
          <p:cNvPr id="57" name="Shape 55"/>
          <p:cNvSpPr/>
          <p:nvPr/>
        </p:nvSpPr>
        <p:spPr>
          <a:xfrm>
            <a:off x="2167128" y="2779776"/>
            <a:ext cx="2103120" cy="420624"/>
          </a:xfrm>
          <a:prstGeom prst="rect">
            <a:avLst/>
          </a:prstGeom>
          <a:solidFill>
            <a:srgbClr val="F4F6FB"/>
          </a:solidFill>
          <a:ln w="12700">
            <a:solidFill>
              <a:srgbClr val="DDE4F0"/>
            </a:solidFill>
            <a:prstDash val="solid"/>
          </a:ln>
        </p:spPr>
      </p:sp>
      <p:sp>
        <p:nvSpPr>
          <p:cNvPr id="58" name="Text 56"/>
          <p:cNvSpPr/>
          <p:nvPr/>
        </p:nvSpPr>
        <p:spPr>
          <a:xfrm>
            <a:off x="2212848" y="2779776"/>
            <a:ext cx="201168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16 × (1 + 1)</a:t>
            </a:r>
            <a:endParaRPr lang="en-US" sz="1050" dirty="0"/>
          </a:p>
        </p:txBody>
      </p:sp>
      <p:sp>
        <p:nvSpPr>
          <p:cNvPr id="59" name="Shape 57"/>
          <p:cNvSpPr/>
          <p:nvPr/>
        </p:nvSpPr>
        <p:spPr>
          <a:xfrm>
            <a:off x="4270248" y="2779776"/>
            <a:ext cx="914400" cy="420624"/>
          </a:xfrm>
          <a:prstGeom prst="rect">
            <a:avLst/>
          </a:prstGeom>
          <a:solidFill>
            <a:srgbClr val="F4F6FB"/>
          </a:solidFill>
          <a:ln w="12700">
            <a:solidFill>
              <a:srgbClr val="DDE4F0"/>
            </a:solidFill>
            <a:prstDash val="solid"/>
          </a:ln>
        </p:spPr>
      </p:sp>
      <p:sp>
        <p:nvSpPr>
          <p:cNvPr id="60" name="Text 58"/>
          <p:cNvSpPr/>
          <p:nvPr/>
        </p:nvSpPr>
        <p:spPr>
          <a:xfrm>
            <a:off x="4315968" y="2779776"/>
            <a:ext cx="82296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32</a:t>
            </a:r>
            <a:endParaRPr lang="en-US" sz="1050" dirty="0"/>
          </a:p>
        </p:txBody>
      </p:sp>
      <p:sp>
        <p:nvSpPr>
          <p:cNvPr id="61" name="Shape 59"/>
          <p:cNvSpPr/>
          <p:nvPr/>
        </p:nvSpPr>
        <p:spPr>
          <a:xfrm>
            <a:off x="5184648" y="2779776"/>
            <a:ext cx="822960" cy="420624"/>
          </a:xfrm>
          <a:prstGeom prst="rect">
            <a:avLst/>
          </a:prstGeom>
          <a:solidFill>
            <a:srgbClr val="F4F6FB"/>
          </a:solidFill>
          <a:ln w="12700">
            <a:solidFill>
              <a:srgbClr val="DDE4F0"/>
            </a:solidFill>
            <a:prstDash val="solid"/>
          </a:ln>
        </p:spPr>
      </p:sp>
      <p:sp>
        <p:nvSpPr>
          <p:cNvPr id="62" name="Text 60"/>
          <p:cNvSpPr/>
          <p:nvPr/>
        </p:nvSpPr>
        <p:spPr>
          <a:xfrm>
            <a:off x="5230368" y="2779776"/>
            <a:ext cx="73152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0.1%</a:t>
            </a:r>
            <a:endParaRPr lang="en-US" sz="1050" dirty="0"/>
          </a:p>
        </p:txBody>
      </p:sp>
      <p:sp>
        <p:nvSpPr>
          <p:cNvPr id="63" name="Shape 61"/>
          <p:cNvSpPr/>
          <p:nvPr/>
        </p:nvSpPr>
        <p:spPr>
          <a:xfrm>
            <a:off x="6071616" y="2871216"/>
            <a:ext cx="54864" cy="237744"/>
          </a:xfrm>
          <a:prstGeom prst="rect">
            <a:avLst/>
          </a:prstGeom>
          <a:solidFill>
            <a:srgbClr val="3D4F6B"/>
          </a:solidFill>
          <a:ln w="12700">
            <a:solidFill>
              <a:srgbClr val="3D4F6B"/>
            </a:solidFill>
            <a:prstDash val="solid"/>
          </a:ln>
        </p:spPr>
      </p:sp>
      <p:sp>
        <p:nvSpPr>
          <p:cNvPr id="64" name="Text 62"/>
          <p:cNvSpPr/>
          <p:nvPr/>
        </p:nvSpPr>
        <p:spPr>
          <a:xfrm>
            <a:off x="6172200" y="2871216"/>
            <a:ext cx="2487168" cy="237744"/>
          </a:xfrm>
          <a:prstGeom prst="rect">
            <a:avLst/>
          </a:prstGeom>
          <a:noFill/>
          <a:ln/>
        </p:spPr>
        <p:txBody>
          <a:bodyPr wrap="square" lIns="0" tIns="0" rIns="0" bIns="0" rtlCol="0" anchor="ctr"/>
          <a:lstStyle/>
          <a:p>
            <a:pPr indent="0" marL="0">
              <a:buNone/>
            </a:pPr>
            <a:r>
              <a:rPr lang="en-US" sz="900" dirty="0">
                <a:solidFill>
                  <a:srgbClr val="6B7D99"/>
                </a:solidFill>
                <a:latin typeface="Calibri" pitchFamily="34" charset="0"/>
                <a:ea typeface="Calibri" pitchFamily="34" charset="-122"/>
                <a:cs typeface="Calibri" pitchFamily="34" charset="-120"/>
              </a:rPr>
              <a:t>32</a:t>
            </a:r>
            <a:endParaRPr lang="en-US" sz="900" dirty="0"/>
          </a:p>
        </p:txBody>
      </p:sp>
      <p:sp>
        <p:nvSpPr>
          <p:cNvPr id="65" name="Shape 63"/>
          <p:cNvSpPr/>
          <p:nvPr/>
        </p:nvSpPr>
        <p:spPr>
          <a:xfrm>
            <a:off x="365760" y="3200400"/>
            <a:ext cx="566928" cy="420624"/>
          </a:xfrm>
          <a:prstGeom prst="rect">
            <a:avLst/>
          </a:prstGeom>
          <a:solidFill>
            <a:srgbClr val="1A6B7A"/>
          </a:solidFill>
          <a:ln w="12700">
            <a:solidFill>
              <a:srgbClr val="DDE4F0"/>
            </a:solidFill>
            <a:prstDash val="solid"/>
          </a:ln>
        </p:spPr>
      </p:sp>
      <p:sp>
        <p:nvSpPr>
          <p:cNvPr id="66" name="Text 64"/>
          <p:cNvSpPr/>
          <p:nvPr/>
        </p:nvSpPr>
        <p:spPr>
          <a:xfrm>
            <a:off x="411480" y="3200400"/>
            <a:ext cx="475488" cy="420624"/>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C5</a:t>
            </a:r>
            <a:endParaRPr lang="en-US" sz="1050" dirty="0"/>
          </a:p>
        </p:txBody>
      </p:sp>
      <p:sp>
        <p:nvSpPr>
          <p:cNvPr id="67" name="Shape 65"/>
          <p:cNvSpPr/>
          <p:nvPr/>
        </p:nvSpPr>
        <p:spPr>
          <a:xfrm>
            <a:off x="932688" y="3200400"/>
            <a:ext cx="1234440" cy="420624"/>
          </a:xfrm>
          <a:prstGeom prst="rect">
            <a:avLst/>
          </a:prstGeom>
          <a:solidFill>
            <a:srgbClr val="FFFFFF"/>
          </a:solidFill>
          <a:ln w="12700">
            <a:solidFill>
              <a:srgbClr val="DDE4F0"/>
            </a:solidFill>
            <a:prstDash val="solid"/>
          </a:ln>
        </p:spPr>
      </p:sp>
      <p:sp>
        <p:nvSpPr>
          <p:cNvPr id="68" name="Text 66"/>
          <p:cNvSpPr/>
          <p:nvPr/>
        </p:nvSpPr>
        <p:spPr>
          <a:xfrm>
            <a:off x="978408" y="3200400"/>
            <a:ext cx="114300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Conv / FC</a:t>
            </a:r>
            <a:endParaRPr lang="en-US" sz="1050" dirty="0"/>
          </a:p>
        </p:txBody>
      </p:sp>
      <p:sp>
        <p:nvSpPr>
          <p:cNvPr id="69" name="Shape 67"/>
          <p:cNvSpPr/>
          <p:nvPr/>
        </p:nvSpPr>
        <p:spPr>
          <a:xfrm>
            <a:off x="2167128" y="3200400"/>
            <a:ext cx="2103120" cy="420624"/>
          </a:xfrm>
          <a:prstGeom prst="rect">
            <a:avLst/>
          </a:prstGeom>
          <a:solidFill>
            <a:srgbClr val="FFFFFF"/>
          </a:solidFill>
          <a:ln w="12700">
            <a:solidFill>
              <a:srgbClr val="DDE4F0"/>
            </a:solidFill>
            <a:prstDash val="solid"/>
          </a:ln>
        </p:spPr>
      </p:sp>
      <p:sp>
        <p:nvSpPr>
          <p:cNvPr id="70" name="Text 68"/>
          <p:cNvSpPr/>
          <p:nvPr/>
        </p:nvSpPr>
        <p:spPr>
          <a:xfrm>
            <a:off x="2212848" y="3200400"/>
            <a:ext cx="201168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120 × (5×5×16 + 1)</a:t>
            </a:r>
            <a:endParaRPr lang="en-US" sz="1050" dirty="0"/>
          </a:p>
        </p:txBody>
      </p:sp>
      <p:sp>
        <p:nvSpPr>
          <p:cNvPr id="71" name="Shape 69"/>
          <p:cNvSpPr/>
          <p:nvPr/>
        </p:nvSpPr>
        <p:spPr>
          <a:xfrm>
            <a:off x="4270248" y="3200400"/>
            <a:ext cx="914400" cy="420624"/>
          </a:xfrm>
          <a:prstGeom prst="rect">
            <a:avLst/>
          </a:prstGeom>
          <a:solidFill>
            <a:srgbClr val="FFFFFF"/>
          </a:solidFill>
          <a:ln w="12700">
            <a:solidFill>
              <a:srgbClr val="DDE4F0"/>
            </a:solidFill>
            <a:prstDash val="solid"/>
          </a:ln>
        </p:spPr>
      </p:sp>
      <p:sp>
        <p:nvSpPr>
          <p:cNvPr id="72" name="Text 70"/>
          <p:cNvSpPr/>
          <p:nvPr/>
        </p:nvSpPr>
        <p:spPr>
          <a:xfrm>
            <a:off x="4315968" y="3200400"/>
            <a:ext cx="82296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48,120</a:t>
            </a:r>
            <a:endParaRPr lang="en-US" sz="1050" dirty="0"/>
          </a:p>
        </p:txBody>
      </p:sp>
      <p:sp>
        <p:nvSpPr>
          <p:cNvPr id="73" name="Shape 71"/>
          <p:cNvSpPr/>
          <p:nvPr/>
        </p:nvSpPr>
        <p:spPr>
          <a:xfrm>
            <a:off x="5184648" y="3200400"/>
            <a:ext cx="822960" cy="420624"/>
          </a:xfrm>
          <a:prstGeom prst="rect">
            <a:avLst/>
          </a:prstGeom>
          <a:solidFill>
            <a:srgbClr val="FFFFFF"/>
          </a:solidFill>
          <a:ln w="12700">
            <a:solidFill>
              <a:srgbClr val="DDE4F0"/>
            </a:solidFill>
            <a:prstDash val="solid"/>
          </a:ln>
        </p:spPr>
      </p:sp>
      <p:sp>
        <p:nvSpPr>
          <p:cNvPr id="74" name="Text 72"/>
          <p:cNvSpPr/>
          <p:nvPr/>
        </p:nvSpPr>
        <p:spPr>
          <a:xfrm>
            <a:off x="5230368" y="3200400"/>
            <a:ext cx="73152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80.3%</a:t>
            </a:r>
            <a:endParaRPr lang="en-US" sz="1050" dirty="0"/>
          </a:p>
        </p:txBody>
      </p:sp>
      <p:sp>
        <p:nvSpPr>
          <p:cNvPr id="75" name="Shape 73"/>
          <p:cNvSpPr/>
          <p:nvPr/>
        </p:nvSpPr>
        <p:spPr>
          <a:xfrm>
            <a:off x="6071616" y="3291840"/>
            <a:ext cx="2092650" cy="237744"/>
          </a:xfrm>
          <a:prstGeom prst="rect">
            <a:avLst/>
          </a:prstGeom>
          <a:solidFill>
            <a:srgbClr val="1A6B7A"/>
          </a:solidFill>
          <a:ln w="12700">
            <a:solidFill>
              <a:srgbClr val="1A6B7A"/>
            </a:solidFill>
            <a:prstDash val="solid"/>
          </a:ln>
        </p:spPr>
      </p:sp>
      <p:sp>
        <p:nvSpPr>
          <p:cNvPr id="76" name="Text 74"/>
          <p:cNvSpPr/>
          <p:nvPr/>
        </p:nvSpPr>
        <p:spPr>
          <a:xfrm>
            <a:off x="8209986" y="3291840"/>
            <a:ext cx="449382" cy="237744"/>
          </a:xfrm>
          <a:prstGeom prst="rect">
            <a:avLst/>
          </a:prstGeom>
          <a:noFill/>
          <a:ln/>
        </p:spPr>
        <p:txBody>
          <a:bodyPr wrap="square" lIns="0" tIns="0" rIns="0" bIns="0" rtlCol="0" anchor="ctr"/>
          <a:lstStyle/>
          <a:p>
            <a:pPr indent="0" marL="0">
              <a:buNone/>
            </a:pPr>
            <a:r>
              <a:rPr lang="en-US" sz="900" dirty="0">
                <a:solidFill>
                  <a:srgbClr val="6B7D99"/>
                </a:solidFill>
                <a:latin typeface="Calibri" pitchFamily="34" charset="0"/>
                <a:ea typeface="Calibri" pitchFamily="34" charset="-122"/>
                <a:cs typeface="Calibri" pitchFamily="34" charset="-120"/>
              </a:rPr>
              <a:t>48,120</a:t>
            </a:r>
            <a:endParaRPr lang="en-US" sz="900" dirty="0"/>
          </a:p>
        </p:txBody>
      </p:sp>
      <p:sp>
        <p:nvSpPr>
          <p:cNvPr id="77" name="Shape 75"/>
          <p:cNvSpPr/>
          <p:nvPr/>
        </p:nvSpPr>
        <p:spPr>
          <a:xfrm>
            <a:off x="365760" y="3621024"/>
            <a:ext cx="566928" cy="420624"/>
          </a:xfrm>
          <a:prstGeom prst="rect">
            <a:avLst/>
          </a:prstGeom>
          <a:solidFill>
            <a:srgbClr val="0B1D3A"/>
          </a:solidFill>
          <a:ln w="12700">
            <a:solidFill>
              <a:srgbClr val="DDE4F0"/>
            </a:solidFill>
            <a:prstDash val="solid"/>
          </a:ln>
        </p:spPr>
      </p:sp>
      <p:sp>
        <p:nvSpPr>
          <p:cNvPr id="78" name="Text 76"/>
          <p:cNvSpPr/>
          <p:nvPr/>
        </p:nvSpPr>
        <p:spPr>
          <a:xfrm>
            <a:off x="411480" y="3621024"/>
            <a:ext cx="475488" cy="420624"/>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F6</a:t>
            </a:r>
            <a:endParaRPr lang="en-US" sz="1050" dirty="0"/>
          </a:p>
        </p:txBody>
      </p:sp>
      <p:sp>
        <p:nvSpPr>
          <p:cNvPr id="79" name="Shape 77"/>
          <p:cNvSpPr/>
          <p:nvPr/>
        </p:nvSpPr>
        <p:spPr>
          <a:xfrm>
            <a:off x="932688" y="3621024"/>
            <a:ext cx="1234440" cy="420624"/>
          </a:xfrm>
          <a:prstGeom prst="rect">
            <a:avLst/>
          </a:prstGeom>
          <a:solidFill>
            <a:srgbClr val="F4F6FB"/>
          </a:solidFill>
          <a:ln w="12700">
            <a:solidFill>
              <a:srgbClr val="DDE4F0"/>
            </a:solidFill>
            <a:prstDash val="solid"/>
          </a:ln>
        </p:spPr>
      </p:sp>
      <p:sp>
        <p:nvSpPr>
          <p:cNvPr id="80" name="Text 78"/>
          <p:cNvSpPr/>
          <p:nvPr/>
        </p:nvSpPr>
        <p:spPr>
          <a:xfrm>
            <a:off x="978408" y="3621024"/>
            <a:ext cx="114300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Fully Conn.</a:t>
            </a:r>
            <a:endParaRPr lang="en-US" sz="1050" dirty="0"/>
          </a:p>
        </p:txBody>
      </p:sp>
      <p:sp>
        <p:nvSpPr>
          <p:cNvPr id="81" name="Shape 79"/>
          <p:cNvSpPr/>
          <p:nvPr/>
        </p:nvSpPr>
        <p:spPr>
          <a:xfrm>
            <a:off x="2167128" y="3621024"/>
            <a:ext cx="2103120" cy="420624"/>
          </a:xfrm>
          <a:prstGeom prst="rect">
            <a:avLst/>
          </a:prstGeom>
          <a:solidFill>
            <a:srgbClr val="F4F6FB"/>
          </a:solidFill>
          <a:ln w="12700">
            <a:solidFill>
              <a:srgbClr val="DDE4F0"/>
            </a:solidFill>
            <a:prstDash val="solid"/>
          </a:ln>
        </p:spPr>
      </p:sp>
      <p:sp>
        <p:nvSpPr>
          <p:cNvPr id="82" name="Text 80"/>
          <p:cNvSpPr/>
          <p:nvPr/>
        </p:nvSpPr>
        <p:spPr>
          <a:xfrm>
            <a:off x="2212848" y="3621024"/>
            <a:ext cx="201168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84 × (120 + 1)</a:t>
            </a:r>
            <a:endParaRPr lang="en-US" sz="1050" dirty="0"/>
          </a:p>
        </p:txBody>
      </p:sp>
      <p:sp>
        <p:nvSpPr>
          <p:cNvPr id="83" name="Shape 81"/>
          <p:cNvSpPr/>
          <p:nvPr/>
        </p:nvSpPr>
        <p:spPr>
          <a:xfrm>
            <a:off x="4270248" y="3621024"/>
            <a:ext cx="914400" cy="420624"/>
          </a:xfrm>
          <a:prstGeom prst="rect">
            <a:avLst/>
          </a:prstGeom>
          <a:solidFill>
            <a:srgbClr val="F4F6FB"/>
          </a:solidFill>
          <a:ln w="12700">
            <a:solidFill>
              <a:srgbClr val="DDE4F0"/>
            </a:solidFill>
            <a:prstDash val="solid"/>
          </a:ln>
        </p:spPr>
      </p:sp>
      <p:sp>
        <p:nvSpPr>
          <p:cNvPr id="84" name="Text 82"/>
          <p:cNvSpPr/>
          <p:nvPr/>
        </p:nvSpPr>
        <p:spPr>
          <a:xfrm>
            <a:off x="4315968" y="3621024"/>
            <a:ext cx="82296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10,164</a:t>
            </a:r>
            <a:endParaRPr lang="en-US" sz="1050" dirty="0"/>
          </a:p>
        </p:txBody>
      </p:sp>
      <p:sp>
        <p:nvSpPr>
          <p:cNvPr id="85" name="Shape 83"/>
          <p:cNvSpPr/>
          <p:nvPr/>
        </p:nvSpPr>
        <p:spPr>
          <a:xfrm>
            <a:off x="5184648" y="3621024"/>
            <a:ext cx="822960" cy="420624"/>
          </a:xfrm>
          <a:prstGeom prst="rect">
            <a:avLst/>
          </a:prstGeom>
          <a:solidFill>
            <a:srgbClr val="F4F6FB"/>
          </a:solidFill>
          <a:ln w="12700">
            <a:solidFill>
              <a:srgbClr val="DDE4F0"/>
            </a:solidFill>
            <a:prstDash val="solid"/>
          </a:ln>
        </p:spPr>
      </p:sp>
      <p:sp>
        <p:nvSpPr>
          <p:cNvPr id="86" name="Text 84"/>
          <p:cNvSpPr/>
          <p:nvPr/>
        </p:nvSpPr>
        <p:spPr>
          <a:xfrm>
            <a:off x="5230368" y="3621024"/>
            <a:ext cx="73152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17.0%</a:t>
            </a:r>
            <a:endParaRPr lang="en-US" sz="1050" dirty="0"/>
          </a:p>
        </p:txBody>
      </p:sp>
      <p:sp>
        <p:nvSpPr>
          <p:cNvPr id="87" name="Shape 85"/>
          <p:cNvSpPr/>
          <p:nvPr/>
        </p:nvSpPr>
        <p:spPr>
          <a:xfrm>
            <a:off x="6071616" y="3712464"/>
            <a:ext cx="442245" cy="237744"/>
          </a:xfrm>
          <a:prstGeom prst="rect">
            <a:avLst/>
          </a:prstGeom>
          <a:solidFill>
            <a:srgbClr val="0B1D3A"/>
          </a:solidFill>
          <a:ln w="12700">
            <a:solidFill>
              <a:srgbClr val="0B1D3A"/>
            </a:solidFill>
            <a:prstDash val="solid"/>
          </a:ln>
        </p:spPr>
      </p:sp>
      <p:sp>
        <p:nvSpPr>
          <p:cNvPr id="88" name="Text 86"/>
          <p:cNvSpPr/>
          <p:nvPr/>
        </p:nvSpPr>
        <p:spPr>
          <a:xfrm>
            <a:off x="6559581" y="3712464"/>
            <a:ext cx="2099787" cy="237744"/>
          </a:xfrm>
          <a:prstGeom prst="rect">
            <a:avLst/>
          </a:prstGeom>
          <a:noFill/>
          <a:ln/>
        </p:spPr>
        <p:txBody>
          <a:bodyPr wrap="square" lIns="0" tIns="0" rIns="0" bIns="0" rtlCol="0" anchor="ctr"/>
          <a:lstStyle/>
          <a:p>
            <a:pPr indent="0" marL="0">
              <a:buNone/>
            </a:pPr>
            <a:r>
              <a:rPr lang="en-US" sz="900" dirty="0">
                <a:solidFill>
                  <a:srgbClr val="6B7D99"/>
                </a:solidFill>
                <a:latin typeface="Calibri" pitchFamily="34" charset="0"/>
                <a:ea typeface="Calibri" pitchFamily="34" charset="-122"/>
                <a:cs typeface="Calibri" pitchFamily="34" charset="-120"/>
              </a:rPr>
              <a:t>10,164</a:t>
            </a:r>
            <a:endParaRPr lang="en-US" sz="900" dirty="0"/>
          </a:p>
        </p:txBody>
      </p:sp>
      <p:sp>
        <p:nvSpPr>
          <p:cNvPr id="89" name="Shape 87"/>
          <p:cNvSpPr/>
          <p:nvPr/>
        </p:nvSpPr>
        <p:spPr>
          <a:xfrm>
            <a:off x="365760" y="4041648"/>
            <a:ext cx="566928" cy="420624"/>
          </a:xfrm>
          <a:prstGeom prst="rect">
            <a:avLst/>
          </a:prstGeom>
          <a:solidFill>
            <a:srgbClr val="C8992A"/>
          </a:solidFill>
          <a:ln w="12700">
            <a:solidFill>
              <a:srgbClr val="DDE4F0"/>
            </a:solidFill>
            <a:prstDash val="solid"/>
          </a:ln>
        </p:spPr>
      </p:sp>
      <p:sp>
        <p:nvSpPr>
          <p:cNvPr id="90" name="Text 88"/>
          <p:cNvSpPr/>
          <p:nvPr/>
        </p:nvSpPr>
        <p:spPr>
          <a:xfrm>
            <a:off x="411480" y="4041648"/>
            <a:ext cx="475488" cy="420624"/>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OUT</a:t>
            </a:r>
            <a:endParaRPr lang="en-US" sz="1050" dirty="0"/>
          </a:p>
        </p:txBody>
      </p:sp>
      <p:sp>
        <p:nvSpPr>
          <p:cNvPr id="91" name="Shape 89"/>
          <p:cNvSpPr/>
          <p:nvPr/>
        </p:nvSpPr>
        <p:spPr>
          <a:xfrm>
            <a:off x="932688" y="4041648"/>
            <a:ext cx="1234440" cy="420624"/>
          </a:xfrm>
          <a:prstGeom prst="rect">
            <a:avLst/>
          </a:prstGeom>
          <a:solidFill>
            <a:srgbClr val="FFFFFF"/>
          </a:solidFill>
          <a:ln w="12700">
            <a:solidFill>
              <a:srgbClr val="DDE4F0"/>
            </a:solidFill>
            <a:prstDash val="solid"/>
          </a:ln>
        </p:spPr>
      </p:sp>
      <p:sp>
        <p:nvSpPr>
          <p:cNvPr id="92" name="Text 90"/>
          <p:cNvSpPr/>
          <p:nvPr/>
        </p:nvSpPr>
        <p:spPr>
          <a:xfrm>
            <a:off x="978408" y="4041648"/>
            <a:ext cx="114300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RBF</a:t>
            </a:r>
            <a:endParaRPr lang="en-US" sz="1050" dirty="0"/>
          </a:p>
        </p:txBody>
      </p:sp>
      <p:sp>
        <p:nvSpPr>
          <p:cNvPr id="93" name="Shape 91"/>
          <p:cNvSpPr/>
          <p:nvPr/>
        </p:nvSpPr>
        <p:spPr>
          <a:xfrm>
            <a:off x="2167128" y="4041648"/>
            <a:ext cx="2103120" cy="420624"/>
          </a:xfrm>
          <a:prstGeom prst="rect">
            <a:avLst/>
          </a:prstGeom>
          <a:solidFill>
            <a:srgbClr val="FFFFFF"/>
          </a:solidFill>
          <a:ln w="12700">
            <a:solidFill>
              <a:srgbClr val="DDE4F0"/>
            </a:solidFill>
            <a:prstDash val="solid"/>
          </a:ln>
        </p:spPr>
      </p:sp>
      <p:sp>
        <p:nvSpPr>
          <p:cNvPr id="94" name="Text 92"/>
          <p:cNvSpPr/>
          <p:nvPr/>
        </p:nvSpPr>
        <p:spPr>
          <a:xfrm>
            <a:off x="2212848" y="4041648"/>
            <a:ext cx="2011680" cy="420624"/>
          </a:xfrm>
          <a:prstGeom prst="rect">
            <a:avLst/>
          </a:prstGeom>
          <a:noFill/>
          <a:ln/>
        </p:spPr>
        <p:txBody>
          <a:bodyPr wrap="square" lIns="0" tIns="0" rIns="0" bIns="0" rtlCol="0" anchor="ctr"/>
          <a:lstStyle/>
          <a:p>
            <a:pPr algn="l" indent="0" marL="0">
              <a:buNone/>
            </a:pPr>
            <a:r>
              <a:rPr lang="en-US" sz="1050" dirty="0">
                <a:solidFill>
                  <a:srgbClr val="3D4F6B"/>
                </a:solidFill>
                <a:latin typeface="Calibri" pitchFamily="34" charset="0"/>
                <a:ea typeface="Calibri" pitchFamily="34" charset="-122"/>
                <a:cs typeface="Calibri" pitchFamily="34" charset="-120"/>
              </a:rPr>
              <a:t>10 × 84</a:t>
            </a:r>
            <a:endParaRPr lang="en-US" sz="1050" dirty="0"/>
          </a:p>
        </p:txBody>
      </p:sp>
      <p:sp>
        <p:nvSpPr>
          <p:cNvPr id="95" name="Shape 93"/>
          <p:cNvSpPr/>
          <p:nvPr/>
        </p:nvSpPr>
        <p:spPr>
          <a:xfrm>
            <a:off x="4270248" y="4041648"/>
            <a:ext cx="914400" cy="420624"/>
          </a:xfrm>
          <a:prstGeom prst="rect">
            <a:avLst/>
          </a:prstGeom>
          <a:solidFill>
            <a:srgbClr val="FFFFFF"/>
          </a:solidFill>
          <a:ln w="12700">
            <a:solidFill>
              <a:srgbClr val="DDE4F0"/>
            </a:solidFill>
            <a:prstDash val="solid"/>
          </a:ln>
        </p:spPr>
      </p:sp>
      <p:sp>
        <p:nvSpPr>
          <p:cNvPr id="96" name="Text 94"/>
          <p:cNvSpPr/>
          <p:nvPr/>
        </p:nvSpPr>
        <p:spPr>
          <a:xfrm>
            <a:off x="4315968" y="4041648"/>
            <a:ext cx="82296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840</a:t>
            </a:r>
            <a:endParaRPr lang="en-US" sz="1050" dirty="0"/>
          </a:p>
        </p:txBody>
      </p:sp>
      <p:sp>
        <p:nvSpPr>
          <p:cNvPr id="97" name="Shape 95"/>
          <p:cNvSpPr/>
          <p:nvPr/>
        </p:nvSpPr>
        <p:spPr>
          <a:xfrm>
            <a:off x="5184648" y="4041648"/>
            <a:ext cx="822960" cy="420624"/>
          </a:xfrm>
          <a:prstGeom prst="rect">
            <a:avLst/>
          </a:prstGeom>
          <a:solidFill>
            <a:srgbClr val="FFFFFF"/>
          </a:solidFill>
          <a:ln w="12700">
            <a:solidFill>
              <a:srgbClr val="DDE4F0"/>
            </a:solidFill>
            <a:prstDash val="solid"/>
          </a:ln>
        </p:spPr>
      </p:sp>
      <p:sp>
        <p:nvSpPr>
          <p:cNvPr id="98" name="Text 96"/>
          <p:cNvSpPr/>
          <p:nvPr/>
        </p:nvSpPr>
        <p:spPr>
          <a:xfrm>
            <a:off x="5230368" y="4041648"/>
            <a:ext cx="731520" cy="420624"/>
          </a:xfrm>
          <a:prstGeom prst="rect">
            <a:avLst/>
          </a:prstGeom>
          <a:noFill/>
          <a:ln/>
        </p:spPr>
        <p:txBody>
          <a:bodyPr wrap="square" lIns="0" tIns="0" rIns="0" bIns="0" rtlCol="0" anchor="ctr"/>
          <a:lstStyle/>
          <a:p>
            <a:pPr algn="ctr" indent="0" marL="0">
              <a:buNone/>
            </a:pPr>
            <a:r>
              <a:rPr lang="en-US" sz="1050" dirty="0">
                <a:solidFill>
                  <a:srgbClr val="3D4F6B"/>
                </a:solidFill>
                <a:latin typeface="Calibri" pitchFamily="34" charset="0"/>
                <a:ea typeface="Calibri" pitchFamily="34" charset="-122"/>
                <a:cs typeface="Calibri" pitchFamily="34" charset="-120"/>
              </a:rPr>
              <a:t>1.4%</a:t>
            </a:r>
            <a:endParaRPr lang="en-US" sz="1050" dirty="0"/>
          </a:p>
        </p:txBody>
      </p:sp>
      <p:sp>
        <p:nvSpPr>
          <p:cNvPr id="99" name="Shape 97"/>
          <p:cNvSpPr/>
          <p:nvPr/>
        </p:nvSpPr>
        <p:spPr>
          <a:xfrm>
            <a:off x="6071616" y="4133088"/>
            <a:ext cx="54864" cy="237744"/>
          </a:xfrm>
          <a:prstGeom prst="rect">
            <a:avLst/>
          </a:prstGeom>
          <a:solidFill>
            <a:srgbClr val="C8992A"/>
          </a:solidFill>
          <a:ln w="12700">
            <a:solidFill>
              <a:srgbClr val="C8992A"/>
            </a:solidFill>
            <a:prstDash val="solid"/>
          </a:ln>
        </p:spPr>
      </p:sp>
      <p:sp>
        <p:nvSpPr>
          <p:cNvPr id="100" name="Text 98"/>
          <p:cNvSpPr/>
          <p:nvPr/>
        </p:nvSpPr>
        <p:spPr>
          <a:xfrm>
            <a:off x="6172200" y="4133088"/>
            <a:ext cx="2487168" cy="237744"/>
          </a:xfrm>
          <a:prstGeom prst="rect">
            <a:avLst/>
          </a:prstGeom>
          <a:noFill/>
          <a:ln/>
        </p:spPr>
        <p:txBody>
          <a:bodyPr wrap="square" lIns="0" tIns="0" rIns="0" bIns="0" rtlCol="0" anchor="ctr"/>
          <a:lstStyle/>
          <a:p>
            <a:pPr indent="0" marL="0">
              <a:buNone/>
            </a:pPr>
            <a:r>
              <a:rPr lang="en-US" sz="900" dirty="0">
                <a:solidFill>
                  <a:srgbClr val="6B7D99"/>
                </a:solidFill>
                <a:latin typeface="Calibri" pitchFamily="34" charset="0"/>
                <a:ea typeface="Calibri" pitchFamily="34" charset="-122"/>
                <a:cs typeface="Calibri" pitchFamily="34" charset="-120"/>
              </a:rPr>
              <a:t>840</a:t>
            </a:r>
            <a:endParaRPr lang="en-US" sz="900" dirty="0"/>
          </a:p>
        </p:txBody>
      </p:sp>
      <p:sp>
        <p:nvSpPr>
          <p:cNvPr id="101" name="Shape 99"/>
          <p:cNvSpPr/>
          <p:nvPr/>
        </p:nvSpPr>
        <p:spPr>
          <a:xfrm>
            <a:off x="365760" y="4462272"/>
            <a:ext cx="8385048" cy="402336"/>
          </a:xfrm>
          <a:prstGeom prst="rect">
            <a:avLst/>
          </a:prstGeom>
          <a:solidFill>
            <a:srgbClr val="C8992A"/>
          </a:solidFill>
          <a:ln w="12700">
            <a:solidFill>
              <a:srgbClr val="C8992A"/>
            </a:solidFill>
            <a:prstDash val="solid"/>
          </a:ln>
        </p:spPr>
      </p:sp>
      <p:sp>
        <p:nvSpPr>
          <p:cNvPr id="102" name="Text 100"/>
          <p:cNvSpPr/>
          <p:nvPr/>
        </p:nvSpPr>
        <p:spPr>
          <a:xfrm>
            <a:off x="475488" y="4507992"/>
            <a:ext cx="5029200" cy="310896"/>
          </a:xfrm>
          <a:prstGeom prst="rect">
            <a:avLst/>
          </a:prstGeom>
          <a:noFill/>
          <a:ln/>
        </p:spPr>
        <p:txBody>
          <a:bodyPr wrap="square" lIns="0" tIns="0" rIns="0" bIns="0" rtlCol="0" anchor="ctr"/>
          <a:lstStyle/>
          <a:p>
            <a:pPr indent="0" marL="0">
              <a:buNone/>
            </a:pPr>
            <a:r>
              <a:rPr lang="en-US" sz="1300" b="1" dirty="0">
                <a:solidFill>
                  <a:srgbClr val="0B1D3A"/>
                </a:solidFill>
                <a:latin typeface="Calibri" pitchFamily="34" charset="0"/>
                <a:ea typeface="Calibri" pitchFamily="34" charset="-122"/>
                <a:cs typeface="Calibri" pitchFamily="34" charset="-120"/>
              </a:rPr>
              <a:t>TOTAL   60,840 parameters</a:t>
            </a:r>
            <a:endParaRPr lang="en-US" sz="1300" dirty="0"/>
          </a:p>
        </p:txBody>
      </p:sp>
      <p:sp>
        <p:nvSpPr>
          <p:cNvPr id="103" name="Shape 101"/>
          <p:cNvSpPr/>
          <p:nvPr/>
        </p:nvSpPr>
        <p:spPr>
          <a:xfrm>
            <a:off x="365760" y="4937760"/>
            <a:ext cx="8394192" cy="530352"/>
          </a:xfrm>
          <a:prstGeom prst="rect">
            <a:avLst/>
          </a:prstGeom>
          <a:solidFill>
            <a:srgbClr val="0B1D3A"/>
          </a:solidFill>
          <a:ln w="12700">
            <a:solidFill>
              <a:srgbClr val="0B1D3A"/>
            </a:solidFill>
            <a:prstDash val="solid"/>
          </a:ln>
        </p:spPr>
      </p:sp>
      <p:sp>
        <p:nvSpPr>
          <p:cNvPr id="104" name="Text 102"/>
          <p:cNvSpPr/>
          <p:nvPr/>
        </p:nvSpPr>
        <p:spPr>
          <a:xfrm>
            <a:off x="502920" y="4992624"/>
            <a:ext cx="8229600" cy="411480"/>
          </a:xfrm>
          <a:prstGeom prst="rect">
            <a:avLst/>
          </a:prstGeom>
          <a:noFill/>
          <a:ln/>
        </p:spPr>
        <p:txBody>
          <a:bodyPr wrap="square" rtlCol="0" anchor="ctr"/>
          <a:lstStyle/>
          <a:p>
            <a:pPr algn="ctr" indent="0" marL="0">
              <a:buNone/>
            </a:pPr>
            <a:r>
              <a:rPr lang="en-US" sz="1100" dirty="0">
                <a:solidFill>
                  <a:srgbClr val="B8C5D9"/>
                </a:solidFill>
                <a:latin typeface="Calibri" pitchFamily="34" charset="0"/>
                <a:ea typeface="Calibri" pitchFamily="34" charset="-122"/>
                <a:cs typeface="Calibri" pitchFamily="34" charset="-120"/>
              </a:rPr>
              <a:t>C5 alone = 80.3% of all parameters.  The convolutional feature extractor (C1+C3) = only 2.8%.  This matches VGG's pattern: FC layers dominate parameter count.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Weight Sharing &amp; Translation Equivariance</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The most powerful efficiency idea in all of deep learning</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65760" y="1170432"/>
            <a:ext cx="4160520" cy="3657600"/>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6" name="Text 4"/>
          <p:cNvSpPr/>
          <p:nvPr/>
        </p:nvSpPr>
        <p:spPr>
          <a:xfrm>
            <a:off x="502920" y="1234440"/>
            <a:ext cx="3840480" cy="347472"/>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The Core Idea</a:t>
            </a:r>
            <a:endParaRPr lang="en-US" sz="1400" dirty="0"/>
          </a:p>
        </p:txBody>
      </p:sp>
      <p:sp>
        <p:nvSpPr>
          <p:cNvPr id="7" name="Text 5"/>
          <p:cNvSpPr/>
          <p:nvPr/>
        </p:nvSpPr>
        <p:spPr>
          <a:xfrm>
            <a:off x="502920" y="1627632"/>
            <a:ext cx="3913632" cy="310896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In a fully-connected network:
</a:t>
            </a:r>
            <a:endParaRPr lang="en-US" sz="1100" dirty="0"/>
          </a:p>
          <a:p>
            <a:pPr indent="0" marL="0">
              <a:buNone/>
            </a:pPr>
            <a:r>
              <a:rPr lang="en-US" sz="1100" dirty="0">
                <a:solidFill>
                  <a:srgbClr val="3D4F6B"/>
                </a:solidFill>
                <a:latin typeface="Calibri" pitchFamily="34" charset="0"/>
                <a:ea typeface="Calibri" pitchFamily="34" charset="-122"/>
                <a:cs typeface="Calibri" pitchFamily="34" charset="-120"/>
              </a:rPr>
              <a:t>Each neuron has UNIQUE weights.
A '3' in the top-left corner uses
completely different weights than
a '3' in the bottom-right corner.
The network must re-learn the digit
at every possible position!
</a:t>
            </a:r>
            <a:endParaRPr lang="en-US" sz="1100" dirty="0"/>
          </a:p>
          <a:p>
            <a:pPr indent="0" marL="0">
              <a:buNone/>
            </a:pPr>
            <a:r>
              <a:rPr lang="en-US" sz="1100" b="1" dirty="0">
                <a:solidFill>
                  <a:srgbClr val="1B7E5A"/>
                </a:solidFill>
                <a:latin typeface="Calibri" pitchFamily="34" charset="0"/>
                <a:ea typeface="Calibri" pitchFamily="34" charset="-122"/>
                <a:cs typeface="Calibri" pitchFamily="34" charset="-120"/>
              </a:rPr>
              <a:t>In a convolutional network:
</a:t>
            </a:r>
            <a:endParaRPr lang="en-US" sz="1100" dirty="0"/>
          </a:p>
          <a:p>
            <a:pPr indent="0" marL="0">
              <a:buNone/>
            </a:pPr>
            <a:r>
              <a:rPr lang="en-US" sz="1100" dirty="0">
                <a:solidFill>
                  <a:srgbClr val="3D4F6B"/>
                </a:solidFill>
                <a:latin typeface="Calibri" pitchFamily="34" charset="0"/>
                <a:ea typeface="Calibri" pitchFamily="34" charset="-122"/>
                <a:cs typeface="Calibri" pitchFamily="34" charset="-120"/>
              </a:rPr>
              <a:t>The SAME filter scans every patch.
A vertical edge detector works the
same way at position (3,3) as at
position (18,22).
</a:t>
            </a:r>
            <a:endParaRPr lang="en-US" sz="1100" dirty="0"/>
          </a:p>
          <a:p>
            <a:pPr indent="0" marL="0">
              <a:buNone/>
            </a:pPr>
            <a:r>
              <a:rPr lang="en-US" sz="1100" b="1" dirty="0">
                <a:solidFill>
                  <a:srgbClr val="C8992A"/>
                </a:solidFill>
                <a:latin typeface="Calibri" pitchFamily="34" charset="0"/>
                <a:ea typeface="Calibri" pitchFamily="34" charset="-122"/>
                <a:cs typeface="Calibri" pitchFamily="34" charset="-120"/>
              </a:rPr>
              <a:t>This is Weight Sharing</a:t>
            </a:r>
            <a:endParaRPr lang="en-US" sz="1100" dirty="0"/>
          </a:p>
        </p:txBody>
      </p:sp>
      <p:sp>
        <p:nvSpPr>
          <p:cNvPr id="8" name="Text 6"/>
          <p:cNvSpPr/>
          <p:nvPr/>
        </p:nvSpPr>
        <p:spPr>
          <a:xfrm>
            <a:off x="4754880" y="1170432"/>
            <a:ext cx="4023360" cy="320040"/>
          </a:xfrm>
          <a:prstGeom prst="rect">
            <a:avLst/>
          </a:prstGeom>
          <a:noFill/>
          <a:ln/>
        </p:spPr>
        <p:txBody>
          <a:bodyPr wrap="square" lIns="0" tIns="0" rIns="0" bIns="0" rtlCol="0" anchor="ctr"/>
          <a:lstStyle/>
          <a:p>
            <a:pPr indent="0" marL="0">
              <a:buNone/>
            </a:pPr>
            <a:r>
              <a:rPr lang="en-US" sz="1350" b="1" dirty="0">
                <a:solidFill>
                  <a:srgbClr val="0B1D3A"/>
                </a:solidFill>
                <a:latin typeface="Calibri" pitchFamily="34" charset="0"/>
                <a:ea typeface="Calibri" pitchFamily="34" charset="-122"/>
                <a:cs typeface="Calibri" pitchFamily="34" charset="-120"/>
              </a:rPr>
              <a:t>Parameter Savings Calculation</a:t>
            </a:r>
            <a:endParaRPr lang="en-US" sz="1350" dirty="0"/>
          </a:p>
        </p:txBody>
      </p:sp>
      <p:sp>
        <p:nvSpPr>
          <p:cNvPr id="9" name="Shape 7"/>
          <p:cNvSpPr/>
          <p:nvPr/>
        </p:nvSpPr>
        <p:spPr>
          <a:xfrm>
            <a:off x="4754880" y="1572768"/>
            <a:ext cx="4023360" cy="1536192"/>
          </a:xfrm>
          <a:prstGeom prst="rect">
            <a:avLst/>
          </a:prstGeom>
          <a:solidFill>
            <a:srgbClr val="FDECEA"/>
          </a:solidFill>
          <a:ln w="12700">
            <a:solidFill>
              <a:srgbClr val="C0392B"/>
            </a:solidFill>
            <a:prstDash val="solid"/>
          </a:ln>
        </p:spPr>
      </p:sp>
      <p:sp>
        <p:nvSpPr>
          <p:cNvPr id="10" name="Shape 8"/>
          <p:cNvSpPr/>
          <p:nvPr/>
        </p:nvSpPr>
        <p:spPr>
          <a:xfrm>
            <a:off x="4754880" y="1572768"/>
            <a:ext cx="73152" cy="1536192"/>
          </a:xfrm>
          <a:prstGeom prst="rect">
            <a:avLst/>
          </a:prstGeom>
          <a:solidFill>
            <a:srgbClr val="C0392B"/>
          </a:solidFill>
          <a:ln w="12700">
            <a:solidFill>
              <a:srgbClr val="C0392B"/>
            </a:solidFill>
            <a:prstDash val="solid"/>
          </a:ln>
        </p:spPr>
      </p:sp>
      <p:sp>
        <p:nvSpPr>
          <p:cNvPr id="11" name="Text 9"/>
          <p:cNvSpPr/>
          <p:nvPr/>
        </p:nvSpPr>
        <p:spPr>
          <a:xfrm>
            <a:off x="4892040" y="1627632"/>
            <a:ext cx="3767328" cy="30175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Fully Connected Approach</a:t>
            </a:r>
            <a:endParaRPr lang="en-US" sz="1200" dirty="0"/>
          </a:p>
        </p:txBody>
      </p:sp>
      <p:sp>
        <p:nvSpPr>
          <p:cNvPr id="12" name="Text 10"/>
          <p:cNvSpPr/>
          <p:nvPr/>
        </p:nvSpPr>
        <p:spPr>
          <a:xfrm>
            <a:off x="4892040" y="1938528"/>
            <a:ext cx="3767328" cy="1097280"/>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32×32 → 28×28 layer</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 32×32 × 28×28</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 802,816 parameters</a:t>
            </a:r>
            <a:endParaRPr lang="en-US" sz="1050" dirty="0"/>
          </a:p>
          <a:p>
            <a:pPr indent="0" marL="0">
              <a:buNone/>
            </a:pP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Each input pixel connected</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to each output neuron</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with a unique weight</a:t>
            </a:r>
            <a:endParaRPr lang="en-US" sz="1050" dirty="0"/>
          </a:p>
        </p:txBody>
      </p:sp>
      <p:sp>
        <p:nvSpPr>
          <p:cNvPr id="13" name="Shape 11"/>
          <p:cNvSpPr/>
          <p:nvPr/>
        </p:nvSpPr>
        <p:spPr>
          <a:xfrm>
            <a:off x="4754880" y="3236976"/>
            <a:ext cx="4023360" cy="1536192"/>
          </a:xfrm>
          <a:prstGeom prst="rect">
            <a:avLst/>
          </a:prstGeom>
          <a:solidFill>
            <a:srgbClr val="E3F7EE"/>
          </a:solidFill>
          <a:ln w="12700">
            <a:solidFill>
              <a:srgbClr val="1B7E5A"/>
            </a:solidFill>
            <a:prstDash val="solid"/>
          </a:ln>
        </p:spPr>
      </p:sp>
      <p:sp>
        <p:nvSpPr>
          <p:cNvPr id="14" name="Shape 12"/>
          <p:cNvSpPr/>
          <p:nvPr/>
        </p:nvSpPr>
        <p:spPr>
          <a:xfrm>
            <a:off x="4754880" y="3236976"/>
            <a:ext cx="73152" cy="1536192"/>
          </a:xfrm>
          <a:prstGeom prst="rect">
            <a:avLst/>
          </a:prstGeom>
          <a:solidFill>
            <a:srgbClr val="1B7E5A"/>
          </a:solidFill>
          <a:ln w="12700">
            <a:solidFill>
              <a:srgbClr val="1B7E5A"/>
            </a:solidFill>
            <a:prstDash val="solid"/>
          </a:ln>
        </p:spPr>
      </p:sp>
      <p:sp>
        <p:nvSpPr>
          <p:cNvPr id="15" name="Text 13"/>
          <p:cNvSpPr/>
          <p:nvPr/>
        </p:nvSpPr>
        <p:spPr>
          <a:xfrm>
            <a:off x="4892040" y="3291840"/>
            <a:ext cx="3767328" cy="301752"/>
          </a:xfrm>
          <a:prstGeom prst="rect">
            <a:avLst/>
          </a:prstGeom>
          <a:noFill/>
          <a:ln/>
        </p:spPr>
        <p:txBody>
          <a:bodyPr wrap="square" lIns="0" tIns="0" rIns="0" bIns="0" rtlCol="0" anchor="ctr"/>
          <a:lstStyle/>
          <a:p>
            <a:pPr indent="0" marL="0">
              <a:buNone/>
            </a:pPr>
            <a:r>
              <a:rPr lang="en-US" sz="1200" b="1" dirty="0">
                <a:solidFill>
                  <a:srgbClr val="1B7E5A"/>
                </a:solidFill>
                <a:latin typeface="Calibri" pitchFamily="34" charset="0"/>
                <a:ea typeface="Calibri" pitchFamily="34" charset="-122"/>
                <a:cs typeface="Calibri" pitchFamily="34" charset="-120"/>
              </a:rPr>
              <a:t>Convolutional Approach</a:t>
            </a:r>
            <a:endParaRPr lang="en-US" sz="1200" dirty="0"/>
          </a:p>
        </p:txBody>
      </p:sp>
      <p:sp>
        <p:nvSpPr>
          <p:cNvPr id="16" name="Text 14"/>
          <p:cNvSpPr/>
          <p:nvPr/>
        </p:nvSpPr>
        <p:spPr>
          <a:xfrm>
            <a:off x="4892040" y="3602736"/>
            <a:ext cx="3767328" cy="1097280"/>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32×32 → 28×28 layer</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 ONE 5×5 filter</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 25 + 1 = 26 parameters</a:t>
            </a:r>
            <a:endParaRPr lang="en-US" sz="1050" dirty="0"/>
          </a:p>
          <a:p>
            <a:pPr indent="0" marL="0">
              <a:buNone/>
            </a:pP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Same 26 weights reused</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at all 784 positions</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Parameter ratio: 30,877×</a:t>
            </a:r>
            <a:endParaRPr lang="en-US" sz="1050" dirty="0"/>
          </a:p>
        </p:txBody>
      </p:sp>
      <p:sp>
        <p:nvSpPr>
          <p:cNvPr id="17" name="Shape 15"/>
          <p:cNvSpPr/>
          <p:nvPr/>
        </p:nvSpPr>
        <p:spPr>
          <a:xfrm>
            <a:off x="4754880" y="4773168"/>
            <a:ext cx="4023360" cy="749808"/>
          </a:xfrm>
          <a:prstGeom prst="rect">
            <a:avLst/>
          </a:prstGeom>
          <a:solidFill>
            <a:srgbClr val="0B1D3A"/>
          </a:solidFill>
          <a:ln w="12700">
            <a:solidFill>
              <a:srgbClr val="0B1D3A"/>
            </a:solidFill>
            <a:prstDash val="solid"/>
          </a:ln>
        </p:spPr>
      </p:sp>
      <p:sp>
        <p:nvSpPr>
          <p:cNvPr id="18" name="Text 16"/>
          <p:cNvSpPr/>
          <p:nvPr/>
        </p:nvSpPr>
        <p:spPr>
          <a:xfrm>
            <a:off x="4892040" y="4800600"/>
            <a:ext cx="3767328" cy="274320"/>
          </a:xfrm>
          <a:prstGeom prst="rect">
            <a:avLst/>
          </a:prstGeom>
          <a:noFill/>
          <a:ln/>
        </p:spPr>
        <p:txBody>
          <a:bodyPr wrap="square" lIns="0" tIns="0" rIns="0" bIns="0" rtlCol="0" anchor="ctr"/>
          <a:lstStyle/>
          <a:p>
            <a:pPr indent="0" marL="0">
              <a:buNone/>
            </a:pPr>
            <a:r>
              <a:rPr lang="en-US" sz="1100" b="1" dirty="0">
                <a:solidFill>
                  <a:srgbClr val="E8B84B"/>
                </a:solidFill>
                <a:latin typeface="Calibri" pitchFamily="34" charset="0"/>
                <a:ea typeface="Calibri" pitchFamily="34" charset="-122"/>
                <a:cs typeface="Calibri" pitchFamily="34" charset="-120"/>
              </a:rPr>
              <a:t>Equivariance vs Invariance</a:t>
            </a:r>
            <a:endParaRPr lang="en-US" sz="1100" dirty="0"/>
          </a:p>
        </p:txBody>
      </p:sp>
      <p:sp>
        <p:nvSpPr>
          <p:cNvPr id="19" name="Text 17"/>
          <p:cNvSpPr/>
          <p:nvPr/>
        </p:nvSpPr>
        <p:spPr>
          <a:xfrm>
            <a:off x="4892040" y="5065776"/>
            <a:ext cx="3767328" cy="384048"/>
          </a:xfrm>
          <a:prstGeom prst="rect">
            <a:avLst/>
          </a:prstGeom>
          <a:noFill/>
          <a:ln/>
        </p:spPr>
        <p:txBody>
          <a:bodyPr wrap="square" rtlCol="0" anchor="ctr"/>
          <a:lstStyle/>
          <a:p>
            <a:pPr indent="0" marL="0">
              <a:buNone/>
            </a:pPr>
            <a:r>
              <a:rPr lang="en-US" sz="950" dirty="0">
                <a:solidFill>
                  <a:srgbClr val="B8C5D9"/>
                </a:solidFill>
                <a:latin typeface="Calibri" pitchFamily="34" charset="0"/>
                <a:ea typeface="Calibri" pitchFamily="34" charset="-122"/>
                <a:cs typeface="Calibri" pitchFamily="34" charset="-120"/>
              </a:rPr>
              <a:t>Conv → Translation EQUIVARIANT (feature shifts with input)  |  Pool → INVARIANT (feature survives small shift)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Training: Backpropagation Through a CNN</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How gradients flow backwards through convolutional and pooling layers</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47472" y="1225296"/>
            <a:ext cx="457200" cy="457200"/>
          </a:xfrm>
          <a:prstGeom prst="ellipse">
            <a:avLst/>
          </a:prstGeom>
          <a:solidFill>
            <a:srgbClr val="1A6B7A"/>
          </a:solidFill>
          <a:ln w="12700">
            <a:solidFill>
              <a:srgbClr val="1A6B7A"/>
            </a:solidFill>
            <a:prstDash val="solid"/>
          </a:ln>
        </p:spPr>
      </p:sp>
      <p:sp>
        <p:nvSpPr>
          <p:cNvPr id="6" name="Text 4"/>
          <p:cNvSpPr/>
          <p:nvPr/>
        </p:nvSpPr>
        <p:spPr>
          <a:xfrm>
            <a:off x="347472" y="12252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896112" y="1170432"/>
            <a:ext cx="3657600" cy="566928"/>
          </a:xfrm>
          <a:prstGeom prst="rect">
            <a:avLst/>
          </a:prstGeom>
          <a:solidFill>
            <a:srgbClr val="FFFFFF"/>
          </a:solidFill>
          <a:ln w="12700">
            <a:solidFill>
              <a:srgbClr val="DDE4F0"/>
            </a:solidFill>
            <a:prstDash val="solid"/>
          </a:ln>
        </p:spPr>
      </p:sp>
      <p:sp>
        <p:nvSpPr>
          <p:cNvPr id="8" name="Text 6"/>
          <p:cNvSpPr/>
          <p:nvPr/>
        </p:nvSpPr>
        <p:spPr>
          <a:xfrm>
            <a:off x="1033272" y="1207008"/>
            <a:ext cx="3401568" cy="256032"/>
          </a:xfrm>
          <a:prstGeom prst="rect">
            <a:avLst/>
          </a:prstGeom>
          <a:noFill/>
          <a:ln/>
        </p:spPr>
        <p:txBody>
          <a:bodyPr wrap="square" lIns="0" tIns="0" rIns="0" bIns="0" rtlCol="0" anchor="ctr"/>
          <a:lstStyle/>
          <a:p>
            <a:pPr indent="0" marL="0">
              <a:buNone/>
            </a:pPr>
            <a:r>
              <a:rPr lang="en-US" sz="1200" b="1" dirty="0">
                <a:solidFill>
                  <a:srgbClr val="1A6B7A"/>
                </a:solidFill>
                <a:latin typeface="Calibri" pitchFamily="34" charset="0"/>
                <a:ea typeface="Calibri" pitchFamily="34" charset="-122"/>
                <a:cs typeface="Calibri" pitchFamily="34" charset="-120"/>
              </a:rPr>
              <a:t>Forward Pass</a:t>
            </a:r>
            <a:endParaRPr lang="en-US" sz="1200" dirty="0"/>
          </a:p>
        </p:txBody>
      </p:sp>
      <p:sp>
        <p:nvSpPr>
          <p:cNvPr id="9" name="Text 7"/>
          <p:cNvSpPr/>
          <p:nvPr/>
        </p:nvSpPr>
        <p:spPr>
          <a:xfrm>
            <a:off x="1033272" y="1444752"/>
            <a:ext cx="3401568" cy="256032"/>
          </a:xfrm>
          <a:prstGeom prst="rect">
            <a:avLst/>
          </a:prstGeom>
          <a:noFill/>
          <a:ln/>
        </p:spPr>
        <p:txBody>
          <a:bodyPr wrap="square" lIns="0" tIns="0" rIns="0" bIns="0" rtlCol="0" anchor="ctr"/>
          <a:lstStyle/>
          <a:p>
            <a:pPr indent="0" marL="0">
              <a:buNone/>
            </a:pPr>
            <a:r>
              <a:rPr lang="en-US" sz="1000" dirty="0">
                <a:solidFill>
                  <a:srgbClr val="3D4F6B"/>
                </a:solidFill>
                <a:latin typeface="Calibri" pitchFamily="34" charset="0"/>
                <a:ea typeface="Calibri" pitchFamily="34" charset="-122"/>
                <a:cs typeface="Calibri" pitchFamily="34" charset="-120"/>
              </a:rPr>
              <a:t>Run input through all layers.</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Compute output ŷ.</a:t>
            </a:r>
            <a:endParaRPr lang="en-US" sz="1000" dirty="0"/>
          </a:p>
        </p:txBody>
      </p:sp>
      <p:sp>
        <p:nvSpPr>
          <p:cNvPr id="10" name="Shape 8"/>
          <p:cNvSpPr/>
          <p:nvPr/>
        </p:nvSpPr>
        <p:spPr>
          <a:xfrm>
            <a:off x="347472" y="1883664"/>
            <a:ext cx="457200" cy="457200"/>
          </a:xfrm>
          <a:prstGeom prst="ellipse">
            <a:avLst/>
          </a:prstGeom>
          <a:solidFill>
            <a:srgbClr val="0B1D3A"/>
          </a:solidFill>
          <a:ln w="12700">
            <a:solidFill>
              <a:srgbClr val="0B1D3A"/>
            </a:solidFill>
            <a:prstDash val="solid"/>
          </a:ln>
        </p:spPr>
      </p:sp>
      <p:sp>
        <p:nvSpPr>
          <p:cNvPr id="11" name="Text 9"/>
          <p:cNvSpPr/>
          <p:nvPr/>
        </p:nvSpPr>
        <p:spPr>
          <a:xfrm>
            <a:off x="347472" y="18836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Shape 10"/>
          <p:cNvSpPr/>
          <p:nvPr/>
        </p:nvSpPr>
        <p:spPr>
          <a:xfrm>
            <a:off x="896112" y="1828800"/>
            <a:ext cx="3657600" cy="566928"/>
          </a:xfrm>
          <a:prstGeom prst="rect">
            <a:avLst/>
          </a:prstGeom>
          <a:solidFill>
            <a:srgbClr val="FFFFFF"/>
          </a:solidFill>
          <a:ln w="12700">
            <a:solidFill>
              <a:srgbClr val="DDE4F0"/>
            </a:solidFill>
            <a:prstDash val="solid"/>
          </a:ln>
        </p:spPr>
      </p:sp>
      <p:sp>
        <p:nvSpPr>
          <p:cNvPr id="13" name="Text 11"/>
          <p:cNvSpPr/>
          <p:nvPr/>
        </p:nvSpPr>
        <p:spPr>
          <a:xfrm>
            <a:off x="1033272" y="1865376"/>
            <a:ext cx="3401568" cy="256032"/>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Compute Loss</a:t>
            </a:r>
            <a:endParaRPr lang="en-US" sz="1200" dirty="0"/>
          </a:p>
        </p:txBody>
      </p:sp>
      <p:sp>
        <p:nvSpPr>
          <p:cNvPr id="14" name="Text 12"/>
          <p:cNvSpPr/>
          <p:nvPr/>
        </p:nvSpPr>
        <p:spPr>
          <a:xfrm>
            <a:off x="1033272" y="2103120"/>
            <a:ext cx="3401568" cy="256032"/>
          </a:xfrm>
          <a:prstGeom prst="rect">
            <a:avLst/>
          </a:prstGeom>
          <a:noFill/>
          <a:ln/>
        </p:spPr>
        <p:txBody>
          <a:bodyPr wrap="square" lIns="0" tIns="0" rIns="0" bIns="0" rtlCol="0" anchor="ctr"/>
          <a:lstStyle/>
          <a:p>
            <a:pPr indent="0" marL="0">
              <a:buNone/>
            </a:pPr>
            <a:r>
              <a:rPr lang="en-US" sz="1000" dirty="0">
                <a:solidFill>
                  <a:srgbClr val="3D4F6B"/>
                </a:solidFill>
                <a:latin typeface="Calibri" pitchFamily="34" charset="0"/>
                <a:ea typeface="Calibri" pitchFamily="34" charset="-122"/>
                <a:cs typeface="Calibri" pitchFamily="34" charset="-120"/>
              </a:rPr>
              <a:t>L = -log P(y|ŷ)</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(cross-entropy / MSE).</a:t>
            </a:r>
            <a:endParaRPr lang="en-US" sz="1000" dirty="0"/>
          </a:p>
        </p:txBody>
      </p:sp>
      <p:sp>
        <p:nvSpPr>
          <p:cNvPr id="15" name="Shape 13"/>
          <p:cNvSpPr/>
          <p:nvPr/>
        </p:nvSpPr>
        <p:spPr>
          <a:xfrm>
            <a:off x="347472" y="2542032"/>
            <a:ext cx="457200" cy="457200"/>
          </a:xfrm>
          <a:prstGeom prst="ellipse">
            <a:avLst/>
          </a:prstGeom>
          <a:solidFill>
            <a:srgbClr val="3D4F6B"/>
          </a:solidFill>
          <a:ln w="12700">
            <a:solidFill>
              <a:srgbClr val="3D4F6B"/>
            </a:solidFill>
            <a:prstDash val="solid"/>
          </a:ln>
        </p:spPr>
      </p:sp>
      <p:sp>
        <p:nvSpPr>
          <p:cNvPr id="16" name="Text 14"/>
          <p:cNvSpPr/>
          <p:nvPr/>
        </p:nvSpPr>
        <p:spPr>
          <a:xfrm>
            <a:off x="347472" y="25420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Shape 15"/>
          <p:cNvSpPr/>
          <p:nvPr/>
        </p:nvSpPr>
        <p:spPr>
          <a:xfrm>
            <a:off x="896112" y="2487168"/>
            <a:ext cx="3657600" cy="566928"/>
          </a:xfrm>
          <a:prstGeom prst="rect">
            <a:avLst/>
          </a:prstGeom>
          <a:solidFill>
            <a:srgbClr val="FFFFFF"/>
          </a:solidFill>
          <a:ln w="12700">
            <a:solidFill>
              <a:srgbClr val="DDE4F0"/>
            </a:solidFill>
            <a:prstDash val="solid"/>
          </a:ln>
        </p:spPr>
      </p:sp>
      <p:sp>
        <p:nvSpPr>
          <p:cNvPr id="18" name="Text 16"/>
          <p:cNvSpPr/>
          <p:nvPr/>
        </p:nvSpPr>
        <p:spPr>
          <a:xfrm>
            <a:off x="1033272" y="2523744"/>
            <a:ext cx="3401568" cy="256032"/>
          </a:xfrm>
          <a:prstGeom prst="rect">
            <a:avLst/>
          </a:prstGeom>
          <a:noFill/>
          <a:ln/>
        </p:spPr>
        <p:txBody>
          <a:bodyPr wrap="square" lIns="0" tIns="0" rIns="0" bIns="0" rtlCol="0" anchor="ctr"/>
          <a:lstStyle/>
          <a:p>
            <a:pPr indent="0" marL="0">
              <a:buNone/>
            </a:pPr>
            <a:r>
              <a:rPr lang="en-US" sz="1200" b="1" dirty="0">
                <a:solidFill>
                  <a:srgbClr val="3D4F6B"/>
                </a:solidFill>
                <a:latin typeface="Calibri" pitchFamily="34" charset="0"/>
                <a:ea typeface="Calibri" pitchFamily="34" charset="-122"/>
                <a:cs typeface="Calibri" pitchFamily="34" charset="-120"/>
              </a:rPr>
              <a:t>Backward (FC)</a:t>
            </a:r>
            <a:endParaRPr lang="en-US" sz="1200" dirty="0"/>
          </a:p>
        </p:txBody>
      </p:sp>
      <p:sp>
        <p:nvSpPr>
          <p:cNvPr id="19" name="Text 17"/>
          <p:cNvSpPr/>
          <p:nvPr/>
        </p:nvSpPr>
        <p:spPr>
          <a:xfrm>
            <a:off x="1033272" y="2761488"/>
            <a:ext cx="3401568" cy="256032"/>
          </a:xfrm>
          <a:prstGeom prst="rect">
            <a:avLst/>
          </a:prstGeom>
          <a:noFill/>
          <a:ln/>
        </p:spPr>
        <p:txBody>
          <a:bodyPr wrap="square" lIns="0" tIns="0" rIns="0" bIns="0" rtlCol="0" anchor="ctr"/>
          <a:lstStyle/>
          <a:p>
            <a:pPr indent="0" marL="0">
              <a:buNone/>
            </a:pPr>
            <a:r>
              <a:rPr lang="en-US" sz="1000" dirty="0">
                <a:solidFill>
                  <a:srgbClr val="3D4F6B"/>
                </a:solidFill>
                <a:latin typeface="Calibri" pitchFamily="34" charset="0"/>
                <a:ea typeface="Calibri" pitchFamily="34" charset="-122"/>
                <a:cs typeface="Calibri" pitchFamily="34" charset="-120"/>
              </a:rPr>
              <a:t>∂L/∂W = δ · aᵀ</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Standard dense backprop.</a:t>
            </a:r>
            <a:endParaRPr lang="en-US" sz="1000" dirty="0"/>
          </a:p>
        </p:txBody>
      </p:sp>
      <p:sp>
        <p:nvSpPr>
          <p:cNvPr id="20" name="Shape 18"/>
          <p:cNvSpPr/>
          <p:nvPr/>
        </p:nvSpPr>
        <p:spPr>
          <a:xfrm>
            <a:off x="347472" y="3200400"/>
            <a:ext cx="457200" cy="457200"/>
          </a:xfrm>
          <a:prstGeom prst="ellipse">
            <a:avLst/>
          </a:prstGeom>
          <a:solidFill>
            <a:srgbClr val="3D4F6B"/>
          </a:solidFill>
          <a:ln w="12700">
            <a:solidFill>
              <a:srgbClr val="3D4F6B"/>
            </a:solidFill>
            <a:prstDash val="solid"/>
          </a:ln>
        </p:spPr>
      </p:sp>
      <p:sp>
        <p:nvSpPr>
          <p:cNvPr id="21" name="Text 19"/>
          <p:cNvSpPr/>
          <p:nvPr/>
        </p:nvSpPr>
        <p:spPr>
          <a:xfrm>
            <a:off x="347472"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Shape 20"/>
          <p:cNvSpPr/>
          <p:nvPr/>
        </p:nvSpPr>
        <p:spPr>
          <a:xfrm>
            <a:off x="896112" y="3145536"/>
            <a:ext cx="3657600" cy="566928"/>
          </a:xfrm>
          <a:prstGeom prst="rect">
            <a:avLst/>
          </a:prstGeom>
          <a:solidFill>
            <a:srgbClr val="FFFFFF"/>
          </a:solidFill>
          <a:ln w="12700">
            <a:solidFill>
              <a:srgbClr val="DDE4F0"/>
            </a:solidFill>
            <a:prstDash val="solid"/>
          </a:ln>
        </p:spPr>
      </p:sp>
      <p:sp>
        <p:nvSpPr>
          <p:cNvPr id="23" name="Text 21"/>
          <p:cNvSpPr/>
          <p:nvPr/>
        </p:nvSpPr>
        <p:spPr>
          <a:xfrm>
            <a:off x="1033272" y="3182112"/>
            <a:ext cx="3401568" cy="256032"/>
          </a:xfrm>
          <a:prstGeom prst="rect">
            <a:avLst/>
          </a:prstGeom>
          <a:noFill/>
          <a:ln/>
        </p:spPr>
        <p:txBody>
          <a:bodyPr wrap="square" lIns="0" tIns="0" rIns="0" bIns="0" rtlCol="0" anchor="ctr"/>
          <a:lstStyle/>
          <a:p>
            <a:pPr indent="0" marL="0">
              <a:buNone/>
            </a:pPr>
            <a:r>
              <a:rPr lang="en-US" sz="1200" b="1" dirty="0">
                <a:solidFill>
                  <a:srgbClr val="3D4F6B"/>
                </a:solidFill>
                <a:latin typeface="Calibri" pitchFamily="34" charset="0"/>
                <a:ea typeface="Calibri" pitchFamily="34" charset="-122"/>
                <a:cs typeface="Calibri" pitchFamily="34" charset="-120"/>
              </a:rPr>
              <a:t>Backward (Pool)</a:t>
            </a:r>
            <a:endParaRPr lang="en-US" sz="1200" dirty="0"/>
          </a:p>
        </p:txBody>
      </p:sp>
      <p:sp>
        <p:nvSpPr>
          <p:cNvPr id="24" name="Text 22"/>
          <p:cNvSpPr/>
          <p:nvPr/>
        </p:nvSpPr>
        <p:spPr>
          <a:xfrm>
            <a:off x="1033272" y="3419856"/>
            <a:ext cx="3401568" cy="256032"/>
          </a:xfrm>
          <a:prstGeom prst="rect">
            <a:avLst/>
          </a:prstGeom>
          <a:noFill/>
          <a:ln/>
        </p:spPr>
        <p:txBody>
          <a:bodyPr wrap="square" lIns="0" tIns="0" rIns="0" bIns="0" rtlCol="0" anchor="ctr"/>
          <a:lstStyle/>
          <a:p>
            <a:pPr indent="0" marL="0">
              <a:buNone/>
            </a:pPr>
            <a:r>
              <a:rPr lang="en-US" sz="1000" dirty="0">
                <a:solidFill>
                  <a:srgbClr val="3D4F6B"/>
                </a:solidFill>
                <a:latin typeface="Calibri" pitchFamily="34" charset="0"/>
                <a:ea typeface="Calibri" pitchFamily="34" charset="-122"/>
                <a:cs typeface="Calibri" pitchFamily="34" charset="-120"/>
              </a:rPr>
              <a:t>Avg pool: spread gradient</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evenly across the 2×2 window.</a:t>
            </a:r>
            <a:endParaRPr lang="en-US" sz="1000" dirty="0"/>
          </a:p>
        </p:txBody>
      </p:sp>
      <p:sp>
        <p:nvSpPr>
          <p:cNvPr id="25" name="Shape 23"/>
          <p:cNvSpPr/>
          <p:nvPr/>
        </p:nvSpPr>
        <p:spPr>
          <a:xfrm>
            <a:off x="347472" y="3858768"/>
            <a:ext cx="457200" cy="457200"/>
          </a:xfrm>
          <a:prstGeom prst="ellipse">
            <a:avLst/>
          </a:prstGeom>
          <a:solidFill>
            <a:srgbClr val="1A6B7A"/>
          </a:solidFill>
          <a:ln w="12700">
            <a:solidFill>
              <a:srgbClr val="1A6B7A"/>
            </a:solidFill>
            <a:prstDash val="solid"/>
          </a:ln>
        </p:spPr>
      </p:sp>
      <p:sp>
        <p:nvSpPr>
          <p:cNvPr id="26" name="Text 24"/>
          <p:cNvSpPr/>
          <p:nvPr/>
        </p:nvSpPr>
        <p:spPr>
          <a:xfrm>
            <a:off x="347472" y="3858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Shape 25"/>
          <p:cNvSpPr/>
          <p:nvPr/>
        </p:nvSpPr>
        <p:spPr>
          <a:xfrm>
            <a:off x="896112" y="3803904"/>
            <a:ext cx="3657600" cy="566928"/>
          </a:xfrm>
          <a:prstGeom prst="rect">
            <a:avLst/>
          </a:prstGeom>
          <a:solidFill>
            <a:srgbClr val="FFFFFF"/>
          </a:solidFill>
          <a:ln w="12700">
            <a:solidFill>
              <a:srgbClr val="DDE4F0"/>
            </a:solidFill>
            <a:prstDash val="solid"/>
          </a:ln>
        </p:spPr>
      </p:sp>
      <p:sp>
        <p:nvSpPr>
          <p:cNvPr id="28" name="Text 26"/>
          <p:cNvSpPr/>
          <p:nvPr/>
        </p:nvSpPr>
        <p:spPr>
          <a:xfrm>
            <a:off x="1033272" y="3840480"/>
            <a:ext cx="3401568" cy="256032"/>
          </a:xfrm>
          <a:prstGeom prst="rect">
            <a:avLst/>
          </a:prstGeom>
          <a:noFill/>
          <a:ln/>
        </p:spPr>
        <p:txBody>
          <a:bodyPr wrap="square" lIns="0" tIns="0" rIns="0" bIns="0" rtlCol="0" anchor="ctr"/>
          <a:lstStyle/>
          <a:p>
            <a:pPr indent="0" marL="0">
              <a:buNone/>
            </a:pPr>
            <a:r>
              <a:rPr lang="en-US" sz="1200" b="1" dirty="0">
                <a:solidFill>
                  <a:srgbClr val="1A6B7A"/>
                </a:solidFill>
                <a:latin typeface="Calibri" pitchFamily="34" charset="0"/>
                <a:ea typeface="Calibri" pitchFamily="34" charset="-122"/>
                <a:cs typeface="Calibri" pitchFamily="34" charset="-120"/>
              </a:rPr>
              <a:t>Backward (Conv)</a:t>
            </a:r>
            <a:endParaRPr lang="en-US" sz="1200" dirty="0"/>
          </a:p>
        </p:txBody>
      </p:sp>
      <p:sp>
        <p:nvSpPr>
          <p:cNvPr id="29" name="Text 27"/>
          <p:cNvSpPr/>
          <p:nvPr/>
        </p:nvSpPr>
        <p:spPr>
          <a:xfrm>
            <a:off x="1033272" y="4078224"/>
            <a:ext cx="3401568" cy="256032"/>
          </a:xfrm>
          <a:prstGeom prst="rect">
            <a:avLst/>
          </a:prstGeom>
          <a:noFill/>
          <a:ln/>
        </p:spPr>
        <p:txBody>
          <a:bodyPr wrap="square" lIns="0" tIns="0" rIns="0" bIns="0" rtlCol="0" anchor="ctr"/>
          <a:lstStyle/>
          <a:p>
            <a:pPr indent="0" marL="0">
              <a:buNone/>
            </a:pPr>
            <a:r>
              <a:rPr lang="en-US" sz="1000" dirty="0">
                <a:solidFill>
                  <a:srgbClr val="3D4F6B"/>
                </a:solidFill>
                <a:latin typeface="Calibri" pitchFamily="34" charset="0"/>
                <a:ea typeface="Calibri" pitchFamily="34" charset="-122"/>
                <a:cs typeface="Calibri" pitchFamily="34" charset="-120"/>
              </a:rPr>
              <a:t>∂L/∂K = I ⊛ δ</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(full convolution of error).</a:t>
            </a:r>
            <a:endParaRPr lang="en-US" sz="1000" dirty="0"/>
          </a:p>
        </p:txBody>
      </p:sp>
      <p:sp>
        <p:nvSpPr>
          <p:cNvPr id="30" name="Shape 28"/>
          <p:cNvSpPr/>
          <p:nvPr/>
        </p:nvSpPr>
        <p:spPr>
          <a:xfrm>
            <a:off x="347472" y="4517136"/>
            <a:ext cx="457200" cy="457200"/>
          </a:xfrm>
          <a:prstGeom prst="ellipse">
            <a:avLst/>
          </a:prstGeom>
          <a:solidFill>
            <a:srgbClr val="C8992A"/>
          </a:solidFill>
          <a:ln w="12700">
            <a:solidFill>
              <a:srgbClr val="C8992A"/>
            </a:solidFill>
            <a:prstDash val="solid"/>
          </a:ln>
        </p:spPr>
      </p:sp>
      <p:sp>
        <p:nvSpPr>
          <p:cNvPr id="31" name="Text 29"/>
          <p:cNvSpPr/>
          <p:nvPr/>
        </p:nvSpPr>
        <p:spPr>
          <a:xfrm>
            <a:off x="347472" y="45171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Shape 30"/>
          <p:cNvSpPr/>
          <p:nvPr/>
        </p:nvSpPr>
        <p:spPr>
          <a:xfrm>
            <a:off x="896112" y="4462272"/>
            <a:ext cx="3657600" cy="566928"/>
          </a:xfrm>
          <a:prstGeom prst="rect">
            <a:avLst/>
          </a:prstGeom>
          <a:solidFill>
            <a:srgbClr val="FFFFFF"/>
          </a:solidFill>
          <a:ln w="12700">
            <a:solidFill>
              <a:srgbClr val="DDE4F0"/>
            </a:solidFill>
            <a:prstDash val="solid"/>
          </a:ln>
        </p:spPr>
      </p:sp>
      <p:sp>
        <p:nvSpPr>
          <p:cNvPr id="33" name="Text 31"/>
          <p:cNvSpPr/>
          <p:nvPr/>
        </p:nvSpPr>
        <p:spPr>
          <a:xfrm>
            <a:off x="1033272" y="4498848"/>
            <a:ext cx="3401568" cy="256032"/>
          </a:xfrm>
          <a:prstGeom prst="rect">
            <a:avLst/>
          </a:prstGeom>
          <a:noFill/>
          <a:ln/>
        </p:spPr>
        <p:txBody>
          <a:bodyPr wrap="square" lIns="0" tIns="0" rIns="0" bIns="0" rtlCol="0" anchor="ctr"/>
          <a:lstStyle/>
          <a:p>
            <a:pPr indent="0" marL="0">
              <a:buNone/>
            </a:pPr>
            <a:r>
              <a:rPr lang="en-US" sz="1200" b="1" dirty="0">
                <a:solidFill>
                  <a:srgbClr val="C8992A"/>
                </a:solidFill>
                <a:latin typeface="Calibri" pitchFamily="34" charset="0"/>
                <a:ea typeface="Calibri" pitchFamily="34" charset="-122"/>
                <a:cs typeface="Calibri" pitchFamily="34" charset="-120"/>
              </a:rPr>
              <a:t>Update Weights</a:t>
            </a:r>
            <a:endParaRPr lang="en-US" sz="1200" dirty="0"/>
          </a:p>
        </p:txBody>
      </p:sp>
      <p:sp>
        <p:nvSpPr>
          <p:cNvPr id="34" name="Text 32"/>
          <p:cNvSpPr/>
          <p:nvPr/>
        </p:nvSpPr>
        <p:spPr>
          <a:xfrm>
            <a:off x="1033272" y="4736592"/>
            <a:ext cx="3401568" cy="256032"/>
          </a:xfrm>
          <a:prstGeom prst="rect">
            <a:avLst/>
          </a:prstGeom>
          <a:noFill/>
          <a:ln/>
        </p:spPr>
        <p:txBody>
          <a:bodyPr wrap="square" lIns="0" tIns="0" rIns="0" bIns="0" rtlCol="0" anchor="ctr"/>
          <a:lstStyle/>
          <a:p>
            <a:pPr indent="0" marL="0">
              <a:buNone/>
            </a:pPr>
            <a:r>
              <a:rPr lang="en-US" sz="1000" dirty="0">
                <a:solidFill>
                  <a:srgbClr val="3D4F6B"/>
                </a:solidFill>
                <a:latin typeface="Calibri" pitchFamily="34" charset="0"/>
                <a:ea typeface="Calibri" pitchFamily="34" charset="-122"/>
                <a:cs typeface="Calibri" pitchFamily="34" charset="-120"/>
              </a:rPr>
              <a:t>W ← W − η · ∂L/∂W</a:t>
            </a:r>
            <a:endParaRPr lang="en-US" sz="1000" dirty="0"/>
          </a:p>
          <a:p>
            <a:pPr indent="0" marL="0">
              <a:buNone/>
            </a:pPr>
            <a:r>
              <a:rPr lang="en-US" sz="1000" dirty="0">
                <a:solidFill>
                  <a:srgbClr val="3D4F6B"/>
                </a:solidFill>
                <a:latin typeface="Calibri" pitchFamily="34" charset="0"/>
                <a:ea typeface="Calibri" pitchFamily="34" charset="-122"/>
                <a:cs typeface="Calibri" pitchFamily="34" charset="-120"/>
              </a:rPr>
              <a:t>(SGD / Adam).</a:t>
            </a:r>
            <a:endParaRPr lang="en-US" sz="1000" dirty="0"/>
          </a:p>
        </p:txBody>
      </p:sp>
      <p:sp>
        <p:nvSpPr>
          <p:cNvPr id="35" name="Text 33"/>
          <p:cNvSpPr/>
          <p:nvPr/>
        </p:nvSpPr>
        <p:spPr>
          <a:xfrm>
            <a:off x="5029200" y="1170432"/>
            <a:ext cx="3749040" cy="320040"/>
          </a:xfrm>
          <a:prstGeom prst="rect">
            <a:avLst/>
          </a:prstGeom>
          <a:noFill/>
          <a:ln/>
        </p:spPr>
        <p:txBody>
          <a:bodyPr wrap="square" lIns="0" tIns="0" rIns="0" bIns="0" rtlCol="0" anchor="ctr"/>
          <a:lstStyle/>
          <a:p>
            <a:pPr indent="0" marL="0">
              <a:buNone/>
            </a:pPr>
            <a:r>
              <a:rPr lang="en-US" sz="1350" b="1" dirty="0">
                <a:solidFill>
                  <a:srgbClr val="0B1D3A"/>
                </a:solidFill>
                <a:latin typeface="Calibri" pitchFamily="34" charset="0"/>
                <a:ea typeface="Calibri" pitchFamily="34" charset="-122"/>
                <a:cs typeface="Calibri" pitchFamily="34" charset="-120"/>
              </a:rPr>
              <a:t>Key Gradient Formulas</a:t>
            </a:r>
            <a:endParaRPr lang="en-US" sz="1350" dirty="0"/>
          </a:p>
        </p:txBody>
      </p:sp>
      <p:sp>
        <p:nvSpPr>
          <p:cNvPr id="36" name="Shape 34"/>
          <p:cNvSpPr/>
          <p:nvPr/>
        </p:nvSpPr>
        <p:spPr>
          <a:xfrm>
            <a:off x="5029200" y="1572768"/>
            <a:ext cx="3749040" cy="676656"/>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37" name="Shape 35"/>
          <p:cNvSpPr/>
          <p:nvPr/>
        </p:nvSpPr>
        <p:spPr>
          <a:xfrm>
            <a:off x="5029200" y="1572768"/>
            <a:ext cx="64008" cy="676656"/>
          </a:xfrm>
          <a:prstGeom prst="rect">
            <a:avLst/>
          </a:prstGeom>
          <a:solidFill>
            <a:srgbClr val="C8992A"/>
          </a:solidFill>
          <a:ln w="12700">
            <a:solidFill>
              <a:srgbClr val="C8992A"/>
            </a:solidFill>
            <a:prstDash val="solid"/>
          </a:ln>
        </p:spPr>
      </p:sp>
      <p:sp>
        <p:nvSpPr>
          <p:cNvPr id="38" name="Text 36"/>
          <p:cNvSpPr/>
          <p:nvPr/>
        </p:nvSpPr>
        <p:spPr>
          <a:xfrm>
            <a:off x="5166360" y="1609344"/>
            <a:ext cx="3511296" cy="219456"/>
          </a:xfrm>
          <a:prstGeom prst="rect">
            <a:avLst/>
          </a:prstGeom>
          <a:noFill/>
          <a:ln/>
        </p:spPr>
        <p:txBody>
          <a:bodyPr wrap="square" lIns="0" tIns="0" rIns="0" bIns="0"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Loss: Cross-Entropy</a:t>
            </a:r>
            <a:endParaRPr lang="en-US" sz="1050" dirty="0"/>
          </a:p>
        </p:txBody>
      </p:sp>
      <p:sp>
        <p:nvSpPr>
          <p:cNvPr id="39" name="Text 37"/>
          <p:cNvSpPr/>
          <p:nvPr/>
        </p:nvSpPr>
        <p:spPr>
          <a:xfrm>
            <a:off x="5166360" y="1828800"/>
            <a:ext cx="2194560" cy="219456"/>
          </a:xfrm>
          <a:prstGeom prst="rect">
            <a:avLst/>
          </a:prstGeom>
          <a:noFill/>
          <a:ln/>
        </p:spPr>
        <p:txBody>
          <a:bodyPr wrap="square" lIns="0" tIns="0" rIns="0" bIns="0" rtlCol="0" anchor="ctr"/>
          <a:lstStyle/>
          <a:p>
            <a:pPr indent="0" marL="0">
              <a:buNone/>
            </a:pPr>
            <a:r>
              <a:rPr lang="en-US" sz="1100" b="1" dirty="0">
                <a:solidFill>
                  <a:srgbClr val="1A6B7A"/>
                </a:solidFill>
                <a:latin typeface="Calibri" pitchFamily="34" charset="0"/>
                <a:ea typeface="Calibri" pitchFamily="34" charset="-122"/>
                <a:cs typeface="Calibri" pitchFamily="34" charset="-120"/>
              </a:rPr>
              <a:t>L = −Σᵢ yᵢ log(ŷᵢ)</a:t>
            </a:r>
            <a:endParaRPr lang="en-US" sz="1100" dirty="0"/>
          </a:p>
        </p:txBody>
      </p:sp>
      <p:sp>
        <p:nvSpPr>
          <p:cNvPr id="40" name="Text 38"/>
          <p:cNvSpPr/>
          <p:nvPr/>
        </p:nvSpPr>
        <p:spPr>
          <a:xfrm>
            <a:off x="7388352" y="1792224"/>
            <a:ext cx="1325880" cy="384048"/>
          </a:xfrm>
          <a:prstGeom prst="rect">
            <a:avLst/>
          </a:prstGeom>
          <a:noFill/>
          <a:ln/>
        </p:spPr>
        <p:txBody>
          <a:bodyPr wrap="square" rtlCol="0" anchor="ctr"/>
          <a:lstStyle/>
          <a:p>
            <a:pPr indent="0" marL="0">
              <a:buNone/>
            </a:pPr>
            <a:r>
              <a:rPr lang="en-US" sz="850" dirty="0">
                <a:solidFill>
                  <a:srgbClr val="6B7D99"/>
                </a:solidFill>
                <a:latin typeface="Calibri" pitchFamily="34" charset="0"/>
                <a:ea typeface="Calibri" pitchFamily="34" charset="-122"/>
                <a:cs typeface="Calibri" pitchFamily="34" charset="-120"/>
              </a:rPr>
              <a:t>y = true label (one-hot)</a:t>
            </a:r>
            <a:endParaRPr lang="en-US" sz="850" dirty="0"/>
          </a:p>
          <a:p>
            <a:pPr indent="0" marL="0">
              <a:buNone/>
            </a:pPr>
            <a:r>
              <a:rPr lang="en-US" sz="850" dirty="0">
                <a:solidFill>
                  <a:srgbClr val="6B7D99"/>
                </a:solidFill>
                <a:latin typeface="Calibri" pitchFamily="34" charset="0"/>
                <a:ea typeface="Calibri" pitchFamily="34" charset="-122"/>
                <a:cs typeface="Calibri" pitchFamily="34" charset="-120"/>
              </a:rPr>
              <a:t>ŷ = softmax output</a:t>
            </a:r>
            <a:endParaRPr lang="en-US" sz="850" dirty="0"/>
          </a:p>
        </p:txBody>
      </p:sp>
      <p:sp>
        <p:nvSpPr>
          <p:cNvPr id="41" name="Shape 39"/>
          <p:cNvSpPr/>
          <p:nvPr/>
        </p:nvSpPr>
        <p:spPr>
          <a:xfrm>
            <a:off x="5029200" y="2322576"/>
            <a:ext cx="3749040" cy="676656"/>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42" name="Shape 40"/>
          <p:cNvSpPr/>
          <p:nvPr/>
        </p:nvSpPr>
        <p:spPr>
          <a:xfrm>
            <a:off x="5029200" y="2322576"/>
            <a:ext cx="64008" cy="676656"/>
          </a:xfrm>
          <a:prstGeom prst="rect">
            <a:avLst/>
          </a:prstGeom>
          <a:solidFill>
            <a:srgbClr val="C8992A"/>
          </a:solidFill>
          <a:ln w="12700">
            <a:solidFill>
              <a:srgbClr val="C8992A"/>
            </a:solidFill>
            <a:prstDash val="solid"/>
          </a:ln>
        </p:spPr>
      </p:sp>
      <p:sp>
        <p:nvSpPr>
          <p:cNvPr id="43" name="Text 41"/>
          <p:cNvSpPr/>
          <p:nvPr/>
        </p:nvSpPr>
        <p:spPr>
          <a:xfrm>
            <a:off x="5166360" y="2359152"/>
            <a:ext cx="3511296" cy="219456"/>
          </a:xfrm>
          <a:prstGeom prst="rect">
            <a:avLst/>
          </a:prstGeom>
          <a:noFill/>
          <a:ln/>
        </p:spPr>
        <p:txBody>
          <a:bodyPr wrap="square" lIns="0" tIns="0" rIns="0" bIns="0"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Gradient w.r.t. Conv Kernel</a:t>
            </a:r>
            <a:endParaRPr lang="en-US" sz="1050" dirty="0"/>
          </a:p>
        </p:txBody>
      </p:sp>
      <p:sp>
        <p:nvSpPr>
          <p:cNvPr id="44" name="Text 42"/>
          <p:cNvSpPr/>
          <p:nvPr/>
        </p:nvSpPr>
        <p:spPr>
          <a:xfrm>
            <a:off x="5166360" y="2578608"/>
            <a:ext cx="2194560" cy="219456"/>
          </a:xfrm>
          <a:prstGeom prst="rect">
            <a:avLst/>
          </a:prstGeom>
          <a:noFill/>
          <a:ln/>
        </p:spPr>
        <p:txBody>
          <a:bodyPr wrap="square" lIns="0" tIns="0" rIns="0" bIns="0" rtlCol="0" anchor="ctr"/>
          <a:lstStyle/>
          <a:p>
            <a:pPr indent="0" marL="0">
              <a:buNone/>
            </a:pPr>
            <a:r>
              <a:rPr lang="en-US" sz="1100" b="1" dirty="0">
                <a:solidFill>
                  <a:srgbClr val="1A6B7A"/>
                </a:solidFill>
                <a:latin typeface="Calibri" pitchFamily="34" charset="0"/>
                <a:ea typeface="Calibri" pitchFamily="34" charset="-122"/>
                <a:cs typeface="Calibri" pitchFamily="34" charset="-120"/>
              </a:rPr>
              <a:t>∂L/∂Kₘₙ = Σᵢ,ⱼ δᵢⱼ · Iᵢ₊ₘ,ⱼ₊ₙ</a:t>
            </a:r>
            <a:endParaRPr lang="en-US" sz="1100" dirty="0"/>
          </a:p>
        </p:txBody>
      </p:sp>
      <p:sp>
        <p:nvSpPr>
          <p:cNvPr id="45" name="Text 43"/>
          <p:cNvSpPr/>
          <p:nvPr/>
        </p:nvSpPr>
        <p:spPr>
          <a:xfrm>
            <a:off x="7388352" y="2542032"/>
            <a:ext cx="1325880" cy="384048"/>
          </a:xfrm>
          <a:prstGeom prst="rect">
            <a:avLst/>
          </a:prstGeom>
          <a:noFill/>
          <a:ln/>
        </p:spPr>
        <p:txBody>
          <a:bodyPr wrap="square" rtlCol="0" anchor="ctr"/>
          <a:lstStyle/>
          <a:p>
            <a:pPr indent="0" marL="0">
              <a:buNone/>
            </a:pPr>
            <a:r>
              <a:rPr lang="en-US" sz="850" dirty="0">
                <a:solidFill>
                  <a:srgbClr val="6B7D99"/>
                </a:solidFill>
                <a:latin typeface="Calibri" pitchFamily="34" charset="0"/>
                <a:ea typeface="Calibri" pitchFamily="34" charset="-122"/>
                <a:cs typeface="Calibri" pitchFamily="34" charset="-120"/>
              </a:rPr>
              <a:t>δ = upstream error signal</a:t>
            </a:r>
            <a:endParaRPr lang="en-US" sz="850" dirty="0"/>
          </a:p>
          <a:p>
            <a:pPr indent="0" marL="0">
              <a:buNone/>
            </a:pPr>
            <a:r>
              <a:rPr lang="en-US" sz="850" dirty="0">
                <a:solidFill>
                  <a:srgbClr val="6B7D99"/>
                </a:solidFill>
                <a:latin typeface="Calibri" pitchFamily="34" charset="0"/>
                <a:ea typeface="Calibri" pitchFamily="34" charset="-122"/>
                <a:cs typeface="Calibri" pitchFamily="34" charset="-120"/>
              </a:rPr>
              <a:t>I = input feature map</a:t>
            </a:r>
            <a:endParaRPr lang="en-US" sz="850" dirty="0"/>
          </a:p>
        </p:txBody>
      </p:sp>
      <p:sp>
        <p:nvSpPr>
          <p:cNvPr id="46" name="Shape 44"/>
          <p:cNvSpPr/>
          <p:nvPr/>
        </p:nvSpPr>
        <p:spPr>
          <a:xfrm>
            <a:off x="5029200" y="3072384"/>
            <a:ext cx="3749040" cy="676656"/>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47" name="Shape 45"/>
          <p:cNvSpPr/>
          <p:nvPr/>
        </p:nvSpPr>
        <p:spPr>
          <a:xfrm>
            <a:off x="5029200" y="3072384"/>
            <a:ext cx="64008" cy="676656"/>
          </a:xfrm>
          <a:prstGeom prst="rect">
            <a:avLst/>
          </a:prstGeom>
          <a:solidFill>
            <a:srgbClr val="C8992A"/>
          </a:solidFill>
          <a:ln w="12700">
            <a:solidFill>
              <a:srgbClr val="C8992A"/>
            </a:solidFill>
            <a:prstDash val="solid"/>
          </a:ln>
        </p:spPr>
      </p:sp>
      <p:sp>
        <p:nvSpPr>
          <p:cNvPr id="48" name="Text 46"/>
          <p:cNvSpPr/>
          <p:nvPr/>
        </p:nvSpPr>
        <p:spPr>
          <a:xfrm>
            <a:off x="5166360" y="3108960"/>
            <a:ext cx="3511296" cy="219456"/>
          </a:xfrm>
          <a:prstGeom prst="rect">
            <a:avLst/>
          </a:prstGeom>
          <a:noFill/>
          <a:ln/>
        </p:spPr>
        <p:txBody>
          <a:bodyPr wrap="square" lIns="0" tIns="0" rIns="0" bIns="0"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Gradient w.r.t. Input (Conv)</a:t>
            </a:r>
            <a:endParaRPr lang="en-US" sz="1050" dirty="0"/>
          </a:p>
        </p:txBody>
      </p:sp>
      <p:sp>
        <p:nvSpPr>
          <p:cNvPr id="49" name="Text 47"/>
          <p:cNvSpPr/>
          <p:nvPr/>
        </p:nvSpPr>
        <p:spPr>
          <a:xfrm>
            <a:off x="5166360" y="3328416"/>
            <a:ext cx="2194560" cy="219456"/>
          </a:xfrm>
          <a:prstGeom prst="rect">
            <a:avLst/>
          </a:prstGeom>
          <a:noFill/>
          <a:ln/>
        </p:spPr>
        <p:txBody>
          <a:bodyPr wrap="square" lIns="0" tIns="0" rIns="0" bIns="0" rtlCol="0" anchor="ctr"/>
          <a:lstStyle/>
          <a:p>
            <a:pPr indent="0" marL="0">
              <a:buNone/>
            </a:pPr>
            <a:r>
              <a:rPr lang="en-US" sz="1100" b="1" dirty="0">
                <a:solidFill>
                  <a:srgbClr val="1A6B7A"/>
                </a:solidFill>
                <a:latin typeface="Calibri" pitchFamily="34" charset="0"/>
                <a:ea typeface="Calibri" pitchFamily="34" charset="-122"/>
                <a:cs typeface="Calibri" pitchFamily="34" charset="-120"/>
              </a:rPr>
              <a:t>∂L/∂Iᵢⱼ = Σₘ,ₙ δᵢ₋ₘ,ⱼ₋ₙ · Kₘₙ</a:t>
            </a:r>
            <a:endParaRPr lang="en-US" sz="1100" dirty="0"/>
          </a:p>
        </p:txBody>
      </p:sp>
      <p:sp>
        <p:nvSpPr>
          <p:cNvPr id="50" name="Text 48"/>
          <p:cNvSpPr/>
          <p:nvPr/>
        </p:nvSpPr>
        <p:spPr>
          <a:xfrm>
            <a:off x="7388352" y="3291840"/>
            <a:ext cx="1325880" cy="384048"/>
          </a:xfrm>
          <a:prstGeom prst="rect">
            <a:avLst/>
          </a:prstGeom>
          <a:noFill/>
          <a:ln/>
        </p:spPr>
        <p:txBody>
          <a:bodyPr wrap="square" rtlCol="0" anchor="ctr"/>
          <a:lstStyle/>
          <a:p>
            <a:pPr indent="0" marL="0">
              <a:buNone/>
            </a:pPr>
            <a:r>
              <a:rPr lang="en-US" sz="850" dirty="0">
                <a:solidFill>
                  <a:srgbClr val="6B7D99"/>
                </a:solidFill>
                <a:latin typeface="Calibri" pitchFamily="34" charset="0"/>
                <a:ea typeface="Calibri" pitchFamily="34" charset="-122"/>
                <a:cs typeface="Calibri" pitchFamily="34" charset="-120"/>
              </a:rPr>
              <a:t>Full convolution with</a:t>
            </a:r>
            <a:endParaRPr lang="en-US" sz="850" dirty="0"/>
          </a:p>
          <a:p>
            <a:pPr indent="0" marL="0">
              <a:buNone/>
            </a:pPr>
            <a:r>
              <a:rPr lang="en-US" sz="850" dirty="0">
                <a:solidFill>
                  <a:srgbClr val="6B7D99"/>
                </a:solidFill>
                <a:latin typeface="Calibri" pitchFamily="34" charset="0"/>
                <a:ea typeface="Calibri" pitchFamily="34" charset="-122"/>
                <a:cs typeface="Calibri" pitchFamily="34" charset="-120"/>
              </a:rPr>
              <a:t>flipped kernel K</a:t>
            </a:r>
            <a:endParaRPr lang="en-US" sz="850" dirty="0"/>
          </a:p>
        </p:txBody>
      </p:sp>
      <p:sp>
        <p:nvSpPr>
          <p:cNvPr id="51" name="Shape 49"/>
          <p:cNvSpPr/>
          <p:nvPr/>
        </p:nvSpPr>
        <p:spPr>
          <a:xfrm>
            <a:off x="5029200" y="3822192"/>
            <a:ext cx="3749040" cy="676656"/>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52" name="Shape 50"/>
          <p:cNvSpPr/>
          <p:nvPr/>
        </p:nvSpPr>
        <p:spPr>
          <a:xfrm>
            <a:off x="5029200" y="3822192"/>
            <a:ext cx="64008" cy="676656"/>
          </a:xfrm>
          <a:prstGeom prst="rect">
            <a:avLst/>
          </a:prstGeom>
          <a:solidFill>
            <a:srgbClr val="C8992A"/>
          </a:solidFill>
          <a:ln w="12700">
            <a:solidFill>
              <a:srgbClr val="C8992A"/>
            </a:solidFill>
            <a:prstDash val="solid"/>
          </a:ln>
        </p:spPr>
      </p:sp>
      <p:sp>
        <p:nvSpPr>
          <p:cNvPr id="53" name="Text 51"/>
          <p:cNvSpPr/>
          <p:nvPr/>
        </p:nvSpPr>
        <p:spPr>
          <a:xfrm>
            <a:off x="5166360" y="3858768"/>
            <a:ext cx="3511296" cy="219456"/>
          </a:xfrm>
          <a:prstGeom prst="rect">
            <a:avLst/>
          </a:prstGeom>
          <a:noFill/>
          <a:ln/>
        </p:spPr>
        <p:txBody>
          <a:bodyPr wrap="square" lIns="0" tIns="0" rIns="0" bIns="0"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Gradient through Avg Pool</a:t>
            </a:r>
            <a:endParaRPr lang="en-US" sz="1050" dirty="0"/>
          </a:p>
        </p:txBody>
      </p:sp>
      <p:sp>
        <p:nvSpPr>
          <p:cNvPr id="54" name="Text 52"/>
          <p:cNvSpPr/>
          <p:nvPr/>
        </p:nvSpPr>
        <p:spPr>
          <a:xfrm>
            <a:off x="5166360" y="4078224"/>
            <a:ext cx="2194560" cy="219456"/>
          </a:xfrm>
          <a:prstGeom prst="rect">
            <a:avLst/>
          </a:prstGeom>
          <a:noFill/>
          <a:ln/>
        </p:spPr>
        <p:txBody>
          <a:bodyPr wrap="square" lIns="0" tIns="0" rIns="0" bIns="0" rtlCol="0" anchor="ctr"/>
          <a:lstStyle/>
          <a:p>
            <a:pPr indent="0" marL="0">
              <a:buNone/>
            </a:pPr>
            <a:r>
              <a:rPr lang="en-US" sz="1100" b="1" dirty="0">
                <a:solidFill>
                  <a:srgbClr val="1A6B7A"/>
                </a:solidFill>
                <a:latin typeface="Calibri" pitchFamily="34" charset="0"/>
                <a:ea typeface="Calibri" pitchFamily="34" charset="-122"/>
                <a:cs typeface="Calibri" pitchFamily="34" charset="-120"/>
              </a:rPr>
              <a:t>∂L/∂xₖ = δᵢⱼ / (pool_size²)</a:t>
            </a:r>
            <a:endParaRPr lang="en-US" sz="1100" dirty="0"/>
          </a:p>
        </p:txBody>
      </p:sp>
      <p:sp>
        <p:nvSpPr>
          <p:cNvPr id="55" name="Text 53"/>
          <p:cNvSpPr/>
          <p:nvPr/>
        </p:nvSpPr>
        <p:spPr>
          <a:xfrm>
            <a:off x="7388352" y="4041648"/>
            <a:ext cx="1325880" cy="384048"/>
          </a:xfrm>
          <a:prstGeom prst="rect">
            <a:avLst/>
          </a:prstGeom>
          <a:noFill/>
          <a:ln/>
        </p:spPr>
        <p:txBody>
          <a:bodyPr wrap="square" rtlCol="0" anchor="ctr"/>
          <a:lstStyle/>
          <a:p>
            <a:pPr indent="0" marL="0">
              <a:buNone/>
            </a:pPr>
            <a:r>
              <a:rPr lang="en-US" sz="850" dirty="0">
                <a:solidFill>
                  <a:srgbClr val="6B7D99"/>
                </a:solidFill>
                <a:latin typeface="Calibri" pitchFamily="34" charset="0"/>
                <a:ea typeface="Calibri" pitchFamily="34" charset="-122"/>
                <a:cs typeface="Calibri" pitchFamily="34" charset="-120"/>
              </a:rPr>
              <a:t>Gradient distributed equally</a:t>
            </a:r>
            <a:endParaRPr lang="en-US" sz="850" dirty="0"/>
          </a:p>
          <a:p>
            <a:pPr indent="0" marL="0">
              <a:buNone/>
            </a:pPr>
            <a:r>
              <a:rPr lang="en-US" sz="850" dirty="0">
                <a:solidFill>
                  <a:srgbClr val="6B7D99"/>
                </a:solidFill>
                <a:latin typeface="Calibri" pitchFamily="34" charset="0"/>
                <a:ea typeface="Calibri" pitchFamily="34" charset="-122"/>
                <a:cs typeface="Calibri" pitchFamily="34" charset="-120"/>
              </a:rPr>
              <a:t>back to all pool inputs</a:t>
            </a:r>
            <a:endParaRPr lang="en-US" sz="850" dirty="0"/>
          </a:p>
        </p:txBody>
      </p:sp>
      <p:sp>
        <p:nvSpPr>
          <p:cNvPr id="56" name="Shape 54"/>
          <p:cNvSpPr/>
          <p:nvPr/>
        </p:nvSpPr>
        <p:spPr>
          <a:xfrm>
            <a:off x="5029200" y="4572000"/>
            <a:ext cx="3749040" cy="676656"/>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57" name="Shape 55"/>
          <p:cNvSpPr/>
          <p:nvPr/>
        </p:nvSpPr>
        <p:spPr>
          <a:xfrm>
            <a:off x="5029200" y="4572000"/>
            <a:ext cx="64008" cy="676656"/>
          </a:xfrm>
          <a:prstGeom prst="rect">
            <a:avLst/>
          </a:prstGeom>
          <a:solidFill>
            <a:srgbClr val="C8992A"/>
          </a:solidFill>
          <a:ln w="12700">
            <a:solidFill>
              <a:srgbClr val="C8992A"/>
            </a:solidFill>
            <a:prstDash val="solid"/>
          </a:ln>
        </p:spPr>
      </p:sp>
      <p:sp>
        <p:nvSpPr>
          <p:cNvPr id="58" name="Text 56"/>
          <p:cNvSpPr/>
          <p:nvPr/>
        </p:nvSpPr>
        <p:spPr>
          <a:xfrm>
            <a:off x="5166360" y="4608576"/>
            <a:ext cx="3511296" cy="219456"/>
          </a:xfrm>
          <a:prstGeom prst="rect">
            <a:avLst/>
          </a:prstGeom>
          <a:noFill/>
          <a:ln/>
        </p:spPr>
        <p:txBody>
          <a:bodyPr wrap="square" lIns="0" tIns="0" rIns="0" bIns="0" rtlCol="0" anchor="ctr"/>
          <a:lstStyle/>
          <a:p>
            <a:pPr indent="0" marL="0">
              <a:buNone/>
            </a:pPr>
            <a:r>
              <a:rPr lang="en-US" sz="1050" b="1" dirty="0">
                <a:solidFill>
                  <a:srgbClr val="0B1D3A"/>
                </a:solidFill>
                <a:latin typeface="Calibri" pitchFamily="34" charset="0"/>
                <a:ea typeface="Calibri" pitchFamily="34" charset="-122"/>
                <a:cs typeface="Calibri" pitchFamily="34" charset="-120"/>
              </a:rPr>
              <a:t>Weight Update Rule (SGD)</a:t>
            </a:r>
            <a:endParaRPr lang="en-US" sz="1050" dirty="0"/>
          </a:p>
        </p:txBody>
      </p:sp>
      <p:sp>
        <p:nvSpPr>
          <p:cNvPr id="59" name="Text 57"/>
          <p:cNvSpPr/>
          <p:nvPr/>
        </p:nvSpPr>
        <p:spPr>
          <a:xfrm>
            <a:off x="5166360" y="4828032"/>
            <a:ext cx="2194560" cy="219456"/>
          </a:xfrm>
          <a:prstGeom prst="rect">
            <a:avLst/>
          </a:prstGeom>
          <a:noFill/>
          <a:ln/>
        </p:spPr>
        <p:txBody>
          <a:bodyPr wrap="square" lIns="0" tIns="0" rIns="0" bIns="0" rtlCol="0" anchor="ctr"/>
          <a:lstStyle/>
          <a:p>
            <a:pPr indent="0" marL="0">
              <a:buNone/>
            </a:pPr>
            <a:r>
              <a:rPr lang="en-US" sz="1100" b="1" dirty="0">
                <a:solidFill>
                  <a:srgbClr val="1A6B7A"/>
                </a:solidFill>
                <a:latin typeface="Calibri" pitchFamily="34" charset="0"/>
                <a:ea typeface="Calibri" pitchFamily="34" charset="-122"/>
                <a:cs typeface="Calibri" pitchFamily="34" charset="-120"/>
              </a:rPr>
              <a:t>W ← W − η · ∂L/∂W</a:t>
            </a:r>
            <a:endParaRPr lang="en-US" sz="1100" dirty="0"/>
          </a:p>
        </p:txBody>
      </p:sp>
      <p:sp>
        <p:nvSpPr>
          <p:cNvPr id="60" name="Text 58"/>
          <p:cNvSpPr/>
          <p:nvPr/>
        </p:nvSpPr>
        <p:spPr>
          <a:xfrm>
            <a:off x="7388352" y="4791456"/>
            <a:ext cx="1325880" cy="384048"/>
          </a:xfrm>
          <a:prstGeom prst="rect">
            <a:avLst/>
          </a:prstGeom>
          <a:noFill/>
          <a:ln/>
        </p:spPr>
        <p:txBody>
          <a:bodyPr wrap="square" rtlCol="0" anchor="ctr"/>
          <a:lstStyle/>
          <a:p>
            <a:pPr indent="0" marL="0">
              <a:buNone/>
            </a:pPr>
            <a:r>
              <a:rPr lang="en-US" sz="850" dirty="0">
                <a:solidFill>
                  <a:srgbClr val="6B7D99"/>
                </a:solidFill>
                <a:latin typeface="Calibri" pitchFamily="34" charset="0"/>
                <a:ea typeface="Calibri" pitchFamily="34" charset="-122"/>
                <a:cs typeface="Calibri" pitchFamily="34" charset="-120"/>
              </a:rPr>
              <a:t>η = learning rate</a:t>
            </a:r>
            <a:endParaRPr lang="en-US" sz="850" dirty="0"/>
          </a:p>
          <a:p>
            <a:pPr indent="0" marL="0">
              <a:buNone/>
            </a:pPr>
            <a:r>
              <a:rPr lang="en-US" sz="850" dirty="0">
                <a:solidFill>
                  <a:srgbClr val="6B7D99"/>
                </a:solidFill>
                <a:latin typeface="Calibri" pitchFamily="34" charset="0"/>
                <a:ea typeface="Calibri" pitchFamily="34" charset="-122"/>
                <a:cs typeface="Calibri" pitchFamily="34" charset="-120"/>
              </a:rPr>
              <a:t>Inner loop of optimiser</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LeNet on MNIST: Performance &amp; Results</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Training on 60,000 samples, testing on 10,000 — the benchmark that defined an era</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65760" y="1170432"/>
            <a:ext cx="2029968" cy="914400"/>
          </a:xfrm>
          <a:prstGeom prst="rect">
            <a:avLst/>
          </a:prstGeom>
          <a:solidFill>
            <a:srgbClr val="1B7E5A"/>
          </a:solidFill>
          <a:ln w="12700">
            <a:solidFill>
              <a:srgbClr val="1B7E5A"/>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365760" y="1225296"/>
            <a:ext cx="2029968" cy="47548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99.2%</a:t>
            </a:r>
            <a:endParaRPr lang="en-US" sz="3000" dirty="0"/>
          </a:p>
        </p:txBody>
      </p:sp>
      <p:sp>
        <p:nvSpPr>
          <p:cNvPr id="7" name="Text 5"/>
          <p:cNvSpPr/>
          <p:nvPr/>
        </p:nvSpPr>
        <p:spPr>
          <a:xfrm>
            <a:off x="365760" y="1700784"/>
            <a:ext cx="2029968" cy="347472"/>
          </a:xfrm>
          <a:prstGeom prst="rect">
            <a:avLst/>
          </a:prstGeom>
          <a:noFill/>
          <a:ln/>
        </p:spPr>
        <p:txBody>
          <a:bodyPr wrap="square"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Test Accuracy</a:t>
            </a:r>
            <a:endParaRPr lang="en-US" sz="1000" dirty="0"/>
          </a:p>
          <a:p>
            <a:pPr algn="ctr" indent="0" marL="0">
              <a:buNone/>
            </a:pPr>
            <a:r>
              <a:rPr lang="en-US" sz="1000" dirty="0">
                <a:solidFill>
                  <a:srgbClr val="B8C5D9"/>
                </a:solidFill>
                <a:latin typeface="Calibri" pitchFamily="34" charset="0"/>
                <a:ea typeface="Calibri" pitchFamily="34" charset="-122"/>
                <a:cs typeface="Calibri" pitchFamily="34" charset="-120"/>
              </a:rPr>
              <a:t>(LeNet-5)</a:t>
            </a:r>
            <a:endParaRPr lang="en-US" sz="1000" dirty="0"/>
          </a:p>
        </p:txBody>
      </p:sp>
      <p:sp>
        <p:nvSpPr>
          <p:cNvPr id="8" name="Shape 6"/>
          <p:cNvSpPr/>
          <p:nvPr/>
        </p:nvSpPr>
        <p:spPr>
          <a:xfrm>
            <a:off x="2514600" y="1170432"/>
            <a:ext cx="2029968" cy="914400"/>
          </a:xfrm>
          <a:prstGeom prst="rect">
            <a:avLst/>
          </a:prstGeom>
          <a:solidFill>
            <a:srgbClr val="1A6B7A"/>
          </a:solidFill>
          <a:ln w="12700">
            <a:solidFill>
              <a:srgbClr val="1A6B7A"/>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2514600" y="1225296"/>
            <a:ext cx="2029968" cy="47548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0.8%</a:t>
            </a:r>
            <a:endParaRPr lang="en-US" sz="3000" dirty="0"/>
          </a:p>
        </p:txBody>
      </p:sp>
      <p:sp>
        <p:nvSpPr>
          <p:cNvPr id="10" name="Text 8"/>
          <p:cNvSpPr/>
          <p:nvPr/>
        </p:nvSpPr>
        <p:spPr>
          <a:xfrm>
            <a:off x="2514600" y="1700784"/>
            <a:ext cx="2029968" cy="347472"/>
          </a:xfrm>
          <a:prstGeom prst="rect">
            <a:avLst/>
          </a:prstGeom>
          <a:noFill/>
          <a:ln/>
        </p:spPr>
        <p:txBody>
          <a:bodyPr wrap="square"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Error Rate</a:t>
            </a:r>
            <a:endParaRPr lang="en-US" sz="1000" dirty="0"/>
          </a:p>
          <a:p>
            <a:pPr algn="ctr" indent="0" marL="0">
              <a:buNone/>
            </a:pPr>
            <a:r>
              <a:rPr lang="en-US" sz="1000" dirty="0">
                <a:solidFill>
                  <a:srgbClr val="B8C5D9"/>
                </a:solidFill>
                <a:latin typeface="Calibri" pitchFamily="34" charset="0"/>
                <a:ea typeface="Calibri" pitchFamily="34" charset="-122"/>
                <a:cs typeface="Calibri" pitchFamily="34" charset="-120"/>
              </a:rPr>
              <a:t>(MNIST)</a:t>
            </a:r>
            <a:endParaRPr lang="en-US" sz="1000" dirty="0"/>
          </a:p>
        </p:txBody>
      </p:sp>
      <p:sp>
        <p:nvSpPr>
          <p:cNvPr id="11" name="Shape 9"/>
          <p:cNvSpPr/>
          <p:nvPr/>
        </p:nvSpPr>
        <p:spPr>
          <a:xfrm>
            <a:off x="4663440" y="1170432"/>
            <a:ext cx="2029968" cy="914400"/>
          </a:xfrm>
          <a:prstGeom prst="rect">
            <a:avLst/>
          </a:prstGeom>
          <a:solidFill>
            <a:srgbClr val="0B1D3A"/>
          </a:solidFill>
          <a:ln w="12700">
            <a:solidFill>
              <a:srgbClr val="0B1D3A"/>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4663440" y="1225296"/>
            <a:ext cx="2029968" cy="47548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60K</a:t>
            </a:r>
            <a:endParaRPr lang="en-US" sz="3000" dirty="0"/>
          </a:p>
        </p:txBody>
      </p:sp>
      <p:sp>
        <p:nvSpPr>
          <p:cNvPr id="13" name="Text 11"/>
          <p:cNvSpPr/>
          <p:nvPr/>
        </p:nvSpPr>
        <p:spPr>
          <a:xfrm>
            <a:off x="4663440" y="1700784"/>
            <a:ext cx="2029968" cy="347472"/>
          </a:xfrm>
          <a:prstGeom prst="rect">
            <a:avLst/>
          </a:prstGeom>
          <a:noFill/>
          <a:ln/>
        </p:spPr>
        <p:txBody>
          <a:bodyPr wrap="square"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Training</a:t>
            </a:r>
            <a:endParaRPr lang="en-US" sz="1000" dirty="0"/>
          </a:p>
          <a:p>
            <a:pPr algn="ctr" indent="0" marL="0">
              <a:buNone/>
            </a:pPr>
            <a:r>
              <a:rPr lang="en-US" sz="1000" dirty="0">
                <a:solidFill>
                  <a:srgbClr val="B8C5D9"/>
                </a:solidFill>
                <a:latin typeface="Calibri" pitchFamily="34" charset="0"/>
                <a:ea typeface="Calibri" pitchFamily="34" charset="-122"/>
                <a:cs typeface="Calibri" pitchFamily="34" charset="-120"/>
              </a:rPr>
              <a:t>Samples</a:t>
            </a:r>
            <a:endParaRPr lang="en-US" sz="1000" dirty="0"/>
          </a:p>
        </p:txBody>
      </p:sp>
      <p:sp>
        <p:nvSpPr>
          <p:cNvPr id="14" name="Shape 12"/>
          <p:cNvSpPr/>
          <p:nvPr/>
        </p:nvSpPr>
        <p:spPr>
          <a:xfrm>
            <a:off x="6812280" y="1170432"/>
            <a:ext cx="2029968" cy="914400"/>
          </a:xfrm>
          <a:prstGeom prst="rect">
            <a:avLst/>
          </a:prstGeom>
          <a:solidFill>
            <a:srgbClr val="3D4F6B"/>
          </a:solidFill>
          <a:ln w="12700">
            <a:solidFill>
              <a:srgbClr val="3D4F6B"/>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6812280" y="1225296"/>
            <a:ext cx="2029968" cy="47548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10K</a:t>
            </a:r>
            <a:endParaRPr lang="en-US" sz="3000" dirty="0"/>
          </a:p>
        </p:txBody>
      </p:sp>
      <p:sp>
        <p:nvSpPr>
          <p:cNvPr id="16" name="Text 14"/>
          <p:cNvSpPr/>
          <p:nvPr/>
        </p:nvSpPr>
        <p:spPr>
          <a:xfrm>
            <a:off x="6812280" y="1700784"/>
            <a:ext cx="2029968" cy="347472"/>
          </a:xfrm>
          <a:prstGeom prst="rect">
            <a:avLst/>
          </a:prstGeom>
          <a:noFill/>
          <a:ln/>
        </p:spPr>
        <p:txBody>
          <a:bodyPr wrap="square" rtlCol="0" anchor="ctr"/>
          <a:lstStyle/>
          <a:p>
            <a:pPr algn="ctr" indent="0" marL="0">
              <a:buNone/>
            </a:pPr>
            <a:r>
              <a:rPr lang="en-US" sz="1000" dirty="0">
                <a:solidFill>
                  <a:srgbClr val="B8C5D9"/>
                </a:solidFill>
                <a:latin typeface="Calibri" pitchFamily="34" charset="0"/>
                <a:ea typeface="Calibri" pitchFamily="34" charset="-122"/>
                <a:cs typeface="Calibri" pitchFamily="34" charset="-120"/>
              </a:rPr>
              <a:t>Test</a:t>
            </a:r>
            <a:endParaRPr lang="en-US" sz="1000" dirty="0"/>
          </a:p>
          <a:p>
            <a:pPr algn="ctr" indent="0" marL="0">
              <a:buNone/>
            </a:pPr>
            <a:r>
              <a:rPr lang="en-US" sz="1000" dirty="0">
                <a:solidFill>
                  <a:srgbClr val="B8C5D9"/>
                </a:solidFill>
                <a:latin typeface="Calibri" pitchFamily="34" charset="0"/>
                <a:ea typeface="Calibri" pitchFamily="34" charset="-122"/>
                <a:cs typeface="Calibri" pitchFamily="34" charset="-120"/>
              </a:rPr>
              <a:t>Samples</a:t>
            </a:r>
            <a:endParaRPr lang="en-US" sz="1000" dirty="0"/>
          </a:p>
        </p:txBody>
      </p:sp>
      <p:sp>
        <p:nvSpPr>
          <p:cNvPr id="17" name="Text 15"/>
          <p:cNvSpPr/>
          <p:nvPr/>
        </p:nvSpPr>
        <p:spPr>
          <a:xfrm>
            <a:off x="365760" y="2240280"/>
            <a:ext cx="5029200" cy="320040"/>
          </a:xfrm>
          <a:prstGeom prst="rect">
            <a:avLst/>
          </a:prstGeom>
          <a:noFill/>
          <a:ln/>
        </p:spPr>
        <p:txBody>
          <a:bodyPr wrap="square" lIns="0" tIns="0" rIns="0" bIns="0" rtlCol="0" anchor="ctr"/>
          <a:lstStyle/>
          <a:p>
            <a:pPr indent="0" marL="0">
              <a:buNone/>
            </a:pPr>
            <a:r>
              <a:rPr lang="en-US" sz="1300" b="1" dirty="0">
                <a:solidFill>
                  <a:srgbClr val="0B1D3A"/>
                </a:solidFill>
                <a:latin typeface="Calibri" pitchFamily="34" charset="0"/>
                <a:ea typeface="Calibri" pitchFamily="34" charset="-122"/>
                <a:cs typeface="Calibri" pitchFamily="34" charset="-120"/>
              </a:rPr>
              <a:t>Error Rate Comparison — MNIST</a:t>
            </a:r>
            <a:endParaRPr lang="en-US" sz="1300" dirty="0"/>
          </a:p>
        </p:txBody>
      </p:sp>
      <p:sp>
        <p:nvSpPr>
          <p:cNvPr id="18" name="Shape 16"/>
          <p:cNvSpPr/>
          <p:nvPr/>
        </p:nvSpPr>
        <p:spPr>
          <a:xfrm>
            <a:off x="365760" y="2633472"/>
            <a:ext cx="1664208" cy="338328"/>
          </a:xfrm>
          <a:prstGeom prst="rect">
            <a:avLst/>
          </a:prstGeom>
          <a:solidFill>
            <a:srgbClr val="FFFFFF"/>
          </a:solidFill>
          <a:ln w="12700">
            <a:solidFill>
              <a:srgbClr val="DDE4F0"/>
            </a:solidFill>
            <a:prstDash val="solid"/>
          </a:ln>
        </p:spPr>
      </p:sp>
      <p:sp>
        <p:nvSpPr>
          <p:cNvPr id="19" name="Text 17"/>
          <p:cNvSpPr/>
          <p:nvPr/>
        </p:nvSpPr>
        <p:spPr>
          <a:xfrm>
            <a:off x="438912" y="2670048"/>
            <a:ext cx="1572768" cy="274320"/>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Human</a:t>
            </a:r>
            <a:endParaRPr lang="en-US" sz="950" dirty="0"/>
          </a:p>
        </p:txBody>
      </p:sp>
      <p:sp>
        <p:nvSpPr>
          <p:cNvPr id="20" name="Shape 18"/>
          <p:cNvSpPr/>
          <p:nvPr/>
        </p:nvSpPr>
        <p:spPr>
          <a:xfrm>
            <a:off x="2057400" y="2688336"/>
            <a:ext cx="109728" cy="237744"/>
          </a:xfrm>
          <a:prstGeom prst="rect">
            <a:avLst/>
          </a:prstGeom>
          <a:solidFill>
            <a:srgbClr val="1B7E5A"/>
          </a:solidFill>
          <a:ln w="12700">
            <a:solidFill>
              <a:srgbClr val="1B7E5A"/>
            </a:solidFill>
            <a:prstDash val="solid"/>
          </a:ln>
        </p:spPr>
      </p:sp>
      <p:sp>
        <p:nvSpPr>
          <p:cNvPr id="21" name="Text 19"/>
          <p:cNvSpPr/>
          <p:nvPr/>
        </p:nvSpPr>
        <p:spPr>
          <a:xfrm>
            <a:off x="2194560" y="2688336"/>
            <a:ext cx="457200" cy="237744"/>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0.20%</a:t>
            </a:r>
            <a:endParaRPr lang="en-US" sz="950" dirty="0"/>
          </a:p>
        </p:txBody>
      </p:sp>
      <p:sp>
        <p:nvSpPr>
          <p:cNvPr id="22" name="Shape 20"/>
          <p:cNvSpPr/>
          <p:nvPr/>
        </p:nvSpPr>
        <p:spPr>
          <a:xfrm>
            <a:off x="365760" y="3017520"/>
            <a:ext cx="1664208" cy="338328"/>
          </a:xfrm>
          <a:prstGeom prst="rect">
            <a:avLst/>
          </a:prstGeom>
          <a:solidFill>
            <a:srgbClr val="C8992A"/>
          </a:solidFill>
          <a:ln w="12700">
            <a:solidFill>
              <a:srgbClr val="DDE4F0"/>
            </a:solidFill>
            <a:prstDash val="solid"/>
          </a:ln>
        </p:spPr>
      </p:sp>
      <p:sp>
        <p:nvSpPr>
          <p:cNvPr id="23" name="Text 21"/>
          <p:cNvSpPr/>
          <p:nvPr/>
        </p:nvSpPr>
        <p:spPr>
          <a:xfrm>
            <a:off x="438912" y="3054096"/>
            <a:ext cx="1572768" cy="274320"/>
          </a:xfrm>
          <a:prstGeom prst="rect">
            <a:avLst/>
          </a:prstGeom>
          <a:noFill/>
          <a:ln/>
        </p:spPr>
        <p:txBody>
          <a:bodyPr wrap="square" lIns="0" tIns="0" rIns="0" bIns="0" rtlCol="0" anchor="ctr"/>
          <a:lstStyle/>
          <a:p>
            <a:pPr indent="0" marL="0">
              <a:buNone/>
            </a:pPr>
            <a:r>
              <a:rPr lang="en-US" sz="950" b="1" dirty="0">
                <a:solidFill>
                  <a:srgbClr val="0B1D3A"/>
                </a:solidFill>
                <a:latin typeface="Calibri" pitchFamily="34" charset="0"/>
                <a:ea typeface="Calibri" pitchFamily="34" charset="-122"/>
                <a:cs typeface="Calibri" pitchFamily="34" charset="-120"/>
              </a:rPr>
              <a:t>LeNet-5 (1998)</a:t>
            </a:r>
            <a:endParaRPr lang="en-US" sz="950" dirty="0"/>
          </a:p>
        </p:txBody>
      </p:sp>
      <p:sp>
        <p:nvSpPr>
          <p:cNvPr id="24" name="Shape 22"/>
          <p:cNvSpPr/>
          <p:nvPr/>
        </p:nvSpPr>
        <p:spPr>
          <a:xfrm>
            <a:off x="2057400" y="3072384"/>
            <a:ext cx="438912" cy="237744"/>
          </a:xfrm>
          <a:prstGeom prst="rect">
            <a:avLst/>
          </a:prstGeom>
          <a:solidFill>
            <a:srgbClr val="C8992A"/>
          </a:solidFill>
          <a:ln w="12700">
            <a:solidFill>
              <a:srgbClr val="C8992A"/>
            </a:solidFill>
            <a:prstDash val="solid"/>
          </a:ln>
        </p:spPr>
      </p:sp>
      <p:sp>
        <p:nvSpPr>
          <p:cNvPr id="25" name="Text 23"/>
          <p:cNvSpPr/>
          <p:nvPr/>
        </p:nvSpPr>
        <p:spPr>
          <a:xfrm>
            <a:off x="2523744" y="3072384"/>
            <a:ext cx="457200" cy="237744"/>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0.80%</a:t>
            </a:r>
            <a:endParaRPr lang="en-US" sz="950" dirty="0"/>
          </a:p>
        </p:txBody>
      </p:sp>
      <p:sp>
        <p:nvSpPr>
          <p:cNvPr id="26" name="Shape 24"/>
          <p:cNvSpPr/>
          <p:nvPr/>
        </p:nvSpPr>
        <p:spPr>
          <a:xfrm>
            <a:off x="365760" y="3401568"/>
            <a:ext cx="1664208" cy="338328"/>
          </a:xfrm>
          <a:prstGeom prst="rect">
            <a:avLst/>
          </a:prstGeom>
          <a:solidFill>
            <a:srgbClr val="FFFFFF"/>
          </a:solidFill>
          <a:ln w="12700">
            <a:solidFill>
              <a:srgbClr val="DDE4F0"/>
            </a:solidFill>
            <a:prstDash val="solid"/>
          </a:ln>
        </p:spPr>
      </p:sp>
      <p:sp>
        <p:nvSpPr>
          <p:cNvPr id="27" name="Text 25"/>
          <p:cNvSpPr/>
          <p:nvPr/>
        </p:nvSpPr>
        <p:spPr>
          <a:xfrm>
            <a:off x="438912" y="3438144"/>
            <a:ext cx="1572768" cy="274320"/>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SVM (boosted)</a:t>
            </a:r>
            <a:endParaRPr lang="en-US" sz="950" dirty="0"/>
          </a:p>
        </p:txBody>
      </p:sp>
      <p:sp>
        <p:nvSpPr>
          <p:cNvPr id="28" name="Shape 26"/>
          <p:cNvSpPr/>
          <p:nvPr/>
        </p:nvSpPr>
        <p:spPr>
          <a:xfrm>
            <a:off x="2057400" y="3456432"/>
            <a:ext cx="301752" cy="237744"/>
          </a:xfrm>
          <a:prstGeom prst="rect">
            <a:avLst/>
          </a:prstGeom>
          <a:solidFill>
            <a:srgbClr val="B8C5D9"/>
          </a:solidFill>
          <a:ln w="12700">
            <a:solidFill>
              <a:srgbClr val="B8C5D9"/>
            </a:solidFill>
            <a:prstDash val="solid"/>
          </a:ln>
        </p:spPr>
      </p:sp>
      <p:sp>
        <p:nvSpPr>
          <p:cNvPr id="29" name="Text 27"/>
          <p:cNvSpPr/>
          <p:nvPr/>
        </p:nvSpPr>
        <p:spPr>
          <a:xfrm>
            <a:off x="2386584" y="3456432"/>
            <a:ext cx="457200" cy="237744"/>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0.56%</a:t>
            </a:r>
            <a:endParaRPr lang="en-US" sz="950" dirty="0"/>
          </a:p>
        </p:txBody>
      </p:sp>
      <p:sp>
        <p:nvSpPr>
          <p:cNvPr id="30" name="Shape 28"/>
          <p:cNvSpPr/>
          <p:nvPr/>
        </p:nvSpPr>
        <p:spPr>
          <a:xfrm>
            <a:off x="365760" y="3785616"/>
            <a:ext cx="1664208" cy="338328"/>
          </a:xfrm>
          <a:prstGeom prst="rect">
            <a:avLst/>
          </a:prstGeom>
          <a:solidFill>
            <a:srgbClr val="FFFFFF"/>
          </a:solidFill>
          <a:ln w="12700">
            <a:solidFill>
              <a:srgbClr val="DDE4F0"/>
            </a:solidFill>
            <a:prstDash val="solid"/>
          </a:ln>
        </p:spPr>
      </p:sp>
      <p:sp>
        <p:nvSpPr>
          <p:cNvPr id="31" name="Text 29"/>
          <p:cNvSpPr/>
          <p:nvPr/>
        </p:nvSpPr>
        <p:spPr>
          <a:xfrm>
            <a:off x="438912" y="3822192"/>
            <a:ext cx="1572768" cy="274320"/>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MLP (FC, 3 layers)</a:t>
            </a:r>
            <a:endParaRPr lang="en-US" sz="950" dirty="0"/>
          </a:p>
        </p:txBody>
      </p:sp>
      <p:sp>
        <p:nvSpPr>
          <p:cNvPr id="32" name="Shape 30"/>
          <p:cNvSpPr/>
          <p:nvPr/>
        </p:nvSpPr>
        <p:spPr>
          <a:xfrm>
            <a:off x="2057400" y="3840480"/>
            <a:ext cx="877824" cy="237744"/>
          </a:xfrm>
          <a:prstGeom prst="rect">
            <a:avLst/>
          </a:prstGeom>
          <a:solidFill>
            <a:srgbClr val="B8C5D9"/>
          </a:solidFill>
          <a:ln w="12700">
            <a:solidFill>
              <a:srgbClr val="B8C5D9"/>
            </a:solidFill>
            <a:prstDash val="solid"/>
          </a:ln>
        </p:spPr>
      </p:sp>
      <p:sp>
        <p:nvSpPr>
          <p:cNvPr id="33" name="Text 31"/>
          <p:cNvSpPr/>
          <p:nvPr/>
        </p:nvSpPr>
        <p:spPr>
          <a:xfrm>
            <a:off x="2962656" y="3840480"/>
            <a:ext cx="457200" cy="237744"/>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1.60%</a:t>
            </a:r>
            <a:endParaRPr lang="en-US" sz="950" dirty="0"/>
          </a:p>
        </p:txBody>
      </p:sp>
      <p:sp>
        <p:nvSpPr>
          <p:cNvPr id="34" name="Shape 32"/>
          <p:cNvSpPr/>
          <p:nvPr/>
        </p:nvSpPr>
        <p:spPr>
          <a:xfrm>
            <a:off x="365760" y="4169664"/>
            <a:ext cx="1664208" cy="338328"/>
          </a:xfrm>
          <a:prstGeom prst="rect">
            <a:avLst/>
          </a:prstGeom>
          <a:solidFill>
            <a:srgbClr val="FFFFFF"/>
          </a:solidFill>
          <a:ln w="12700">
            <a:solidFill>
              <a:srgbClr val="DDE4F0"/>
            </a:solidFill>
            <a:prstDash val="solid"/>
          </a:ln>
        </p:spPr>
      </p:sp>
      <p:sp>
        <p:nvSpPr>
          <p:cNvPr id="35" name="Text 33"/>
          <p:cNvSpPr/>
          <p:nvPr/>
        </p:nvSpPr>
        <p:spPr>
          <a:xfrm>
            <a:off x="438912" y="4206240"/>
            <a:ext cx="1572768" cy="274320"/>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Nearest Neighbour</a:t>
            </a:r>
            <a:endParaRPr lang="en-US" sz="950" dirty="0"/>
          </a:p>
        </p:txBody>
      </p:sp>
      <p:sp>
        <p:nvSpPr>
          <p:cNvPr id="36" name="Shape 34"/>
          <p:cNvSpPr/>
          <p:nvPr/>
        </p:nvSpPr>
        <p:spPr>
          <a:xfrm>
            <a:off x="2057400" y="4224528"/>
            <a:ext cx="1700784" cy="237744"/>
          </a:xfrm>
          <a:prstGeom prst="rect">
            <a:avLst/>
          </a:prstGeom>
          <a:solidFill>
            <a:srgbClr val="B8C5D9"/>
          </a:solidFill>
          <a:ln w="12700">
            <a:solidFill>
              <a:srgbClr val="B8C5D9"/>
            </a:solidFill>
            <a:prstDash val="solid"/>
          </a:ln>
        </p:spPr>
      </p:sp>
      <p:sp>
        <p:nvSpPr>
          <p:cNvPr id="37" name="Text 35"/>
          <p:cNvSpPr/>
          <p:nvPr/>
        </p:nvSpPr>
        <p:spPr>
          <a:xfrm>
            <a:off x="3785616" y="4224528"/>
            <a:ext cx="457200" cy="237744"/>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3.09%</a:t>
            </a:r>
            <a:endParaRPr lang="en-US" sz="950" dirty="0"/>
          </a:p>
        </p:txBody>
      </p:sp>
      <p:sp>
        <p:nvSpPr>
          <p:cNvPr id="38" name="Shape 36"/>
          <p:cNvSpPr/>
          <p:nvPr/>
        </p:nvSpPr>
        <p:spPr>
          <a:xfrm>
            <a:off x="365760" y="4553712"/>
            <a:ext cx="1664208" cy="338328"/>
          </a:xfrm>
          <a:prstGeom prst="rect">
            <a:avLst/>
          </a:prstGeom>
          <a:solidFill>
            <a:srgbClr val="FFFFFF"/>
          </a:solidFill>
          <a:ln w="12700">
            <a:solidFill>
              <a:srgbClr val="DDE4F0"/>
            </a:solidFill>
            <a:prstDash val="solid"/>
          </a:ln>
        </p:spPr>
      </p:sp>
      <p:sp>
        <p:nvSpPr>
          <p:cNvPr id="39" name="Text 37"/>
          <p:cNvSpPr/>
          <p:nvPr/>
        </p:nvSpPr>
        <p:spPr>
          <a:xfrm>
            <a:off x="438912" y="4590288"/>
            <a:ext cx="1572768" cy="274320"/>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Linear Classifier</a:t>
            </a:r>
            <a:endParaRPr lang="en-US" sz="950" dirty="0"/>
          </a:p>
        </p:txBody>
      </p:sp>
      <p:sp>
        <p:nvSpPr>
          <p:cNvPr id="40" name="Shape 38"/>
          <p:cNvSpPr/>
          <p:nvPr/>
        </p:nvSpPr>
        <p:spPr>
          <a:xfrm>
            <a:off x="2057400" y="4608576"/>
            <a:ext cx="2743200" cy="237744"/>
          </a:xfrm>
          <a:prstGeom prst="rect">
            <a:avLst/>
          </a:prstGeom>
          <a:solidFill>
            <a:srgbClr val="B8C5D9"/>
          </a:solidFill>
          <a:ln w="12700">
            <a:solidFill>
              <a:srgbClr val="B8C5D9"/>
            </a:solidFill>
            <a:prstDash val="solid"/>
          </a:ln>
        </p:spPr>
      </p:sp>
      <p:sp>
        <p:nvSpPr>
          <p:cNvPr id="41" name="Text 39"/>
          <p:cNvSpPr/>
          <p:nvPr/>
        </p:nvSpPr>
        <p:spPr>
          <a:xfrm>
            <a:off x="4828032" y="4608576"/>
            <a:ext cx="457200" cy="237744"/>
          </a:xfrm>
          <a:prstGeom prst="rect">
            <a:avLst/>
          </a:prstGeom>
          <a:noFill/>
          <a:ln/>
        </p:spPr>
        <p:txBody>
          <a:bodyPr wrap="square" lIns="0" tIns="0" rIns="0" bIns="0" rtlCol="0" anchor="ctr"/>
          <a:lstStyle/>
          <a:p>
            <a:pPr indent="0" marL="0">
              <a:buNone/>
            </a:pPr>
            <a:r>
              <a:rPr lang="en-US" sz="950" dirty="0">
                <a:solidFill>
                  <a:srgbClr val="3D4F6B"/>
                </a:solidFill>
                <a:latin typeface="Calibri" pitchFamily="34" charset="0"/>
                <a:ea typeface="Calibri" pitchFamily="34" charset="-122"/>
                <a:cs typeface="Calibri" pitchFamily="34" charset="-120"/>
              </a:rPr>
              <a:t>7.60%</a:t>
            </a:r>
            <a:endParaRPr lang="en-US" sz="950" dirty="0"/>
          </a:p>
        </p:txBody>
      </p:sp>
      <p:sp>
        <p:nvSpPr>
          <p:cNvPr id="42" name="Shape 40"/>
          <p:cNvSpPr/>
          <p:nvPr/>
        </p:nvSpPr>
        <p:spPr>
          <a:xfrm>
            <a:off x="5257800" y="1170432"/>
            <a:ext cx="3520440" cy="868680"/>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43" name="Shape 41"/>
          <p:cNvSpPr/>
          <p:nvPr/>
        </p:nvSpPr>
        <p:spPr>
          <a:xfrm>
            <a:off x="5257800" y="1170432"/>
            <a:ext cx="64008" cy="868680"/>
          </a:xfrm>
          <a:prstGeom prst="rect">
            <a:avLst/>
          </a:prstGeom>
          <a:solidFill>
            <a:srgbClr val="C8992A"/>
          </a:solidFill>
          <a:ln w="12700">
            <a:solidFill>
              <a:srgbClr val="C8992A"/>
            </a:solidFill>
            <a:prstDash val="solid"/>
          </a:ln>
        </p:spPr>
      </p:sp>
      <p:sp>
        <p:nvSpPr>
          <p:cNvPr id="44" name="Text 42"/>
          <p:cNvSpPr/>
          <p:nvPr/>
        </p:nvSpPr>
        <p:spPr>
          <a:xfrm>
            <a:off x="5413248" y="1261872"/>
            <a:ext cx="3291840" cy="292608"/>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Optimiser</a:t>
            </a:r>
            <a:endParaRPr lang="en-US" sz="1200" dirty="0"/>
          </a:p>
        </p:txBody>
      </p:sp>
      <p:sp>
        <p:nvSpPr>
          <p:cNvPr id="45" name="Text 43"/>
          <p:cNvSpPr/>
          <p:nvPr/>
        </p:nvSpPr>
        <p:spPr>
          <a:xfrm>
            <a:off x="5413248" y="1554480"/>
            <a:ext cx="3291840" cy="393192"/>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Stochastic Gradient Descent</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LR = 0.0005, Momentum = 0.9</a:t>
            </a:r>
            <a:endParaRPr lang="en-US" sz="1050" dirty="0"/>
          </a:p>
        </p:txBody>
      </p:sp>
      <p:sp>
        <p:nvSpPr>
          <p:cNvPr id="46" name="Shape 44"/>
          <p:cNvSpPr/>
          <p:nvPr/>
        </p:nvSpPr>
        <p:spPr>
          <a:xfrm>
            <a:off x="5257800" y="2157984"/>
            <a:ext cx="3520440" cy="868680"/>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47" name="Shape 45"/>
          <p:cNvSpPr/>
          <p:nvPr/>
        </p:nvSpPr>
        <p:spPr>
          <a:xfrm>
            <a:off x="5257800" y="2157984"/>
            <a:ext cx="64008" cy="868680"/>
          </a:xfrm>
          <a:prstGeom prst="rect">
            <a:avLst/>
          </a:prstGeom>
          <a:solidFill>
            <a:srgbClr val="C8992A"/>
          </a:solidFill>
          <a:ln w="12700">
            <a:solidFill>
              <a:srgbClr val="C8992A"/>
            </a:solidFill>
            <a:prstDash val="solid"/>
          </a:ln>
        </p:spPr>
      </p:sp>
      <p:sp>
        <p:nvSpPr>
          <p:cNvPr id="48" name="Text 46"/>
          <p:cNvSpPr/>
          <p:nvPr/>
        </p:nvSpPr>
        <p:spPr>
          <a:xfrm>
            <a:off x="5413248" y="2249424"/>
            <a:ext cx="3291840" cy="292608"/>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Loss Function</a:t>
            </a:r>
            <a:endParaRPr lang="en-US" sz="1200" dirty="0"/>
          </a:p>
        </p:txBody>
      </p:sp>
      <p:sp>
        <p:nvSpPr>
          <p:cNvPr id="49" name="Text 47"/>
          <p:cNvSpPr/>
          <p:nvPr/>
        </p:nvSpPr>
        <p:spPr>
          <a:xfrm>
            <a:off x="5413248" y="2542032"/>
            <a:ext cx="3291840" cy="393192"/>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Mean Squared Error</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(later: cross-entropy preferred)</a:t>
            </a:r>
            <a:endParaRPr lang="en-US" sz="1050" dirty="0"/>
          </a:p>
        </p:txBody>
      </p:sp>
      <p:sp>
        <p:nvSpPr>
          <p:cNvPr id="50" name="Shape 48"/>
          <p:cNvSpPr/>
          <p:nvPr/>
        </p:nvSpPr>
        <p:spPr>
          <a:xfrm>
            <a:off x="5257800" y="3145536"/>
            <a:ext cx="3520440" cy="868680"/>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51" name="Shape 49"/>
          <p:cNvSpPr/>
          <p:nvPr/>
        </p:nvSpPr>
        <p:spPr>
          <a:xfrm>
            <a:off x="5257800" y="3145536"/>
            <a:ext cx="64008" cy="868680"/>
          </a:xfrm>
          <a:prstGeom prst="rect">
            <a:avLst/>
          </a:prstGeom>
          <a:solidFill>
            <a:srgbClr val="C8992A"/>
          </a:solidFill>
          <a:ln w="12700">
            <a:solidFill>
              <a:srgbClr val="C8992A"/>
            </a:solidFill>
            <a:prstDash val="solid"/>
          </a:ln>
        </p:spPr>
      </p:sp>
      <p:sp>
        <p:nvSpPr>
          <p:cNvPr id="52" name="Text 50"/>
          <p:cNvSpPr/>
          <p:nvPr/>
        </p:nvSpPr>
        <p:spPr>
          <a:xfrm>
            <a:off x="5413248" y="3236976"/>
            <a:ext cx="3291840" cy="292608"/>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Data Preprocessing</a:t>
            </a:r>
            <a:endParaRPr lang="en-US" sz="1200" dirty="0"/>
          </a:p>
        </p:txBody>
      </p:sp>
      <p:sp>
        <p:nvSpPr>
          <p:cNvPr id="53" name="Text 51"/>
          <p:cNvSpPr/>
          <p:nvPr/>
        </p:nvSpPr>
        <p:spPr>
          <a:xfrm>
            <a:off x="5413248" y="3529584"/>
            <a:ext cx="3291840" cy="393192"/>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Invert + normalise to [-0.1, 1.175]</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MNIST padded: 28×28 → 32×32</a:t>
            </a:r>
            <a:endParaRPr lang="en-US" sz="1050" dirty="0"/>
          </a:p>
        </p:txBody>
      </p:sp>
      <p:sp>
        <p:nvSpPr>
          <p:cNvPr id="54" name="Shape 52"/>
          <p:cNvSpPr/>
          <p:nvPr/>
        </p:nvSpPr>
        <p:spPr>
          <a:xfrm>
            <a:off x="5257800" y="4133088"/>
            <a:ext cx="3520440" cy="868680"/>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55" name="Shape 53"/>
          <p:cNvSpPr/>
          <p:nvPr/>
        </p:nvSpPr>
        <p:spPr>
          <a:xfrm>
            <a:off x="5257800" y="4133088"/>
            <a:ext cx="64008" cy="868680"/>
          </a:xfrm>
          <a:prstGeom prst="rect">
            <a:avLst/>
          </a:prstGeom>
          <a:solidFill>
            <a:srgbClr val="C8992A"/>
          </a:solidFill>
          <a:ln w="12700">
            <a:solidFill>
              <a:srgbClr val="C8992A"/>
            </a:solidFill>
            <a:prstDash val="solid"/>
          </a:ln>
        </p:spPr>
      </p:sp>
      <p:sp>
        <p:nvSpPr>
          <p:cNvPr id="56" name="Text 54"/>
          <p:cNvSpPr/>
          <p:nvPr/>
        </p:nvSpPr>
        <p:spPr>
          <a:xfrm>
            <a:off x="5413248" y="4224528"/>
            <a:ext cx="3291840" cy="292608"/>
          </a:xfrm>
          <a:prstGeom prst="rect">
            <a:avLst/>
          </a:prstGeom>
          <a:noFill/>
          <a:ln/>
        </p:spPr>
        <p:txBody>
          <a:bodyPr wrap="square" lIns="0" tIns="0" rIns="0" bIns="0" rtlCol="0" anchor="ctr"/>
          <a:lstStyle/>
          <a:p>
            <a:pPr indent="0" marL="0">
              <a:buNone/>
            </a:pPr>
            <a:r>
              <a:rPr lang="en-US" sz="1200" b="1" dirty="0">
                <a:solidFill>
                  <a:srgbClr val="0B1D3A"/>
                </a:solidFill>
                <a:latin typeface="Calibri" pitchFamily="34" charset="0"/>
                <a:ea typeface="Calibri" pitchFamily="34" charset="-122"/>
                <a:cs typeface="Calibri" pitchFamily="34" charset="-120"/>
              </a:rPr>
              <a:t>Regularisation</a:t>
            </a:r>
            <a:endParaRPr lang="en-US" sz="1200" dirty="0"/>
          </a:p>
        </p:txBody>
      </p:sp>
      <p:sp>
        <p:nvSpPr>
          <p:cNvPr id="57" name="Text 55"/>
          <p:cNvSpPr/>
          <p:nvPr/>
        </p:nvSpPr>
        <p:spPr>
          <a:xfrm>
            <a:off x="5413248" y="4517136"/>
            <a:ext cx="3291840" cy="393192"/>
          </a:xfrm>
          <a:prstGeom prst="rect">
            <a:avLst/>
          </a:prstGeom>
          <a:noFill/>
          <a:ln/>
        </p:spPr>
        <p:txBody>
          <a:bodyPr wrap="square" rtlCol="0" anchor="ctr"/>
          <a:lstStyle/>
          <a:p>
            <a:pPr indent="0" marL="0">
              <a:buNone/>
            </a:pPr>
            <a:r>
              <a:rPr lang="en-US" sz="1050" dirty="0">
                <a:solidFill>
                  <a:srgbClr val="3D4F6B"/>
                </a:solidFill>
                <a:latin typeface="Calibri" pitchFamily="34" charset="0"/>
                <a:ea typeface="Calibri" pitchFamily="34" charset="-122"/>
                <a:cs typeface="Calibri" pitchFamily="34" charset="-120"/>
              </a:rPr>
              <a:t>No dropout in original LeNet</a:t>
            </a:r>
            <a:endParaRPr lang="en-US" sz="1050" dirty="0"/>
          </a:p>
          <a:p>
            <a:pPr indent="0" marL="0">
              <a:buNone/>
            </a:pPr>
            <a:r>
              <a:rPr lang="en-US" sz="1050" dirty="0">
                <a:solidFill>
                  <a:srgbClr val="3D4F6B"/>
                </a:solidFill>
                <a:latin typeface="Calibri" pitchFamily="34" charset="0"/>
                <a:ea typeface="Calibri" pitchFamily="34" charset="-122"/>
                <a:cs typeface="Calibri" pitchFamily="34" charset="-120"/>
              </a:rPr>
              <a:t>L2 weight decay applied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LeNet → AlexNet → ResNet: The Evolution of CNNs</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How LeNet's DNA lives inside every modern vision model</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47472" y="1170432"/>
            <a:ext cx="2084832" cy="566928"/>
          </a:xfrm>
          <a:prstGeom prst="rect">
            <a:avLst/>
          </a:prstGeom>
          <a:solidFill>
            <a:srgbClr val="3D4F6B"/>
          </a:solidFill>
          <a:ln w="12700">
            <a:solidFill>
              <a:srgbClr val="3D4F6B"/>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347472" y="1216152"/>
            <a:ext cx="2084832" cy="475488"/>
          </a:xfrm>
          <a:prstGeom prst="rect">
            <a:avLst/>
          </a:prstGeom>
          <a:noFill/>
          <a:ln/>
        </p:spPr>
        <p:txBody>
          <a:bodyPr wrap="square" lIns="0" tIns="0" rIns="0" bIns="0" rtlCol="0" anchor="ctr"/>
          <a:lstStyle/>
          <a:p>
            <a:pPr algn="ctr" indent="0" marL="0">
              <a:buNone/>
            </a:pPr>
            <a:r>
              <a:rPr lang="en-US" sz="1250" b="1" dirty="0">
                <a:solidFill>
                  <a:srgbClr val="C8992A"/>
                </a:solidFill>
                <a:latin typeface="Calibri" pitchFamily="34" charset="0"/>
                <a:ea typeface="Calibri" pitchFamily="34" charset="-122"/>
                <a:cs typeface="Calibri" pitchFamily="34" charset="-120"/>
              </a:rPr>
              <a:t>LeNet-5</a:t>
            </a:r>
            <a:endParaRPr lang="en-US" sz="1250" dirty="0"/>
          </a:p>
          <a:p>
            <a:pPr algn="ctr" indent="0" marL="0">
              <a:buNone/>
            </a:pPr>
            <a:r>
              <a:rPr lang="en-US" sz="1250" b="1" dirty="0">
                <a:solidFill>
                  <a:srgbClr val="C8992A"/>
                </a:solidFill>
                <a:latin typeface="Calibri" pitchFamily="34" charset="0"/>
                <a:ea typeface="Calibri" pitchFamily="34" charset="-122"/>
                <a:cs typeface="Calibri" pitchFamily="34" charset="-120"/>
              </a:rPr>
              <a:t>(1998)</a:t>
            </a:r>
            <a:endParaRPr lang="en-US" sz="1250" dirty="0"/>
          </a:p>
        </p:txBody>
      </p:sp>
      <p:sp>
        <p:nvSpPr>
          <p:cNvPr id="7" name="Shape 5"/>
          <p:cNvSpPr/>
          <p:nvPr/>
        </p:nvSpPr>
        <p:spPr>
          <a:xfrm>
            <a:off x="347472" y="1737360"/>
            <a:ext cx="2084832" cy="475488"/>
          </a:xfrm>
          <a:prstGeom prst="rect">
            <a:avLst/>
          </a:prstGeom>
          <a:solidFill>
            <a:srgbClr val="FFFFFF"/>
          </a:solidFill>
          <a:ln w="12700">
            <a:solidFill>
              <a:srgbClr val="DDE4F0"/>
            </a:solidFill>
            <a:prstDash val="solid"/>
          </a:ln>
        </p:spPr>
      </p:sp>
      <p:sp>
        <p:nvSpPr>
          <p:cNvPr id="8" name="Text 6"/>
          <p:cNvSpPr/>
          <p:nvPr/>
        </p:nvSpPr>
        <p:spPr>
          <a:xfrm>
            <a:off x="420624" y="1773936"/>
            <a:ext cx="1938528" cy="402336"/>
          </a:xfrm>
          <a:prstGeom prst="rect">
            <a:avLst/>
          </a:prstGeom>
          <a:noFill/>
          <a:ln/>
        </p:spPr>
        <p:txBody>
          <a:bodyPr wrap="square" rtlCol="0" anchor="ctr"/>
          <a:lstStyle/>
          <a:p>
            <a:pPr algn="ctr" indent="0" marL="0">
              <a:buNone/>
            </a:pPr>
            <a:r>
              <a:rPr lang="en-US" sz="1000" b="1" dirty="0">
                <a:solidFill>
                  <a:srgbClr val="3D4F6B"/>
                </a:solidFill>
                <a:latin typeface="Calibri" pitchFamily="34" charset="0"/>
                <a:ea typeface="Calibri" pitchFamily="34" charset="-122"/>
                <a:cs typeface="Calibri" pitchFamily="34" charset="-120"/>
              </a:rPr>
              <a:t>~60K</a:t>
            </a:r>
            <a:endParaRPr lang="en-US" sz="1000" dirty="0"/>
          </a:p>
        </p:txBody>
      </p:sp>
      <p:sp>
        <p:nvSpPr>
          <p:cNvPr id="9" name="Shape 7"/>
          <p:cNvSpPr/>
          <p:nvPr/>
        </p:nvSpPr>
        <p:spPr>
          <a:xfrm>
            <a:off x="347472" y="2212848"/>
            <a:ext cx="2084832" cy="475488"/>
          </a:xfrm>
          <a:prstGeom prst="rect">
            <a:avLst/>
          </a:prstGeom>
          <a:solidFill>
            <a:srgbClr val="F4F6FB"/>
          </a:solidFill>
          <a:ln w="12700">
            <a:solidFill>
              <a:srgbClr val="DDE4F0"/>
            </a:solidFill>
            <a:prstDash val="solid"/>
          </a:ln>
        </p:spPr>
      </p:sp>
      <p:sp>
        <p:nvSpPr>
          <p:cNvPr id="10" name="Text 8"/>
          <p:cNvSpPr/>
          <p:nvPr/>
        </p:nvSpPr>
        <p:spPr>
          <a:xfrm>
            <a:off x="420624" y="2249424"/>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7 layers</a:t>
            </a:r>
            <a:endParaRPr lang="en-US" sz="1000" dirty="0"/>
          </a:p>
        </p:txBody>
      </p:sp>
      <p:sp>
        <p:nvSpPr>
          <p:cNvPr id="11" name="Shape 9"/>
          <p:cNvSpPr/>
          <p:nvPr/>
        </p:nvSpPr>
        <p:spPr>
          <a:xfrm>
            <a:off x="347472" y="2688336"/>
            <a:ext cx="2084832" cy="475488"/>
          </a:xfrm>
          <a:prstGeom prst="rect">
            <a:avLst/>
          </a:prstGeom>
          <a:solidFill>
            <a:srgbClr val="FFFFFF"/>
          </a:solidFill>
          <a:ln w="12700">
            <a:solidFill>
              <a:srgbClr val="DDE4F0"/>
            </a:solidFill>
            <a:prstDash val="solid"/>
          </a:ln>
        </p:spPr>
      </p:sp>
      <p:sp>
        <p:nvSpPr>
          <p:cNvPr id="12" name="Text 10"/>
          <p:cNvSpPr/>
          <p:nvPr/>
        </p:nvSpPr>
        <p:spPr>
          <a:xfrm>
            <a:off x="420624" y="2724912"/>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MNIST</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60K images</a:t>
            </a:r>
            <a:endParaRPr lang="en-US" sz="1000" dirty="0"/>
          </a:p>
        </p:txBody>
      </p:sp>
      <p:sp>
        <p:nvSpPr>
          <p:cNvPr id="13" name="Shape 11"/>
          <p:cNvSpPr/>
          <p:nvPr/>
        </p:nvSpPr>
        <p:spPr>
          <a:xfrm>
            <a:off x="347472" y="3163824"/>
            <a:ext cx="2084832" cy="475488"/>
          </a:xfrm>
          <a:prstGeom prst="rect">
            <a:avLst/>
          </a:prstGeom>
          <a:solidFill>
            <a:srgbClr val="F4F6FB"/>
          </a:solidFill>
          <a:ln w="12700">
            <a:solidFill>
              <a:srgbClr val="DDE4F0"/>
            </a:solidFill>
            <a:prstDash val="solid"/>
          </a:ln>
        </p:spPr>
      </p:sp>
      <p:sp>
        <p:nvSpPr>
          <p:cNvPr id="14" name="Text 12"/>
          <p:cNvSpPr/>
          <p:nvPr/>
        </p:nvSpPr>
        <p:spPr>
          <a:xfrm>
            <a:off x="420624" y="3200400"/>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32×32×1</a:t>
            </a:r>
            <a:endParaRPr lang="en-US" sz="1000" dirty="0"/>
          </a:p>
        </p:txBody>
      </p:sp>
      <p:sp>
        <p:nvSpPr>
          <p:cNvPr id="15" name="Shape 13"/>
          <p:cNvSpPr/>
          <p:nvPr/>
        </p:nvSpPr>
        <p:spPr>
          <a:xfrm>
            <a:off x="347472" y="3639312"/>
            <a:ext cx="2084832" cy="475488"/>
          </a:xfrm>
          <a:prstGeom prst="rect">
            <a:avLst/>
          </a:prstGeom>
          <a:solidFill>
            <a:srgbClr val="FFFFFF"/>
          </a:solidFill>
          <a:ln w="12700">
            <a:solidFill>
              <a:srgbClr val="DDE4F0"/>
            </a:solidFill>
            <a:prstDash val="solid"/>
          </a:ln>
        </p:spPr>
      </p:sp>
      <p:sp>
        <p:nvSpPr>
          <p:cNvPr id="16" name="Text 14"/>
          <p:cNvSpPr/>
          <p:nvPr/>
        </p:nvSpPr>
        <p:spPr>
          <a:xfrm>
            <a:off x="420624" y="3675888"/>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Sigmoid</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 Tanh</a:t>
            </a:r>
            <a:endParaRPr lang="en-US" sz="1000" dirty="0"/>
          </a:p>
        </p:txBody>
      </p:sp>
      <p:sp>
        <p:nvSpPr>
          <p:cNvPr id="17" name="Shape 15"/>
          <p:cNvSpPr/>
          <p:nvPr/>
        </p:nvSpPr>
        <p:spPr>
          <a:xfrm>
            <a:off x="347472" y="4114800"/>
            <a:ext cx="2084832" cy="475488"/>
          </a:xfrm>
          <a:prstGeom prst="rect">
            <a:avLst/>
          </a:prstGeom>
          <a:solidFill>
            <a:srgbClr val="F4F6FB"/>
          </a:solidFill>
          <a:ln w="12700">
            <a:solidFill>
              <a:srgbClr val="DDE4F0"/>
            </a:solidFill>
            <a:prstDash val="solid"/>
          </a:ln>
        </p:spPr>
      </p:sp>
      <p:sp>
        <p:nvSpPr>
          <p:cNvPr id="18" name="Text 16"/>
          <p:cNvSpPr/>
          <p:nvPr/>
        </p:nvSpPr>
        <p:spPr>
          <a:xfrm>
            <a:off x="420624" y="4151376"/>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Avg Pool</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(trainable)</a:t>
            </a:r>
            <a:endParaRPr lang="en-US" sz="1000" dirty="0"/>
          </a:p>
        </p:txBody>
      </p:sp>
      <p:sp>
        <p:nvSpPr>
          <p:cNvPr id="19" name="Shape 17"/>
          <p:cNvSpPr/>
          <p:nvPr/>
        </p:nvSpPr>
        <p:spPr>
          <a:xfrm>
            <a:off x="347472" y="4590288"/>
            <a:ext cx="2084832" cy="475488"/>
          </a:xfrm>
          <a:prstGeom prst="rect">
            <a:avLst/>
          </a:prstGeom>
          <a:solidFill>
            <a:srgbClr val="FFFFFF"/>
          </a:solidFill>
          <a:ln w="12700">
            <a:solidFill>
              <a:srgbClr val="DDE4F0"/>
            </a:solidFill>
            <a:prstDash val="solid"/>
          </a:ln>
        </p:spPr>
      </p:sp>
      <p:sp>
        <p:nvSpPr>
          <p:cNvPr id="20" name="Text 18"/>
          <p:cNvSpPr/>
          <p:nvPr/>
        </p:nvSpPr>
        <p:spPr>
          <a:xfrm>
            <a:off x="420624" y="4626864"/>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Partial conn.</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RBF output</a:t>
            </a:r>
            <a:endParaRPr lang="en-US" sz="1000" dirty="0"/>
          </a:p>
        </p:txBody>
      </p:sp>
      <p:sp>
        <p:nvSpPr>
          <p:cNvPr id="21" name="Shape 19"/>
          <p:cNvSpPr/>
          <p:nvPr/>
        </p:nvSpPr>
        <p:spPr>
          <a:xfrm>
            <a:off x="2523744" y="1170432"/>
            <a:ext cx="2084832" cy="566928"/>
          </a:xfrm>
          <a:prstGeom prst="rect">
            <a:avLst/>
          </a:prstGeom>
          <a:solidFill>
            <a:srgbClr val="1A6B7A"/>
          </a:solidFill>
          <a:ln w="12700">
            <a:solidFill>
              <a:srgbClr val="1A6B7A"/>
            </a:solidFill>
            <a:prstDash val="solid"/>
          </a:ln>
          <a:effectLst>
            <a:outerShdw sx="100000" sy="100000" kx="0" ky="0" algn="bl" rotWithShape="0" blurRad="101600" dist="38100" dir="8100000">
              <a:srgbClr val="000000">
                <a:alpha val="18000"/>
              </a:srgbClr>
            </a:outerShdw>
          </a:effectLst>
        </p:spPr>
      </p:sp>
      <p:sp>
        <p:nvSpPr>
          <p:cNvPr id="22" name="Text 20"/>
          <p:cNvSpPr/>
          <p:nvPr/>
        </p:nvSpPr>
        <p:spPr>
          <a:xfrm>
            <a:off x="2523744" y="1216152"/>
            <a:ext cx="2084832" cy="475488"/>
          </a:xfrm>
          <a:prstGeom prst="rect">
            <a:avLst/>
          </a:prstGeom>
          <a:noFill/>
          <a:ln/>
        </p:spPr>
        <p:txBody>
          <a:bodyPr wrap="square" lIns="0" tIns="0" rIns="0" bIns="0" rtlCol="0" anchor="ctr"/>
          <a:lstStyle/>
          <a:p>
            <a:pPr algn="ctr" indent="0" marL="0">
              <a:buNone/>
            </a:pPr>
            <a:r>
              <a:rPr lang="en-US" sz="1250" b="1" dirty="0">
                <a:solidFill>
                  <a:srgbClr val="E8B84B"/>
                </a:solidFill>
                <a:latin typeface="Calibri" pitchFamily="34" charset="0"/>
                <a:ea typeface="Calibri" pitchFamily="34" charset="-122"/>
                <a:cs typeface="Calibri" pitchFamily="34" charset="-120"/>
              </a:rPr>
              <a:t>AlexNet</a:t>
            </a:r>
            <a:endParaRPr lang="en-US" sz="1250" dirty="0"/>
          </a:p>
          <a:p>
            <a:pPr algn="ctr" indent="0" marL="0">
              <a:buNone/>
            </a:pPr>
            <a:r>
              <a:rPr lang="en-US" sz="1250" b="1" dirty="0">
                <a:solidFill>
                  <a:srgbClr val="E8B84B"/>
                </a:solidFill>
                <a:latin typeface="Calibri" pitchFamily="34" charset="0"/>
                <a:ea typeface="Calibri" pitchFamily="34" charset="-122"/>
                <a:cs typeface="Calibri" pitchFamily="34" charset="-120"/>
              </a:rPr>
              <a:t>(2012)</a:t>
            </a:r>
            <a:endParaRPr lang="en-US" sz="1250" dirty="0"/>
          </a:p>
        </p:txBody>
      </p:sp>
      <p:sp>
        <p:nvSpPr>
          <p:cNvPr id="23" name="Shape 21"/>
          <p:cNvSpPr/>
          <p:nvPr/>
        </p:nvSpPr>
        <p:spPr>
          <a:xfrm>
            <a:off x="2523744" y="1737360"/>
            <a:ext cx="2084832" cy="475488"/>
          </a:xfrm>
          <a:prstGeom prst="rect">
            <a:avLst/>
          </a:prstGeom>
          <a:solidFill>
            <a:srgbClr val="FFFFFF"/>
          </a:solidFill>
          <a:ln w="12700">
            <a:solidFill>
              <a:srgbClr val="DDE4F0"/>
            </a:solidFill>
            <a:prstDash val="solid"/>
          </a:ln>
        </p:spPr>
      </p:sp>
      <p:sp>
        <p:nvSpPr>
          <p:cNvPr id="24" name="Text 22"/>
          <p:cNvSpPr/>
          <p:nvPr/>
        </p:nvSpPr>
        <p:spPr>
          <a:xfrm>
            <a:off x="2596896" y="1773936"/>
            <a:ext cx="1938528" cy="402336"/>
          </a:xfrm>
          <a:prstGeom prst="rect">
            <a:avLst/>
          </a:prstGeom>
          <a:noFill/>
          <a:ln/>
        </p:spPr>
        <p:txBody>
          <a:bodyPr wrap="square" rtlCol="0" anchor="ctr"/>
          <a:lstStyle/>
          <a:p>
            <a:pPr algn="ctr" indent="0" marL="0">
              <a:buNone/>
            </a:pPr>
            <a:r>
              <a:rPr lang="en-US" sz="1000" b="1" dirty="0">
                <a:solidFill>
                  <a:srgbClr val="1A6B7A"/>
                </a:solidFill>
                <a:latin typeface="Calibri" pitchFamily="34" charset="0"/>
                <a:ea typeface="Calibri" pitchFamily="34" charset="-122"/>
                <a:cs typeface="Calibri" pitchFamily="34" charset="-120"/>
              </a:rPr>
              <a:t>~60M</a:t>
            </a:r>
            <a:endParaRPr lang="en-US" sz="1000" dirty="0"/>
          </a:p>
        </p:txBody>
      </p:sp>
      <p:sp>
        <p:nvSpPr>
          <p:cNvPr id="25" name="Shape 23"/>
          <p:cNvSpPr/>
          <p:nvPr/>
        </p:nvSpPr>
        <p:spPr>
          <a:xfrm>
            <a:off x="2523744" y="2212848"/>
            <a:ext cx="2084832" cy="475488"/>
          </a:xfrm>
          <a:prstGeom prst="rect">
            <a:avLst/>
          </a:prstGeom>
          <a:solidFill>
            <a:srgbClr val="F4F6FB"/>
          </a:solidFill>
          <a:ln w="12700">
            <a:solidFill>
              <a:srgbClr val="DDE4F0"/>
            </a:solidFill>
            <a:prstDash val="solid"/>
          </a:ln>
        </p:spPr>
      </p:sp>
      <p:sp>
        <p:nvSpPr>
          <p:cNvPr id="26" name="Text 24"/>
          <p:cNvSpPr/>
          <p:nvPr/>
        </p:nvSpPr>
        <p:spPr>
          <a:xfrm>
            <a:off x="2596896" y="2249424"/>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8 layers</a:t>
            </a:r>
            <a:endParaRPr lang="en-US" sz="1000" dirty="0"/>
          </a:p>
        </p:txBody>
      </p:sp>
      <p:sp>
        <p:nvSpPr>
          <p:cNvPr id="27" name="Shape 25"/>
          <p:cNvSpPr/>
          <p:nvPr/>
        </p:nvSpPr>
        <p:spPr>
          <a:xfrm>
            <a:off x="2523744" y="2688336"/>
            <a:ext cx="2084832" cy="475488"/>
          </a:xfrm>
          <a:prstGeom prst="rect">
            <a:avLst/>
          </a:prstGeom>
          <a:solidFill>
            <a:srgbClr val="FFFFFF"/>
          </a:solidFill>
          <a:ln w="12700">
            <a:solidFill>
              <a:srgbClr val="DDE4F0"/>
            </a:solidFill>
            <a:prstDash val="solid"/>
          </a:ln>
        </p:spPr>
      </p:sp>
      <p:sp>
        <p:nvSpPr>
          <p:cNvPr id="28" name="Text 26"/>
          <p:cNvSpPr/>
          <p:nvPr/>
        </p:nvSpPr>
        <p:spPr>
          <a:xfrm>
            <a:off x="2596896" y="2724912"/>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ImageNet</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1.2M images</a:t>
            </a:r>
            <a:endParaRPr lang="en-US" sz="1000" dirty="0"/>
          </a:p>
        </p:txBody>
      </p:sp>
      <p:sp>
        <p:nvSpPr>
          <p:cNvPr id="29" name="Shape 27"/>
          <p:cNvSpPr/>
          <p:nvPr/>
        </p:nvSpPr>
        <p:spPr>
          <a:xfrm>
            <a:off x="2523744" y="3163824"/>
            <a:ext cx="2084832" cy="475488"/>
          </a:xfrm>
          <a:prstGeom prst="rect">
            <a:avLst/>
          </a:prstGeom>
          <a:solidFill>
            <a:srgbClr val="F4F6FB"/>
          </a:solidFill>
          <a:ln w="12700">
            <a:solidFill>
              <a:srgbClr val="DDE4F0"/>
            </a:solidFill>
            <a:prstDash val="solid"/>
          </a:ln>
        </p:spPr>
      </p:sp>
      <p:sp>
        <p:nvSpPr>
          <p:cNvPr id="30" name="Text 28"/>
          <p:cNvSpPr/>
          <p:nvPr/>
        </p:nvSpPr>
        <p:spPr>
          <a:xfrm>
            <a:off x="2596896" y="3200400"/>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224×224×3</a:t>
            </a:r>
            <a:endParaRPr lang="en-US" sz="1000" dirty="0"/>
          </a:p>
        </p:txBody>
      </p:sp>
      <p:sp>
        <p:nvSpPr>
          <p:cNvPr id="31" name="Shape 29"/>
          <p:cNvSpPr/>
          <p:nvPr/>
        </p:nvSpPr>
        <p:spPr>
          <a:xfrm>
            <a:off x="2523744" y="3639312"/>
            <a:ext cx="2084832" cy="475488"/>
          </a:xfrm>
          <a:prstGeom prst="rect">
            <a:avLst/>
          </a:prstGeom>
          <a:solidFill>
            <a:srgbClr val="FFFFFF"/>
          </a:solidFill>
          <a:ln w="12700">
            <a:solidFill>
              <a:srgbClr val="DDE4F0"/>
            </a:solidFill>
            <a:prstDash val="solid"/>
          </a:ln>
        </p:spPr>
      </p:sp>
      <p:sp>
        <p:nvSpPr>
          <p:cNvPr id="32" name="Text 30"/>
          <p:cNvSpPr/>
          <p:nvPr/>
        </p:nvSpPr>
        <p:spPr>
          <a:xfrm>
            <a:off x="2596896" y="3675888"/>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ReLU</a:t>
            </a:r>
            <a:endParaRPr lang="en-US" sz="1000" dirty="0"/>
          </a:p>
        </p:txBody>
      </p:sp>
      <p:sp>
        <p:nvSpPr>
          <p:cNvPr id="33" name="Shape 31"/>
          <p:cNvSpPr/>
          <p:nvPr/>
        </p:nvSpPr>
        <p:spPr>
          <a:xfrm>
            <a:off x="2523744" y="4114800"/>
            <a:ext cx="2084832" cy="475488"/>
          </a:xfrm>
          <a:prstGeom prst="rect">
            <a:avLst/>
          </a:prstGeom>
          <a:solidFill>
            <a:srgbClr val="F4F6FB"/>
          </a:solidFill>
          <a:ln w="12700">
            <a:solidFill>
              <a:srgbClr val="DDE4F0"/>
            </a:solidFill>
            <a:prstDash val="solid"/>
          </a:ln>
        </p:spPr>
      </p:sp>
      <p:sp>
        <p:nvSpPr>
          <p:cNvPr id="34" name="Text 32"/>
          <p:cNvSpPr/>
          <p:nvPr/>
        </p:nvSpPr>
        <p:spPr>
          <a:xfrm>
            <a:off x="2596896" y="4151376"/>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Max Pool</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(non-trainable)</a:t>
            </a:r>
            <a:endParaRPr lang="en-US" sz="1000" dirty="0"/>
          </a:p>
        </p:txBody>
      </p:sp>
      <p:sp>
        <p:nvSpPr>
          <p:cNvPr id="35" name="Shape 33"/>
          <p:cNvSpPr/>
          <p:nvPr/>
        </p:nvSpPr>
        <p:spPr>
          <a:xfrm>
            <a:off x="2523744" y="4590288"/>
            <a:ext cx="2084832" cy="475488"/>
          </a:xfrm>
          <a:prstGeom prst="rect">
            <a:avLst/>
          </a:prstGeom>
          <a:solidFill>
            <a:srgbClr val="FFFFFF"/>
          </a:solidFill>
          <a:ln w="12700">
            <a:solidFill>
              <a:srgbClr val="DDE4F0"/>
            </a:solidFill>
            <a:prstDash val="solid"/>
          </a:ln>
        </p:spPr>
      </p:sp>
      <p:sp>
        <p:nvSpPr>
          <p:cNvPr id="36" name="Text 34"/>
          <p:cNvSpPr/>
          <p:nvPr/>
        </p:nvSpPr>
        <p:spPr>
          <a:xfrm>
            <a:off x="2596896" y="4626864"/>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Local Response</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Norm (LRN)</a:t>
            </a:r>
            <a:endParaRPr lang="en-US" sz="1000" dirty="0"/>
          </a:p>
        </p:txBody>
      </p:sp>
      <p:sp>
        <p:nvSpPr>
          <p:cNvPr id="37" name="Shape 35"/>
          <p:cNvSpPr/>
          <p:nvPr/>
        </p:nvSpPr>
        <p:spPr>
          <a:xfrm>
            <a:off x="4700016" y="1170432"/>
            <a:ext cx="2084832" cy="566928"/>
          </a:xfrm>
          <a:prstGeom prst="rect">
            <a:avLst/>
          </a:prstGeom>
          <a:solidFill>
            <a:srgbClr val="1A3260"/>
          </a:solidFill>
          <a:ln w="12700">
            <a:solidFill>
              <a:srgbClr val="1A3260"/>
            </a:solidFill>
            <a:prstDash val="solid"/>
          </a:ln>
          <a:effectLst>
            <a:outerShdw sx="100000" sy="100000" kx="0" ky="0" algn="bl" rotWithShape="0" blurRad="101600" dist="38100" dir="8100000">
              <a:srgbClr val="000000">
                <a:alpha val="18000"/>
              </a:srgbClr>
            </a:outerShdw>
          </a:effectLst>
        </p:spPr>
      </p:sp>
      <p:sp>
        <p:nvSpPr>
          <p:cNvPr id="38" name="Text 36"/>
          <p:cNvSpPr/>
          <p:nvPr/>
        </p:nvSpPr>
        <p:spPr>
          <a:xfrm>
            <a:off x="4700016" y="1216152"/>
            <a:ext cx="2084832" cy="475488"/>
          </a:xfrm>
          <a:prstGeom prst="rect">
            <a:avLst/>
          </a:prstGeom>
          <a:noFill/>
          <a:ln/>
        </p:spPr>
        <p:txBody>
          <a:bodyPr wrap="square" lIns="0" tIns="0" rIns="0" bIns="0" rtlCol="0" anchor="ctr"/>
          <a:lstStyle/>
          <a:p>
            <a:pPr algn="ctr" indent="0" marL="0">
              <a:buNone/>
            </a:pPr>
            <a:r>
              <a:rPr lang="en-US" sz="1250" b="1" dirty="0">
                <a:solidFill>
                  <a:srgbClr val="E8B84B"/>
                </a:solidFill>
                <a:latin typeface="Calibri" pitchFamily="34" charset="0"/>
                <a:ea typeface="Calibri" pitchFamily="34" charset="-122"/>
                <a:cs typeface="Calibri" pitchFamily="34" charset="-120"/>
              </a:rPr>
              <a:t>VGG-16</a:t>
            </a:r>
            <a:endParaRPr lang="en-US" sz="1250" dirty="0"/>
          </a:p>
          <a:p>
            <a:pPr algn="ctr" indent="0" marL="0">
              <a:buNone/>
            </a:pPr>
            <a:r>
              <a:rPr lang="en-US" sz="1250" b="1" dirty="0">
                <a:solidFill>
                  <a:srgbClr val="E8B84B"/>
                </a:solidFill>
                <a:latin typeface="Calibri" pitchFamily="34" charset="0"/>
                <a:ea typeface="Calibri" pitchFamily="34" charset="-122"/>
                <a:cs typeface="Calibri" pitchFamily="34" charset="-120"/>
              </a:rPr>
              <a:t>(2014)</a:t>
            </a:r>
            <a:endParaRPr lang="en-US" sz="1250" dirty="0"/>
          </a:p>
        </p:txBody>
      </p:sp>
      <p:sp>
        <p:nvSpPr>
          <p:cNvPr id="39" name="Shape 37"/>
          <p:cNvSpPr/>
          <p:nvPr/>
        </p:nvSpPr>
        <p:spPr>
          <a:xfrm>
            <a:off x="4700016" y="1737360"/>
            <a:ext cx="2084832" cy="475488"/>
          </a:xfrm>
          <a:prstGeom prst="rect">
            <a:avLst/>
          </a:prstGeom>
          <a:solidFill>
            <a:srgbClr val="FFFFFF"/>
          </a:solidFill>
          <a:ln w="12700">
            <a:solidFill>
              <a:srgbClr val="DDE4F0"/>
            </a:solidFill>
            <a:prstDash val="solid"/>
          </a:ln>
        </p:spPr>
      </p:sp>
      <p:sp>
        <p:nvSpPr>
          <p:cNvPr id="40" name="Text 38"/>
          <p:cNvSpPr/>
          <p:nvPr/>
        </p:nvSpPr>
        <p:spPr>
          <a:xfrm>
            <a:off x="4773168" y="1773936"/>
            <a:ext cx="1938528" cy="402336"/>
          </a:xfrm>
          <a:prstGeom prst="rect">
            <a:avLst/>
          </a:prstGeom>
          <a:noFill/>
          <a:ln/>
        </p:spPr>
        <p:txBody>
          <a:bodyPr wrap="square" rtlCol="0" anchor="ctr"/>
          <a:lstStyle/>
          <a:p>
            <a:pPr algn="ctr" indent="0" marL="0">
              <a:buNone/>
            </a:pPr>
            <a:r>
              <a:rPr lang="en-US" sz="1000" b="1" dirty="0">
                <a:solidFill>
                  <a:srgbClr val="1A3260"/>
                </a:solidFill>
                <a:latin typeface="Calibri" pitchFamily="34" charset="0"/>
                <a:ea typeface="Calibri" pitchFamily="34" charset="-122"/>
                <a:cs typeface="Calibri" pitchFamily="34" charset="-120"/>
              </a:rPr>
              <a:t>~138M</a:t>
            </a:r>
            <a:endParaRPr lang="en-US" sz="1000" dirty="0"/>
          </a:p>
        </p:txBody>
      </p:sp>
      <p:sp>
        <p:nvSpPr>
          <p:cNvPr id="41" name="Shape 39"/>
          <p:cNvSpPr/>
          <p:nvPr/>
        </p:nvSpPr>
        <p:spPr>
          <a:xfrm>
            <a:off x="4700016" y="2212848"/>
            <a:ext cx="2084832" cy="475488"/>
          </a:xfrm>
          <a:prstGeom prst="rect">
            <a:avLst/>
          </a:prstGeom>
          <a:solidFill>
            <a:srgbClr val="F4F6FB"/>
          </a:solidFill>
          <a:ln w="12700">
            <a:solidFill>
              <a:srgbClr val="DDE4F0"/>
            </a:solidFill>
            <a:prstDash val="solid"/>
          </a:ln>
        </p:spPr>
      </p:sp>
      <p:sp>
        <p:nvSpPr>
          <p:cNvPr id="42" name="Text 40"/>
          <p:cNvSpPr/>
          <p:nvPr/>
        </p:nvSpPr>
        <p:spPr>
          <a:xfrm>
            <a:off x="4773168" y="2249424"/>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16 layers</a:t>
            </a:r>
            <a:endParaRPr lang="en-US" sz="1000" dirty="0"/>
          </a:p>
        </p:txBody>
      </p:sp>
      <p:sp>
        <p:nvSpPr>
          <p:cNvPr id="43" name="Shape 41"/>
          <p:cNvSpPr/>
          <p:nvPr/>
        </p:nvSpPr>
        <p:spPr>
          <a:xfrm>
            <a:off x="4700016" y="2688336"/>
            <a:ext cx="2084832" cy="475488"/>
          </a:xfrm>
          <a:prstGeom prst="rect">
            <a:avLst/>
          </a:prstGeom>
          <a:solidFill>
            <a:srgbClr val="FFFFFF"/>
          </a:solidFill>
          <a:ln w="12700">
            <a:solidFill>
              <a:srgbClr val="DDE4F0"/>
            </a:solidFill>
            <a:prstDash val="solid"/>
          </a:ln>
        </p:spPr>
      </p:sp>
      <p:sp>
        <p:nvSpPr>
          <p:cNvPr id="44" name="Text 42"/>
          <p:cNvSpPr/>
          <p:nvPr/>
        </p:nvSpPr>
        <p:spPr>
          <a:xfrm>
            <a:off x="4773168" y="2724912"/>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ImageNet</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1.2M images</a:t>
            </a:r>
            <a:endParaRPr lang="en-US" sz="1000" dirty="0"/>
          </a:p>
        </p:txBody>
      </p:sp>
      <p:sp>
        <p:nvSpPr>
          <p:cNvPr id="45" name="Shape 43"/>
          <p:cNvSpPr/>
          <p:nvPr/>
        </p:nvSpPr>
        <p:spPr>
          <a:xfrm>
            <a:off x="4700016" y="3163824"/>
            <a:ext cx="2084832" cy="475488"/>
          </a:xfrm>
          <a:prstGeom prst="rect">
            <a:avLst/>
          </a:prstGeom>
          <a:solidFill>
            <a:srgbClr val="F4F6FB"/>
          </a:solidFill>
          <a:ln w="12700">
            <a:solidFill>
              <a:srgbClr val="DDE4F0"/>
            </a:solidFill>
            <a:prstDash val="solid"/>
          </a:ln>
        </p:spPr>
      </p:sp>
      <p:sp>
        <p:nvSpPr>
          <p:cNvPr id="46" name="Text 44"/>
          <p:cNvSpPr/>
          <p:nvPr/>
        </p:nvSpPr>
        <p:spPr>
          <a:xfrm>
            <a:off x="4773168" y="3200400"/>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224×224×3</a:t>
            </a:r>
            <a:endParaRPr lang="en-US" sz="1000" dirty="0"/>
          </a:p>
        </p:txBody>
      </p:sp>
      <p:sp>
        <p:nvSpPr>
          <p:cNvPr id="47" name="Shape 45"/>
          <p:cNvSpPr/>
          <p:nvPr/>
        </p:nvSpPr>
        <p:spPr>
          <a:xfrm>
            <a:off x="4700016" y="3639312"/>
            <a:ext cx="2084832" cy="475488"/>
          </a:xfrm>
          <a:prstGeom prst="rect">
            <a:avLst/>
          </a:prstGeom>
          <a:solidFill>
            <a:srgbClr val="FFFFFF"/>
          </a:solidFill>
          <a:ln w="12700">
            <a:solidFill>
              <a:srgbClr val="DDE4F0"/>
            </a:solidFill>
            <a:prstDash val="solid"/>
          </a:ln>
        </p:spPr>
      </p:sp>
      <p:sp>
        <p:nvSpPr>
          <p:cNvPr id="48" name="Text 46"/>
          <p:cNvSpPr/>
          <p:nvPr/>
        </p:nvSpPr>
        <p:spPr>
          <a:xfrm>
            <a:off x="4773168" y="3675888"/>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ReLU</a:t>
            </a:r>
            <a:endParaRPr lang="en-US" sz="1000" dirty="0"/>
          </a:p>
        </p:txBody>
      </p:sp>
      <p:sp>
        <p:nvSpPr>
          <p:cNvPr id="49" name="Shape 47"/>
          <p:cNvSpPr/>
          <p:nvPr/>
        </p:nvSpPr>
        <p:spPr>
          <a:xfrm>
            <a:off x="4700016" y="4114800"/>
            <a:ext cx="2084832" cy="475488"/>
          </a:xfrm>
          <a:prstGeom prst="rect">
            <a:avLst/>
          </a:prstGeom>
          <a:solidFill>
            <a:srgbClr val="F4F6FB"/>
          </a:solidFill>
          <a:ln w="12700">
            <a:solidFill>
              <a:srgbClr val="DDE4F0"/>
            </a:solidFill>
            <a:prstDash val="solid"/>
          </a:ln>
        </p:spPr>
      </p:sp>
      <p:sp>
        <p:nvSpPr>
          <p:cNvPr id="50" name="Text 48"/>
          <p:cNvSpPr/>
          <p:nvPr/>
        </p:nvSpPr>
        <p:spPr>
          <a:xfrm>
            <a:off x="4773168" y="4151376"/>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Max Pool</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2×2 stride 2</a:t>
            </a:r>
            <a:endParaRPr lang="en-US" sz="1000" dirty="0"/>
          </a:p>
        </p:txBody>
      </p:sp>
      <p:sp>
        <p:nvSpPr>
          <p:cNvPr id="51" name="Shape 49"/>
          <p:cNvSpPr/>
          <p:nvPr/>
        </p:nvSpPr>
        <p:spPr>
          <a:xfrm>
            <a:off x="4700016" y="4590288"/>
            <a:ext cx="2084832" cy="475488"/>
          </a:xfrm>
          <a:prstGeom prst="rect">
            <a:avLst/>
          </a:prstGeom>
          <a:solidFill>
            <a:srgbClr val="FFFFFF"/>
          </a:solidFill>
          <a:ln w="12700">
            <a:solidFill>
              <a:srgbClr val="DDE4F0"/>
            </a:solidFill>
            <a:prstDash val="solid"/>
          </a:ln>
        </p:spPr>
      </p:sp>
      <p:sp>
        <p:nvSpPr>
          <p:cNvPr id="52" name="Text 50"/>
          <p:cNvSpPr/>
          <p:nvPr/>
        </p:nvSpPr>
        <p:spPr>
          <a:xfrm>
            <a:off x="4773168" y="4626864"/>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Only 3×3 filters</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Uniform design</a:t>
            </a:r>
            <a:endParaRPr lang="en-US" sz="1000" dirty="0"/>
          </a:p>
        </p:txBody>
      </p:sp>
      <p:sp>
        <p:nvSpPr>
          <p:cNvPr id="53" name="Shape 51"/>
          <p:cNvSpPr/>
          <p:nvPr/>
        </p:nvSpPr>
        <p:spPr>
          <a:xfrm>
            <a:off x="6876288" y="1170432"/>
            <a:ext cx="2084832" cy="566928"/>
          </a:xfrm>
          <a:prstGeom prst="rect">
            <a:avLst/>
          </a:prstGeom>
          <a:solidFill>
            <a:srgbClr val="0B1D3A"/>
          </a:solidFill>
          <a:ln w="12700">
            <a:solidFill>
              <a:srgbClr val="0B1D3A"/>
            </a:solidFill>
            <a:prstDash val="solid"/>
          </a:ln>
          <a:effectLst>
            <a:outerShdw sx="100000" sy="100000" kx="0" ky="0" algn="bl" rotWithShape="0" blurRad="101600" dist="38100" dir="8100000">
              <a:srgbClr val="000000">
                <a:alpha val="18000"/>
              </a:srgbClr>
            </a:outerShdw>
          </a:effectLst>
        </p:spPr>
      </p:sp>
      <p:sp>
        <p:nvSpPr>
          <p:cNvPr id="54" name="Text 52"/>
          <p:cNvSpPr/>
          <p:nvPr/>
        </p:nvSpPr>
        <p:spPr>
          <a:xfrm>
            <a:off x="6876288" y="1216152"/>
            <a:ext cx="2084832" cy="475488"/>
          </a:xfrm>
          <a:prstGeom prst="rect">
            <a:avLst/>
          </a:prstGeom>
          <a:noFill/>
          <a:ln/>
        </p:spPr>
        <p:txBody>
          <a:bodyPr wrap="square" lIns="0" tIns="0" rIns="0" bIns="0" rtlCol="0" anchor="ctr"/>
          <a:lstStyle/>
          <a:p>
            <a:pPr algn="ctr" indent="0" marL="0">
              <a:buNone/>
            </a:pPr>
            <a:r>
              <a:rPr lang="en-US" sz="1250" b="1" dirty="0">
                <a:solidFill>
                  <a:srgbClr val="E8B84B"/>
                </a:solidFill>
                <a:latin typeface="Calibri" pitchFamily="34" charset="0"/>
                <a:ea typeface="Calibri" pitchFamily="34" charset="-122"/>
                <a:cs typeface="Calibri" pitchFamily="34" charset="-120"/>
              </a:rPr>
              <a:t>ResNet-50</a:t>
            </a:r>
            <a:endParaRPr lang="en-US" sz="1250" dirty="0"/>
          </a:p>
          <a:p>
            <a:pPr algn="ctr" indent="0" marL="0">
              <a:buNone/>
            </a:pPr>
            <a:r>
              <a:rPr lang="en-US" sz="1250" b="1" dirty="0">
                <a:solidFill>
                  <a:srgbClr val="E8B84B"/>
                </a:solidFill>
                <a:latin typeface="Calibri" pitchFamily="34" charset="0"/>
                <a:ea typeface="Calibri" pitchFamily="34" charset="-122"/>
                <a:cs typeface="Calibri" pitchFamily="34" charset="-120"/>
              </a:rPr>
              <a:t>(2015)</a:t>
            </a:r>
            <a:endParaRPr lang="en-US" sz="1250" dirty="0"/>
          </a:p>
        </p:txBody>
      </p:sp>
      <p:sp>
        <p:nvSpPr>
          <p:cNvPr id="55" name="Shape 53"/>
          <p:cNvSpPr/>
          <p:nvPr/>
        </p:nvSpPr>
        <p:spPr>
          <a:xfrm>
            <a:off x="6876288" y="1737360"/>
            <a:ext cx="2084832" cy="475488"/>
          </a:xfrm>
          <a:prstGeom prst="rect">
            <a:avLst/>
          </a:prstGeom>
          <a:solidFill>
            <a:srgbClr val="FFFFFF"/>
          </a:solidFill>
          <a:ln w="12700">
            <a:solidFill>
              <a:srgbClr val="DDE4F0"/>
            </a:solidFill>
            <a:prstDash val="solid"/>
          </a:ln>
        </p:spPr>
      </p:sp>
      <p:sp>
        <p:nvSpPr>
          <p:cNvPr id="56" name="Text 54"/>
          <p:cNvSpPr/>
          <p:nvPr/>
        </p:nvSpPr>
        <p:spPr>
          <a:xfrm>
            <a:off x="6949440" y="1773936"/>
            <a:ext cx="1938528" cy="402336"/>
          </a:xfrm>
          <a:prstGeom prst="rect">
            <a:avLst/>
          </a:prstGeom>
          <a:noFill/>
          <a:ln/>
        </p:spPr>
        <p:txBody>
          <a:bodyPr wrap="square" rtlCol="0" anchor="ctr"/>
          <a:lstStyle/>
          <a:p>
            <a:pPr algn="ctr" indent="0" marL="0">
              <a:buNone/>
            </a:pPr>
            <a:r>
              <a:rPr lang="en-US" sz="1000" b="1" dirty="0">
                <a:solidFill>
                  <a:srgbClr val="0B1D3A"/>
                </a:solidFill>
                <a:latin typeface="Calibri" pitchFamily="34" charset="0"/>
                <a:ea typeface="Calibri" pitchFamily="34" charset="-122"/>
                <a:cs typeface="Calibri" pitchFamily="34" charset="-120"/>
              </a:rPr>
              <a:t>~25M</a:t>
            </a:r>
            <a:endParaRPr lang="en-US" sz="1000" dirty="0"/>
          </a:p>
        </p:txBody>
      </p:sp>
      <p:sp>
        <p:nvSpPr>
          <p:cNvPr id="57" name="Shape 55"/>
          <p:cNvSpPr/>
          <p:nvPr/>
        </p:nvSpPr>
        <p:spPr>
          <a:xfrm>
            <a:off x="6876288" y="2212848"/>
            <a:ext cx="2084832" cy="475488"/>
          </a:xfrm>
          <a:prstGeom prst="rect">
            <a:avLst/>
          </a:prstGeom>
          <a:solidFill>
            <a:srgbClr val="F4F6FB"/>
          </a:solidFill>
          <a:ln w="12700">
            <a:solidFill>
              <a:srgbClr val="DDE4F0"/>
            </a:solidFill>
            <a:prstDash val="solid"/>
          </a:ln>
        </p:spPr>
      </p:sp>
      <p:sp>
        <p:nvSpPr>
          <p:cNvPr id="58" name="Text 56"/>
          <p:cNvSpPr/>
          <p:nvPr/>
        </p:nvSpPr>
        <p:spPr>
          <a:xfrm>
            <a:off x="6949440" y="2249424"/>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50 layers</a:t>
            </a:r>
            <a:endParaRPr lang="en-US" sz="1000" dirty="0"/>
          </a:p>
        </p:txBody>
      </p:sp>
      <p:sp>
        <p:nvSpPr>
          <p:cNvPr id="59" name="Shape 57"/>
          <p:cNvSpPr/>
          <p:nvPr/>
        </p:nvSpPr>
        <p:spPr>
          <a:xfrm>
            <a:off x="6876288" y="2688336"/>
            <a:ext cx="2084832" cy="475488"/>
          </a:xfrm>
          <a:prstGeom prst="rect">
            <a:avLst/>
          </a:prstGeom>
          <a:solidFill>
            <a:srgbClr val="FFFFFF"/>
          </a:solidFill>
          <a:ln w="12700">
            <a:solidFill>
              <a:srgbClr val="DDE4F0"/>
            </a:solidFill>
            <a:prstDash val="solid"/>
          </a:ln>
        </p:spPr>
      </p:sp>
      <p:sp>
        <p:nvSpPr>
          <p:cNvPr id="60" name="Text 58"/>
          <p:cNvSpPr/>
          <p:nvPr/>
        </p:nvSpPr>
        <p:spPr>
          <a:xfrm>
            <a:off x="6949440" y="2724912"/>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ImageNet</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1.2M images</a:t>
            </a:r>
            <a:endParaRPr lang="en-US" sz="1000" dirty="0"/>
          </a:p>
        </p:txBody>
      </p:sp>
      <p:sp>
        <p:nvSpPr>
          <p:cNvPr id="61" name="Shape 59"/>
          <p:cNvSpPr/>
          <p:nvPr/>
        </p:nvSpPr>
        <p:spPr>
          <a:xfrm>
            <a:off x="6876288" y="3163824"/>
            <a:ext cx="2084832" cy="475488"/>
          </a:xfrm>
          <a:prstGeom prst="rect">
            <a:avLst/>
          </a:prstGeom>
          <a:solidFill>
            <a:srgbClr val="F4F6FB"/>
          </a:solidFill>
          <a:ln w="12700">
            <a:solidFill>
              <a:srgbClr val="DDE4F0"/>
            </a:solidFill>
            <a:prstDash val="solid"/>
          </a:ln>
        </p:spPr>
      </p:sp>
      <p:sp>
        <p:nvSpPr>
          <p:cNvPr id="62" name="Text 60"/>
          <p:cNvSpPr/>
          <p:nvPr/>
        </p:nvSpPr>
        <p:spPr>
          <a:xfrm>
            <a:off x="6949440" y="3200400"/>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224×224×3</a:t>
            </a:r>
            <a:endParaRPr lang="en-US" sz="1000" dirty="0"/>
          </a:p>
        </p:txBody>
      </p:sp>
      <p:sp>
        <p:nvSpPr>
          <p:cNvPr id="63" name="Shape 61"/>
          <p:cNvSpPr/>
          <p:nvPr/>
        </p:nvSpPr>
        <p:spPr>
          <a:xfrm>
            <a:off x="6876288" y="3639312"/>
            <a:ext cx="2084832" cy="475488"/>
          </a:xfrm>
          <a:prstGeom prst="rect">
            <a:avLst/>
          </a:prstGeom>
          <a:solidFill>
            <a:srgbClr val="FFFFFF"/>
          </a:solidFill>
          <a:ln w="12700">
            <a:solidFill>
              <a:srgbClr val="DDE4F0"/>
            </a:solidFill>
            <a:prstDash val="solid"/>
          </a:ln>
        </p:spPr>
      </p:sp>
      <p:sp>
        <p:nvSpPr>
          <p:cNvPr id="64" name="Text 62"/>
          <p:cNvSpPr/>
          <p:nvPr/>
        </p:nvSpPr>
        <p:spPr>
          <a:xfrm>
            <a:off x="6949440" y="3675888"/>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ReLU</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 BatchNorm</a:t>
            </a:r>
            <a:endParaRPr lang="en-US" sz="1000" dirty="0"/>
          </a:p>
        </p:txBody>
      </p:sp>
      <p:sp>
        <p:nvSpPr>
          <p:cNvPr id="65" name="Shape 63"/>
          <p:cNvSpPr/>
          <p:nvPr/>
        </p:nvSpPr>
        <p:spPr>
          <a:xfrm>
            <a:off x="6876288" y="4114800"/>
            <a:ext cx="2084832" cy="475488"/>
          </a:xfrm>
          <a:prstGeom prst="rect">
            <a:avLst/>
          </a:prstGeom>
          <a:solidFill>
            <a:srgbClr val="F4F6FB"/>
          </a:solidFill>
          <a:ln w="12700">
            <a:solidFill>
              <a:srgbClr val="DDE4F0"/>
            </a:solidFill>
            <a:prstDash val="solid"/>
          </a:ln>
        </p:spPr>
      </p:sp>
      <p:sp>
        <p:nvSpPr>
          <p:cNvPr id="66" name="Text 64"/>
          <p:cNvSpPr/>
          <p:nvPr/>
        </p:nvSpPr>
        <p:spPr>
          <a:xfrm>
            <a:off x="6949440" y="4151376"/>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Global Avg</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Pool (GAP)</a:t>
            </a:r>
            <a:endParaRPr lang="en-US" sz="1000" dirty="0"/>
          </a:p>
        </p:txBody>
      </p:sp>
      <p:sp>
        <p:nvSpPr>
          <p:cNvPr id="67" name="Shape 65"/>
          <p:cNvSpPr/>
          <p:nvPr/>
        </p:nvSpPr>
        <p:spPr>
          <a:xfrm>
            <a:off x="6876288" y="4590288"/>
            <a:ext cx="2084832" cy="475488"/>
          </a:xfrm>
          <a:prstGeom prst="rect">
            <a:avLst/>
          </a:prstGeom>
          <a:solidFill>
            <a:srgbClr val="FFFFFF"/>
          </a:solidFill>
          <a:ln w="12700">
            <a:solidFill>
              <a:srgbClr val="DDE4F0"/>
            </a:solidFill>
            <a:prstDash val="solid"/>
          </a:ln>
        </p:spPr>
      </p:sp>
      <p:sp>
        <p:nvSpPr>
          <p:cNvPr id="68" name="Text 66"/>
          <p:cNvSpPr/>
          <p:nvPr/>
        </p:nvSpPr>
        <p:spPr>
          <a:xfrm>
            <a:off x="6949440" y="4626864"/>
            <a:ext cx="1938528" cy="402336"/>
          </a:xfrm>
          <a:prstGeom prst="rect">
            <a:avLst/>
          </a:prstGeom>
          <a:noFill/>
          <a:ln/>
        </p:spPr>
        <p:txBody>
          <a:bodyPr wrap="square" rtlCol="0" anchor="ctr"/>
          <a:lstStyle/>
          <a:p>
            <a:pPr algn="ctr" indent="0" marL="0">
              <a:buNone/>
            </a:pPr>
            <a:r>
              <a:rPr lang="en-US" sz="1000" dirty="0">
                <a:solidFill>
                  <a:srgbClr val="3D4F6B"/>
                </a:solidFill>
                <a:latin typeface="Calibri" pitchFamily="34" charset="0"/>
                <a:ea typeface="Calibri" pitchFamily="34" charset="-122"/>
                <a:cs typeface="Calibri" pitchFamily="34" charset="-120"/>
              </a:rPr>
              <a:t>Skip Connections</a:t>
            </a:r>
            <a:endParaRPr lang="en-US" sz="1000" dirty="0"/>
          </a:p>
          <a:p>
            <a:pPr algn="ctr" indent="0" marL="0">
              <a:buNone/>
            </a:pPr>
            <a:r>
              <a:rPr lang="en-US" sz="1000" dirty="0">
                <a:solidFill>
                  <a:srgbClr val="3D4F6B"/>
                </a:solidFill>
                <a:latin typeface="Calibri" pitchFamily="34" charset="0"/>
                <a:ea typeface="Calibri" pitchFamily="34" charset="-122"/>
                <a:cs typeface="Calibri" pitchFamily="34" charset="-120"/>
              </a:rPr>
              <a:t>Residual blocks</a:t>
            </a:r>
            <a:endParaRPr lang="en-US" sz="1000" dirty="0"/>
          </a:p>
        </p:txBody>
      </p:sp>
      <p:sp>
        <p:nvSpPr>
          <p:cNvPr id="69" name="Text 67"/>
          <p:cNvSpPr/>
          <p:nvPr/>
        </p:nvSpPr>
        <p:spPr>
          <a:xfrm>
            <a:off x="0" y="1810512"/>
            <a:ext cx="320040" cy="384048"/>
          </a:xfrm>
          <a:prstGeom prst="rect">
            <a:avLst/>
          </a:prstGeom>
          <a:noFill/>
          <a:ln/>
        </p:spPr>
        <p:txBody>
          <a:bodyPr wrap="square" rtlCol="0" anchor="ctr"/>
          <a:lstStyle/>
          <a:p>
            <a:pPr algn="r" indent="0" marL="0">
              <a:buNone/>
            </a:pPr>
            <a:r>
              <a:rPr lang="en-US" sz="800" dirty="0">
                <a:solidFill>
                  <a:srgbClr val="6B7D99"/>
                </a:solidFill>
                <a:latin typeface="Calibri" pitchFamily="34" charset="0"/>
                <a:ea typeface="Calibri" pitchFamily="34" charset="-122"/>
                <a:cs typeface="Calibri" pitchFamily="34" charset="-120"/>
              </a:rPr>
              <a:t>Params</a:t>
            </a:r>
            <a:endParaRPr lang="en-US" sz="800" dirty="0"/>
          </a:p>
        </p:txBody>
      </p:sp>
      <p:sp>
        <p:nvSpPr>
          <p:cNvPr id="70" name="Text 68"/>
          <p:cNvSpPr/>
          <p:nvPr/>
        </p:nvSpPr>
        <p:spPr>
          <a:xfrm>
            <a:off x="0" y="2286000"/>
            <a:ext cx="320040" cy="384048"/>
          </a:xfrm>
          <a:prstGeom prst="rect">
            <a:avLst/>
          </a:prstGeom>
          <a:noFill/>
          <a:ln/>
        </p:spPr>
        <p:txBody>
          <a:bodyPr wrap="square" rtlCol="0" anchor="ctr"/>
          <a:lstStyle/>
          <a:p>
            <a:pPr algn="r" indent="0" marL="0">
              <a:buNone/>
            </a:pPr>
            <a:r>
              <a:rPr lang="en-US" sz="800" dirty="0">
                <a:solidFill>
                  <a:srgbClr val="6B7D99"/>
                </a:solidFill>
                <a:latin typeface="Calibri" pitchFamily="34" charset="0"/>
                <a:ea typeface="Calibri" pitchFamily="34" charset="-122"/>
                <a:cs typeface="Calibri" pitchFamily="34" charset="-120"/>
              </a:rPr>
              <a:t>Depth</a:t>
            </a:r>
            <a:endParaRPr lang="en-US" sz="800" dirty="0"/>
          </a:p>
        </p:txBody>
      </p:sp>
      <p:sp>
        <p:nvSpPr>
          <p:cNvPr id="71" name="Text 69"/>
          <p:cNvSpPr/>
          <p:nvPr/>
        </p:nvSpPr>
        <p:spPr>
          <a:xfrm>
            <a:off x="0" y="2761488"/>
            <a:ext cx="320040" cy="384048"/>
          </a:xfrm>
          <a:prstGeom prst="rect">
            <a:avLst/>
          </a:prstGeom>
          <a:noFill/>
          <a:ln/>
        </p:spPr>
        <p:txBody>
          <a:bodyPr wrap="square" rtlCol="0" anchor="ctr"/>
          <a:lstStyle/>
          <a:p>
            <a:pPr algn="r" indent="0" marL="0">
              <a:buNone/>
            </a:pPr>
            <a:r>
              <a:rPr lang="en-US" sz="800" dirty="0">
                <a:solidFill>
                  <a:srgbClr val="6B7D99"/>
                </a:solidFill>
                <a:latin typeface="Calibri" pitchFamily="34" charset="0"/>
                <a:ea typeface="Calibri" pitchFamily="34" charset="-122"/>
                <a:cs typeface="Calibri" pitchFamily="34" charset="-120"/>
              </a:rPr>
              <a:t>Dataset</a:t>
            </a:r>
            <a:endParaRPr lang="en-US" sz="800" dirty="0"/>
          </a:p>
        </p:txBody>
      </p:sp>
      <p:sp>
        <p:nvSpPr>
          <p:cNvPr id="72" name="Text 70"/>
          <p:cNvSpPr/>
          <p:nvPr/>
        </p:nvSpPr>
        <p:spPr>
          <a:xfrm>
            <a:off x="0" y="3236976"/>
            <a:ext cx="320040" cy="384048"/>
          </a:xfrm>
          <a:prstGeom prst="rect">
            <a:avLst/>
          </a:prstGeom>
          <a:noFill/>
          <a:ln/>
        </p:spPr>
        <p:txBody>
          <a:bodyPr wrap="square" rtlCol="0" anchor="ctr"/>
          <a:lstStyle/>
          <a:p>
            <a:pPr algn="r" indent="0" marL="0">
              <a:buNone/>
            </a:pPr>
            <a:r>
              <a:rPr lang="en-US" sz="800" dirty="0">
                <a:solidFill>
                  <a:srgbClr val="6B7D99"/>
                </a:solidFill>
                <a:latin typeface="Calibri" pitchFamily="34" charset="0"/>
                <a:ea typeface="Calibri" pitchFamily="34" charset="-122"/>
                <a:cs typeface="Calibri" pitchFamily="34" charset="-120"/>
              </a:rPr>
              <a:t>Input</a:t>
            </a:r>
            <a:endParaRPr lang="en-US" sz="800" dirty="0"/>
          </a:p>
        </p:txBody>
      </p:sp>
      <p:sp>
        <p:nvSpPr>
          <p:cNvPr id="73" name="Text 71"/>
          <p:cNvSpPr/>
          <p:nvPr/>
        </p:nvSpPr>
        <p:spPr>
          <a:xfrm>
            <a:off x="0" y="3712464"/>
            <a:ext cx="320040" cy="384048"/>
          </a:xfrm>
          <a:prstGeom prst="rect">
            <a:avLst/>
          </a:prstGeom>
          <a:noFill/>
          <a:ln/>
        </p:spPr>
        <p:txBody>
          <a:bodyPr wrap="square" rtlCol="0" anchor="ctr"/>
          <a:lstStyle/>
          <a:p>
            <a:pPr algn="r" indent="0" marL="0">
              <a:buNone/>
            </a:pPr>
            <a:r>
              <a:rPr lang="en-US" sz="800" dirty="0">
                <a:solidFill>
                  <a:srgbClr val="6B7D99"/>
                </a:solidFill>
                <a:latin typeface="Calibri" pitchFamily="34" charset="0"/>
                <a:ea typeface="Calibri" pitchFamily="34" charset="-122"/>
                <a:cs typeface="Calibri" pitchFamily="34" charset="-120"/>
              </a:rPr>
              <a:t>Activation</a:t>
            </a:r>
            <a:endParaRPr lang="en-US" sz="800" dirty="0"/>
          </a:p>
        </p:txBody>
      </p:sp>
      <p:sp>
        <p:nvSpPr>
          <p:cNvPr id="74" name="Text 72"/>
          <p:cNvSpPr/>
          <p:nvPr/>
        </p:nvSpPr>
        <p:spPr>
          <a:xfrm>
            <a:off x="0" y="4187952"/>
            <a:ext cx="320040" cy="384048"/>
          </a:xfrm>
          <a:prstGeom prst="rect">
            <a:avLst/>
          </a:prstGeom>
          <a:noFill/>
          <a:ln/>
        </p:spPr>
        <p:txBody>
          <a:bodyPr wrap="square" rtlCol="0" anchor="ctr"/>
          <a:lstStyle/>
          <a:p>
            <a:pPr algn="r" indent="0" marL="0">
              <a:buNone/>
            </a:pPr>
            <a:r>
              <a:rPr lang="en-US" sz="800" dirty="0">
                <a:solidFill>
                  <a:srgbClr val="6B7D99"/>
                </a:solidFill>
                <a:latin typeface="Calibri" pitchFamily="34" charset="0"/>
                <a:ea typeface="Calibri" pitchFamily="34" charset="-122"/>
                <a:cs typeface="Calibri" pitchFamily="34" charset="-120"/>
              </a:rPr>
              <a:t>Pooling</a:t>
            </a:r>
            <a:endParaRPr lang="en-US" sz="800" dirty="0"/>
          </a:p>
        </p:txBody>
      </p:sp>
      <p:sp>
        <p:nvSpPr>
          <p:cNvPr id="75" name="Text 73"/>
          <p:cNvSpPr/>
          <p:nvPr/>
        </p:nvSpPr>
        <p:spPr>
          <a:xfrm>
            <a:off x="0" y="4663440"/>
            <a:ext cx="320040" cy="384048"/>
          </a:xfrm>
          <a:prstGeom prst="rect">
            <a:avLst/>
          </a:prstGeom>
          <a:noFill/>
          <a:ln/>
        </p:spPr>
        <p:txBody>
          <a:bodyPr wrap="square" rtlCol="0" anchor="ctr"/>
          <a:lstStyle/>
          <a:p>
            <a:pPr algn="r" indent="0" marL="0">
              <a:buNone/>
            </a:pPr>
            <a:r>
              <a:rPr lang="en-US" sz="800" dirty="0">
                <a:solidFill>
                  <a:srgbClr val="6B7D99"/>
                </a:solidFill>
                <a:latin typeface="Calibri" pitchFamily="34" charset="0"/>
                <a:ea typeface="Calibri" pitchFamily="34" charset="-122"/>
                <a:cs typeface="Calibri" pitchFamily="34" charset="-120"/>
              </a:rPr>
              <a:t>Unique Feature</a:t>
            </a:r>
            <a:endParaRPr lang="en-US" sz="800" dirty="0"/>
          </a:p>
        </p:txBody>
      </p:sp>
      <p:sp>
        <p:nvSpPr>
          <p:cNvPr id="76" name="Shape 74"/>
          <p:cNvSpPr/>
          <p:nvPr/>
        </p:nvSpPr>
        <p:spPr>
          <a:xfrm>
            <a:off x="347472" y="4681728"/>
            <a:ext cx="8458200" cy="347472"/>
          </a:xfrm>
          <a:prstGeom prst="rect">
            <a:avLst/>
          </a:prstGeom>
          <a:solidFill>
            <a:srgbClr val="C8992A"/>
          </a:solidFill>
          <a:ln w="12700">
            <a:solidFill>
              <a:srgbClr val="C8992A"/>
            </a:solidFill>
            <a:prstDash val="solid"/>
          </a:ln>
        </p:spPr>
      </p:sp>
      <p:sp>
        <p:nvSpPr>
          <p:cNvPr id="77" name="Text 75"/>
          <p:cNvSpPr/>
          <p:nvPr/>
        </p:nvSpPr>
        <p:spPr>
          <a:xfrm>
            <a:off x="457200" y="4709160"/>
            <a:ext cx="8229600" cy="274320"/>
          </a:xfrm>
          <a:prstGeom prst="rect">
            <a:avLst/>
          </a:prstGeom>
          <a:noFill/>
          <a:ln/>
        </p:spPr>
        <p:txBody>
          <a:bodyPr wrap="square" lIns="0" tIns="0" rIns="0" bIns="0" rtlCol="0" anchor="ctr"/>
          <a:lstStyle/>
          <a:p>
            <a:pPr algn="ctr" indent="0" marL="0">
              <a:buNone/>
            </a:pPr>
            <a:r>
              <a:rPr lang="en-US" sz="1150" b="1" dirty="0">
                <a:solidFill>
                  <a:srgbClr val="0B1D3A"/>
                </a:solidFill>
                <a:latin typeface="Calibri" pitchFamily="34" charset="0"/>
                <a:ea typeface="Calibri" pitchFamily="34" charset="-122"/>
                <a:cs typeface="Calibri" pitchFamily="34" charset="-120"/>
              </a:rPr>
              <a:t>All four architectures share LeNet's core DNA: local receptive fields  •  weight sharing  •  spatial subsampling  •  feature hierarchy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indent="0" marL="0">
              <a:buNone/>
            </a:pPr>
            <a:r>
              <a:rPr lang="en-US" sz="2600" b="1" dirty="0">
                <a:solidFill>
                  <a:srgbClr val="0B1D3A"/>
                </a:solidFill>
                <a:latin typeface="Calibri" pitchFamily="34" charset="0"/>
                <a:ea typeface="Calibri" pitchFamily="34" charset="-122"/>
                <a:cs typeface="Calibri" pitchFamily="34" charset="-120"/>
              </a:rPr>
              <a:t>LeNet's Legacy: From Cheque Reading to Vision Transformers</a:t>
            </a:r>
            <a:endParaRPr lang="en-US" sz="2600" dirty="0"/>
          </a:p>
        </p:txBody>
      </p:sp>
      <p:sp>
        <p:nvSpPr>
          <p:cNvPr id="3" name="Text 1"/>
          <p:cNvSpPr/>
          <p:nvPr/>
        </p:nvSpPr>
        <p:spPr>
          <a:xfrm>
            <a:off x="411480" y="704088"/>
            <a:ext cx="8321040" cy="274320"/>
          </a:xfrm>
          <a:prstGeom prst="rect">
            <a:avLst/>
          </a:prstGeom>
          <a:noFill/>
          <a:ln/>
        </p:spPr>
        <p:txBody>
          <a:bodyPr wrap="square" lIns="0" tIns="0" rIns="0" bIns="0" rtlCol="0" anchor="ctr"/>
          <a:lstStyle/>
          <a:p>
            <a:pPr indent="0" marL="0">
              <a:buNone/>
            </a:pPr>
            <a:r>
              <a:rPr lang="en-US" sz="1250" i="1" dirty="0">
                <a:solidFill>
                  <a:srgbClr val="6B7D99"/>
                </a:solidFill>
                <a:latin typeface="Calibri" pitchFamily="34" charset="0"/>
                <a:ea typeface="Calibri" pitchFamily="34" charset="-122"/>
                <a:cs typeface="Calibri" pitchFamily="34" charset="-120"/>
              </a:rPr>
              <a:t>The ideas of 1998 that still power AI in 2024</a:t>
            </a:r>
            <a:endParaRPr lang="en-US" sz="1250" dirty="0"/>
          </a:p>
        </p:txBody>
      </p:sp>
      <p:sp>
        <p:nvSpPr>
          <p:cNvPr id="4" name="Shape 2"/>
          <p:cNvSpPr/>
          <p:nvPr/>
        </p:nvSpPr>
        <p:spPr>
          <a:xfrm>
            <a:off x="411480" y="1005840"/>
            <a:ext cx="8321040" cy="45720"/>
          </a:xfrm>
          <a:prstGeom prst="rect">
            <a:avLst/>
          </a:prstGeom>
          <a:solidFill>
            <a:srgbClr val="C8992A"/>
          </a:solidFill>
          <a:ln w="12700">
            <a:solidFill>
              <a:srgbClr val="C8992A"/>
            </a:solidFill>
            <a:prstDash val="solid"/>
          </a:ln>
        </p:spPr>
      </p:sp>
      <p:sp>
        <p:nvSpPr>
          <p:cNvPr id="5" name="Shape 3"/>
          <p:cNvSpPr/>
          <p:nvPr/>
        </p:nvSpPr>
        <p:spPr>
          <a:xfrm>
            <a:off x="347472" y="1170432"/>
            <a:ext cx="2743200" cy="162763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47472" y="1170432"/>
            <a:ext cx="2743200" cy="411480"/>
          </a:xfrm>
          <a:prstGeom prst="rect">
            <a:avLst/>
          </a:prstGeom>
          <a:solidFill>
            <a:srgbClr val="1A6B7A"/>
          </a:solidFill>
          <a:ln w="12700">
            <a:solidFill>
              <a:srgbClr val="1A6B7A"/>
            </a:solidFill>
            <a:prstDash val="solid"/>
          </a:ln>
        </p:spPr>
      </p:sp>
      <p:sp>
        <p:nvSpPr>
          <p:cNvPr id="7" name="Text 5"/>
          <p:cNvSpPr/>
          <p:nvPr/>
        </p:nvSpPr>
        <p:spPr>
          <a:xfrm>
            <a:off x="438912" y="1225296"/>
            <a:ext cx="26060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Commercial Banking (1998–2004)</a:t>
            </a:r>
            <a:endParaRPr lang="en-US" sz="1050" dirty="0"/>
          </a:p>
        </p:txBody>
      </p:sp>
      <p:sp>
        <p:nvSpPr>
          <p:cNvPr id="8" name="Text 6"/>
          <p:cNvSpPr/>
          <p:nvPr/>
        </p:nvSpPr>
        <p:spPr>
          <a:xfrm>
            <a:off x="457200" y="1645920"/>
            <a:ext cx="2560320" cy="1078992"/>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LeNet was deployed by Citibank and others to read handwritten cheque amounts. Processed millions of cheques per day — one of the earliest large-scale real-world deep learning deployments.</a:t>
            </a:r>
            <a:endParaRPr lang="en-US" sz="1000" dirty="0"/>
          </a:p>
        </p:txBody>
      </p:sp>
      <p:sp>
        <p:nvSpPr>
          <p:cNvPr id="9" name="Shape 7"/>
          <p:cNvSpPr/>
          <p:nvPr/>
        </p:nvSpPr>
        <p:spPr>
          <a:xfrm>
            <a:off x="3172968" y="1170432"/>
            <a:ext cx="2743200" cy="162763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3172968" y="1170432"/>
            <a:ext cx="2743200" cy="411480"/>
          </a:xfrm>
          <a:prstGeom prst="rect">
            <a:avLst/>
          </a:prstGeom>
          <a:solidFill>
            <a:srgbClr val="0B1D3A"/>
          </a:solidFill>
          <a:ln w="12700">
            <a:solidFill>
              <a:srgbClr val="0B1D3A"/>
            </a:solidFill>
            <a:prstDash val="solid"/>
          </a:ln>
        </p:spPr>
      </p:sp>
      <p:sp>
        <p:nvSpPr>
          <p:cNvPr id="11" name="Text 9"/>
          <p:cNvSpPr/>
          <p:nvPr/>
        </p:nvSpPr>
        <p:spPr>
          <a:xfrm>
            <a:off x="3264408" y="1225296"/>
            <a:ext cx="26060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Postal Sorting (USPS)</a:t>
            </a:r>
            <a:endParaRPr lang="en-US" sz="1050" dirty="0"/>
          </a:p>
        </p:txBody>
      </p:sp>
      <p:sp>
        <p:nvSpPr>
          <p:cNvPr id="12" name="Text 10"/>
          <p:cNvSpPr/>
          <p:nvPr/>
        </p:nvSpPr>
        <p:spPr>
          <a:xfrm>
            <a:off x="3282696" y="1645920"/>
            <a:ext cx="2560320" cy="1078992"/>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Used to read handwritten ZIP codes on envelopes. LeCun's team processed ~10% of all US mail using variants of LeNet by the early 2000s.</a:t>
            </a:r>
            <a:endParaRPr lang="en-US" sz="1000" dirty="0"/>
          </a:p>
        </p:txBody>
      </p:sp>
      <p:sp>
        <p:nvSpPr>
          <p:cNvPr id="13" name="Shape 11"/>
          <p:cNvSpPr/>
          <p:nvPr/>
        </p:nvSpPr>
        <p:spPr>
          <a:xfrm>
            <a:off x="5998464" y="1170432"/>
            <a:ext cx="2743200" cy="162763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5998464" y="1170432"/>
            <a:ext cx="2743200" cy="411480"/>
          </a:xfrm>
          <a:prstGeom prst="rect">
            <a:avLst/>
          </a:prstGeom>
          <a:solidFill>
            <a:srgbClr val="1B7E5A"/>
          </a:solidFill>
          <a:ln w="12700">
            <a:solidFill>
              <a:srgbClr val="1B7E5A"/>
            </a:solidFill>
            <a:prstDash val="solid"/>
          </a:ln>
        </p:spPr>
      </p:sp>
      <p:sp>
        <p:nvSpPr>
          <p:cNvPr id="15" name="Text 13"/>
          <p:cNvSpPr/>
          <p:nvPr/>
        </p:nvSpPr>
        <p:spPr>
          <a:xfrm>
            <a:off x="6089904" y="1225296"/>
            <a:ext cx="26060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Medical Imaging (derivative)</a:t>
            </a:r>
            <a:endParaRPr lang="en-US" sz="1050" dirty="0"/>
          </a:p>
        </p:txBody>
      </p:sp>
      <p:sp>
        <p:nvSpPr>
          <p:cNvPr id="16" name="Text 14"/>
          <p:cNvSpPr/>
          <p:nvPr/>
        </p:nvSpPr>
        <p:spPr>
          <a:xfrm>
            <a:off x="6108192" y="1645920"/>
            <a:ext cx="2560320" cy="1078992"/>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LeNet's architecture inspired early CNN-based tumour detection, diabetic retinopathy screening, and radiology automation systems that are now FDA-approved.</a:t>
            </a:r>
            <a:endParaRPr lang="en-US" sz="1000" dirty="0"/>
          </a:p>
        </p:txBody>
      </p:sp>
      <p:sp>
        <p:nvSpPr>
          <p:cNvPr id="17" name="Shape 15"/>
          <p:cNvSpPr/>
          <p:nvPr/>
        </p:nvSpPr>
        <p:spPr>
          <a:xfrm>
            <a:off x="347472" y="2889504"/>
            <a:ext cx="2743200" cy="162763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18" name="Shape 16"/>
          <p:cNvSpPr/>
          <p:nvPr/>
        </p:nvSpPr>
        <p:spPr>
          <a:xfrm>
            <a:off x="347472" y="2889504"/>
            <a:ext cx="2743200" cy="411480"/>
          </a:xfrm>
          <a:prstGeom prst="rect">
            <a:avLst/>
          </a:prstGeom>
          <a:solidFill>
            <a:srgbClr val="3D4F6B"/>
          </a:solidFill>
          <a:ln w="12700">
            <a:solidFill>
              <a:srgbClr val="3D4F6B"/>
            </a:solidFill>
            <a:prstDash val="solid"/>
          </a:ln>
        </p:spPr>
      </p:sp>
      <p:sp>
        <p:nvSpPr>
          <p:cNvPr id="19" name="Text 17"/>
          <p:cNvSpPr/>
          <p:nvPr/>
        </p:nvSpPr>
        <p:spPr>
          <a:xfrm>
            <a:off x="438912" y="2944368"/>
            <a:ext cx="26060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Transfer Learning Paradigm</a:t>
            </a:r>
            <a:endParaRPr lang="en-US" sz="1050" dirty="0"/>
          </a:p>
        </p:txBody>
      </p:sp>
      <p:sp>
        <p:nvSpPr>
          <p:cNvPr id="20" name="Text 18"/>
          <p:cNvSpPr/>
          <p:nvPr/>
        </p:nvSpPr>
        <p:spPr>
          <a:xfrm>
            <a:off x="457200" y="3364992"/>
            <a:ext cx="2560320" cy="1078992"/>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LeNet proved features learned on one task transfer to others. Modern ImageNet pretraining → fine-tuning on custom tasks is a direct extension of this insight.</a:t>
            </a:r>
            <a:endParaRPr lang="en-US" sz="1000" dirty="0"/>
          </a:p>
        </p:txBody>
      </p:sp>
      <p:sp>
        <p:nvSpPr>
          <p:cNvPr id="21" name="Shape 19"/>
          <p:cNvSpPr/>
          <p:nvPr/>
        </p:nvSpPr>
        <p:spPr>
          <a:xfrm>
            <a:off x="3172968" y="2889504"/>
            <a:ext cx="2743200" cy="162763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22" name="Shape 20"/>
          <p:cNvSpPr/>
          <p:nvPr/>
        </p:nvSpPr>
        <p:spPr>
          <a:xfrm>
            <a:off x="3172968" y="2889504"/>
            <a:ext cx="2743200" cy="411480"/>
          </a:xfrm>
          <a:prstGeom prst="rect">
            <a:avLst/>
          </a:prstGeom>
          <a:solidFill>
            <a:srgbClr val="1A6B7A"/>
          </a:solidFill>
          <a:ln w="12700">
            <a:solidFill>
              <a:srgbClr val="1A6B7A"/>
            </a:solidFill>
            <a:prstDash val="solid"/>
          </a:ln>
        </p:spPr>
      </p:sp>
      <p:sp>
        <p:nvSpPr>
          <p:cNvPr id="23" name="Text 21"/>
          <p:cNvSpPr/>
          <p:nvPr/>
        </p:nvSpPr>
        <p:spPr>
          <a:xfrm>
            <a:off x="3264408" y="2944368"/>
            <a:ext cx="26060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Autonomous Vehicles</a:t>
            </a:r>
            <a:endParaRPr lang="en-US" sz="1050" dirty="0"/>
          </a:p>
        </p:txBody>
      </p:sp>
      <p:sp>
        <p:nvSpPr>
          <p:cNvPr id="24" name="Text 22"/>
          <p:cNvSpPr/>
          <p:nvPr/>
        </p:nvSpPr>
        <p:spPr>
          <a:xfrm>
            <a:off x="3282696" y="3364992"/>
            <a:ext cx="2560320" cy="1078992"/>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Early lane detection and sign recognition systems used LeNet-inspired architectures. DAVE (2004) was an autonomous vehicle steered by a CNN derived from LeNet.</a:t>
            </a:r>
            <a:endParaRPr lang="en-US" sz="1000" dirty="0"/>
          </a:p>
        </p:txBody>
      </p:sp>
      <p:sp>
        <p:nvSpPr>
          <p:cNvPr id="25" name="Shape 23"/>
          <p:cNvSpPr/>
          <p:nvPr/>
        </p:nvSpPr>
        <p:spPr>
          <a:xfrm>
            <a:off x="5998464" y="2889504"/>
            <a:ext cx="2743200" cy="1627632"/>
          </a:xfrm>
          <a:prstGeom prst="rect">
            <a:avLst/>
          </a:prstGeom>
          <a:solidFill>
            <a:srgbClr val="FFFFFF"/>
          </a:solidFill>
          <a:ln w="12700">
            <a:solidFill>
              <a:srgbClr val="DDE4F0"/>
            </a:solidFill>
            <a:prstDash val="solid"/>
          </a:ln>
          <a:effectLst>
            <a:outerShdw sx="100000" sy="100000" kx="0" ky="0" algn="bl" rotWithShape="0" blurRad="76200" dist="25400" dir="8100000">
              <a:srgbClr val="000000">
                <a:alpha val="12000"/>
              </a:srgbClr>
            </a:outerShdw>
          </a:effectLst>
        </p:spPr>
      </p:sp>
      <p:sp>
        <p:nvSpPr>
          <p:cNvPr id="26" name="Shape 24"/>
          <p:cNvSpPr/>
          <p:nvPr/>
        </p:nvSpPr>
        <p:spPr>
          <a:xfrm>
            <a:off x="5998464" y="2889504"/>
            <a:ext cx="2743200" cy="411480"/>
          </a:xfrm>
          <a:prstGeom prst="rect">
            <a:avLst/>
          </a:prstGeom>
          <a:solidFill>
            <a:srgbClr val="0B1D3A"/>
          </a:solidFill>
          <a:ln w="12700">
            <a:solidFill>
              <a:srgbClr val="0B1D3A"/>
            </a:solidFill>
            <a:prstDash val="solid"/>
          </a:ln>
        </p:spPr>
      </p:sp>
      <p:sp>
        <p:nvSpPr>
          <p:cNvPr id="27" name="Text 25"/>
          <p:cNvSpPr/>
          <p:nvPr/>
        </p:nvSpPr>
        <p:spPr>
          <a:xfrm>
            <a:off x="6089904" y="2944368"/>
            <a:ext cx="26060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Vision Transformers (2021+)</a:t>
            </a:r>
            <a:endParaRPr lang="en-US" sz="1050" dirty="0"/>
          </a:p>
        </p:txBody>
      </p:sp>
      <p:sp>
        <p:nvSpPr>
          <p:cNvPr id="28" name="Text 26"/>
          <p:cNvSpPr/>
          <p:nvPr/>
        </p:nvSpPr>
        <p:spPr>
          <a:xfrm>
            <a:off x="6108192" y="3364992"/>
            <a:ext cx="2560320" cy="1078992"/>
          </a:xfrm>
          <a:prstGeom prst="rect">
            <a:avLst/>
          </a:prstGeom>
          <a:noFill/>
          <a:ln/>
        </p:spPr>
        <p:txBody>
          <a:bodyPr wrap="square" rtlCol="0" anchor="ctr"/>
          <a:lstStyle/>
          <a:p>
            <a:pPr indent="0" marL="0">
              <a:buNone/>
            </a:pPr>
            <a:r>
              <a:rPr lang="en-US" sz="1000" dirty="0">
                <a:solidFill>
                  <a:srgbClr val="3D4F6B"/>
                </a:solidFill>
                <a:latin typeface="Calibri" pitchFamily="34" charset="0"/>
                <a:ea typeface="Calibri" pitchFamily="34" charset="-122"/>
                <a:cs typeface="Calibri" pitchFamily="34" charset="-120"/>
              </a:rPr>
              <a:t>ViT splits images into 16×16 patches — each treated as a token. This is conceptually LeNet's local receptive field applied globally via attention rather than convolution.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8992A"/>
          </a:solidFill>
          <a:ln w="12700">
            <a:solidFill>
              <a:srgbClr val="C8992A"/>
            </a:solidFill>
            <a:prstDash val="solid"/>
          </a:ln>
        </p:spPr>
      </p:sp>
      <p:sp>
        <p:nvSpPr>
          <p:cNvPr id="3" name="Text 1"/>
          <p:cNvSpPr/>
          <p:nvPr/>
        </p:nvSpPr>
        <p:spPr>
          <a:xfrm>
            <a:off x="475488" y="201168"/>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4" name="Text 2"/>
          <p:cNvSpPr/>
          <p:nvPr/>
        </p:nvSpPr>
        <p:spPr>
          <a:xfrm>
            <a:off x="475488" y="731520"/>
            <a:ext cx="8229600" cy="274320"/>
          </a:xfrm>
          <a:prstGeom prst="rect">
            <a:avLst/>
          </a:prstGeom>
          <a:noFill/>
          <a:ln/>
        </p:spPr>
        <p:txBody>
          <a:bodyPr wrap="square" lIns="0" tIns="0" rIns="0" bIns="0" rtlCol="0" anchor="ctr"/>
          <a:lstStyle/>
          <a:p>
            <a:pPr indent="0" marL="0">
              <a:buNone/>
            </a:pPr>
            <a:r>
              <a:rPr lang="en-US" sz="1200" i="1" dirty="0">
                <a:solidFill>
                  <a:srgbClr val="6B7D99"/>
                </a:solidFill>
                <a:latin typeface="Calibri" pitchFamily="34" charset="0"/>
                <a:ea typeface="Calibri" pitchFamily="34" charset="-122"/>
                <a:cs typeface="Calibri" pitchFamily="34" charset="-120"/>
              </a:rPr>
              <a:t>Muhammad Huzifa  |  Supervisor: Dr. Muhammad Sajjad</a:t>
            </a:r>
            <a:endParaRPr lang="en-US" sz="1200" dirty="0"/>
          </a:p>
        </p:txBody>
      </p:sp>
      <p:sp>
        <p:nvSpPr>
          <p:cNvPr id="5" name="Shape 3"/>
          <p:cNvSpPr/>
          <p:nvPr/>
        </p:nvSpPr>
        <p:spPr>
          <a:xfrm>
            <a:off x="347472" y="1078992"/>
            <a:ext cx="2724912" cy="1298448"/>
          </a:xfrm>
          <a:prstGeom prst="rect">
            <a:avLst/>
          </a:prstGeom>
          <a:solidFill>
            <a:srgbClr val="1A3260"/>
          </a:solidFill>
          <a:ln w="12700">
            <a:solidFill>
              <a:srgbClr val="1A3260"/>
            </a:solidFill>
            <a:prstDash val="solid"/>
          </a:ln>
        </p:spPr>
      </p:sp>
      <p:sp>
        <p:nvSpPr>
          <p:cNvPr id="6" name="Shape 4"/>
          <p:cNvSpPr/>
          <p:nvPr/>
        </p:nvSpPr>
        <p:spPr>
          <a:xfrm>
            <a:off x="347472" y="1078992"/>
            <a:ext cx="2724912" cy="73152"/>
          </a:xfrm>
          <a:prstGeom prst="rect">
            <a:avLst/>
          </a:prstGeom>
          <a:solidFill>
            <a:srgbClr val="C8992A"/>
          </a:solidFill>
          <a:ln w="12700">
            <a:solidFill>
              <a:srgbClr val="C8992A"/>
            </a:solidFill>
            <a:prstDash val="solid"/>
          </a:ln>
        </p:spPr>
      </p:sp>
      <p:sp>
        <p:nvSpPr>
          <p:cNvPr id="7" name="Text 5"/>
          <p:cNvSpPr/>
          <p:nvPr/>
        </p:nvSpPr>
        <p:spPr>
          <a:xfrm>
            <a:off x="457200" y="1207008"/>
            <a:ext cx="365760" cy="347472"/>
          </a:xfrm>
          <a:prstGeom prst="rect">
            <a:avLst/>
          </a:prstGeom>
          <a:noFill/>
          <a:ln/>
        </p:spPr>
        <p:txBody>
          <a:bodyPr wrap="square" lIns="0" tIns="0" rIns="0" bIns="0" rtlCol="0" anchor="ctr"/>
          <a:lstStyle/>
          <a:p>
            <a:pPr indent="0" marL="0">
              <a:buNone/>
            </a:pPr>
            <a:r>
              <a:rPr lang="en-US" sz="1800" b="1" dirty="0">
                <a:solidFill>
                  <a:srgbClr val="C8992A"/>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859536" y="1216152"/>
            <a:ext cx="210312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Local Receptive Fields</a:t>
            </a:r>
            <a:endParaRPr lang="en-US" sz="1200" dirty="0"/>
          </a:p>
        </p:txBody>
      </p:sp>
      <p:sp>
        <p:nvSpPr>
          <p:cNvPr id="9" name="Text 7"/>
          <p:cNvSpPr/>
          <p:nvPr/>
        </p:nvSpPr>
        <p:spPr>
          <a:xfrm>
            <a:off x="457200" y="1591056"/>
            <a:ext cx="2523744" cy="713232"/>
          </a:xfrm>
          <a:prstGeom prst="rect">
            <a:avLst/>
          </a:prstGeom>
          <a:noFill/>
          <a:ln/>
        </p:spPr>
        <p:txBody>
          <a:bodyPr wrap="square" rtlCol="0" anchor="ctr"/>
          <a:lstStyle/>
          <a:p>
            <a:pPr indent="0" marL="0">
              <a:buNone/>
            </a:pPr>
            <a:r>
              <a:rPr lang="en-US" sz="1000" dirty="0">
                <a:solidFill>
                  <a:srgbClr val="B8C5D9"/>
                </a:solidFill>
                <a:latin typeface="Calibri" pitchFamily="34" charset="0"/>
                <a:ea typeface="Calibri" pitchFamily="34" charset="-122"/>
                <a:cs typeface="Calibri" pitchFamily="34" charset="-120"/>
              </a:rPr>
              <a:t>Neurons only see a small patch of the input. This exploits the spatial structure of images and massively reduces parameters vs fully connected layers.</a:t>
            </a:r>
            <a:endParaRPr lang="en-US" sz="1000" dirty="0"/>
          </a:p>
        </p:txBody>
      </p:sp>
      <p:sp>
        <p:nvSpPr>
          <p:cNvPr id="10" name="Shape 8"/>
          <p:cNvSpPr/>
          <p:nvPr/>
        </p:nvSpPr>
        <p:spPr>
          <a:xfrm>
            <a:off x="3163824" y="1078992"/>
            <a:ext cx="2724912" cy="1298448"/>
          </a:xfrm>
          <a:prstGeom prst="rect">
            <a:avLst/>
          </a:prstGeom>
          <a:solidFill>
            <a:srgbClr val="1A3260"/>
          </a:solidFill>
          <a:ln w="12700">
            <a:solidFill>
              <a:srgbClr val="1A3260"/>
            </a:solidFill>
            <a:prstDash val="solid"/>
          </a:ln>
        </p:spPr>
      </p:sp>
      <p:sp>
        <p:nvSpPr>
          <p:cNvPr id="11" name="Shape 9"/>
          <p:cNvSpPr/>
          <p:nvPr/>
        </p:nvSpPr>
        <p:spPr>
          <a:xfrm>
            <a:off x="3163824" y="1078992"/>
            <a:ext cx="2724912" cy="73152"/>
          </a:xfrm>
          <a:prstGeom prst="rect">
            <a:avLst/>
          </a:prstGeom>
          <a:solidFill>
            <a:srgbClr val="C8992A"/>
          </a:solidFill>
          <a:ln w="12700">
            <a:solidFill>
              <a:srgbClr val="C8992A"/>
            </a:solidFill>
            <a:prstDash val="solid"/>
          </a:ln>
        </p:spPr>
      </p:sp>
      <p:sp>
        <p:nvSpPr>
          <p:cNvPr id="12" name="Text 10"/>
          <p:cNvSpPr/>
          <p:nvPr/>
        </p:nvSpPr>
        <p:spPr>
          <a:xfrm>
            <a:off x="3273552" y="1207008"/>
            <a:ext cx="365760" cy="347472"/>
          </a:xfrm>
          <a:prstGeom prst="rect">
            <a:avLst/>
          </a:prstGeom>
          <a:noFill/>
          <a:ln/>
        </p:spPr>
        <p:txBody>
          <a:bodyPr wrap="square" lIns="0" tIns="0" rIns="0" bIns="0" rtlCol="0" anchor="ctr"/>
          <a:lstStyle/>
          <a:p>
            <a:pPr indent="0" marL="0">
              <a:buNone/>
            </a:pPr>
            <a:r>
              <a:rPr lang="en-US" sz="1800" b="1" dirty="0">
                <a:solidFill>
                  <a:srgbClr val="C8992A"/>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3675888" y="1216152"/>
            <a:ext cx="210312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Weight Sharing</a:t>
            </a:r>
            <a:endParaRPr lang="en-US" sz="1200" dirty="0"/>
          </a:p>
        </p:txBody>
      </p:sp>
      <p:sp>
        <p:nvSpPr>
          <p:cNvPr id="14" name="Text 12"/>
          <p:cNvSpPr/>
          <p:nvPr/>
        </p:nvSpPr>
        <p:spPr>
          <a:xfrm>
            <a:off x="3273552" y="1591056"/>
            <a:ext cx="2523744" cy="713232"/>
          </a:xfrm>
          <a:prstGeom prst="rect">
            <a:avLst/>
          </a:prstGeom>
          <a:noFill/>
          <a:ln/>
        </p:spPr>
        <p:txBody>
          <a:bodyPr wrap="square" rtlCol="0" anchor="ctr"/>
          <a:lstStyle/>
          <a:p>
            <a:pPr indent="0" marL="0">
              <a:buNone/>
            </a:pPr>
            <a:r>
              <a:rPr lang="en-US" sz="1000" dirty="0">
                <a:solidFill>
                  <a:srgbClr val="B8C5D9"/>
                </a:solidFill>
                <a:latin typeface="Calibri" pitchFamily="34" charset="0"/>
                <a:ea typeface="Calibri" pitchFamily="34" charset="-122"/>
                <a:cs typeface="Calibri" pitchFamily="34" charset="-120"/>
              </a:rPr>
              <a:t>The same filter weights scan every spatial position. Enforces translation equivariance and reduces parameters by ~30,000× vs dense layers.</a:t>
            </a:r>
            <a:endParaRPr lang="en-US" sz="1000" dirty="0"/>
          </a:p>
        </p:txBody>
      </p:sp>
      <p:sp>
        <p:nvSpPr>
          <p:cNvPr id="15" name="Shape 13"/>
          <p:cNvSpPr/>
          <p:nvPr/>
        </p:nvSpPr>
        <p:spPr>
          <a:xfrm>
            <a:off x="5980176" y="1078992"/>
            <a:ext cx="2724912" cy="1298448"/>
          </a:xfrm>
          <a:prstGeom prst="rect">
            <a:avLst/>
          </a:prstGeom>
          <a:solidFill>
            <a:srgbClr val="1A3260"/>
          </a:solidFill>
          <a:ln w="12700">
            <a:solidFill>
              <a:srgbClr val="1A3260"/>
            </a:solidFill>
            <a:prstDash val="solid"/>
          </a:ln>
        </p:spPr>
      </p:sp>
      <p:sp>
        <p:nvSpPr>
          <p:cNvPr id="16" name="Shape 14"/>
          <p:cNvSpPr/>
          <p:nvPr/>
        </p:nvSpPr>
        <p:spPr>
          <a:xfrm>
            <a:off x="5980176" y="1078992"/>
            <a:ext cx="2724912" cy="73152"/>
          </a:xfrm>
          <a:prstGeom prst="rect">
            <a:avLst/>
          </a:prstGeom>
          <a:solidFill>
            <a:srgbClr val="C8992A"/>
          </a:solidFill>
          <a:ln w="12700">
            <a:solidFill>
              <a:srgbClr val="C8992A"/>
            </a:solidFill>
            <a:prstDash val="solid"/>
          </a:ln>
        </p:spPr>
      </p:sp>
      <p:sp>
        <p:nvSpPr>
          <p:cNvPr id="17" name="Text 15"/>
          <p:cNvSpPr/>
          <p:nvPr/>
        </p:nvSpPr>
        <p:spPr>
          <a:xfrm>
            <a:off x="6089904" y="1207008"/>
            <a:ext cx="365760" cy="347472"/>
          </a:xfrm>
          <a:prstGeom prst="rect">
            <a:avLst/>
          </a:prstGeom>
          <a:noFill/>
          <a:ln/>
        </p:spPr>
        <p:txBody>
          <a:bodyPr wrap="square" lIns="0" tIns="0" rIns="0" bIns="0" rtlCol="0" anchor="ctr"/>
          <a:lstStyle/>
          <a:p>
            <a:pPr indent="0" marL="0">
              <a:buNone/>
            </a:pPr>
            <a:r>
              <a:rPr lang="en-US" sz="1800" b="1" dirty="0">
                <a:solidFill>
                  <a:srgbClr val="C8992A"/>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6492240" y="1216152"/>
            <a:ext cx="210312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Subsampling / Pooling</a:t>
            </a:r>
            <a:endParaRPr lang="en-US" sz="1200" dirty="0"/>
          </a:p>
        </p:txBody>
      </p:sp>
      <p:sp>
        <p:nvSpPr>
          <p:cNvPr id="19" name="Text 17"/>
          <p:cNvSpPr/>
          <p:nvPr/>
        </p:nvSpPr>
        <p:spPr>
          <a:xfrm>
            <a:off x="6089904" y="1591056"/>
            <a:ext cx="2523744" cy="713232"/>
          </a:xfrm>
          <a:prstGeom prst="rect">
            <a:avLst/>
          </a:prstGeom>
          <a:noFill/>
          <a:ln/>
        </p:spPr>
        <p:txBody>
          <a:bodyPr wrap="square" rtlCol="0" anchor="ctr"/>
          <a:lstStyle/>
          <a:p>
            <a:pPr indent="0" marL="0">
              <a:buNone/>
            </a:pPr>
            <a:r>
              <a:rPr lang="en-US" sz="1000" dirty="0">
                <a:solidFill>
                  <a:srgbClr val="B8C5D9"/>
                </a:solidFill>
                <a:latin typeface="Calibri" pitchFamily="34" charset="0"/>
                <a:ea typeface="Calibri" pitchFamily="34" charset="-122"/>
                <a:cs typeface="Calibri" pitchFamily="34" charset="-120"/>
              </a:rPr>
              <a:t>Progressive spatial compression builds translation invariance. 224×224 → 7×7 in VGG (5 pools). LeNet: 32×32 → 5×5 (2 pools).</a:t>
            </a:r>
            <a:endParaRPr lang="en-US" sz="1000" dirty="0"/>
          </a:p>
        </p:txBody>
      </p:sp>
      <p:sp>
        <p:nvSpPr>
          <p:cNvPr id="20" name="Shape 18"/>
          <p:cNvSpPr/>
          <p:nvPr/>
        </p:nvSpPr>
        <p:spPr>
          <a:xfrm>
            <a:off x="347472" y="2450592"/>
            <a:ext cx="2724912" cy="1298448"/>
          </a:xfrm>
          <a:prstGeom prst="rect">
            <a:avLst/>
          </a:prstGeom>
          <a:solidFill>
            <a:srgbClr val="1A3260"/>
          </a:solidFill>
          <a:ln w="12700">
            <a:solidFill>
              <a:srgbClr val="1A3260"/>
            </a:solidFill>
            <a:prstDash val="solid"/>
          </a:ln>
        </p:spPr>
      </p:sp>
      <p:sp>
        <p:nvSpPr>
          <p:cNvPr id="21" name="Shape 19"/>
          <p:cNvSpPr/>
          <p:nvPr/>
        </p:nvSpPr>
        <p:spPr>
          <a:xfrm>
            <a:off x="347472" y="2450592"/>
            <a:ext cx="2724912" cy="73152"/>
          </a:xfrm>
          <a:prstGeom prst="rect">
            <a:avLst/>
          </a:prstGeom>
          <a:solidFill>
            <a:srgbClr val="C8992A"/>
          </a:solidFill>
          <a:ln w="12700">
            <a:solidFill>
              <a:srgbClr val="C8992A"/>
            </a:solidFill>
            <a:prstDash val="solid"/>
          </a:ln>
        </p:spPr>
      </p:sp>
      <p:sp>
        <p:nvSpPr>
          <p:cNvPr id="22" name="Text 20"/>
          <p:cNvSpPr/>
          <p:nvPr/>
        </p:nvSpPr>
        <p:spPr>
          <a:xfrm>
            <a:off x="457200" y="2578608"/>
            <a:ext cx="365760" cy="347472"/>
          </a:xfrm>
          <a:prstGeom prst="rect">
            <a:avLst/>
          </a:prstGeom>
          <a:noFill/>
          <a:ln/>
        </p:spPr>
        <p:txBody>
          <a:bodyPr wrap="square" lIns="0" tIns="0" rIns="0" bIns="0" rtlCol="0" anchor="ctr"/>
          <a:lstStyle/>
          <a:p>
            <a:pPr indent="0" marL="0">
              <a:buNone/>
            </a:pPr>
            <a:r>
              <a:rPr lang="en-US" sz="1800" b="1" dirty="0">
                <a:solidFill>
                  <a:srgbClr val="C8992A"/>
                </a:solidFill>
                <a:latin typeface="Calibri" pitchFamily="34" charset="0"/>
                <a:ea typeface="Calibri" pitchFamily="34" charset="-122"/>
                <a:cs typeface="Calibri" pitchFamily="34" charset="-120"/>
              </a:rPr>
              <a:t>04</a:t>
            </a:r>
            <a:endParaRPr lang="en-US" sz="1800" dirty="0"/>
          </a:p>
        </p:txBody>
      </p:sp>
      <p:sp>
        <p:nvSpPr>
          <p:cNvPr id="23" name="Text 21"/>
          <p:cNvSpPr/>
          <p:nvPr/>
        </p:nvSpPr>
        <p:spPr>
          <a:xfrm>
            <a:off x="859536" y="2587752"/>
            <a:ext cx="210312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Feature Hierarchy</a:t>
            </a:r>
            <a:endParaRPr lang="en-US" sz="1200" dirty="0"/>
          </a:p>
        </p:txBody>
      </p:sp>
      <p:sp>
        <p:nvSpPr>
          <p:cNvPr id="24" name="Text 22"/>
          <p:cNvSpPr/>
          <p:nvPr/>
        </p:nvSpPr>
        <p:spPr>
          <a:xfrm>
            <a:off x="457200" y="2962656"/>
            <a:ext cx="2523744" cy="713232"/>
          </a:xfrm>
          <a:prstGeom prst="rect">
            <a:avLst/>
          </a:prstGeom>
          <a:noFill/>
          <a:ln/>
        </p:spPr>
        <p:txBody>
          <a:bodyPr wrap="square" rtlCol="0" anchor="ctr"/>
          <a:lstStyle/>
          <a:p>
            <a:pPr indent="0" marL="0">
              <a:buNone/>
            </a:pPr>
            <a:r>
              <a:rPr lang="en-US" sz="1000" dirty="0">
                <a:solidFill>
                  <a:srgbClr val="B8C5D9"/>
                </a:solidFill>
                <a:latin typeface="Calibri" pitchFamily="34" charset="0"/>
                <a:ea typeface="Calibri" pitchFamily="34" charset="-122"/>
                <a:cs typeface="Calibri" pitchFamily="34" charset="-120"/>
              </a:rPr>
              <a:t>Low-level edges (C1) → mid-level shapes (C3) → high-level abstractions (C5, F6). This hierarchy emerges automatically from backpropagation.</a:t>
            </a:r>
            <a:endParaRPr lang="en-US" sz="1000" dirty="0"/>
          </a:p>
        </p:txBody>
      </p:sp>
      <p:sp>
        <p:nvSpPr>
          <p:cNvPr id="25" name="Shape 23"/>
          <p:cNvSpPr/>
          <p:nvPr/>
        </p:nvSpPr>
        <p:spPr>
          <a:xfrm>
            <a:off x="3163824" y="2450592"/>
            <a:ext cx="2724912" cy="1298448"/>
          </a:xfrm>
          <a:prstGeom prst="rect">
            <a:avLst/>
          </a:prstGeom>
          <a:solidFill>
            <a:srgbClr val="1A3260"/>
          </a:solidFill>
          <a:ln w="12700">
            <a:solidFill>
              <a:srgbClr val="1A3260"/>
            </a:solidFill>
            <a:prstDash val="solid"/>
          </a:ln>
        </p:spPr>
      </p:sp>
      <p:sp>
        <p:nvSpPr>
          <p:cNvPr id="26" name="Shape 24"/>
          <p:cNvSpPr/>
          <p:nvPr/>
        </p:nvSpPr>
        <p:spPr>
          <a:xfrm>
            <a:off x="3163824" y="2450592"/>
            <a:ext cx="2724912" cy="73152"/>
          </a:xfrm>
          <a:prstGeom prst="rect">
            <a:avLst/>
          </a:prstGeom>
          <a:solidFill>
            <a:srgbClr val="C8992A"/>
          </a:solidFill>
          <a:ln w="12700">
            <a:solidFill>
              <a:srgbClr val="C8992A"/>
            </a:solidFill>
            <a:prstDash val="solid"/>
          </a:ln>
        </p:spPr>
      </p:sp>
      <p:sp>
        <p:nvSpPr>
          <p:cNvPr id="27" name="Text 25"/>
          <p:cNvSpPr/>
          <p:nvPr/>
        </p:nvSpPr>
        <p:spPr>
          <a:xfrm>
            <a:off x="3273552" y="2578608"/>
            <a:ext cx="365760" cy="347472"/>
          </a:xfrm>
          <a:prstGeom prst="rect">
            <a:avLst/>
          </a:prstGeom>
          <a:noFill/>
          <a:ln/>
        </p:spPr>
        <p:txBody>
          <a:bodyPr wrap="square" lIns="0" tIns="0" rIns="0" bIns="0" rtlCol="0" anchor="ctr"/>
          <a:lstStyle/>
          <a:p>
            <a:pPr indent="0" marL="0">
              <a:buNone/>
            </a:pPr>
            <a:r>
              <a:rPr lang="en-US" sz="1800" b="1" dirty="0">
                <a:solidFill>
                  <a:srgbClr val="C8992A"/>
                </a:solidFill>
                <a:latin typeface="Calibri" pitchFamily="34" charset="0"/>
                <a:ea typeface="Calibri" pitchFamily="34" charset="-122"/>
                <a:cs typeface="Calibri" pitchFamily="34" charset="-120"/>
              </a:rPr>
              <a:t>05</a:t>
            </a:r>
            <a:endParaRPr lang="en-US" sz="1800" dirty="0"/>
          </a:p>
        </p:txBody>
      </p:sp>
      <p:sp>
        <p:nvSpPr>
          <p:cNvPr id="28" name="Text 26"/>
          <p:cNvSpPr/>
          <p:nvPr/>
        </p:nvSpPr>
        <p:spPr>
          <a:xfrm>
            <a:off x="3675888" y="2587752"/>
            <a:ext cx="210312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Parameters Live in FC Layers</a:t>
            </a:r>
            <a:endParaRPr lang="en-US" sz="1200" dirty="0"/>
          </a:p>
        </p:txBody>
      </p:sp>
      <p:sp>
        <p:nvSpPr>
          <p:cNvPr id="29" name="Text 27"/>
          <p:cNvSpPr/>
          <p:nvPr/>
        </p:nvSpPr>
        <p:spPr>
          <a:xfrm>
            <a:off x="3273552" y="2962656"/>
            <a:ext cx="2523744" cy="713232"/>
          </a:xfrm>
          <a:prstGeom prst="rect">
            <a:avLst/>
          </a:prstGeom>
          <a:noFill/>
          <a:ln/>
        </p:spPr>
        <p:txBody>
          <a:bodyPr wrap="square" rtlCol="0" anchor="ctr"/>
          <a:lstStyle/>
          <a:p>
            <a:pPr indent="0" marL="0">
              <a:buNone/>
            </a:pPr>
            <a:r>
              <a:rPr lang="en-US" sz="1000" dirty="0">
                <a:solidFill>
                  <a:srgbClr val="B8C5D9"/>
                </a:solidFill>
                <a:latin typeface="Calibri" pitchFamily="34" charset="0"/>
                <a:ea typeface="Calibri" pitchFamily="34" charset="-122"/>
                <a:cs typeface="Calibri" pitchFamily="34" charset="-120"/>
              </a:rPr>
              <a:t>C5+F6 = 97% of LeNet's 60K params. Same pattern in VGG-16 (FC1 = 74% of 138M). Modern solution: Global Average Pooling eliminates FC layers.</a:t>
            </a:r>
            <a:endParaRPr lang="en-US" sz="1000" dirty="0"/>
          </a:p>
        </p:txBody>
      </p:sp>
      <p:sp>
        <p:nvSpPr>
          <p:cNvPr id="30" name="Shape 28"/>
          <p:cNvSpPr/>
          <p:nvPr/>
        </p:nvSpPr>
        <p:spPr>
          <a:xfrm>
            <a:off x="5980176" y="2450592"/>
            <a:ext cx="2724912" cy="1298448"/>
          </a:xfrm>
          <a:prstGeom prst="rect">
            <a:avLst/>
          </a:prstGeom>
          <a:solidFill>
            <a:srgbClr val="1A3260"/>
          </a:solidFill>
          <a:ln w="12700">
            <a:solidFill>
              <a:srgbClr val="1A3260"/>
            </a:solidFill>
            <a:prstDash val="solid"/>
          </a:ln>
        </p:spPr>
      </p:sp>
      <p:sp>
        <p:nvSpPr>
          <p:cNvPr id="31" name="Shape 29"/>
          <p:cNvSpPr/>
          <p:nvPr/>
        </p:nvSpPr>
        <p:spPr>
          <a:xfrm>
            <a:off x="5980176" y="2450592"/>
            <a:ext cx="2724912" cy="73152"/>
          </a:xfrm>
          <a:prstGeom prst="rect">
            <a:avLst/>
          </a:prstGeom>
          <a:solidFill>
            <a:srgbClr val="C8992A"/>
          </a:solidFill>
          <a:ln w="12700">
            <a:solidFill>
              <a:srgbClr val="C8992A"/>
            </a:solidFill>
            <a:prstDash val="solid"/>
          </a:ln>
        </p:spPr>
      </p:sp>
      <p:sp>
        <p:nvSpPr>
          <p:cNvPr id="32" name="Text 30"/>
          <p:cNvSpPr/>
          <p:nvPr/>
        </p:nvSpPr>
        <p:spPr>
          <a:xfrm>
            <a:off x="6089904" y="2578608"/>
            <a:ext cx="365760" cy="347472"/>
          </a:xfrm>
          <a:prstGeom prst="rect">
            <a:avLst/>
          </a:prstGeom>
          <a:noFill/>
          <a:ln/>
        </p:spPr>
        <p:txBody>
          <a:bodyPr wrap="square" lIns="0" tIns="0" rIns="0" bIns="0" rtlCol="0" anchor="ctr"/>
          <a:lstStyle/>
          <a:p>
            <a:pPr indent="0" marL="0">
              <a:buNone/>
            </a:pPr>
            <a:r>
              <a:rPr lang="en-US" sz="1800" b="1" dirty="0">
                <a:solidFill>
                  <a:srgbClr val="C8992A"/>
                </a:solidFill>
                <a:latin typeface="Calibri" pitchFamily="34" charset="0"/>
                <a:ea typeface="Calibri" pitchFamily="34" charset="-122"/>
                <a:cs typeface="Calibri" pitchFamily="34" charset="-120"/>
              </a:rPr>
              <a:t>06</a:t>
            </a:r>
            <a:endParaRPr lang="en-US" sz="1800" dirty="0"/>
          </a:p>
        </p:txBody>
      </p:sp>
      <p:sp>
        <p:nvSpPr>
          <p:cNvPr id="33" name="Text 31"/>
          <p:cNvSpPr/>
          <p:nvPr/>
        </p:nvSpPr>
        <p:spPr>
          <a:xfrm>
            <a:off x="6492240" y="2587752"/>
            <a:ext cx="210312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Blueprint is Timeless</a:t>
            </a:r>
            <a:endParaRPr lang="en-US" sz="1200" dirty="0"/>
          </a:p>
        </p:txBody>
      </p:sp>
      <p:sp>
        <p:nvSpPr>
          <p:cNvPr id="34" name="Text 32"/>
          <p:cNvSpPr/>
          <p:nvPr/>
        </p:nvSpPr>
        <p:spPr>
          <a:xfrm>
            <a:off x="6089904" y="2962656"/>
            <a:ext cx="2523744" cy="713232"/>
          </a:xfrm>
          <a:prstGeom prst="rect">
            <a:avLst/>
          </a:prstGeom>
          <a:noFill/>
          <a:ln/>
        </p:spPr>
        <p:txBody>
          <a:bodyPr wrap="square" rtlCol="0" anchor="ctr"/>
          <a:lstStyle/>
          <a:p>
            <a:pPr indent="0" marL="0">
              <a:buNone/>
            </a:pPr>
            <a:r>
              <a:rPr lang="en-US" sz="1000" dirty="0">
                <a:solidFill>
                  <a:srgbClr val="B8C5D9"/>
                </a:solidFill>
                <a:latin typeface="Calibri" pitchFamily="34" charset="0"/>
                <a:ea typeface="Calibri" pitchFamily="34" charset="-122"/>
                <a:cs typeface="Calibri" pitchFamily="34" charset="-120"/>
              </a:rPr>
              <a:t>LeNet 1998 → AlexNet 2012 → VGG → ResNet → ViT. Every descendant uses local patches, learned features, and hierarchical composition.</a:t>
            </a:r>
            <a:endParaRPr lang="en-US" sz="1000" dirty="0"/>
          </a:p>
        </p:txBody>
      </p:sp>
      <p:sp>
        <p:nvSpPr>
          <p:cNvPr id="35" name="Shape 33"/>
          <p:cNvSpPr/>
          <p:nvPr/>
        </p:nvSpPr>
        <p:spPr>
          <a:xfrm>
            <a:off x="347472" y="4791456"/>
            <a:ext cx="8430768" cy="256032"/>
          </a:xfrm>
          <a:prstGeom prst="rect">
            <a:avLst/>
          </a:prstGeom>
          <a:solidFill>
            <a:srgbClr val="1A3260"/>
          </a:solidFill>
          <a:ln w="12700">
            <a:solidFill>
              <a:srgbClr val="1A3260"/>
            </a:solidFill>
            <a:prstDash val="solid"/>
          </a:ln>
        </p:spPr>
      </p:sp>
      <p:sp>
        <p:nvSpPr>
          <p:cNvPr id="36" name="Text 34"/>
          <p:cNvSpPr/>
          <p:nvPr/>
        </p:nvSpPr>
        <p:spPr>
          <a:xfrm>
            <a:off x="457200" y="4809744"/>
            <a:ext cx="8229600" cy="219456"/>
          </a:xfrm>
          <a:prstGeom prst="rect">
            <a:avLst/>
          </a:prstGeom>
          <a:noFill/>
          <a:ln/>
        </p:spPr>
        <p:txBody>
          <a:bodyPr wrap="square" lIns="0" tIns="0" rIns="0" bIns="0" rtlCol="0" anchor="ctr"/>
          <a:lstStyle/>
          <a:p>
            <a:pPr algn="ctr" indent="0" marL="0">
              <a:buNone/>
            </a:pPr>
            <a:r>
              <a:rPr lang="en-US" sz="950" i="1" dirty="0">
                <a:solidFill>
                  <a:srgbClr val="6B7D99"/>
                </a:solidFill>
                <a:latin typeface="Calibri" pitchFamily="34" charset="0"/>
                <a:ea typeface="Calibri" pitchFamily="34" charset="-122"/>
                <a:cs typeface="Calibri" pitchFamily="34" charset="-120"/>
              </a:rPr>
              <a:t>"The brain does not compute, it recognises." — Yann LeCun  •  LeNet-5, 1998  •  The foundation of modern computer vision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LeNet Architecture — Deep Dive</dc:title>
  <dc:subject>PptxGenJS Presentation</dc:subject>
  <dc:creator>Muhammad Huzifa</dc:creator>
  <cp:lastModifiedBy>Muhammad Huzifa</cp:lastModifiedBy>
  <cp:revision>1</cp:revision>
  <dcterms:created xsi:type="dcterms:W3CDTF">2026-04-30T06:32:55Z</dcterms:created>
  <dcterms:modified xsi:type="dcterms:W3CDTF">2026-04-30T06:32:55Z</dcterms:modified>
</cp:coreProperties>
</file>