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GPA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FA4-48C6-8ED1-8A311070B256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FA4-48C6-8ED1-8A311070B256}"/>
              </c:ext>
            </c:extLst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FA4-48C6-8ED1-8A311070B256}"/>
              </c:ext>
            </c:extLst>
          </c:dPt>
          <c:dPt>
            <c:idx val="3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FA4-48C6-8ED1-8A311070B25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FA4-48C6-8ED1-8A311070B25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CS</c:v>
                </c:pt>
                <c:pt idx="1">
                  <c:v>EE</c:v>
                </c:pt>
                <c:pt idx="2">
                  <c:v>Math</c:v>
                </c:pt>
                <c:pt idx="3">
                  <c:v>Physics</c:v>
                </c:pt>
                <c:pt idx="4">
                  <c:v>Bio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3.85</c:v>
                </c:pt>
                <c:pt idx="1">
                  <c:v>3.62</c:v>
                </c:pt>
                <c:pt idx="2">
                  <c:v>3.74</c:v>
                </c:pt>
                <c:pt idx="3">
                  <c:v>3.55</c:v>
                </c:pt>
                <c:pt idx="4">
                  <c:v>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FA4-48C6-8ED1-8A311070B2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3.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D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 Enrolled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</c:v>
                </c:pt>
                <c:pt idx="1">
                  <c:v>290</c:v>
                </c:pt>
                <c:pt idx="2">
                  <c:v>380</c:v>
                </c:pt>
                <c:pt idx="3">
                  <c:v>420</c:v>
                </c:pt>
                <c:pt idx="4">
                  <c:v>460</c:v>
                </c:pt>
                <c:pt idx="5">
                  <c:v>510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C15-4D97-BBA6-48B3368BA6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Dept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972-4BBF-B295-16386196B978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972-4BBF-B295-16386196B978}"/>
              </c:ext>
            </c:extLst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972-4BBF-B295-16386196B978}"/>
              </c:ext>
            </c:extLst>
          </c:dPt>
          <c:dPt>
            <c:idx val="3"/>
            <c:bubble3D val="0"/>
            <c:spPr>
              <a:solidFill>
                <a:srgbClr val="BE12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972-4BBF-B295-16386196B97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972-4BBF-B295-16386196B97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972-4BBF-B295-16386196B97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972-4BBF-B295-16386196B97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972-4BBF-B295-16386196B97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CS</c:v>
                </c:pt>
                <c:pt idx="1">
                  <c:v>EE</c:v>
                </c:pt>
                <c:pt idx="2">
                  <c:v>Math</c:v>
                </c:pt>
                <c:pt idx="3">
                  <c:v>Physics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972-4BBF-B295-16386196B9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E13-4003-8AC4-4D46473D04A6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E13-4003-8AC4-4D46473D04A6}"/>
              </c:ext>
            </c:extLst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E13-4003-8AC4-4D46473D04A6}"/>
              </c:ext>
            </c:extLst>
          </c:dPt>
          <c:dPt>
            <c:idx val="3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E13-4003-8AC4-4D46473D04A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85</c:v>
                </c:pt>
                <c:pt idx="2">
                  <c:v>79</c:v>
                </c:pt>
                <c:pt idx="3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E13-4003-8AC4-4D46473D04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Execution Time (ms)</c:v>
                </c:pt>
              </c:strCache>
            </c:strRef>
          </c:tx>
          <c:spPr>
            <a:solidFill>
              <a:srgbClr val="BE123C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10K rows</c:v>
                </c:pt>
                <c:pt idx="1">
                  <c:v>100K rows</c:v>
                </c:pt>
                <c:pt idx="2">
                  <c:v>1M rows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980</c:v>
                </c:pt>
                <c:pt idx="2">
                  <c:v>9800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1E-4883-AE50-73A21455F7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Vectorized (ms)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10K rows</c:v>
                </c:pt>
                <c:pt idx="1">
                  <c:v>100K rows</c:v>
                </c:pt>
                <c:pt idx="2">
                  <c:v>1M rows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12</c:v>
                </c:pt>
                <c:pt idx="2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1E-4883-AE50-73A21455F7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0705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182880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1005840"/>
          </a:xfrm>
          <a:prstGeom prst="rect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56032"/>
            <a:ext cx="34747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560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•  Islamia College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8503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kern="0" spc="4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20040" y="221284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Analysis Library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" y="2788920"/>
            <a:ext cx="50292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9260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Huzifa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32735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Muhammad Sajjad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" y="362102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 </a:t>
            </a: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Islamia College Peshawar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23760" y="4343400"/>
            <a:ext cx="1463040" cy="50292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4343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🐼 pandas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38404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9966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Pandas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3807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pandas and why use it?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20240"/>
            <a:ext cx="38404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2024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19568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Structures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3408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&amp; DataFrame in depth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38404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8036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9169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&amp; I/O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3009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CSV, Excel, JSON, SQL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40480"/>
            <a:ext cx="38404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4048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8770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Selection &amp; Indexing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2611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loc, iloc, boolean masking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60120"/>
            <a:ext cx="38404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96012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9966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13807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values, duplicates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9202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920240"/>
            <a:ext cx="38404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92024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19568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&amp; Aggregation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12080" y="23408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groupby, pivot_table, crosstab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88036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880360"/>
            <a:ext cx="38404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88036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12080" y="29169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12080" y="33009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with pandas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8404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840480"/>
            <a:ext cx="38404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84048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212080" y="38770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12080" y="42611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&amp; performance tips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Pandas?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is an open-source Python library providing high-performance, easy-to-use data structures and data analysis tools. Built on top of NumPy, it is the go-to tool for data wrangling, cleaning, and analysis.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1920240" cy="1417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82880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Created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Wes McKinney at AQR Capital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68880" y="1828800"/>
            <a:ext cx="1920240" cy="1417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82880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2.x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880" y="2514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Version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2834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Arrow &amp; CoW support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0" y="1828800"/>
            <a:ext cx="1920240" cy="1417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82880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0" y="2514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834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675120" y="1828800"/>
            <a:ext cx="1920240" cy="1417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182880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NumPy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675120" y="2514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2834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array computation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" y="3383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65760" y="374904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and Series data structures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data alignment and missing data handling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reshaping and pivoting of datasets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merging, joining, and grouping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functionality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data from CSV, Excel, SQL, HDF5, JSON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Data Structures — Series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Series is a one-dimensional labeled array capable of holding any data type. It has an index on the left and values on the right.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512064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10512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
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
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Series
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pd.Series([10, 20, 30, 40], 
              index=['a','b','c','d'])
print(s.dtype)  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int64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760720" y="1051560"/>
            <a:ext cx="3017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10789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Anatomy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1426464"/>
            <a:ext cx="30175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06440" y="1508760"/>
            <a:ext cx="91440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20840" y="1508760"/>
            <a:ext cx="91440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5240" y="1508760"/>
            <a:ext cx="109728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5087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20840" y="15087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35240" y="1508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06440" y="1874520"/>
            <a:ext cx="914400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1874520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1874520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8745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20840" y="18745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35240" y="18745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int64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06440" y="2240280"/>
            <a:ext cx="914400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2240280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5240" y="2240280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2240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2240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35240" y="22402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int64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06440" y="2606040"/>
            <a:ext cx="914400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0840" y="2606040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35240" y="2606040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26060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0840" y="26060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35240" y="2606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int64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06440" y="2971800"/>
            <a:ext cx="914400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20840" y="2971800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35240" y="2971800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06440" y="2971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20840" y="2971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35240" y="29718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int64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3493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Series Attributes &amp; Methods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65760" y="388620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s.values</a:t>
            </a: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 Returns numpy array of values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" y="422452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s.index</a:t>
            </a: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 Returns the index labels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5760" y="456285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s.dtype</a:t>
            </a: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 Data type of values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54880" y="388620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s.shape</a:t>
            </a: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 Dimensions as tuple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54880" y="422452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s.describe()</a:t>
            </a: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 Summary statistics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54880" y="456285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s.apply(func)</a:t>
            </a: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 Apply function element-wise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Data Structures — DataFrame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DataFrame is a 2-dimensional labeled data structure with columns of potentially different types. Think of it as a spreadsheet, SQL table, or dictionary of Series objects.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4389120" cy="22860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91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DataFrame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3891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2066544"/>
            <a:ext cx="105156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06654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53896" y="2066544"/>
            <a:ext cx="105156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3896" y="206654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23744" y="2066544"/>
            <a:ext cx="105156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206654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93592" y="2066544"/>
            <a:ext cx="105156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206654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2414016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41401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53896" y="2414016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53896" y="241401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23744" y="2414016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3744" y="241401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93592" y="2414016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3592" y="241401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" y="2816352"/>
            <a:ext cx="1051560" cy="38404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81635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453896" y="2816352"/>
            <a:ext cx="1051560" cy="38404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53896" y="281635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23744" y="2816352"/>
            <a:ext cx="1051560" cy="38404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23744" y="281635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593592" y="2816352"/>
            <a:ext cx="1051560" cy="38404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93592" y="281635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048" y="3218688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21868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Carol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453896" y="3218688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53896" y="321868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23744" y="3218688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23744" y="321868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593592" y="3218688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93592" y="321868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3.8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4048" y="3621024"/>
            <a:ext cx="1051560" cy="38404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362102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David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453896" y="3621024"/>
            <a:ext cx="1051560" cy="38404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53896" y="362102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523744" y="3621024"/>
            <a:ext cx="1051560" cy="38404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23744" y="362102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593592" y="3621024"/>
            <a:ext cx="1051560" cy="38404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93592" y="362102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937760" y="1664208"/>
            <a:ext cx="384048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4920" y="1737360"/>
            <a:ext cx="36118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
  'Name': </a:t>
            </a: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['Alice','Bob','Carol','David']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'Age': </a:t>
            </a: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[22, 25, 21, 24]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'Dept': </a:t>
            </a: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['CS','EE','CS','Math']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'GPA': </a:t>
            </a: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[3.9, 3.5, 3.8, 3.6]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pd.DataFrame(data)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  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shape info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" y="40416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Essential DataFrame Operations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365760" y="4425696"/>
            <a:ext cx="4206240" cy="1828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42569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df.head(n)</a:t>
            </a: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First n rows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4626864"/>
            <a:ext cx="42062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62686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df.tail(n)</a:t>
            </a: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Last n rows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65760" y="4828032"/>
            <a:ext cx="4206240" cy="1828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8280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</a:t>
            </a: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Rows × Cols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846320" y="4425696"/>
            <a:ext cx="4206240" cy="1828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442569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Dtypes &amp; nulls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846320" y="4626864"/>
            <a:ext cx="42062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462686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Statistics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846320" y="4828032"/>
            <a:ext cx="4206240" cy="1828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37760" y="48280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</a:t>
            </a: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Column names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Loading &amp; I/O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77724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1430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188720" y="1399032"/>
            <a:ext cx="32461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2728" y="139903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pd.read_csv('file.csv')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8872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88720" y="1911096"/>
            <a:ext cx="32461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2728" y="191109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df.to_csv('out.csv', index=False)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51560"/>
            <a:ext cx="777240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051560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23560" y="11430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23560" y="1399032"/>
            <a:ext cx="32461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87568" y="139903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pd.read_excel('file.xlsx')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2356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23560" y="1911096"/>
            <a:ext cx="32461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87568" y="191109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df.to_excel('out.xlsx')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2350008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350008"/>
            <a:ext cx="77724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350008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24414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188720" y="2697480"/>
            <a:ext cx="32461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52728" y="269748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pd.read_json('file.json')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044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188720" y="3209544"/>
            <a:ext cx="32461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52728" y="320954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df.to_json('out.json')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2350008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350008"/>
            <a:ext cx="777240" cy="1188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350008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23560" y="24414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623560" y="2697480"/>
            <a:ext cx="32461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87568" y="269748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pd.read_sql('SELECT *', conn)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623560" y="3044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623560" y="3209544"/>
            <a:ext cx="32461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87568" y="320954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df.to_sql('tbl', conn)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0040" y="3648456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" y="3648456"/>
            <a:ext cx="777240" cy="1188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648456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188720" y="37398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188720" y="3995928"/>
            <a:ext cx="32461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52728" y="39959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pd.read_parquet('file.parquet')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188720" y="43434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188720" y="4507992"/>
            <a:ext cx="32461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52728" y="45079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df.to_parquet('out.parquet')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3648456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3648456"/>
            <a:ext cx="777240" cy="118872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648456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623560" y="37398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623560" y="3995928"/>
            <a:ext cx="32461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87568" y="39959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pd.read_html('url')[0]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623560" y="43434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623560" y="4507992"/>
            <a:ext cx="32461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87568" y="45079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df.to_html('out.html')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Selection &amp; Indexing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06240" cy="190195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20624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— Column Selection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39776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df['Name']          # Single column → Series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df[['Name','Age']]  # Multi-column → DataFrame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df[df['Age'] &gt; 22]  # Boolean filter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206240" cy="190195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420624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— Label-based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92040" y="1417320"/>
            <a:ext cx="39776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463040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df.loc[0]              # Row by label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df.loc[0:2, 'Name']    # Rows &amp; col by label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df.loc[df['GPA']&gt;3.7]  # Boolean mask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206240" cy="190195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17520"/>
            <a:ext cx="4206240" cy="365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iloc — Position-based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429000"/>
            <a:ext cx="39776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74720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df.iloc[0]          # First row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df.iloc[0:3, 0:2]   # Rows 0-2, cols 0-1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df.iloc[-1]         # Last row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3017520"/>
            <a:ext cx="4206240" cy="190195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017520"/>
            <a:ext cx="4206240" cy="36576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query() — SQL-like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3429000"/>
            <a:ext cx="39776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474720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df.query('Age &gt; 22')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df.query('Dept == "CS" and GPA &gt; 3.7')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df.query('@threshold &lt; GPA')  # vars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&amp; Preprocessing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Handling Missing Values (NaN)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20624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44752"/>
            <a:ext cx="39776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Detect
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          </a:t>
            </a: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bool mask
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    </a:t>
            </a: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
# Remove
</a:t>
            </a: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df.dropna()          </a:t>
            </a: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drop rows
</a:t>
            </a: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df.dropna(axis=1)    </a:t>
            </a: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drop cols
# Fill
</a:t>
            </a: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df.fillna(0)         </a:t>
            </a: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value
</a:t>
            </a: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df.fillna(method='ffill') </a:t>
            </a: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forward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Handling Duplicates &amp; Types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02336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444752"/>
            <a:ext cx="38404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Duplicates
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df.duplicated()      </a:t>
            </a: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bool mask
</a:t>
            </a: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df.drop_duplicates() </a:t>
            </a: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remove
# Type Conversion
</a:t>
            </a: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df['Age'].astype(float)
pd.to_datetime(df['Date'])
pd.to_numeric(df['Val'])
</a:t>
            </a: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String cleaning
</a:t>
            </a: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df['Name'].str.strip()
df['Name'].str.lower()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35844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Typical Cleaning Pipeline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977640"/>
            <a:ext cx="13716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" y="42976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Data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91640" y="4325112"/>
            <a:ext cx="9144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9928" y="4224528"/>
            <a:ext cx="73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83080" y="3977640"/>
            <a:ext cx="13716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78308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83080" y="42976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(info, describe)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154680" y="4325112"/>
            <a:ext cx="9144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72968" y="4224528"/>
            <a:ext cx="73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3977640"/>
            <a:ext cx="13716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4612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46120" y="42976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17720" y="4325112"/>
            <a:ext cx="9144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4224528"/>
            <a:ext cx="73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977640"/>
            <a:ext cx="13716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916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09160" y="42976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Dtypes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80760" y="4325112"/>
            <a:ext cx="9144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99048" y="4224528"/>
            <a:ext cx="73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72200" y="3977640"/>
            <a:ext cx="13716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7220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72200" y="42976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543800" y="4325112"/>
            <a:ext cx="9144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62088" y="4224528"/>
            <a:ext cx="73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635240" y="3977640"/>
            <a:ext cx="13716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63524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35240" y="42976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Export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Grouping &amp; Aggregation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groupby() — Split-Apply-Combine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75488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44752"/>
            <a:ext cx="452628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groupby
</a:t>
            </a: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df.groupby('Dept')['GPA'].mean()
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agg functions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df.groupby('Dept').agg({
</a:t>
            </a: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'GPA': ['mean','max','min'],
    'Age': 'mean'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
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pivot_table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pd.pivot_table(df,
</a:t>
            </a: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values='GPA',
    index='Dept',
    aggfunc='mean'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212080" y="10058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Avg GPA by Department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166360" y="1371600"/>
          <a:ext cx="36576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0050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Aggregation Functions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" y="4370832"/>
            <a:ext cx="1353312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43708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64792" y="4370832"/>
            <a:ext cx="1353312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764792" y="43708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9544" y="4370832"/>
            <a:ext cx="1353312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9544" y="43708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54296" y="4370832"/>
            <a:ext cx="1353312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54296" y="43708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99048" y="4370832"/>
            <a:ext cx="1353312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99048" y="43708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543800" y="4370832"/>
            <a:ext cx="1353312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43800" y="43708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0040" y="4718304"/>
            <a:ext cx="1353312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471830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764792" y="4718304"/>
            <a:ext cx="1353312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764792" y="471830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09544" y="4718304"/>
            <a:ext cx="1353312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9544" y="471830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654296" y="4718304"/>
            <a:ext cx="1353312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54296" y="471830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099048" y="4718304"/>
            <a:ext cx="1353312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99048" y="471830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nunique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543800" y="4718304"/>
            <a:ext cx="1353312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43800" y="471830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Visualization with Pandas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wraps Matplotlib, offering quick .plot() methods directly on Series and DataFrames.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20040" y="1463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1783080"/>
          <a:ext cx="27432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3200400" y="1463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(Pie)</a:t>
            </a:r>
            <a:endParaRPr lang="en-US" sz="12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3200400" y="1783080"/>
          <a:ext cx="27432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6080760" y="1463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200" dirty="0"/>
          </a:p>
        </p:txBody>
      </p:sp>
      <p:graphicFrame>
        <p:nvGraphicFramePr>
          <p:cNvPr id="10" name="Chart 2"/>
          <p:cNvGraphicFramePr/>
          <p:nvPr/>
        </p:nvGraphicFramePr>
        <p:xfrm>
          <a:off x="6080760" y="1783080"/>
          <a:ext cx="27432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 6"/>
          <p:cNvSpPr/>
          <p:nvPr/>
        </p:nvSpPr>
        <p:spPr>
          <a:xfrm>
            <a:off x="320040" y="367588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Plot Types Quick Reference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320040" y="4041648"/>
            <a:ext cx="21031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93192" y="40416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df.plot()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plot (default)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2514600" y="4041648"/>
            <a:ext cx="21031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587752" y="40416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df.plot.bar()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Vertical bar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4709160" y="4041648"/>
            <a:ext cx="21031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782312" y="40416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df.plot.barh()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Horizontal bar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903720" y="4041648"/>
            <a:ext cx="21031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976872" y="40416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df.plot.hist()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20040" y="4471416"/>
            <a:ext cx="21031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93192" y="447141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df.plot.box()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Box/whisker plot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2514600" y="4471416"/>
            <a:ext cx="21031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2587752" y="447141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df.plot.scatter(x,y)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 plot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4709160" y="4471416"/>
            <a:ext cx="21031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782312" y="447141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df.plot.area()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 chart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6903720" y="4471416"/>
            <a:ext cx="21031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976872" y="447141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df.plot.pie()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 chart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06240" cy="19202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206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&amp; Join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408176"/>
            <a:ext cx="3977640" cy="1444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379476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Merge (SQL-style)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pd.merge(df1, df2, on='id', how='inner')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Types: inner, outer, left, right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Join (index-based)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df1.join(df2, lsuffix='_l')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206240" cy="19202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42062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&amp; Map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92040" y="1408176"/>
            <a:ext cx="3977640" cy="1444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463040"/>
            <a:ext cx="379476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Apply row/col function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df.apply(lambda x: x.max()-x.min())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Element-wise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df['col'].map({'a':1,'b':2})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df.applymap(np.sqrt)  # element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206240" cy="19202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17520"/>
            <a:ext cx="420624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175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(melt &amp; pivot)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419856"/>
            <a:ext cx="3977640" cy="1444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74720"/>
            <a:ext cx="379476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Wide → Long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pd.melt(df, id_vars=['Name'])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Long → Wide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df.pivot(index='Name',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columns='Year', values='Score')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3017520"/>
            <a:ext cx="4206240" cy="19202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017520"/>
            <a:ext cx="4206240" cy="347472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175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3419856"/>
            <a:ext cx="3977640" cy="1444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474720"/>
            <a:ext cx="379476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df['date'] = pd.to_datetime(df['date'])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df.set_index('date', inplace=True)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Resample (monthly avg)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df.resample('M').mean()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df.rolling(window=7).mean() # rolling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" y="504748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Performance Tips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&amp; Best Practices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Tips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457200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89888"/>
            <a:ext cx="64008" cy="6126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vectorized operations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Python loops; use .apply() only when necessary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057400"/>
            <a:ext cx="457200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57400"/>
            <a:ext cx="64008" cy="6126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848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dtypes on read_csv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3408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dtype={'col': 'int32'} saves memory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724912"/>
            <a:ext cx="457200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724912"/>
            <a:ext cx="64008" cy="6126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523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categorical dtype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0083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low-cardinality string columns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392424"/>
            <a:ext cx="457200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392424"/>
            <a:ext cx="64008" cy="6126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198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 chunks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36758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pd.read_csv(..., chunksize=10000) for large files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059936"/>
            <a:ext cx="457200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059936"/>
            <a:ext cx="64008" cy="6126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87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query() for filtering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343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faster than boolean indexing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Vectorized vs Loop Speed</a:t>
            </a:r>
            <a:endParaRPr lang="en-US" sz="14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5074920" y="1371600"/>
          <a:ext cx="37490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320040" y="477316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 Ecosystem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20040" y="5120640"/>
            <a:ext cx="1170432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" y="512064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581912" y="5120640"/>
            <a:ext cx="1170432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581912" y="512064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843784" y="5120640"/>
            <a:ext cx="1170432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843784" y="512064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05656" y="5120640"/>
            <a:ext cx="1170432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105656" y="512064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367528" y="5120640"/>
            <a:ext cx="1170432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67528" y="512064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Dask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629400" y="5120640"/>
            <a:ext cx="1170432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629400" y="512064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891272" y="5120640"/>
            <a:ext cx="1170432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91272" y="512064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88920" cy="17830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88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618488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analysis, portfolio returns, risk metrics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17830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1618488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cleaning, clinical trial analysis, survival models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2788920" cy="17830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51560"/>
            <a:ext cx="2788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E-Commerce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1618488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analysis, customer segmentation, churn prediction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2788920" cy="17830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71800"/>
            <a:ext cx="2788920" cy="50292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71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/ AI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" y="3538728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preprocessing, feature engineering, model evaluation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971800"/>
            <a:ext cx="2788920" cy="17830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971800"/>
            <a:ext cx="278892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2971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37560" y="3538728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data analysis, hypothesis testing, publication-ready tables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971800"/>
            <a:ext cx="2788920" cy="17830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971800"/>
            <a:ext cx="278892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971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IoT / Sensors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63640" y="3538728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processing, anomaly detection, resampling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is used by 90%+ of data scientists  ·  10M+ monthly downloads  ·  Backed by NumFOCUS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0" y="86868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416052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1521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&amp; DataFrame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85216" y="1508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structures for 1D and 2D labeled data manipulation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416052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0312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21579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I/O Support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5216" y="2514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Seamlessly read/write CSV, Excel, SQL, JSON, Parquet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416052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10896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31638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Selection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85216" y="3520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loc, iloc, boolean masking, and query() for flexible access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1097280"/>
            <a:ext cx="416052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109728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11521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65776" y="1508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tools for handling NaN, duplicates, and type coercion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2103120"/>
            <a:ext cx="416052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210312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65776" y="21579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&amp; Pivot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65776" y="2514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SQL-like aggregation with groupby, pivot_table, and crosstab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3108960"/>
            <a:ext cx="416052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310896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65776" y="31638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65776" y="3520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plots via .plot() integrated with Matplotlib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50799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RA: Muhammad Huzifa  </a:t>
            </a: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Muhammad Sajjad  </a:t>
            </a: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Islamia College University Peshawar  </a:t>
            </a: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1759</Words>
  <Application>Microsoft Office PowerPoint</Application>
  <PresentationFormat>On-screen Show (16:9)</PresentationFormat>
  <Paragraphs>317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Pandas: Python Data Analysis Library</dc:title>
  <dc:subject>PptxGenJS Presentation</dc:subject>
  <dc:creator>Muhammad Huzifa</dc:creator>
  <cp:lastModifiedBy>Muhammad Huzifa</cp:lastModifiedBy>
  <cp:revision>2</cp:revision>
  <dcterms:created xsi:type="dcterms:W3CDTF">2026-04-30T06:53:39Z</dcterms:created>
  <dcterms:modified xsi:type="dcterms:W3CDTF">2026-04-30T07:24:49Z</dcterms:modified>
</cp:coreProperties>
</file>