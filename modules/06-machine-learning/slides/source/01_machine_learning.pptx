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7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8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9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Bias (Training Error)</c:v>
                </c:pt>
              </c:strCache>
            </c:strRef>
          </c:tx>
          <c:spPr>
            <a:solidFill>
              <a:srgbClr val="BE123C"/>
            </a:solidFill>
            <a:ln w="38100" cap="flat">
              <a:solidFill>
                <a:srgbClr val="BE12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E123C"/>
              </a:solidFill>
              <a:ln w="9525" cap="flat">
                <a:solidFill>
                  <a:srgbClr val="BE12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Very Simple</c:v>
                  </c:pt>
                  <c:pt idx="1">
                    <c:v>Simple</c:v>
                  </c:pt>
                  <c:pt idx="2">
                    <c:v>Balanced</c:v>
                  </c:pt>
                  <c:pt idx="3">
                    <c:v>Complex</c:v>
                  </c:pt>
                  <c:pt idx="4">
                    <c:v>Very Complex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</c:v>
                </c:pt>
                <c:pt idx="1">
                  <c:v>0.3</c:v>
                </c:pt>
                <c:pt idx="2">
                  <c:v>0.15</c:v>
                </c:pt>
                <c:pt idx="3">
                  <c:v>0.05</c:v>
                </c:pt>
                <c:pt idx="4">
                  <c:v>0.02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Variance (Test Error)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Very Simple</c:v>
                  </c:pt>
                  <c:pt idx="1">
                    <c:v>Simple</c:v>
                  </c:pt>
                  <c:pt idx="2">
                    <c:v>Balanced</c:v>
                  </c:pt>
                  <c:pt idx="3">
                    <c:v>Complex</c:v>
                  </c:pt>
                  <c:pt idx="4">
                    <c:v>Very Complex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0.46</c:v>
                </c:pt>
                <c:pt idx="1">
                  <c:v>0.32</c:v>
                </c:pt>
                <c:pt idx="2">
                  <c:v>0.15</c:v>
                </c:pt>
                <c:pt idx="3">
                  <c:v>0.22</c:v>
                </c:pt>
                <c:pt idx="4">
                  <c:v>0.45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D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Points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2.1</c:v>
                </c:pt>
                <c:pt idx="1">
                  <c:v>3.8</c:v>
                </c:pt>
                <c:pt idx="2">
                  <c:v>4.5</c:v>
                </c:pt>
                <c:pt idx="3">
                  <c:v>5.9</c:v>
                </c:pt>
                <c:pt idx="4">
                  <c:v>6.2</c:v>
                </c:pt>
                <c:pt idx="5">
                  <c:v>8</c:v>
                </c:pt>
                <c:pt idx="6">
                  <c:v>7.8</c:v>
                </c:pt>
                <c:pt idx="7">
                  <c:v>9.5</c:v>
                </c:pt>
                <c:pt idx="8">
                  <c:v>10.1</c:v>
                </c:pt>
                <c:pt idx="9">
                  <c:v>11.8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 Line</c:v>
                </c:pt>
              </c:strCache>
            </c:strRef>
          </c:tx>
          <c:spPr>
            <a:solidFill>
              <a:srgbClr val="BE123C"/>
            </a:solidFill>
            <a:ln w="25400" cap="flat">
              <a:solidFill>
                <a:srgbClr val="BE12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E123C"/>
              </a:solidFill>
              <a:ln w="9525" cap="flat">
                <a:solidFill>
                  <a:srgbClr val="BE123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1.8</c:v>
                </c:pt>
                <c:pt idx="1">
                  <c:v>3</c:v>
                </c:pt>
                <c:pt idx="2">
                  <c:v>4.2</c:v>
                </c:pt>
                <c:pt idx="3">
                  <c:v>5.4</c:v>
                </c:pt>
                <c:pt idx="4">
                  <c:v>6.6</c:v>
                </c:pt>
                <c:pt idx="5">
                  <c:v>7.8</c:v>
                </c:pt>
                <c:pt idx="6">
                  <c:v>9</c:v>
                </c:pt>
                <c:pt idx="7">
                  <c:v>10.2</c:v>
                </c:pt>
                <c:pt idx="8">
                  <c:v>11.4</c:v>
                </c:pt>
                <c:pt idx="9">
                  <c:v>12.6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J(θ₁)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−3</c:v>
                  </c:pt>
                  <c:pt idx="1">
                    <c:v>−2</c:v>
                  </c:pt>
                  <c:pt idx="2">
                    <c:v>−1</c:v>
                  </c:pt>
                  <c:pt idx="3">
                    <c:v>0</c:v>
                  </c:pt>
                  <c:pt idx="4">
                    <c:v>1</c:v>
                  </c:pt>
                  <c:pt idx="5">
                    <c:v>2</c:v>
                  </c:pt>
                  <c:pt idx="6">
                    <c:v>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4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4</c:v>
                </c:pt>
                <c:pt idx="6">
                  <c:v>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D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J(θ)</c:v>
                </c:pt>
              </c:strCache>
            </c:strRef>
          </c:tx>
          <c:spPr>
            <a:solidFill>
              <a:srgbClr val="1D4ED8"/>
            </a:solidFill>
            <a:ln w="31750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7.5</c:v>
                </c:pt>
                <c:pt idx="2">
                  <c:v>6.2</c:v>
                </c:pt>
                <c:pt idx="3">
                  <c:v>5.1</c:v>
                </c:pt>
                <c:pt idx="4">
                  <c:v>4.2</c:v>
                </c:pt>
                <c:pt idx="5">
                  <c:v>3.5</c:v>
                </c:pt>
                <c:pt idx="6">
                  <c:v>3</c:v>
                </c:pt>
                <c:pt idx="7">
                  <c:v>2.6</c:v>
                </c:pt>
                <c:pt idx="8">
                  <c:v>2.3</c:v>
                </c:pt>
                <c:pt idx="9">
                  <c:v>2.1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J(θ)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5</c:v>
                </c:pt>
                <c:pt idx="2">
                  <c:v>2.2</c:v>
                </c:pt>
                <c:pt idx="3">
                  <c:v>0.5</c:v>
                </c:pt>
                <c:pt idx="4">
                  <c:v>0.05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J(θ)</c:v>
                </c:pt>
              </c:strCache>
            </c:strRef>
          </c:tx>
          <c:spPr>
            <a:solidFill>
              <a:srgbClr val="BE123C"/>
            </a:solidFill>
            <a:ln w="31750" cap="flat">
              <a:solidFill>
                <a:srgbClr val="BE12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E123C"/>
              </a:solidFill>
              <a:ln w="9525" cap="flat">
                <a:solidFill>
                  <a:srgbClr val="BE12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11</c:v>
                </c:pt>
                <c:pt idx="2">
                  <c:v>8</c:v>
                </c:pt>
                <c:pt idx="3">
                  <c:v>12</c:v>
                </c:pt>
                <c:pt idx="4">
                  <c:v>7</c:v>
                </c:pt>
                <c:pt idx="5">
                  <c:v>13</c:v>
                </c:pt>
                <c:pt idx="6">
                  <c:v>9</c:v>
                </c:pt>
                <c:pt idx="7">
                  <c:v>14</c:v>
                </c:pt>
                <c:pt idx="8">
                  <c:v>10</c:v>
                </c:pt>
                <c:pt idx="9">
                  <c:v>15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Loop</c:v>
                </c:pt>
              </c:strCache>
            </c:strRef>
          </c:tx>
          <c:spPr>
            <a:solidFill>
              <a:srgbClr val="BE1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1K</c:v>
                  </c:pt>
                  <c:pt idx="1">
                    <c:v>10K</c:v>
                  </c:pt>
                  <c:pt idx="2">
                    <c:v>100K</c:v>
                  </c:pt>
                  <c:pt idx="3">
                    <c:v>1M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100</c:v>
                </c:pt>
                <c:pt idx="3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Vectorized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1K</c:v>
                  </c:pt>
                  <c:pt idx="1">
                    <c:v>10K</c:v>
                  </c:pt>
                  <c:pt idx="2">
                    <c:v>100K</c:v>
                  </c:pt>
                  <c:pt idx="3">
                    <c:v>1M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0.05</c:v>
                </c:pt>
                <c:pt idx="1">
                  <c:v>0.12</c:v>
                </c:pt>
                <c:pt idx="2">
                  <c:v>0.8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DF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Data</c:v>
                </c:pt>
              </c:strCache>
            </c:strRef>
          </c:tx>
          <c:spPr>
            <a:solidFill>
              <a:srgbClr val="1A2744"/>
            </a:solidFill>
            <a:ln w="31750" cap="flat">
              <a:solidFill>
                <a:srgbClr val="1A27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2744"/>
              </a:solidFill>
              <a:ln w="9525" cap="flat">
                <a:solidFill>
                  <a:srgbClr val="1A27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1.2</c:v>
                </c:pt>
                <c:pt idx="1">
                  <c:v>3.8</c:v>
                </c:pt>
                <c:pt idx="2">
                  <c:v>8.5</c:v>
                </c:pt>
                <c:pt idx="3">
                  <c:v>11.2</c:v>
                </c:pt>
                <c:pt idx="4">
                  <c:v>10.8</c:v>
                </c:pt>
                <c:pt idx="5">
                  <c:v>7.5</c:v>
                </c:pt>
                <c:pt idx="6">
                  <c:v>4.2</c:v>
                </c:pt>
                <c:pt idx="7">
                  <c:v>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Degree-1 Fit (underfit)</c:v>
                </c:pt>
              </c:strCache>
            </c:strRef>
          </c:tx>
          <c:spPr>
            <a:solidFill>
              <a:srgbClr val="BE123C"/>
            </a:solidFill>
            <a:ln w="31750" cap="flat">
              <a:solidFill>
                <a:srgbClr val="BE12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E123C"/>
              </a:solidFill>
              <a:ln w="9525" cap="flat">
                <a:solidFill>
                  <a:srgbClr val="BE12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</c:v>
                </c:pt>
                <c:pt idx="1">
                  <c:v>3.5</c:v>
                </c:pt>
                <c:pt idx="2">
                  <c:v>5</c:v>
                </c:pt>
                <c:pt idx="3">
                  <c:v>6.5</c:v>
                </c:pt>
                <c:pt idx="4">
                  <c:v>8</c:v>
                </c:pt>
                <c:pt idx="5">
                  <c:v>9.5</c:v>
                </c:pt>
                <c:pt idx="6">
                  <c:v>11</c:v>
                </c:pt>
                <c:pt idx="7">
                  <c:v>12.5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Degree-4 Fit (good)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</c:v>
                </c:pt>
                <c:pt idx="1">
                  <c:v>3.9</c:v>
                </c:pt>
                <c:pt idx="2">
                  <c:v>8.4</c:v>
                </c:pt>
                <c:pt idx="3">
                  <c:v>11.3</c:v>
                </c:pt>
                <c:pt idx="4">
                  <c:v>10.9</c:v>
                </c:pt>
                <c:pt idx="5">
                  <c:v>7.4</c:v>
                </c:pt>
                <c:pt idx="6">
                  <c:v>4.1</c:v>
                </c:pt>
                <c:pt idx="7">
                  <c:v>2.1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DFA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 σ(z)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D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1005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56032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560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•  Islamia College University Peshawar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Foundations, Types &amp; Classical Pipeline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3090672"/>
            <a:ext cx="50292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2186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Huzifa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56616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Muhammad Sajjad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39136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College University Peshawar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0" y="4434840"/>
            <a:ext cx="16459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44348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96112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2788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" y="1463040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46304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463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ML vs Deep Learning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58568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5856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22585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3054096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3054096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305409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Pipeline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849624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3849624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3849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ML Components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896112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896112"/>
            <a:ext cx="2788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896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4–5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55848" y="1463040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55848" y="146304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65576" y="1463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Linear Regression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55848" y="2258568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5848" y="2258568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5576" y="22585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Concepts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55848" y="3054096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3054096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65576" y="305409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&amp; With Vectorization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896112"/>
            <a:ext cx="2788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896112"/>
            <a:ext cx="2788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896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81928" y="1463040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81928" y="146304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1463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Linear Regression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81928" y="2258568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81928" y="2258568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22585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81928" y="3054096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81928" y="3054096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1656" y="305409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(Binary)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81928" y="3849624"/>
            <a:ext cx="2560320" cy="71323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81928" y="3849624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91656" y="3849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(Multiclass)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•  DAY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2, 3,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AI, ML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College University Peshawar  •  Dept.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Hierarchy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relationship between AI, ML, and Deep Learning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3840480"/>
          </a:xfrm>
          <a:prstGeom prst="roundRect">
            <a:avLst>
              <a:gd name="adj" fmla="val 4762"/>
            </a:avLst>
          </a:prstGeom>
          <a:solidFill>
            <a:srgbClr val="1A274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508760"/>
            <a:ext cx="6309360" cy="2926080"/>
          </a:xfrm>
          <a:prstGeom prst="roundRect">
            <a:avLst>
              <a:gd name="adj" fmla="val 6250"/>
            </a:avLst>
          </a:prstGeom>
          <a:solidFill>
            <a:srgbClr val="0D948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2011680"/>
            <a:ext cx="3840480" cy="1920240"/>
          </a:xfrm>
          <a:prstGeom prst="roundRect">
            <a:avLst>
              <a:gd name="adj" fmla="val 9524"/>
            </a:avLst>
          </a:prstGeom>
          <a:solidFill>
            <a:srgbClr val="7C3AE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that simulate human intelligence — planning, reasoning, language, vision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554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1874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patterns from data without being explicitly programmed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2084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with many hidden layers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1051560"/>
            <a:ext cx="2331720" cy="12344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051560"/>
            <a:ext cx="2331720" cy="31089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0515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Examples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399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playing (Chess, Go)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160020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0" y="18013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0" y="20025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2350008"/>
            <a:ext cx="2331720" cy="12344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2350008"/>
            <a:ext cx="23317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35000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Examples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6974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28986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30998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0" y="33009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3648456"/>
            <a:ext cx="2331720" cy="12344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3648456"/>
            <a:ext cx="233172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6484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Examples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9959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0" y="419709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43982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GPT/LLMs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45994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Machine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fundamental paradigms based on how algorithms learn from data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88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training data — every example has an input and a known correct output.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3200400"/>
            <a:ext cx="2560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918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867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spam filter, price prediction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024128"/>
            <a:ext cx="27889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24128"/>
            <a:ext cx="27889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46120" y="15544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121408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in data with no labels — the algorithm discovers structure on its own.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55848" y="3200400"/>
            <a:ext cx="2560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2918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6393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9867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customer segmentation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024128"/>
            <a:ext cx="27889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024128"/>
            <a:ext cx="27889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0515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72200" y="155448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2121408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learns by interacting with an environment, receiving rewards for correct actions and penalties for wrong ones.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81928" y="3200400"/>
            <a:ext cx="25603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2918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learning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6393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maximization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9867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game AI, robotics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Machine Learning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6-stage workflow from raw data to production-ready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32588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789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64792" y="1051560"/>
            <a:ext cx="132588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64792" y="10789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64792" y="1645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64792" y="1920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90672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9544" y="1051560"/>
            <a:ext cx="1325880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9544" y="10789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9544" y="1645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9544" y="1920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35424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54296" y="1051560"/>
            <a:ext cx="1325880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54296" y="10789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54296" y="1645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54296" y="1920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0176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99048" y="1051560"/>
            <a:ext cx="132588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99048" y="10789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99048" y="1645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99048" y="1920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24928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43800" y="1051560"/>
            <a:ext cx="1325880" cy="146304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43800" y="10789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43800" y="16459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43800" y="1920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743200"/>
            <a:ext cx="2788920" cy="10058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743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303580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data from databases, APIs, sensors, web scraping, surveys, or domain-specific sources. Quality and quantity both matter.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46120" y="2743200"/>
            <a:ext cx="2788920" cy="10058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2743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37560" y="303580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noisy data — handle missing values, remove duplicates, fix errors, normalize scales, encode categorical variables.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2743200"/>
            <a:ext cx="2788920" cy="10058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274320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63640" y="303580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variables into informative features. Select the most relevant ones. Create new features that boost model performance.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3840480"/>
            <a:ext cx="2788920" cy="10058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840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11480" y="413308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algorithm (linear model, tree, neural net). Train it on labeled data. Tune hyperparameters via cross-validation.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46120" y="3840480"/>
            <a:ext cx="2788920" cy="10058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3840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337560" y="413308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precision, recall, F1, RMSE or AUC on a held-out test set. Identify bias and variance issues.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72200" y="3840480"/>
            <a:ext cx="2788920" cy="10058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3840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263640" y="4133088"/>
            <a:ext cx="2606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model as an API or service. Monitor predictions in production. Retrain when performance degrades over time.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Data Collection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every machine learning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Databases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NoSQL stores — CRM, ERP, transactional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11155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27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UCI ML Repository, government portals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8600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86000"/>
            <a:ext cx="54864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extraction from websites using crawlers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54864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Streams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API, financial feeds, IoT sensor readings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52044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20440"/>
            <a:ext cx="54864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11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&amp; Forms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9959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collection — questionnaires, feedback forms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42062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20440"/>
            <a:ext cx="54864" cy="11155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118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9959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data to supplement rare real-world cases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736592"/>
            <a:ext cx="8503920" cy="31089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365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Garbage In → Garbage Out. Data quality directly determines model quality.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Data Preprocessing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raw, messy data into a clean, model-ready format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88920" cy="1828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88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rows/cols with too many nulls. Impute with mean, median, mode, or use model-based imputation.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1828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drop identical or near-identical records that could bias training.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88920" cy="1828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51560"/>
            <a:ext cx="278892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515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with IQR or Z-score. Cap, remove or transform extreme values that skew learning.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2788920" cy="1828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17520"/>
            <a:ext cx="2788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74720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labels to numbers: Label Encoding for ordinal, One-Hot Encoding for nominal variables.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788920" cy="1828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17520"/>
            <a:ext cx="27889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474720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(0–1 range) or Standardization (zero mean, unit std) so no feature dominates by magnitude.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3017520"/>
            <a:ext cx="2788920" cy="182880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017520"/>
            <a:ext cx="2788920" cy="38404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17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474720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70–80% for training, 20–30% for testing. Use stratified split for imbalanced classes.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Feature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the right inputs is often more important than choosing the algorithm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the individual measurable properties or characteristics of the data used as input to the model. Good features = good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72768"/>
            <a:ext cx="4206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Creation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4023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new variables from existing ones — e.g., Age from Date of Birth, Revenue per User from Total Revenue ÷ Users.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572768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72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4023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most informative features. Remove irrelevant or redundant ones using correlation analysis or importance scores.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36976"/>
            <a:ext cx="420624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369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675888"/>
            <a:ext cx="4023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like PCA compress many features into fewer components while retaining most variance.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236976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36976"/>
            <a:ext cx="4206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369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675888"/>
            <a:ext cx="4023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or combine features to capture relationships — e.g., Height × Weight as a body mass proxy.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"Feature engineering is the art of transforming raw data into a form that best represents the underlying problem."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Modeling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and training an algorithm to learn patterns from your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011680" cy="2834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241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Logistic Regression, SVM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interpretable, great for linearly separable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024128"/>
            <a:ext cx="2011680" cy="2834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24128"/>
            <a:ext cx="20116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0241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Random Forest, XGBoost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263347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non-linearity, mixed types, work well out of the box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024128"/>
            <a:ext cx="2011680" cy="2834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24128"/>
            <a:ext cx="201168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10241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MLP, CNN, RNN, Transformers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63347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at unstructured data (images, text, audio)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024128"/>
            <a:ext cx="2011680" cy="2834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024128"/>
            <a:ext cx="20116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102412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17190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(KNN)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263347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slow at inference; no explicit training phase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39502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Bias-Variance Trade-off</a:t>
            </a:r>
            <a:endParaRPr lang="en-US" sz="14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20040" y="4315968"/>
          <a:ext cx="8503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5: Testing &amp;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how well the model generalises to unseen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64008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4630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— average magnitude of errors; easy to interpret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21992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21992"/>
            <a:ext cx="64008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2199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26771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— penalises large errors more heavily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26664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26664"/>
            <a:ext cx="64008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2666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072384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MSE — same units as target, most commonly reported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831336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831336"/>
            <a:ext cx="64008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83133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387705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 — how much variance is explained (0–1)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1024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Metrics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417320"/>
            <a:ext cx="73152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59552" y="146304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all predictions that are correct — misleading for imbalanced classes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221992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221992"/>
            <a:ext cx="73152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221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59552" y="226771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predicted positives, how many are truly positive?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026664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026664"/>
            <a:ext cx="73152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266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59552" y="3072384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positives, how many did the model catch?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831336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831336"/>
            <a:ext cx="73152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831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Score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59552" y="3877056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— balanced metric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0040" y="4709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Strategy: Cross-Validation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4709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Split data into K folds; train on K−1, test on 1, rotate K times for robust estimate.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6: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trained model from a notebook to a live production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88920" cy="18105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889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trained model to disk (pickle, ONNX, SavedModel format) so it can be loaded without retraining.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88920" cy="18105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78892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51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Wrapping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490472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model through a REST API endpoint. Applications send input data and receive predictions.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788920" cy="18105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051560"/>
            <a:ext cx="27889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051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490472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model, code, and dependencies into a Docker container for consistent deployment anywhere.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2788920" cy="18105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71800"/>
            <a:ext cx="27889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10712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prediction accuracy, data drift, and latency in production. Alert when performance degrades.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2788920" cy="18105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71800"/>
            <a:ext cx="278892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410712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periodic retraining on fresh data. Use CI/CD for ML (MLOps) to ensure continuous improvement.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2971800"/>
            <a:ext cx="2788920" cy="18105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971800"/>
            <a:ext cx="2788920" cy="3657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971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410712"/>
            <a:ext cx="2606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two model versions simultaneously to compare performance on live traffic before full rollout.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•  DAY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1,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College University Peshawar  •  Dept.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 mapping from inputs X to outputs Y using labeled training examples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supervised learning, the algorithm is given a dataset of (input, correct answer) pairs and learns a function that maps inputs to outputs. It is 'supervised' because we provide the right answers during training.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16002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(X, Y)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20240" y="1920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783080"/>
            <a:ext cx="16002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Algorithm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1920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4760" y="1783080"/>
            <a:ext cx="1600200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h(x)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94960" y="1920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32120" y="1783080"/>
            <a:ext cx="16002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Input X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32320" y="192024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9480" y="1783080"/>
            <a:ext cx="160020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783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Ŷ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2651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Core Tasks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90672"/>
            <a:ext cx="41605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0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Regression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584448"/>
            <a:ext cx="3886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continuous numerical value.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House price prediction, stock forecasting, temperature prediction, salary estimation.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Any real number on a continuous scale.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090672"/>
            <a:ext cx="416052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90672"/>
            <a:ext cx="41605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09067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🏷️  Classification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00600" y="3584448"/>
            <a:ext cx="38862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 discrete category or class label.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Email spam detection, disease diagnosis, handwriting recognition, fraud detection.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 of a finite set of classes.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Components of Supervised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essential building blocks that define every supervised ML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206240" cy="190195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1. Labeled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4005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where each input example X is paired with its correct output Y. Labels are provided by domain experts or historical records. The quality and size of labeled data directly caps model performance.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560320"/>
            <a:ext cx="4005072" cy="31089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56032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10,000 emails each labeled 'spam' or 'not spam'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24128"/>
            <a:ext cx="4206240" cy="190195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24128"/>
            <a:ext cx="42062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241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2. Hypothesis Function h(x)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17904"/>
            <a:ext cx="4005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function the algorithm learns. It maps an input X to a predicted output Ŷ. During training, we search for the best hypothesis — the one whose predictions best match the true labels.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0"/>
            <a:ext cx="4005072" cy="310896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56032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linear regression: h(x) = θ₀ + θ₁x₁ + θ₂x₂ + ...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4206240" cy="190195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35808"/>
            <a:ext cx="420624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358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3. Cost Function J(θ)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529584"/>
            <a:ext cx="4005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wrong the model's predictions are. A higher cost = larger errors. The learning algorithm tries to minimise this function. Common choices: Mean Squared Error (regression), Cross-Entropy (classification).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572000"/>
            <a:ext cx="4005072" cy="310896"/>
          </a:xfrm>
          <a:prstGeom prst="rect">
            <a:avLst/>
          </a:prstGeom>
          <a:solidFill>
            <a:srgbClr val="1D4ED8">
              <a:alpha val="1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45720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(1/m) Σ (h(xᵢ) − yᵢ)²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035808"/>
            <a:ext cx="4206240" cy="190195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035808"/>
            <a:ext cx="420624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3580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4. Optimizer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529584"/>
            <a:ext cx="4005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that minimises the cost function by adjusting model parameters θ. The most fundamental optimizer is Gradient Descent, which iteratively moves parameters in the direction that reduces cost.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4572000"/>
            <a:ext cx="4005072" cy="310896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45720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:= θ − α · ∂J/∂θ  (update rule)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•  DAY 3–4  |  WEEK 5  •  DAY 1–2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3, 4 → 1,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Univariate Linear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&amp; Gradient Descent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College University Peshawar  •  Dept.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Univariate Linear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single output from a single input feature using a straight 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= one input variable (feature). We fit the best straight line through the data points to predict a continuous outcome.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4389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72768"/>
            <a:ext cx="54864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θ₀ + θ₁x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θ₀ = intercept (bias), θ₁ = slope (weight)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input feature, h(x) = predicted output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688336"/>
            <a:ext cx="4389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688336"/>
            <a:ext cx="54864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parameters θ₀ and θ₁ that minimise prediction error. Training = finding the best-fit line through the scatter of data points.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803904"/>
            <a:ext cx="43891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803904"/>
            <a:ext cx="54864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5876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51376"/>
            <a:ext cx="4160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relationship between X and Y. Errors are independent, normally distributed, and have constant variance.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Best-Fit Line Concept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800600" y="1874520"/>
          <a:ext cx="40233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Function — J(θ)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how wrong the model's predictions are on the training set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function measures the total prediction error of the hypothesis across all training examples. Our goal is to choose parameters θ₀ and θ₁ that minimise J(θ).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850392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64208"/>
            <a:ext cx="8503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J(θ₀, θ₁)  =  1/(2m)  ×  Σᵢ₌₁ᵐ  (h(xᵢ) − yᵢ)²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7432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 Components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154680"/>
            <a:ext cx="41605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5468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Total number of training examples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154680"/>
            <a:ext cx="41605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15468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h(xᵢ)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Model prediction for the i-th training example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41605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5760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yᵢ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Actual true label of the i-th example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657600"/>
            <a:ext cx="41605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65760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(h(xᵢ)−yᵢ)²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Squared error — penalises large mistakes more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160520"/>
            <a:ext cx="4160520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6052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factor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Makes derivative calculations cleaner (cancels the 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45445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Function — Convex Bowl Shape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20040" y="484632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iterative optimisation algorithm that finds the minimum of the cost function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is the engine behind learning. It works by repeatedly adjusting model parameters in the direction that most steeply decreases the cost — like walking downhill to the lowest valley.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850392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θⱼ  :=  θⱼ  −  α  ×  ∂J(θ)/∂θⱼ     (simultaneously update all θⱼ)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633472"/>
            <a:ext cx="27889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334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(Alpha) — Learning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03580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step size. Too small → very slow convergence. Too large → overshoots minimum, may diverge. Typically 0.001–0.1.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633472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633472"/>
            <a:ext cx="27889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6334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∂J/∂θ — Gradient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03580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partial derivative of the cost function tells us the slope. If positive, decrease θ. If negative, increase θ. At minimum, gradient = 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2633472"/>
            <a:ext cx="2788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2633472"/>
            <a:ext cx="278892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6334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:= — Simultaneous Update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03580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must be updated at the same time using the current gradient values, not one after another.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42245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Gradient Descent Algorithm — Step by Step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1645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" y="487375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θ randomly (or zeros)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65960" y="47731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57400" y="4617720"/>
            <a:ext cx="1645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5740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30552" y="487375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J(θ) on training set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703320" y="47731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94760" y="4617720"/>
            <a:ext cx="1645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9476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67912" y="487375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 ∂J/∂θⱼ for each 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40680" y="47731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32120" y="4617720"/>
            <a:ext cx="1645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3212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05272" y="487375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 update all parameters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78040" y="4773168"/>
            <a:ext cx="9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69480" y="4617720"/>
            <a:ext cx="1645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6948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42632" y="487375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J(θ) converges to minimum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Learning Rate 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critical hyperparameters in gradient descent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Small 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508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converges but takes a very long time. Many iterations needed. Computationally expensive.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224028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93192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Eventually finds minimum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93192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Extremely slow training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024128"/>
            <a:ext cx="2788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1024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Right α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19272" y="1508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converges efficiently in a reasonable number of steps. The sweet spot we aim for in practice.</a:t>
            </a:r>
            <a:endParaRPr lang="en-US" sz="10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3246120" y="224028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3319272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 &amp; stable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319272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Needs tuning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72200" y="1024128"/>
            <a:ext cx="2788920" cy="41148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72200" y="10241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Large α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245352" y="1508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are too big — the algorithm overshoots the minimum and oscillates or diverges. Cost may actually increase.</a:t>
            </a:r>
            <a:endParaRPr lang="en-US" sz="1050" dirty="0"/>
          </a:p>
        </p:txBody>
      </p:sp>
      <p:graphicFrame>
        <p:nvGraphicFramePr>
          <p:cNvPr id="20" name="Chart 2" descr=""/>
          <p:cNvGraphicFramePr/>
          <p:nvPr/>
        </p:nvGraphicFramePr>
        <p:xfrm>
          <a:off x="6172200" y="224028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 16"/>
          <p:cNvSpPr/>
          <p:nvPr/>
        </p:nvSpPr>
        <p:spPr>
          <a:xfrm>
            <a:off x="6245352" y="4160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 initial steps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45352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May not converge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Try α ∈ {0.001, 0.003, 0.01, 0.03, 0.1} and pick the largest one that still converges reliably.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 — Without Vectorization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5, Day 1 | Understanding the algorithm iteration-by-iteration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vectorization, gradient descent is computed feature-by-feature, example-by-example using explicit loops over the dataset. This is conceptually clear but computationally slow for large datasets.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4206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Approach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112264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every training example i = 1 to m. For each example, compute the prediction h(xᵢ), find the error (h(xᵢ) − yᵢ), accumulate the gradient, then update θ.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91640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Updates (2 params)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2112264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temp₀ = θ₀ − α × (1/m) Σ(h(xᵢ)−yᵢ)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temp₁ = θ₁ − α × (1/m) Σ(h(xᵢ)−yᵢ)·xᵢ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θ₀ := temp₀    θ₁ := temp₁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38328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383280"/>
            <a:ext cx="420624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Simultaneous?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3803904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θ₀ and θ₁ must be saved as temporaries before either is updated. Using a freshly-updated θ₀ to compute the θ₁ update would give wrong results.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383280"/>
            <a:ext cx="4206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Criterion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46320" y="3803904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J(θ) changes by less than a tiny threshold ε (e.g. 10⁻⁶) between iterations, or until a fixed maximum number of iterations is reached.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983480"/>
            <a:ext cx="85039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834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Nested loops over m examples × p features = O(m×p) operations per iteration. Very slow for millions of samples.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 — With Vectorization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5, Day 1 | Expressing computations as matrix/vector operations for massive speed gains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 replaces explicit loops with matrix algebra. NumPy and modern hardware (CPUs/GPUs) execute these in parallel, making vectorized code orders of magnitude faster than looped equivalents.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vs. Vectorized — Side by Side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084832"/>
            <a:ext cx="1371600" cy="365760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848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91640" y="2084832"/>
            <a:ext cx="35661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0848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Vectorization (Loop)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2084832"/>
            <a:ext cx="35661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0848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Vectorization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1371600" cy="49377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468880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91640" y="2468880"/>
            <a:ext cx="3566160" cy="49377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4792" y="2468880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i=1…m, compute error for each sample individually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7800" y="2468880"/>
            <a:ext cx="3566160" cy="49377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2468880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all errors simultaneously using matrix multiply X·θ − 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80944"/>
            <a:ext cx="1371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980944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update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2980944"/>
            <a:ext cx="3566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64792" y="2980944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j=1…n, update each θⱼ one at a time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57800" y="2980944"/>
            <a:ext cx="3566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0952" y="2980944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:= θ − (α/m) × Xᵀ(Xθ − y) — one matrix expression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1371600" cy="49377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3493008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(1M samples)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91640" y="3493008"/>
            <a:ext cx="3566160" cy="49377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64792" y="3493008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~Seconds per epoch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57800" y="3493008"/>
            <a:ext cx="3566160" cy="49377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0952" y="3493008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~Milliseconds per epoch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005072"/>
            <a:ext cx="1371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4005072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usage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91640" y="4005072"/>
            <a:ext cx="3566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64792" y="400507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CPU core, no parallelism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57800" y="4005072"/>
            <a:ext cx="35661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0952" y="4005072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CPU or full GPU parallelism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517136"/>
            <a:ext cx="1371600" cy="49377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517136"/>
            <a:ext cx="1225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691640" y="4517136"/>
            <a:ext cx="3566160" cy="49377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64792" y="4517136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easy to trace step-by-step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257800" y="4517136"/>
            <a:ext cx="3566160" cy="493776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30952" y="4517136"/>
            <a:ext cx="3419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Concise; requires matrix algebra understanding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004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Comparison (relative time units)</a:t>
            </a:r>
            <a:endParaRPr lang="en-US" sz="110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320040" y="5413248"/>
          <a:ext cx="8503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•  MACHINE LEARNING — 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2, 3,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Multivariate, Polynomial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Logistic Regression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Islamia College University Peshawar  •  Dept.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Multivariate Linear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5, Day 2 | Extending to multiple input features simultaneously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problems rarely depend on a single feature. Multivariate regression handles n features at once, allowing the model to capture the combined effect of many variables on the output.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850392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h(x) = θ₀ + θ₁x₁ + θ₂x₂ + θ₃x₃ + … + θₙxₙ  =  θᵀx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578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House Price Prediction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999232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999232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= Size (sq ft)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" y="33467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 of price — larger homes cost more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999232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999232"/>
            <a:ext cx="54864" cy="731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30540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 = No. of Bedrooms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82896" y="33467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rooms → higher price, up to a point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803904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803904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 = No. of Floors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" y="41513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Multi-floor can signal larger overall size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803904"/>
            <a:ext cx="4206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803904"/>
            <a:ext cx="54864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 = Age of House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82896" y="41513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houses may be cheaper or more desirable (heritage)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4206240" cy="7315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66344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4690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Becomes Critical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" y="494690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multiple features of different scales, gradient descent converges much faster when all features are on a similar scale (e.g. −1 to 1). Use normalization or standardization.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4663440"/>
            <a:ext cx="4206240" cy="7315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466344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4690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Equation (Analytical Solution)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82896" y="494690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(XᵀX)⁻¹Xᵀy gives the exact minimum in one step — no iteration needed. However, it requires inverting an n×n matrix — slow for n &gt; 10,000 features.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5, Day 3 | Fitting curves when data relationships are non-linear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straight line cannot capture the pattern in data, we introduce polynomial (higher-power) features to model curves — while still using linear regression machinery internally.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h(x) = θ₀ + θ₁x + θ₂x² + θ₃x³ + …   (degree-d polynomial)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" y="2560320"/>
            <a:ext cx="4206240" cy="1188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560320"/>
            <a:ext cx="4206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98094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x², x³, etc. as new features. Feed into the same linear regression model. The model is 'linear in parameters θ' even though it fits a curve.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4206240" cy="1188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560320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Selection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98094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1 = straight line. Degree 2 = parabola. Degree 3 = cubic curve. Higher degree → more flexible but risk of overfitting.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858768"/>
            <a:ext cx="4206240" cy="1188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58768"/>
            <a:ext cx="4206240" cy="3657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58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(High Bias)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427939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simple (low degree) — misses the true pattern in training data. High error on both train and test sets.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858768"/>
            <a:ext cx="4206240" cy="118872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858768"/>
            <a:ext cx="4206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858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(High Variance)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427939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complex (high degree) — memorises training noise. Very low training error but high test error. Fails to generalise.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51389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Fitting Curves of Increasing Degree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20040" y="5449824"/>
          <a:ext cx="8503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—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name, Logistic Regression is a classification algorithm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predicts the probability that an input belongs to a particular class. It uses the Sigmoid function to squash any real-valued prediction into the range [0, 1].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σ(z) = 1 / (1 + e⁻ᶻ)     where z = θᵀx = θ₀ + θ₁x₁ + … + θₙxₙ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56032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560320"/>
            <a:ext cx="4206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Interpretation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980944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is the probability P(y=1|x;θ). If σ(z) ≥ 0.5, predict class 1. If σ(z) &lt; 0.5, predict class 0. The threshold 0.5 can be adjusted.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560320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560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980944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(or curve with polynomial features) θᵀx = 0 that separates the two classes. Points on one side → class 0; other side → class 1.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91363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913632"/>
            <a:ext cx="420624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 (Log Loss)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4334256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MSE — it would be non-convex. Instead: J = −(1/m)Σ[y·log(h) + (1−y)·log(1−h)]. This is convex, so gradient descent finds the global minimum.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913632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913632"/>
            <a:ext cx="4206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Linear Regression?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4334256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predicts values outside [0,1]. A probability must be bounded. Also, the MSE cost becomes non-convex with the sigmoid, creating local minima.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20040" y="5193792"/>
          <a:ext cx="8503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— Binary Classification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5, Day 3 | Two-class problems: 0 or 1, Yes or No, Positive or Negative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assigns each input to one of exactly two classes. Logistic regression is the baseline algorithm for any binary classification problem.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1600200" cy="8046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62763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(x₁, x₂, …, xₙ)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20240" y="182880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627632"/>
            <a:ext cx="16002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62763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θᵀx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182880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4760" y="1627632"/>
            <a:ext cx="160020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62763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0" y="182880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32120" y="1627632"/>
            <a:ext cx="1600200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162763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P(y=1|x)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32320" y="182880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69480" y="1627632"/>
            <a:ext cx="160020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627632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 or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25420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Binary Classification Examples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2944368"/>
            <a:ext cx="4206240" cy="9326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999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Classification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" y="3273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0: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1: </a:t>
            </a:r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538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Word frequencies, sender, links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44368"/>
            <a:ext cx="4206240" cy="9326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999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0" y="3273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0: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1: </a:t>
            </a:r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538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Blood tests, symptoms, 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968496"/>
            <a:ext cx="4206240" cy="9326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11480" y="4297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0: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1: </a:t>
            </a:r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562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Amount, location, frequency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968496"/>
            <a:ext cx="4206240" cy="93268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46320" y="4297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0: </a:t>
            </a:r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1: </a:t>
            </a:r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4562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Income, credit score, history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50474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— Evaluating Binary Classifiers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0040" y="5394960"/>
            <a:ext cx="283464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" y="539496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5394960"/>
            <a:ext cx="283464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539496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72200" y="5394960"/>
            <a:ext cx="283464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5394960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5833872"/>
            <a:ext cx="283464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5833872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0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46120" y="5833872"/>
            <a:ext cx="2834640" cy="420624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00984" y="5833872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 (TN)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72200" y="5833872"/>
            <a:ext cx="283464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7064" y="5833872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(FP) — Type I Error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6272784"/>
            <a:ext cx="283464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" y="6272784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46120" y="6272784"/>
            <a:ext cx="283464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00984" y="6272784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(FN) — Type II Error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72200" y="6272784"/>
            <a:ext cx="2834640" cy="420624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27064" y="6272784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(TP)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— Multiclass Classification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5, Day 4 | Extending binary classification to K &gt; 2 classes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output can be one of three or more categories, we extend logistic regression using two main strategies: One-vs-All (OvA) and Softmax Regression.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8503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642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1: One-vs-All (One-vs-Rest)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139696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K separate binary classifiers, one per class. Classifier k asks: 'Is this example class k or not class k?' At prediction time, run all K classifiers and pick the class with the highest probability.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2286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8346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1: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(Cat) vs. ALL others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2834640"/>
            <a:ext cx="2286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8346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2: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(Dog) vs. ALL others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834640"/>
            <a:ext cx="228600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28346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3: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(Bird) vs. ALL others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Pick the class whose classifier outputs the highest P(y=k|x)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4005072"/>
            <a:ext cx="8503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00507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2: Softmax Regression (Multinomial Logistic Regression)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480560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448056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" y="45079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8056" y="478231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K parameter vectors θ¹, θ², …, θᴷ simultaneously. Outputs a probability distribution over all K classes that sums to exactly 1.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246120" y="4480560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448056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45079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Function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74136" y="478231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P(y=k|x) = exp(θᵏᵀx) / Σⱼ exp(θʲᵀx)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Converts raw scores to probabilities. The denominator normalises across all classes.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172200" y="4480560"/>
            <a:ext cx="2788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448056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45079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00216" y="4782312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 across K classes: J = −(1/m)ΣᵢΣₖ 1{y⁽ⁱ⁾=k} · log P(y=k|x⁽ⁱ⁾). Minimised by gradient descent.</a:t>
            </a:r>
            <a:endParaRPr lang="en-US" sz="9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 &amp; Regularization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model complexity to generalise well to new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occurs when a model learns the training data's noise, not its signal. It performs perfectly on training data but fails on new examples. Regularization penalises large parameter values to reduce complexity.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Fit Spectrum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48840"/>
            <a:ext cx="2788920" cy="2834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48840"/>
            <a:ext cx="2788920" cy="45720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Underfitting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(High Bias)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44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2735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858768"/>
            <a:ext cx="2606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9136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More features, higher-degree polynomial, less regularization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2148840"/>
            <a:ext cx="2788920" cy="2834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148840"/>
            <a:ext cx="2788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Fit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(Balanced)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697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944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32735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520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37560" y="3858768"/>
            <a:ext cx="2606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9136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The target! Good feature selection, right complexity, appropriate α &amp; 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148840"/>
            <a:ext cx="2788920" cy="283464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148840"/>
            <a:ext cx="2788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1488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(High Variance)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2697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Error: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944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Low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32735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Error: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520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3858768"/>
            <a:ext cx="2606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91363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More data, fewer features, higher regularization (L1 or L2)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5074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 Types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5422392"/>
            <a:ext cx="4206240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5422392"/>
            <a:ext cx="64008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542239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Ridge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33272" y="546811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λΣθⱼ² to cost. Shrinks all weights toward zero. Keeps all features. Most common.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5422392"/>
            <a:ext cx="4206240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5422392"/>
            <a:ext cx="64008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542239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— Lasso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68112" y="546811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λΣ|θⱼ| to cost. Drives some weights exactly to zero → automatic feature selection.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804672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32688"/>
            <a:ext cx="278892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987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⊃ ML ⊃ DL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" y="13716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broadest field; ML learns from data; DL uses deep neural networks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32688"/>
            <a:ext cx="278892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3268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987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of 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74136" y="13716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(labeled), Unsupervised (patterns), Reinforcement (rewards)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932688"/>
            <a:ext cx="278892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93268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987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13716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→ Preprocess → Features → Model → Evaluate → Deploy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121408"/>
            <a:ext cx="278892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12140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Components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" y="256032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data, Hypothesis h(x), Cost function J(θ), Optimizer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121408"/>
            <a:ext cx="278892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12140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74136" y="256032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minimise J by adjusting θ in the negative gradient direction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2121408"/>
            <a:ext cx="278892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12140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0216" y="256032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 replace loops — massive speed gain at scale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310128"/>
            <a:ext cx="278892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31012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LR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8056" y="37490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θᵀx handles many features; feature scaling is essential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3310128"/>
            <a:ext cx="278892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331012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74136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&amp; Logistic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74136" y="37490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Curve-fitting for non-linear data; probabilities for classification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3310128"/>
            <a:ext cx="2788920" cy="10789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3310128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364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Bias–Variance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0216" y="37490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model complexity — combat underfitting and overfitting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553712"/>
            <a:ext cx="85953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RA: Muhammad Huzifa   |   Supervisor: Dr Muhammad Sajjad   |   Islamia College University Peshawar   |   Dept. of 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— Foundations &amp; Applications</dc:title>
  <dc:subject>PptxGenJS Presentation</dc:subject>
  <dc:creator>Muhammad Huzifa</dc:creator>
  <cp:lastModifiedBy>Muhammad Huzifa</cp:lastModifiedBy>
  <cp:revision>1</cp:revision>
  <dcterms:created xsi:type="dcterms:W3CDTF">2026-05-01T16:52:09Z</dcterms:created>
  <dcterms:modified xsi:type="dcterms:W3CDTF">2026-05-01T16:52:09Z</dcterms:modified>
</cp:coreProperties>
</file>