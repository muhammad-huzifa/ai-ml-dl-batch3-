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804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5"/>
        </a:solidFill>
        <a:effectLst/>
      </p:bgPr>
    </p:bg>
    <p:spTree>
      <p:nvGrpSpPr>
        <p:cNvPr id="1" name=""/>
        <p:cNvGrpSpPr/>
        <p:nvPr/>
      </p:nvGrpSpPr>
      <p:grpSpPr>
        <a:xfrm>
          <a:off x="0" y="0"/>
          <a:ext cx="0" cy="0"/>
          <a:chOff x="0" y="0"/>
          <a:chExt cx="0" cy="0"/>
        </a:xfrm>
      </p:grpSpPr>
      <p:sp>
        <p:nvSpPr>
          <p:cNvPr id="2" name="Shape 0"/>
          <p:cNvSpPr/>
          <p:nvPr/>
        </p:nvSpPr>
        <p:spPr>
          <a:xfrm>
            <a:off x="0" y="3566160"/>
            <a:ext cx="9144000" cy="1234440"/>
          </a:xfrm>
          <a:prstGeom prst="rect">
            <a:avLst/>
          </a:prstGeom>
          <a:solidFill>
            <a:srgbClr val="09152A"/>
          </a:solidFill>
          <a:ln/>
        </p:spPr>
      </p:sp>
      <p:sp>
        <p:nvSpPr>
          <p:cNvPr id="3" name="Shape 1"/>
          <p:cNvSpPr/>
          <p:nvPr/>
        </p:nvSpPr>
        <p:spPr>
          <a:xfrm>
            <a:off x="0" y="0"/>
            <a:ext cx="164592" cy="5143500"/>
          </a:xfrm>
          <a:prstGeom prst="rect">
            <a:avLst/>
          </a:prstGeom>
          <a:solidFill>
            <a:srgbClr val="0D9488"/>
          </a:solidFill>
          <a:ln/>
        </p:spPr>
      </p:sp>
      <p:sp>
        <p:nvSpPr>
          <p:cNvPr id="4" name="Text 2"/>
          <p:cNvSpPr/>
          <p:nvPr/>
        </p:nvSpPr>
        <p:spPr>
          <a:xfrm>
            <a:off x="457200" y="411480"/>
            <a:ext cx="8229600" cy="384048"/>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Day 5</a:t>
            </a:r>
            <a:endParaRPr lang="en-US" sz="1600" dirty="0"/>
          </a:p>
        </p:txBody>
      </p:sp>
      <p:sp>
        <p:nvSpPr>
          <p:cNvPr id="5" name="Text 3"/>
          <p:cNvSpPr/>
          <p:nvPr/>
        </p:nvSpPr>
        <p:spPr>
          <a:xfrm>
            <a:off x="457200" y="804672"/>
            <a:ext cx="8229600" cy="822960"/>
          </a:xfrm>
          <a:prstGeom prst="rect">
            <a:avLst/>
          </a:prstGeom>
          <a:noFill/>
          <a:ln/>
        </p:spPr>
        <p:txBody>
          <a:bodyPr wrap="square" lIns="0" tIns="0" rIns="0" bIns="0"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Measures of Dispersion</a:t>
            </a:r>
            <a:endParaRPr lang="en-US" sz="4200" dirty="0"/>
          </a:p>
        </p:txBody>
      </p:sp>
      <p:sp>
        <p:nvSpPr>
          <p:cNvPr id="6" name="Text 4"/>
          <p:cNvSpPr/>
          <p:nvPr/>
        </p:nvSpPr>
        <p:spPr>
          <a:xfrm>
            <a:off x="457200" y="1600200"/>
            <a:ext cx="8229600" cy="658368"/>
          </a:xfrm>
          <a:prstGeom prst="rect">
            <a:avLst/>
          </a:prstGeom>
          <a:noFill/>
          <a:ln/>
        </p:spPr>
        <p:txBody>
          <a:bodyPr wrap="square" lIns="0" tIns="0" rIns="0" bIns="0" rtlCol="0" anchor="ctr"/>
          <a:lstStyle/>
          <a:p>
            <a:pPr marL="0" indent="0">
              <a:buNone/>
            </a:pPr>
            <a:r>
              <a:rPr lang="en-US" sz="3400" b="1" dirty="0">
                <a:solidFill>
                  <a:srgbClr val="5EEAD4"/>
                </a:solidFill>
                <a:latin typeface="Trebuchet MS" pitchFamily="34" charset="0"/>
                <a:ea typeface="Trebuchet MS" pitchFamily="34" charset="-122"/>
                <a:cs typeface="Trebuchet MS" pitchFamily="34" charset="-120"/>
              </a:rPr>
              <a:t>&amp; Measures of Position</a:t>
            </a:r>
            <a:endParaRPr lang="en-US" sz="3400" dirty="0"/>
          </a:p>
        </p:txBody>
      </p:sp>
      <p:sp>
        <p:nvSpPr>
          <p:cNvPr id="7" name="Text 5"/>
          <p:cNvSpPr/>
          <p:nvPr/>
        </p:nvSpPr>
        <p:spPr>
          <a:xfrm>
            <a:off x="457200" y="2377440"/>
            <a:ext cx="8229600" cy="320040"/>
          </a:xfrm>
          <a:prstGeom prst="rect">
            <a:avLst/>
          </a:prstGeom>
          <a:noFill/>
          <a:ln/>
        </p:spPr>
        <p:txBody>
          <a:bodyPr wrap="square" lIns="0" tIns="0" rIns="0" bIns="0" rtlCol="0" anchor="ctr"/>
          <a:lstStyle/>
          <a:p>
            <a:pPr marL="0" indent="0">
              <a:buNone/>
            </a:pPr>
            <a:r>
              <a:rPr lang="en-US" sz="1250" dirty="0">
                <a:solidFill>
                  <a:srgbClr val="7DD3FC"/>
                </a:solidFill>
                <a:latin typeface="Calibri" pitchFamily="34" charset="0"/>
                <a:ea typeface="Calibri" pitchFamily="34" charset="-122"/>
                <a:cs typeface="Calibri" pitchFamily="34" charset="-120"/>
              </a:rPr>
              <a:t>Hours 1–2  ·  Variance  ·  Std Dev  ·  CV  ·  Skewness  ·  Kurtosis</a:t>
            </a:r>
            <a:endParaRPr lang="en-US" sz="1250" dirty="0"/>
          </a:p>
        </p:txBody>
      </p:sp>
      <p:sp>
        <p:nvSpPr>
          <p:cNvPr id="8" name="Text 6"/>
          <p:cNvSpPr/>
          <p:nvPr/>
        </p:nvSpPr>
        <p:spPr>
          <a:xfrm>
            <a:off x="457200" y="2697480"/>
            <a:ext cx="8229600" cy="320040"/>
          </a:xfrm>
          <a:prstGeom prst="rect">
            <a:avLst/>
          </a:prstGeom>
          <a:noFill/>
          <a:ln/>
        </p:spPr>
        <p:txBody>
          <a:bodyPr wrap="square" lIns="0" tIns="0" rIns="0" bIns="0" rtlCol="0" anchor="ctr"/>
          <a:lstStyle/>
          <a:p>
            <a:pPr marL="0" indent="0">
              <a:buNone/>
            </a:pPr>
            <a:r>
              <a:rPr lang="en-US" sz="1250" dirty="0">
                <a:solidFill>
                  <a:srgbClr val="A7F3D0"/>
                </a:solidFill>
                <a:latin typeface="Calibri" pitchFamily="34" charset="0"/>
                <a:ea typeface="Calibri" pitchFamily="34" charset="-122"/>
                <a:cs typeface="Calibri" pitchFamily="34" charset="-120"/>
              </a:rPr>
              <a:t>Hours 3–4  ·  Z-Score  ·  Percentile  ·  Quartile</a:t>
            </a:r>
            <a:endParaRPr lang="en-US" sz="1250" dirty="0"/>
          </a:p>
        </p:txBody>
      </p:sp>
      <p:sp>
        <p:nvSpPr>
          <p:cNvPr id="9" name="Shape 7"/>
          <p:cNvSpPr/>
          <p:nvPr/>
        </p:nvSpPr>
        <p:spPr>
          <a:xfrm>
            <a:off x="457200"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10" name="Text 8"/>
          <p:cNvSpPr/>
          <p:nvPr/>
        </p:nvSpPr>
        <p:spPr>
          <a:xfrm>
            <a:off x="457200" y="3200400"/>
            <a:ext cx="1298448" cy="310896"/>
          </a:xfrm>
          <a:prstGeom prst="rect">
            <a:avLst/>
          </a:prstGeom>
          <a:noFill/>
          <a:ln/>
        </p:spPr>
        <p:txBody>
          <a:bodyPr wrap="square" lIns="0" tIns="0" rIns="0" bIns="0" rtlCol="0" anchor="ctr"/>
          <a:lstStyle/>
          <a:p>
            <a:pPr marL="0" indent="0" algn="ctr">
              <a:buNone/>
            </a:pPr>
            <a:r>
              <a:rPr lang="en-US" sz="1100" b="1" dirty="0">
                <a:solidFill>
                  <a:srgbClr val="1D4ED8"/>
                </a:solidFill>
                <a:latin typeface="Trebuchet MS" pitchFamily="34" charset="0"/>
                <a:ea typeface="Trebuchet MS" pitchFamily="34" charset="-122"/>
                <a:cs typeface="Trebuchet MS" pitchFamily="34" charset="-120"/>
              </a:rPr>
              <a:t>Variance</a:t>
            </a:r>
            <a:endParaRPr lang="en-US" sz="1100" dirty="0"/>
          </a:p>
        </p:txBody>
      </p:sp>
      <p:sp>
        <p:nvSpPr>
          <p:cNvPr id="11" name="Shape 9"/>
          <p:cNvSpPr/>
          <p:nvPr/>
        </p:nvSpPr>
        <p:spPr>
          <a:xfrm>
            <a:off x="1883664"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12" name="Text 10"/>
          <p:cNvSpPr/>
          <p:nvPr/>
        </p:nvSpPr>
        <p:spPr>
          <a:xfrm>
            <a:off x="1883664" y="3200400"/>
            <a:ext cx="1298448" cy="310896"/>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Std Dev</a:t>
            </a:r>
            <a:endParaRPr lang="en-US" sz="1100" dirty="0"/>
          </a:p>
        </p:txBody>
      </p:sp>
      <p:sp>
        <p:nvSpPr>
          <p:cNvPr id="13" name="Shape 11"/>
          <p:cNvSpPr/>
          <p:nvPr/>
        </p:nvSpPr>
        <p:spPr>
          <a:xfrm>
            <a:off x="3310128"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14" name="Text 12"/>
          <p:cNvSpPr/>
          <p:nvPr/>
        </p:nvSpPr>
        <p:spPr>
          <a:xfrm>
            <a:off x="3310128" y="3200400"/>
            <a:ext cx="1298448" cy="310896"/>
          </a:xfrm>
          <a:prstGeom prst="rect">
            <a:avLst/>
          </a:prstGeom>
          <a:noFill/>
          <a:ln/>
        </p:spPr>
        <p:txBody>
          <a:bodyPr wrap="square" lIns="0" tIns="0" rIns="0" bIns="0" rtlCol="0" anchor="ctr"/>
          <a:lstStyle/>
          <a:p>
            <a:pPr marL="0" indent="0" algn="ctr">
              <a:buNone/>
            </a:pPr>
            <a:r>
              <a:rPr lang="en-US" sz="1100" b="1" dirty="0">
                <a:solidFill>
                  <a:srgbClr val="7C3AED"/>
                </a:solidFill>
                <a:latin typeface="Trebuchet MS" pitchFamily="34" charset="0"/>
                <a:ea typeface="Trebuchet MS" pitchFamily="34" charset="-122"/>
                <a:cs typeface="Trebuchet MS" pitchFamily="34" charset="-120"/>
              </a:rPr>
              <a:t>Skewness</a:t>
            </a:r>
            <a:endParaRPr lang="en-US" sz="1100" dirty="0"/>
          </a:p>
        </p:txBody>
      </p:sp>
      <p:sp>
        <p:nvSpPr>
          <p:cNvPr id="15" name="Shape 13"/>
          <p:cNvSpPr/>
          <p:nvPr/>
        </p:nvSpPr>
        <p:spPr>
          <a:xfrm>
            <a:off x="4736592"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16" name="Text 14"/>
          <p:cNvSpPr/>
          <p:nvPr/>
        </p:nvSpPr>
        <p:spPr>
          <a:xfrm>
            <a:off x="4736592" y="3200400"/>
            <a:ext cx="1298448" cy="310896"/>
          </a:xfrm>
          <a:prstGeom prst="rect">
            <a:avLst/>
          </a:prstGeom>
          <a:noFill/>
          <a:ln/>
        </p:spPr>
        <p:txBody>
          <a:bodyPr wrap="square" lIns="0" tIns="0" rIns="0" bIns="0" rtlCol="0" anchor="ctr"/>
          <a:lstStyle/>
          <a:p>
            <a:pPr marL="0" indent="0" algn="ctr">
              <a:buNone/>
            </a:pPr>
            <a:r>
              <a:rPr lang="en-US" sz="1100" b="1" dirty="0">
                <a:solidFill>
                  <a:srgbClr val="D97706"/>
                </a:solidFill>
                <a:latin typeface="Trebuchet MS" pitchFamily="34" charset="0"/>
                <a:ea typeface="Trebuchet MS" pitchFamily="34" charset="-122"/>
                <a:cs typeface="Trebuchet MS" pitchFamily="34" charset="-120"/>
              </a:rPr>
              <a:t>Z-Score</a:t>
            </a:r>
            <a:endParaRPr lang="en-US" sz="1100" dirty="0"/>
          </a:p>
        </p:txBody>
      </p:sp>
      <p:sp>
        <p:nvSpPr>
          <p:cNvPr id="17" name="Shape 15"/>
          <p:cNvSpPr/>
          <p:nvPr/>
        </p:nvSpPr>
        <p:spPr>
          <a:xfrm>
            <a:off x="6163056"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18" name="Text 16"/>
          <p:cNvSpPr/>
          <p:nvPr/>
        </p:nvSpPr>
        <p:spPr>
          <a:xfrm>
            <a:off x="6163056" y="3200400"/>
            <a:ext cx="1298448" cy="310896"/>
          </a:xfrm>
          <a:prstGeom prst="rect">
            <a:avLst/>
          </a:prstGeom>
          <a:noFill/>
          <a:ln/>
        </p:spPr>
        <p:txBody>
          <a:bodyPr wrap="square" lIns="0" tIns="0" rIns="0" bIns="0" rtlCol="0" anchor="ctr"/>
          <a:lstStyle/>
          <a:p>
            <a:pPr marL="0" indent="0" algn="ctr">
              <a:buNone/>
            </a:pPr>
            <a:r>
              <a:rPr lang="en-US" sz="1100" b="1" dirty="0">
                <a:solidFill>
                  <a:srgbClr val="DC2626"/>
                </a:solidFill>
                <a:latin typeface="Trebuchet MS" pitchFamily="34" charset="0"/>
                <a:ea typeface="Trebuchet MS" pitchFamily="34" charset="-122"/>
                <a:cs typeface="Trebuchet MS" pitchFamily="34" charset="-120"/>
              </a:rPr>
              <a:t>Percentile</a:t>
            </a:r>
            <a:endParaRPr lang="en-US" sz="1100" dirty="0"/>
          </a:p>
        </p:txBody>
      </p:sp>
      <p:sp>
        <p:nvSpPr>
          <p:cNvPr id="19" name="Shape 17"/>
          <p:cNvSpPr/>
          <p:nvPr/>
        </p:nvSpPr>
        <p:spPr>
          <a:xfrm>
            <a:off x="7589520" y="3182112"/>
            <a:ext cx="1298448" cy="347472"/>
          </a:xfrm>
          <a:prstGeom prst="rect">
            <a:avLst/>
          </a:prstGeom>
          <a:solidFill>
            <a:srgbClr val="0D2A4A"/>
          </a:solidFill>
          <a:ln/>
          <a:effectLst>
            <a:outerShdw blurRad="63500" dist="25400" dir="8100000" algn="bl" rotWithShape="0">
              <a:srgbClr val="000000">
                <a:alpha val="25000"/>
              </a:srgbClr>
            </a:outerShdw>
          </a:effectLst>
        </p:spPr>
      </p:sp>
      <p:sp>
        <p:nvSpPr>
          <p:cNvPr id="20" name="Text 18"/>
          <p:cNvSpPr/>
          <p:nvPr/>
        </p:nvSpPr>
        <p:spPr>
          <a:xfrm>
            <a:off x="7589520" y="3200400"/>
            <a:ext cx="1298448" cy="310896"/>
          </a:xfrm>
          <a:prstGeom prst="rect">
            <a:avLst/>
          </a:prstGeom>
          <a:noFill/>
          <a:ln/>
        </p:spPr>
        <p:txBody>
          <a:bodyPr wrap="square" lIns="0" tIns="0" rIns="0" bIns="0" rtlCol="0" anchor="ctr"/>
          <a:lstStyle/>
          <a:p>
            <a:pPr marL="0" indent="0" algn="ctr">
              <a:buNone/>
            </a:pPr>
            <a:r>
              <a:rPr lang="en-US" sz="1100" b="1" dirty="0">
                <a:solidFill>
                  <a:srgbClr val="BE185D"/>
                </a:solidFill>
                <a:latin typeface="Trebuchet MS" pitchFamily="34" charset="0"/>
                <a:ea typeface="Trebuchet MS" pitchFamily="34" charset="-122"/>
                <a:cs typeface="Trebuchet MS" pitchFamily="34" charset="-120"/>
              </a:rPr>
              <a:t>Quartile</a:t>
            </a:r>
            <a:endParaRPr lang="en-US" sz="1100" dirty="0"/>
          </a:p>
        </p:txBody>
      </p:sp>
      <p:sp>
        <p:nvSpPr>
          <p:cNvPr id="21" name="Shape 19"/>
          <p:cNvSpPr/>
          <p:nvPr/>
        </p:nvSpPr>
        <p:spPr>
          <a:xfrm>
            <a:off x="0" y="4800600"/>
            <a:ext cx="9144000" cy="342900"/>
          </a:xfrm>
          <a:prstGeom prst="rect">
            <a:avLst/>
          </a:prstGeom>
          <a:solidFill>
            <a:srgbClr val="060F1E"/>
          </a:solidFill>
          <a:ln/>
        </p:spPr>
      </p:sp>
      <p:sp>
        <p:nvSpPr>
          <p:cNvPr id="22" name="Text 20"/>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Introduction — Why Measures of Dispersion Matter</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Central tendency (mean/median/mode) tells us the centre — but NOT how spread out the data is. Dispersion fills that gap.</a:t>
            </a:r>
            <a:endParaRPr lang="en-US" sz="1400" dirty="0"/>
          </a:p>
        </p:txBody>
      </p:sp>
      <p:sp>
        <p:nvSpPr>
          <p:cNvPr id="5" name="Shape 3"/>
          <p:cNvSpPr/>
          <p:nvPr/>
        </p:nvSpPr>
        <p:spPr>
          <a:xfrm>
            <a:off x="365760" y="1417320"/>
            <a:ext cx="8412480" cy="1005840"/>
          </a:xfrm>
          <a:prstGeom prst="rect">
            <a:avLst/>
          </a:prstGeom>
          <a:solidFill>
            <a:srgbClr val="DBEAFE"/>
          </a:solidFill>
          <a:ln/>
          <a:effectLst>
            <a:outerShdw blurRad="88900" dist="25400" dir="8100000" algn="bl" rotWithShape="0">
              <a:srgbClr val="000000">
                <a:alpha val="9000"/>
              </a:srgbClr>
            </a:outerShdw>
          </a:effectLst>
        </p:spPr>
      </p:sp>
      <p:sp>
        <p:nvSpPr>
          <p:cNvPr id="6" name="Shape 4"/>
          <p:cNvSpPr/>
          <p:nvPr/>
        </p:nvSpPr>
        <p:spPr>
          <a:xfrm>
            <a:off x="365760" y="1417320"/>
            <a:ext cx="64008" cy="1005840"/>
          </a:xfrm>
          <a:prstGeom prst="rect">
            <a:avLst/>
          </a:prstGeom>
          <a:solidFill>
            <a:srgbClr val="1D4ED8"/>
          </a:solidFill>
          <a:ln/>
        </p:spPr>
      </p:sp>
      <p:sp>
        <p:nvSpPr>
          <p:cNvPr id="7" name="Text 5"/>
          <p:cNvSpPr/>
          <p:nvPr/>
        </p:nvSpPr>
        <p:spPr>
          <a:xfrm>
            <a:off x="548640" y="1463040"/>
            <a:ext cx="8046720" cy="274320"/>
          </a:xfrm>
          <a:prstGeom prst="rect">
            <a:avLst/>
          </a:prstGeom>
          <a:noFill/>
          <a:ln/>
        </p:spPr>
        <p:txBody>
          <a:bodyPr wrap="square" lIns="0" tIns="0" rIns="0" bIns="0" rtlCol="0" anchor="ctr"/>
          <a:lstStyle/>
          <a:p>
            <a:pPr marL="0" indent="0">
              <a:buNone/>
            </a:pPr>
            <a:r>
              <a:rPr lang="en-US" sz="1350" b="1" dirty="0">
                <a:solidFill>
                  <a:srgbClr val="1D4ED8"/>
                </a:solidFill>
                <a:latin typeface="Trebuchet MS" pitchFamily="34" charset="0"/>
                <a:ea typeface="Trebuchet MS" pitchFamily="34" charset="-122"/>
                <a:cs typeface="Trebuchet MS" pitchFamily="34" charset="-120"/>
              </a:rPr>
              <a:t>📌  Real-Life Scenario</a:t>
            </a:r>
            <a:endParaRPr lang="en-US" sz="1350" dirty="0"/>
          </a:p>
        </p:txBody>
      </p:sp>
      <p:sp>
        <p:nvSpPr>
          <p:cNvPr id="8" name="Text 6"/>
          <p:cNvSpPr/>
          <p:nvPr/>
        </p:nvSpPr>
        <p:spPr>
          <a:xfrm>
            <a:off x="548640" y="1764792"/>
            <a:ext cx="8046720" cy="566928"/>
          </a:xfrm>
          <a:prstGeom prst="rect">
            <a:avLst/>
          </a:prstGeom>
          <a:noFill/>
          <a:ln/>
        </p:spPr>
        <p:txBody>
          <a:bodyPr wrap="square" lIns="0" tIns="0" rIns="0" bIns="0" rtlCol="0" anchor="ctr"/>
          <a:lstStyle/>
          <a:p>
            <a:pPr marL="0" indent="0">
              <a:buNone/>
            </a:pPr>
            <a:r>
              <a:rPr lang="en-US" sz="1250" dirty="0">
                <a:solidFill>
                  <a:srgbClr val="1E3A5F"/>
                </a:solidFill>
                <a:latin typeface="Calibri" pitchFamily="34" charset="0"/>
                <a:ea typeface="Calibri" pitchFamily="34" charset="-122"/>
                <a:cs typeface="Calibri" pitchFamily="34" charset="-120"/>
              </a:rPr>
              <a:t>Two classes both scored a Mean of 75. But Class A had scores: 73, 74, 75, 76, 77 — very consistent. Class B had scores: 40, 55, 75, 90, 99 — wildly spread. The mean looks the same but the experience is completely different!</a:t>
            </a:r>
            <a:endParaRPr lang="en-US" sz="1250" dirty="0"/>
          </a:p>
        </p:txBody>
      </p:sp>
      <p:sp>
        <p:nvSpPr>
          <p:cNvPr id="9" name="Shape 7"/>
          <p:cNvSpPr/>
          <p:nvPr/>
        </p:nvSpPr>
        <p:spPr>
          <a:xfrm>
            <a:off x="320040" y="2542032"/>
            <a:ext cx="2715768" cy="2084832"/>
          </a:xfrm>
          <a:prstGeom prst="rect">
            <a:avLst/>
          </a:prstGeom>
          <a:solidFill>
            <a:srgbClr val="F0FDFA"/>
          </a:solidFill>
          <a:ln/>
          <a:effectLst>
            <a:outerShdw blurRad="88900" dist="25400" dir="8100000" algn="bl" rotWithShape="0">
              <a:srgbClr val="000000">
                <a:alpha val="9000"/>
              </a:srgbClr>
            </a:outerShdw>
          </a:effectLst>
        </p:spPr>
      </p:sp>
      <p:sp>
        <p:nvSpPr>
          <p:cNvPr id="10" name="Shape 8"/>
          <p:cNvSpPr/>
          <p:nvPr/>
        </p:nvSpPr>
        <p:spPr>
          <a:xfrm>
            <a:off x="320040" y="2542032"/>
            <a:ext cx="64008" cy="2084832"/>
          </a:xfrm>
          <a:prstGeom prst="rect">
            <a:avLst/>
          </a:prstGeom>
          <a:solidFill>
            <a:srgbClr val="0D9488"/>
          </a:solidFill>
          <a:ln/>
        </p:spPr>
      </p:sp>
      <p:sp>
        <p:nvSpPr>
          <p:cNvPr id="11" name="Text 9"/>
          <p:cNvSpPr/>
          <p:nvPr/>
        </p:nvSpPr>
        <p:spPr>
          <a:xfrm>
            <a:off x="475488" y="2596896"/>
            <a:ext cx="2487168" cy="292608"/>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  Understand Spread</a:t>
            </a:r>
            <a:endParaRPr lang="en-US" sz="1300" dirty="0"/>
          </a:p>
        </p:txBody>
      </p:sp>
      <p:sp>
        <p:nvSpPr>
          <p:cNvPr id="12" name="Text 10"/>
          <p:cNvSpPr/>
          <p:nvPr/>
        </p:nvSpPr>
        <p:spPr>
          <a:xfrm>
            <a:off x="475488" y="2944368"/>
            <a:ext cx="2487168" cy="1572768"/>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How far are data points from the average? Small spread = consistent. Large spread = unpredictable and unreliable.</a:t>
            </a:r>
            <a:endParaRPr lang="en-US" sz="1200" dirty="0"/>
          </a:p>
        </p:txBody>
      </p:sp>
      <p:sp>
        <p:nvSpPr>
          <p:cNvPr id="13" name="Shape 11"/>
          <p:cNvSpPr/>
          <p:nvPr/>
        </p:nvSpPr>
        <p:spPr>
          <a:xfrm>
            <a:off x="3172968" y="2542032"/>
            <a:ext cx="2715768" cy="2084832"/>
          </a:xfrm>
          <a:prstGeom prst="rect">
            <a:avLst/>
          </a:prstGeom>
          <a:solidFill>
            <a:srgbClr val="FEF3C7"/>
          </a:solidFill>
          <a:ln/>
          <a:effectLst>
            <a:outerShdw blurRad="88900" dist="25400" dir="8100000" algn="bl" rotWithShape="0">
              <a:srgbClr val="000000">
                <a:alpha val="9000"/>
              </a:srgbClr>
            </a:outerShdw>
          </a:effectLst>
        </p:spPr>
      </p:sp>
      <p:sp>
        <p:nvSpPr>
          <p:cNvPr id="14" name="Shape 12"/>
          <p:cNvSpPr/>
          <p:nvPr/>
        </p:nvSpPr>
        <p:spPr>
          <a:xfrm>
            <a:off x="3172968" y="2542032"/>
            <a:ext cx="64008" cy="2084832"/>
          </a:xfrm>
          <a:prstGeom prst="rect">
            <a:avLst/>
          </a:prstGeom>
          <a:solidFill>
            <a:srgbClr val="D97706"/>
          </a:solidFill>
          <a:ln/>
        </p:spPr>
      </p:sp>
      <p:sp>
        <p:nvSpPr>
          <p:cNvPr id="15" name="Text 13"/>
          <p:cNvSpPr/>
          <p:nvPr/>
        </p:nvSpPr>
        <p:spPr>
          <a:xfrm>
            <a:off x="3328416" y="2596896"/>
            <a:ext cx="2487168" cy="292608"/>
          </a:xfrm>
          <a:prstGeom prst="rect">
            <a:avLst/>
          </a:prstGeom>
          <a:noFill/>
          <a:ln/>
        </p:spPr>
        <p:txBody>
          <a:bodyPr wrap="square" lIns="0" tIns="0" rIns="0" bIns="0" rtlCol="0" anchor="ctr"/>
          <a:lstStyle/>
          <a:p>
            <a:pPr marL="0" indent="0">
              <a:buNone/>
            </a:pPr>
            <a:r>
              <a:rPr lang="en-US" sz="1300" b="1" dirty="0">
                <a:solidFill>
                  <a:srgbClr val="D97706"/>
                </a:solidFill>
                <a:latin typeface="Trebuchet MS" pitchFamily="34" charset="0"/>
                <a:ea typeface="Trebuchet MS" pitchFamily="34" charset="-122"/>
                <a:cs typeface="Trebuchet MS" pitchFamily="34" charset="-120"/>
              </a:rPr>
              <a:t>⚠️  Detect Outliers</a:t>
            </a:r>
            <a:endParaRPr lang="en-US" sz="1300" dirty="0"/>
          </a:p>
        </p:txBody>
      </p:sp>
      <p:sp>
        <p:nvSpPr>
          <p:cNvPr id="16" name="Text 14"/>
          <p:cNvSpPr/>
          <p:nvPr/>
        </p:nvSpPr>
        <p:spPr>
          <a:xfrm>
            <a:off x="3328416" y="2944368"/>
            <a:ext cx="2487168" cy="1572768"/>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A very high standard deviation is a red flag. It means at least one extreme value is distorting the picture.</a:t>
            </a:r>
            <a:endParaRPr lang="en-US" sz="1200" dirty="0"/>
          </a:p>
        </p:txBody>
      </p:sp>
      <p:sp>
        <p:nvSpPr>
          <p:cNvPr id="17" name="Shape 15"/>
          <p:cNvSpPr/>
          <p:nvPr/>
        </p:nvSpPr>
        <p:spPr>
          <a:xfrm>
            <a:off x="6025896" y="2542032"/>
            <a:ext cx="2715768" cy="2084832"/>
          </a:xfrm>
          <a:prstGeom prst="rect">
            <a:avLst/>
          </a:prstGeom>
          <a:solidFill>
            <a:srgbClr val="F3E8FF"/>
          </a:solidFill>
          <a:ln/>
          <a:effectLst>
            <a:outerShdw blurRad="88900" dist="25400" dir="8100000" algn="bl" rotWithShape="0">
              <a:srgbClr val="000000">
                <a:alpha val="9000"/>
              </a:srgbClr>
            </a:outerShdw>
          </a:effectLst>
        </p:spPr>
      </p:sp>
      <p:sp>
        <p:nvSpPr>
          <p:cNvPr id="18" name="Shape 16"/>
          <p:cNvSpPr/>
          <p:nvPr/>
        </p:nvSpPr>
        <p:spPr>
          <a:xfrm>
            <a:off x="6025896" y="2542032"/>
            <a:ext cx="64008" cy="2084832"/>
          </a:xfrm>
          <a:prstGeom prst="rect">
            <a:avLst/>
          </a:prstGeom>
          <a:solidFill>
            <a:srgbClr val="7C3AED"/>
          </a:solidFill>
          <a:ln/>
        </p:spPr>
      </p:sp>
      <p:sp>
        <p:nvSpPr>
          <p:cNvPr id="19" name="Text 17"/>
          <p:cNvSpPr/>
          <p:nvPr/>
        </p:nvSpPr>
        <p:spPr>
          <a:xfrm>
            <a:off x="6181344" y="2596896"/>
            <a:ext cx="2487168" cy="292608"/>
          </a:xfrm>
          <a:prstGeom prst="rect">
            <a:avLst/>
          </a:prstGeom>
          <a:noFill/>
          <a:ln/>
        </p:spPr>
        <p:txBody>
          <a:bodyPr wrap="square" lIns="0" tIns="0" rIns="0" bIns="0" rtlCol="0" anchor="ctr"/>
          <a:lstStyle/>
          <a:p>
            <a:pPr marL="0" indent="0">
              <a:buNone/>
            </a:pPr>
            <a:r>
              <a:rPr lang="en-US" sz="1300" b="1" dirty="0">
                <a:solidFill>
                  <a:srgbClr val="7C3AED"/>
                </a:solidFill>
                <a:latin typeface="Trebuchet MS" pitchFamily="34" charset="0"/>
                <a:ea typeface="Trebuchet MS" pitchFamily="34" charset="-122"/>
                <a:cs typeface="Trebuchet MS" pitchFamily="34" charset="-120"/>
              </a:rPr>
              <a:t>🔍  Compare Datasets</a:t>
            </a:r>
            <a:endParaRPr lang="en-US" sz="1300" dirty="0"/>
          </a:p>
        </p:txBody>
      </p:sp>
      <p:sp>
        <p:nvSpPr>
          <p:cNvPr id="20" name="Text 18"/>
          <p:cNvSpPr/>
          <p:nvPr/>
        </p:nvSpPr>
        <p:spPr>
          <a:xfrm>
            <a:off x="6181344" y="2944368"/>
            <a:ext cx="2487168" cy="1572768"/>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Mean alone is misleading for comparison. Dispersion gives the full picture of reliability and consistency.</a:t>
            </a:r>
            <a:endParaRPr lang="en-US" sz="1200" dirty="0"/>
          </a:p>
        </p:txBody>
      </p:sp>
      <p:sp>
        <p:nvSpPr>
          <p:cNvPr id="21" name="Shape 19"/>
          <p:cNvSpPr/>
          <p:nvPr/>
        </p:nvSpPr>
        <p:spPr>
          <a:xfrm>
            <a:off x="0" y="4800600"/>
            <a:ext cx="9144000" cy="342900"/>
          </a:xfrm>
          <a:prstGeom prst="rect">
            <a:avLst/>
          </a:prstGeom>
          <a:solidFill>
            <a:srgbClr val="E2E8F0"/>
          </a:solidFill>
          <a:ln/>
        </p:spPr>
      </p:sp>
      <p:sp>
        <p:nvSpPr>
          <p:cNvPr id="22" name="Text 20"/>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Variance — Measuring Average Squared Distance from the Mean</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Variance measures how far each value is from the mean on average. We square the differences to make all values positive and to give extra weight to values far from the mean.</a:t>
            </a:r>
            <a:endParaRPr lang="en-US" sz="1400" dirty="0"/>
          </a:p>
        </p:txBody>
      </p:sp>
      <p:sp>
        <p:nvSpPr>
          <p:cNvPr id="5" name="Shape 3"/>
          <p:cNvSpPr/>
          <p:nvPr/>
        </p:nvSpPr>
        <p:spPr>
          <a:xfrm>
            <a:off x="365760" y="1389888"/>
            <a:ext cx="8412480" cy="658368"/>
          </a:xfrm>
          <a:prstGeom prst="rect">
            <a:avLst/>
          </a:prstGeom>
          <a:solidFill>
            <a:srgbClr val="DBEAFE"/>
          </a:solidFill>
          <a:ln/>
          <a:effectLst>
            <a:outerShdw blurRad="50800" dist="12700" dir="8100000" algn="bl" rotWithShape="0">
              <a:srgbClr val="000000">
                <a:alpha val="7000"/>
              </a:srgbClr>
            </a:outerShdw>
          </a:effectLst>
        </p:spPr>
      </p:sp>
      <p:sp>
        <p:nvSpPr>
          <p:cNvPr id="6" name="Text 4"/>
          <p:cNvSpPr/>
          <p:nvPr/>
        </p:nvSpPr>
        <p:spPr>
          <a:xfrm>
            <a:off x="502920" y="1463040"/>
            <a:ext cx="8138160" cy="512064"/>
          </a:xfrm>
          <a:prstGeom prst="rect">
            <a:avLst/>
          </a:prstGeom>
          <a:noFill/>
          <a:ln/>
        </p:spPr>
        <p:txBody>
          <a:bodyPr wrap="square" lIns="0" tIns="0" rIns="0" bIns="0" rtlCol="0" anchor="ctr"/>
          <a:lstStyle/>
          <a:p>
            <a:pPr marL="0" indent="0" algn="ctr">
              <a:buNone/>
            </a:pPr>
            <a:r>
              <a:rPr lang="en-US" sz="1500" b="1" dirty="0">
                <a:solidFill>
                  <a:srgbClr val="1D4ED8"/>
                </a:solidFill>
                <a:latin typeface="Trebuchet MS" pitchFamily="34" charset="0"/>
                <a:ea typeface="Trebuchet MS" pitchFamily="34" charset="-122"/>
                <a:cs typeface="Trebuchet MS" pitchFamily="34" charset="-120"/>
              </a:rPr>
              <a:t>Variance  =  Sum of (each value − mean)²  ÷  Total number of values</a:t>
            </a:r>
            <a:endParaRPr lang="en-US" sz="1500" dirty="0"/>
          </a:p>
        </p:txBody>
      </p:sp>
      <p:sp>
        <p:nvSpPr>
          <p:cNvPr id="7" name="Shape 5"/>
          <p:cNvSpPr/>
          <p:nvPr/>
        </p:nvSpPr>
        <p:spPr>
          <a:xfrm>
            <a:off x="365760" y="2176272"/>
            <a:ext cx="5029200" cy="2697480"/>
          </a:xfrm>
          <a:prstGeom prst="rect">
            <a:avLst/>
          </a:prstGeom>
          <a:solidFill>
            <a:srgbClr val="FFFFFF"/>
          </a:solidFill>
          <a:ln/>
          <a:effectLst>
            <a:outerShdw blurRad="88900" dist="25400" dir="8100000" algn="bl" rotWithShape="0">
              <a:srgbClr val="000000">
                <a:alpha val="9000"/>
              </a:srgbClr>
            </a:outerShdw>
          </a:effectLst>
        </p:spPr>
      </p:sp>
      <p:sp>
        <p:nvSpPr>
          <p:cNvPr id="8" name="Shape 6"/>
          <p:cNvSpPr/>
          <p:nvPr/>
        </p:nvSpPr>
        <p:spPr>
          <a:xfrm>
            <a:off x="365760" y="2176272"/>
            <a:ext cx="64008" cy="2697480"/>
          </a:xfrm>
          <a:prstGeom prst="rect">
            <a:avLst/>
          </a:prstGeom>
          <a:solidFill>
            <a:srgbClr val="1D4ED8"/>
          </a:solidFill>
          <a:ln/>
        </p:spPr>
      </p:sp>
      <p:sp>
        <p:nvSpPr>
          <p:cNvPr id="9" name="Text 7"/>
          <p:cNvSpPr/>
          <p:nvPr/>
        </p:nvSpPr>
        <p:spPr>
          <a:xfrm>
            <a:off x="512064" y="2231136"/>
            <a:ext cx="4754880" cy="292608"/>
          </a:xfrm>
          <a:prstGeom prst="rect">
            <a:avLst/>
          </a:prstGeom>
          <a:noFill/>
          <a:ln/>
        </p:spPr>
        <p:txBody>
          <a:bodyPr wrap="square" lIns="0" tIns="0" rIns="0" bIns="0" rtlCol="0" anchor="ctr"/>
          <a:lstStyle/>
          <a:p>
            <a:pPr marL="0" indent="0">
              <a:buNone/>
            </a:pPr>
            <a:r>
              <a:rPr lang="en-US" sz="1350" b="1" dirty="0">
                <a:solidFill>
                  <a:srgbClr val="1D4ED8"/>
                </a:solidFill>
                <a:latin typeface="Trebuchet MS" pitchFamily="34" charset="0"/>
                <a:ea typeface="Trebuchet MS" pitchFamily="34" charset="-122"/>
                <a:cs typeface="Trebuchet MS" pitchFamily="34" charset="-120"/>
              </a:rPr>
              <a:t>📘  Step-by-Step Walkthrough</a:t>
            </a:r>
            <a:endParaRPr lang="en-US" sz="1350" dirty="0"/>
          </a:p>
        </p:txBody>
      </p:sp>
      <p:sp>
        <p:nvSpPr>
          <p:cNvPr id="10" name="Text 8"/>
          <p:cNvSpPr/>
          <p:nvPr/>
        </p:nvSpPr>
        <p:spPr>
          <a:xfrm>
            <a:off x="512064" y="2578608"/>
            <a:ext cx="4754880" cy="2212848"/>
          </a:xfrm>
          <a:prstGeom prst="rect">
            <a:avLst/>
          </a:prstGeom>
          <a:noFill/>
          <a:ln/>
        </p:spPr>
        <p:txBody>
          <a:bodyPr wrap="square" rtlCol="0" anchor="t"/>
          <a:lstStyle/>
          <a:p>
            <a:pPr marL="0" indent="0">
              <a:buNone/>
            </a:pPr>
            <a:r>
              <a:rPr lang="en-US" sz="1200" dirty="0">
                <a:solidFill>
                  <a:srgbClr val="1E3A5F"/>
                </a:solidFill>
                <a:latin typeface="Calibri" pitchFamily="34" charset="0"/>
                <a:ea typeface="Calibri" pitchFamily="34" charset="-122"/>
                <a:cs typeface="Calibri" pitchFamily="34" charset="-120"/>
              </a:rPr>
              <a:t>Data:   10,  12,  14,  16,  18</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1 — Find the Mean:</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(10+12+14+16+18) ÷ 5  =  14</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2 — Subtract Mean and Square each result:</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(10−14)²=16   (12−14)²=4   (14−14)²=0</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(16−14)²=4   (18−14)²=16</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3 — Average the squared differences:</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(16+4+0+4+16) ÷ 5  =  8</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Variance  =  8</a:t>
            </a:r>
            <a:endParaRPr lang="en-US" sz="1200" dirty="0"/>
          </a:p>
        </p:txBody>
      </p:sp>
      <p:sp>
        <p:nvSpPr>
          <p:cNvPr id="11" name="Shape 9"/>
          <p:cNvSpPr/>
          <p:nvPr/>
        </p:nvSpPr>
        <p:spPr>
          <a:xfrm>
            <a:off x="5577840" y="2176272"/>
            <a:ext cx="3200400" cy="1261872"/>
          </a:xfrm>
          <a:prstGeom prst="rect">
            <a:avLst/>
          </a:prstGeom>
          <a:solidFill>
            <a:srgbClr val="FEF3C7"/>
          </a:solidFill>
          <a:ln/>
          <a:effectLst>
            <a:outerShdw blurRad="88900" dist="25400" dir="8100000" algn="bl" rotWithShape="0">
              <a:srgbClr val="000000">
                <a:alpha val="9000"/>
              </a:srgbClr>
            </a:outerShdw>
          </a:effectLst>
        </p:spPr>
      </p:sp>
      <p:sp>
        <p:nvSpPr>
          <p:cNvPr id="12" name="Shape 10"/>
          <p:cNvSpPr/>
          <p:nvPr/>
        </p:nvSpPr>
        <p:spPr>
          <a:xfrm>
            <a:off x="5577840" y="2176272"/>
            <a:ext cx="64008" cy="1261872"/>
          </a:xfrm>
          <a:prstGeom prst="rect">
            <a:avLst/>
          </a:prstGeom>
          <a:solidFill>
            <a:srgbClr val="D97706"/>
          </a:solidFill>
          <a:ln/>
        </p:spPr>
      </p:sp>
      <p:sp>
        <p:nvSpPr>
          <p:cNvPr id="13" name="Text 11"/>
          <p:cNvSpPr/>
          <p:nvPr/>
        </p:nvSpPr>
        <p:spPr>
          <a:xfrm>
            <a:off x="5724144" y="2231136"/>
            <a:ext cx="2926080" cy="274320"/>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  What Does It Mean?</a:t>
            </a:r>
            <a:endParaRPr lang="en-US" sz="1250" dirty="0"/>
          </a:p>
        </p:txBody>
      </p:sp>
      <p:sp>
        <p:nvSpPr>
          <p:cNvPr id="14" name="Text 12"/>
          <p:cNvSpPr/>
          <p:nvPr/>
        </p:nvSpPr>
        <p:spPr>
          <a:xfrm>
            <a:off x="5724144" y="2542032"/>
            <a:ext cx="2926080" cy="804672"/>
          </a:xfrm>
          <a:prstGeom prst="rect">
            <a:avLst/>
          </a:prstGeom>
          <a:noFill/>
          <a:ln/>
        </p:spPr>
        <p:txBody>
          <a:bodyPr wrap="square" rtlCol="0" anchor="t"/>
          <a:lstStyle/>
          <a:p>
            <a:pPr marL="0" indent="0">
              <a:buNone/>
            </a:pPr>
            <a:r>
              <a:rPr lang="en-US" sz="1200" dirty="0">
                <a:solidFill>
                  <a:srgbClr val="78350F"/>
                </a:solidFill>
                <a:latin typeface="Calibri" pitchFamily="34" charset="0"/>
                <a:ea typeface="Calibri" pitchFamily="34" charset="-122"/>
                <a:cs typeface="Calibri" pitchFamily="34" charset="-120"/>
              </a:rPr>
              <a:t>A variance of 8 means data points are on average 8 squared units away from the mean.</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Larger variance → more spread out data.</a:t>
            </a:r>
            <a:endParaRPr lang="en-US" sz="1200" dirty="0"/>
          </a:p>
        </p:txBody>
      </p:sp>
      <p:sp>
        <p:nvSpPr>
          <p:cNvPr id="15" name="Shape 13"/>
          <p:cNvSpPr/>
          <p:nvPr/>
        </p:nvSpPr>
        <p:spPr>
          <a:xfrm>
            <a:off x="5577840" y="3566160"/>
            <a:ext cx="3200400" cy="1298448"/>
          </a:xfrm>
          <a:prstGeom prst="rect">
            <a:avLst/>
          </a:prstGeom>
          <a:solidFill>
            <a:srgbClr val="FEE2E2"/>
          </a:solidFill>
          <a:ln/>
          <a:effectLst>
            <a:outerShdw blurRad="88900" dist="25400" dir="8100000" algn="bl" rotWithShape="0">
              <a:srgbClr val="000000">
                <a:alpha val="9000"/>
              </a:srgbClr>
            </a:outerShdw>
          </a:effectLst>
        </p:spPr>
      </p:sp>
      <p:sp>
        <p:nvSpPr>
          <p:cNvPr id="16" name="Shape 14"/>
          <p:cNvSpPr/>
          <p:nvPr/>
        </p:nvSpPr>
        <p:spPr>
          <a:xfrm>
            <a:off x="5577840" y="3566160"/>
            <a:ext cx="64008" cy="1298448"/>
          </a:xfrm>
          <a:prstGeom prst="rect">
            <a:avLst/>
          </a:prstGeom>
          <a:solidFill>
            <a:srgbClr val="DC2626"/>
          </a:solidFill>
          <a:ln/>
        </p:spPr>
      </p:sp>
      <p:sp>
        <p:nvSpPr>
          <p:cNvPr id="17" name="Text 15"/>
          <p:cNvSpPr/>
          <p:nvPr/>
        </p:nvSpPr>
        <p:spPr>
          <a:xfrm>
            <a:off x="5724144" y="3621024"/>
            <a:ext cx="2926080" cy="274320"/>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  Common Confusion</a:t>
            </a:r>
            <a:endParaRPr lang="en-US" sz="1250" dirty="0"/>
          </a:p>
        </p:txBody>
      </p:sp>
      <p:sp>
        <p:nvSpPr>
          <p:cNvPr id="18" name="Text 16"/>
          <p:cNvSpPr/>
          <p:nvPr/>
        </p:nvSpPr>
        <p:spPr>
          <a:xfrm>
            <a:off x="5724144" y="3931920"/>
            <a:ext cx="2926080" cy="841248"/>
          </a:xfrm>
          <a:prstGeom prst="rect">
            <a:avLst/>
          </a:prstGeom>
          <a:noFill/>
          <a:ln/>
        </p:spPr>
        <p:txBody>
          <a:bodyPr wrap="square" rtlCol="0" anchor="t"/>
          <a:lstStyle/>
          <a:p>
            <a:pPr marL="0" indent="0">
              <a:buNone/>
            </a:pPr>
            <a:r>
              <a:rPr lang="en-US" sz="1200" dirty="0">
                <a:solidFill>
                  <a:srgbClr val="991B1B"/>
                </a:solidFill>
                <a:latin typeface="Calibri" pitchFamily="34" charset="0"/>
                <a:ea typeface="Calibri" pitchFamily="34" charset="-122"/>
                <a:cs typeface="Calibri" pitchFamily="34" charset="-120"/>
              </a:rPr>
              <a:t>Variance is expressed in SQUARED units (e.g. cm²). This makes direct interpretation hard. That is exactly why we take the square root — giving us Standard Deviation!</a:t>
            </a:r>
            <a:endParaRPr lang="en-US" sz="1200" dirty="0"/>
          </a:p>
        </p:txBody>
      </p:sp>
      <p:sp>
        <p:nvSpPr>
          <p:cNvPr id="19" name="Shape 17"/>
          <p:cNvSpPr/>
          <p:nvPr/>
        </p:nvSpPr>
        <p:spPr>
          <a:xfrm>
            <a:off x="0" y="4800600"/>
            <a:ext cx="9144000" cy="342900"/>
          </a:xfrm>
          <a:prstGeom prst="rect">
            <a:avLst/>
          </a:prstGeom>
          <a:solidFill>
            <a:srgbClr val="E2E8F0"/>
          </a:solidFill>
          <a:ln/>
        </p:spPr>
      </p:sp>
      <p:sp>
        <p:nvSpPr>
          <p:cNvPr id="20" name="Text 1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Standard Deviation — Spread Back in the Original Units</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Standard Deviation (SD) is the square root of Variance. It converts the spread back into the same unit as the original data — making it much easier to understand and communicate.</a:t>
            </a:r>
            <a:endParaRPr lang="en-US" sz="1400" dirty="0"/>
          </a:p>
        </p:txBody>
      </p:sp>
      <p:sp>
        <p:nvSpPr>
          <p:cNvPr id="5" name="Shape 3"/>
          <p:cNvSpPr/>
          <p:nvPr/>
        </p:nvSpPr>
        <p:spPr>
          <a:xfrm>
            <a:off x="365760" y="1389888"/>
            <a:ext cx="8412480" cy="658368"/>
          </a:xfrm>
          <a:prstGeom prst="rect">
            <a:avLst/>
          </a:prstGeom>
          <a:solidFill>
            <a:srgbClr val="DCFCE7"/>
          </a:solidFill>
          <a:ln/>
          <a:effectLst>
            <a:outerShdw blurRad="50800" dist="12700" dir="8100000" algn="bl" rotWithShape="0">
              <a:srgbClr val="000000">
                <a:alpha val="7000"/>
              </a:srgbClr>
            </a:outerShdw>
          </a:effectLst>
        </p:spPr>
      </p:sp>
      <p:sp>
        <p:nvSpPr>
          <p:cNvPr id="6" name="Text 4"/>
          <p:cNvSpPr/>
          <p:nvPr/>
        </p:nvSpPr>
        <p:spPr>
          <a:xfrm>
            <a:off x="502920" y="1463040"/>
            <a:ext cx="8138160" cy="512064"/>
          </a:xfrm>
          <a:prstGeom prst="rect">
            <a:avLst/>
          </a:prstGeom>
          <a:noFill/>
          <a:ln/>
        </p:spPr>
        <p:txBody>
          <a:bodyPr wrap="square" lIns="0" tIns="0" rIns="0" bIns="0" rtlCol="0" anchor="ctr"/>
          <a:lstStyle/>
          <a:p>
            <a:pPr marL="0" indent="0" algn="ctr">
              <a:buNone/>
            </a:pPr>
            <a:r>
              <a:rPr lang="en-US" sz="1500" b="1" dirty="0">
                <a:solidFill>
                  <a:srgbClr val="16A34A"/>
                </a:solidFill>
                <a:latin typeface="Trebuchet MS" pitchFamily="34" charset="0"/>
                <a:ea typeface="Trebuchet MS" pitchFamily="34" charset="-122"/>
                <a:cs typeface="Trebuchet MS" pitchFamily="34" charset="-120"/>
              </a:rPr>
              <a:t>Standard Deviation  =  √ Variance         Example: SD = √8  ≈  2.83</a:t>
            </a:r>
            <a:endParaRPr lang="en-US" sz="1500" dirty="0"/>
          </a:p>
        </p:txBody>
      </p:sp>
      <p:sp>
        <p:nvSpPr>
          <p:cNvPr id="7" name="Shape 5"/>
          <p:cNvSpPr/>
          <p:nvPr/>
        </p:nvSpPr>
        <p:spPr>
          <a:xfrm>
            <a:off x="365760" y="2176272"/>
            <a:ext cx="8412480" cy="987552"/>
          </a:xfrm>
          <a:prstGeom prst="rect">
            <a:avLst/>
          </a:prstGeom>
          <a:solidFill>
            <a:srgbClr val="EFF6FF"/>
          </a:solidFill>
          <a:ln/>
          <a:effectLst>
            <a:outerShdw blurRad="88900" dist="25400" dir="8100000" algn="bl" rotWithShape="0">
              <a:srgbClr val="000000">
                <a:alpha val="9000"/>
              </a:srgbClr>
            </a:outerShdw>
          </a:effectLst>
        </p:spPr>
      </p:sp>
      <p:sp>
        <p:nvSpPr>
          <p:cNvPr id="8" name="Shape 6"/>
          <p:cNvSpPr/>
          <p:nvPr/>
        </p:nvSpPr>
        <p:spPr>
          <a:xfrm>
            <a:off x="365760" y="2176272"/>
            <a:ext cx="64008" cy="987552"/>
          </a:xfrm>
          <a:prstGeom prst="rect">
            <a:avLst/>
          </a:prstGeom>
          <a:solidFill>
            <a:srgbClr val="1D4ED8"/>
          </a:solidFill>
          <a:ln/>
        </p:spPr>
      </p:sp>
      <p:sp>
        <p:nvSpPr>
          <p:cNvPr id="9" name="Text 7"/>
          <p:cNvSpPr/>
          <p:nvPr/>
        </p:nvSpPr>
        <p:spPr>
          <a:xfrm>
            <a:off x="548640" y="2231136"/>
            <a:ext cx="3657600" cy="274320"/>
          </a:xfrm>
          <a:prstGeom prst="rect">
            <a:avLst/>
          </a:prstGeom>
          <a:noFill/>
          <a:ln/>
        </p:spPr>
        <p:txBody>
          <a:bodyPr wrap="square" lIns="0" tIns="0" rIns="0" bIns="0" rtlCol="0" anchor="ctr"/>
          <a:lstStyle/>
          <a:p>
            <a:pPr marL="0" indent="0">
              <a:buNone/>
            </a:pPr>
            <a:r>
              <a:rPr lang="en-US" sz="1300" b="1" dirty="0">
                <a:solidFill>
                  <a:srgbClr val="1D4ED8"/>
                </a:solidFill>
                <a:latin typeface="Trebuchet MS" pitchFamily="34" charset="0"/>
                <a:ea typeface="Trebuchet MS" pitchFamily="34" charset="-122"/>
                <a:cs typeface="Trebuchet MS" pitchFamily="34" charset="-120"/>
              </a:rPr>
              <a:t>🔍  How to Read Standard Deviation</a:t>
            </a:r>
            <a:endParaRPr lang="en-US" sz="1300" dirty="0"/>
          </a:p>
        </p:txBody>
      </p:sp>
      <p:sp>
        <p:nvSpPr>
          <p:cNvPr id="10" name="Text 8"/>
          <p:cNvSpPr/>
          <p:nvPr/>
        </p:nvSpPr>
        <p:spPr>
          <a:xfrm>
            <a:off x="548640" y="2542032"/>
            <a:ext cx="8046720" cy="502920"/>
          </a:xfrm>
          <a:prstGeom prst="rect">
            <a:avLst/>
          </a:prstGeom>
          <a:noFill/>
          <a:ln/>
        </p:spPr>
        <p:txBody>
          <a:bodyPr wrap="square" rtlCol="0" anchor="t"/>
          <a:lstStyle/>
          <a:p>
            <a:pPr marL="0" indent="0">
              <a:buNone/>
            </a:pPr>
            <a:r>
              <a:rPr lang="en-US" sz="1250" dirty="0">
                <a:solidFill>
                  <a:srgbClr val="1E3A5F"/>
                </a:solidFill>
                <a:latin typeface="Calibri" pitchFamily="34" charset="0"/>
                <a:ea typeface="Calibri" pitchFamily="34" charset="-122"/>
                <a:cs typeface="Calibri" pitchFamily="34" charset="-120"/>
              </a:rPr>
              <a:t>Small SD → data points cluster tightly around the mean — the group is consistent and predictable.     |     Large SD → data is widely scattered — the group is inconsistent and unpredictable.</a:t>
            </a:r>
            <a:endParaRPr lang="en-US" sz="1250" dirty="0"/>
          </a:p>
        </p:txBody>
      </p:sp>
      <p:sp>
        <p:nvSpPr>
          <p:cNvPr id="11" name="Shape 9"/>
          <p:cNvSpPr/>
          <p:nvPr/>
        </p:nvSpPr>
        <p:spPr>
          <a:xfrm>
            <a:off x="365760" y="3273552"/>
            <a:ext cx="4069080" cy="1600200"/>
          </a:xfrm>
          <a:prstGeom prst="rect">
            <a:avLst/>
          </a:prstGeom>
          <a:solidFill>
            <a:srgbClr val="F0FDF4"/>
          </a:solidFill>
          <a:ln/>
          <a:effectLst>
            <a:outerShdw blurRad="88900" dist="25400" dir="8100000" algn="bl" rotWithShape="0">
              <a:srgbClr val="000000">
                <a:alpha val="9000"/>
              </a:srgbClr>
            </a:outerShdw>
          </a:effectLst>
        </p:spPr>
      </p:sp>
      <p:sp>
        <p:nvSpPr>
          <p:cNvPr id="12" name="Shape 10"/>
          <p:cNvSpPr/>
          <p:nvPr/>
        </p:nvSpPr>
        <p:spPr>
          <a:xfrm>
            <a:off x="365760" y="3273552"/>
            <a:ext cx="64008" cy="1600200"/>
          </a:xfrm>
          <a:prstGeom prst="rect">
            <a:avLst/>
          </a:prstGeom>
          <a:solidFill>
            <a:srgbClr val="16A34A"/>
          </a:solidFill>
          <a:ln/>
        </p:spPr>
      </p:sp>
      <p:sp>
        <p:nvSpPr>
          <p:cNvPr id="13" name="Text 11"/>
          <p:cNvSpPr/>
          <p:nvPr/>
        </p:nvSpPr>
        <p:spPr>
          <a:xfrm>
            <a:off x="521208" y="3328416"/>
            <a:ext cx="3794760" cy="274320"/>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  Low SD — Consistent Class</a:t>
            </a:r>
            <a:endParaRPr lang="en-US" sz="1250" dirty="0"/>
          </a:p>
        </p:txBody>
      </p:sp>
      <p:sp>
        <p:nvSpPr>
          <p:cNvPr id="14" name="Text 12"/>
          <p:cNvSpPr/>
          <p:nvPr/>
        </p:nvSpPr>
        <p:spPr>
          <a:xfrm>
            <a:off x="521208" y="3639312"/>
            <a:ext cx="3794760" cy="1143000"/>
          </a:xfrm>
          <a:prstGeom prst="rect">
            <a:avLst/>
          </a:prstGeom>
          <a:noFill/>
          <a:ln/>
        </p:spPr>
        <p:txBody>
          <a:bodyPr wrap="square" rtlCol="0" anchor="t"/>
          <a:lstStyle/>
          <a:p>
            <a:pPr marL="0" indent="0">
              <a:buNone/>
            </a:pPr>
            <a:r>
              <a:rPr lang="en-US" sz="1200" dirty="0">
                <a:solidFill>
                  <a:srgbClr val="14532D"/>
                </a:solidFill>
                <a:latin typeface="Calibri" pitchFamily="34" charset="0"/>
                <a:ea typeface="Calibri" pitchFamily="34" charset="-122"/>
                <a:cs typeface="Calibri" pitchFamily="34" charset="-120"/>
              </a:rPr>
              <a:t>Exam scores: 78, 79, 80, 81, 82</a:t>
            </a: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Mean = 80,   SD ≈ 1.4</a:t>
            </a:r>
            <a:endParaRPr lang="en-US" sz="1200" dirty="0"/>
          </a:p>
          <a:p>
            <a:pPr marL="0" indent="0">
              <a:buNone/>
            </a:pP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Scores are clustered tightly around 80.</a:t>
            </a: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The mean accurately represents every student.</a:t>
            </a: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The class performed very consistently.</a:t>
            </a:r>
            <a:endParaRPr lang="en-US" sz="1200" dirty="0"/>
          </a:p>
        </p:txBody>
      </p:sp>
      <p:sp>
        <p:nvSpPr>
          <p:cNvPr id="15" name="Shape 13"/>
          <p:cNvSpPr/>
          <p:nvPr/>
        </p:nvSpPr>
        <p:spPr>
          <a:xfrm>
            <a:off x="4709160" y="3273552"/>
            <a:ext cx="4069080" cy="1600200"/>
          </a:xfrm>
          <a:prstGeom prst="rect">
            <a:avLst/>
          </a:prstGeom>
          <a:solidFill>
            <a:srgbClr val="FEE2E2"/>
          </a:solidFill>
          <a:ln/>
          <a:effectLst>
            <a:outerShdw blurRad="88900" dist="25400" dir="8100000" algn="bl" rotWithShape="0">
              <a:srgbClr val="000000">
                <a:alpha val="9000"/>
              </a:srgbClr>
            </a:outerShdw>
          </a:effectLst>
        </p:spPr>
      </p:sp>
      <p:sp>
        <p:nvSpPr>
          <p:cNvPr id="16" name="Shape 14"/>
          <p:cNvSpPr/>
          <p:nvPr/>
        </p:nvSpPr>
        <p:spPr>
          <a:xfrm>
            <a:off x="4709160" y="3273552"/>
            <a:ext cx="64008" cy="1600200"/>
          </a:xfrm>
          <a:prstGeom prst="rect">
            <a:avLst/>
          </a:prstGeom>
          <a:solidFill>
            <a:srgbClr val="DC2626"/>
          </a:solidFill>
          <a:ln/>
        </p:spPr>
      </p:sp>
      <p:sp>
        <p:nvSpPr>
          <p:cNvPr id="17" name="Text 15"/>
          <p:cNvSpPr/>
          <p:nvPr/>
        </p:nvSpPr>
        <p:spPr>
          <a:xfrm>
            <a:off x="4864608" y="3328416"/>
            <a:ext cx="3794760" cy="274320"/>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  High SD — Inconsistent Class</a:t>
            </a:r>
            <a:endParaRPr lang="en-US" sz="1250" dirty="0"/>
          </a:p>
        </p:txBody>
      </p:sp>
      <p:sp>
        <p:nvSpPr>
          <p:cNvPr id="18" name="Text 16"/>
          <p:cNvSpPr/>
          <p:nvPr/>
        </p:nvSpPr>
        <p:spPr>
          <a:xfrm>
            <a:off x="4864608" y="3639312"/>
            <a:ext cx="3794760" cy="1143000"/>
          </a:xfrm>
          <a:prstGeom prst="rect">
            <a:avLst/>
          </a:prstGeom>
          <a:noFill/>
          <a:ln/>
        </p:spPr>
        <p:txBody>
          <a:bodyPr wrap="square" rtlCol="0" anchor="t"/>
          <a:lstStyle/>
          <a:p>
            <a:pPr marL="0" indent="0">
              <a:buNone/>
            </a:pPr>
            <a:r>
              <a:rPr lang="en-US" sz="1200" dirty="0">
                <a:solidFill>
                  <a:srgbClr val="991B1B"/>
                </a:solidFill>
                <a:latin typeface="Calibri" pitchFamily="34" charset="0"/>
                <a:ea typeface="Calibri" pitchFamily="34" charset="-122"/>
                <a:cs typeface="Calibri" pitchFamily="34" charset="-120"/>
              </a:rPr>
              <a:t>Exam scores: 40, 55, 80, 95, 100</a:t>
            </a:r>
            <a:endParaRPr lang="en-US" sz="1200" dirty="0"/>
          </a:p>
          <a:p>
            <a:pPr marL="0" indent="0">
              <a:buNone/>
            </a:pPr>
            <a:r>
              <a:rPr lang="en-US" sz="1200" dirty="0">
                <a:solidFill>
                  <a:srgbClr val="991B1B"/>
                </a:solidFill>
                <a:latin typeface="Calibri" pitchFamily="34" charset="0"/>
                <a:ea typeface="Calibri" pitchFamily="34" charset="-122"/>
                <a:cs typeface="Calibri" pitchFamily="34" charset="-120"/>
              </a:rPr>
              <a:t>Mean = 74,   SD ≈ 23.4</a:t>
            </a:r>
            <a:endParaRPr lang="en-US" sz="1200" dirty="0"/>
          </a:p>
          <a:p>
            <a:pPr marL="0" indent="0">
              <a:buNone/>
            </a:pPr>
            <a:endParaRPr lang="en-US" sz="1200" dirty="0"/>
          </a:p>
          <a:p>
            <a:pPr marL="0" indent="0">
              <a:buNone/>
            </a:pPr>
            <a:r>
              <a:rPr lang="en-US" sz="1200" dirty="0">
                <a:solidFill>
                  <a:srgbClr val="991B1B"/>
                </a:solidFill>
                <a:latin typeface="Calibri" pitchFamily="34" charset="0"/>
                <a:ea typeface="Calibri" pitchFamily="34" charset="-122"/>
                <a:cs typeface="Calibri" pitchFamily="34" charset="-120"/>
              </a:rPr>
              <a:t>Scores are spread all over the range.</a:t>
            </a:r>
            <a:endParaRPr lang="en-US" sz="1200" dirty="0"/>
          </a:p>
          <a:p>
            <a:pPr marL="0" indent="0">
              <a:buNone/>
            </a:pPr>
            <a:r>
              <a:rPr lang="en-US" sz="1200" dirty="0">
                <a:solidFill>
                  <a:srgbClr val="991B1B"/>
                </a:solidFill>
                <a:latin typeface="Calibri" pitchFamily="34" charset="0"/>
                <a:ea typeface="Calibri" pitchFamily="34" charset="-122"/>
                <a:cs typeface="Calibri" pitchFamily="34" charset="-120"/>
              </a:rPr>
              <a:t>Some students excelled while others failed.</a:t>
            </a:r>
            <a:endParaRPr lang="en-US" sz="1200" dirty="0"/>
          </a:p>
          <a:p>
            <a:pPr marL="0" indent="0">
              <a:buNone/>
            </a:pPr>
            <a:r>
              <a:rPr lang="en-US" sz="1200" dirty="0">
                <a:solidFill>
                  <a:srgbClr val="991B1B"/>
                </a:solidFill>
                <a:latin typeface="Calibri" pitchFamily="34" charset="0"/>
                <a:ea typeface="Calibri" pitchFamily="34" charset="-122"/>
                <a:cs typeface="Calibri" pitchFamily="34" charset="-120"/>
              </a:rPr>
              <a:t>The mean does NOT represent students fairly.</a:t>
            </a:r>
            <a:endParaRPr lang="en-US" sz="1200" dirty="0"/>
          </a:p>
        </p:txBody>
      </p:sp>
      <p:sp>
        <p:nvSpPr>
          <p:cNvPr id="19" name="Shape 17"/>
          <p:cNvSpPr/>
          <p:nvPr/>
        </p:nvSpPr>
        <p:spPr>
          <a:xfrm>
            <a:off x="0" y="4800600"/>
            <a:ext cx="9144000" cy="342900"/>
          </a:xfrm>
          <a:prstGeom prst="rect">
            <a:avLst/>
          </a:prstGeom>
          <a:solidFill>
            <a:srgbClr val="E2E8F0"/>
          </a:solidFill>
          <a:ln/>
        </p:spPr>
      </p:sp>
      <p:sp>
        <p:nvSpPr>
          <p:cNvPr id="20" name="Text 1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Coefficient of Variation (CV) — Comparing Spread Fairly</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Standard Deviation cannot be compared directly between datasets with different units or scales. CV solves this by expressing spread as a percentage of the mean — making it unit-free.</a:t>
            </a:r>
            <a:endParaRPr lang="en-US" sz="1400" dirty="0"/>
          </a:p>
        </p:txBody>
      </p:sp>
      <p:sp>
        <p:nvSpPr>
          <p:cNvPr id="5" name="Shape 3"/>
          <p:cNvSpPr/>
          <p:nvPr/>
        </p:nvSpPr>
        <p:spPr>
          <a:xfrm>
            <a:off x="365760" y="1389888"/>
            <a:ext cx="8412480" cy="658368"/>
          </a:xfrm>
          <a:prstGeom prst="rect">
            <a:avLst/>
          </a:prstGeom>
          <a:solidFill>
            <a:srgbClr val="F3E8FF"/>
          </a:solidFill>
          <a:ln/>
          <a:effectLst>
            <a:outerShdw blurRad="50800" dist="12700" dir="8100000" algn="bl" rotWithShape="0">
              <a:srgbClr val="000000">
                <a:alpha val="7000"/>
              </a:srgbClr>
            </a:outerShdw>
          </a:effectLst>
        </p:spPr>
      </p:sp>
      <p:sp>
        <p:nvSpPr>
          <p:cNvPr id="6" name="Text 4"/>
          <p:cNvSpPr/>
          <p:nvPr/>
        </p:nvSpPr>
        <p:spPr>
          <a:xfrm>
            <a:off x="502920" y="1463040"/>
            <a:ext cx="8138160" cy="512064"/>
          </a:xfrm>
          <a:prstGeom prst="rect">
            <a:avLst/>
          </a:prstGeom>
          <a:noFill/>
          <a:ln/>
        </p:spPr>
        <p:txBody>
          <a:bodyPr wrap="square" lIns="0" tIns="0" rIns="0" bIns="0" rtlCol="0" anchor="ctr"/>
          <a:lstStyle/>
          <a:p>
            <a:pPr marL="0" indent="0" algn="ctr">
              <a:buNone/>
            </a:pPr>
            <a:r>
              <a:rPr lang="en-US" sz="1500" b="1" dirty="0">
                <a:solidFill>
                  <a:srgbClr val="7C3AED"/>
                </a:solidFill>
                <a:latin typeface="Trebuchet MS" pitchFamily="34" charset="0"/>
                <a:ea typeface="Trebuchet MS" pitchFamily="34" charset="-122"/>
                <a:cs typeface="Trebuchet MS" pitchFamily="34" charset="-120"/>
              </a:rPr>
              <a:t>CV  =  (Standard Deviation ÷ Mean)  ×  100          Result is always a percentage (%)</a:t>
            </a:r>
            <a:endParaRPr lang="en-US" sz="1500" dirty="0"/>
          </a:p>
        </p:txBody>
      </p:sp>
      <p:sp>
        <p:nvSpPr>
          <p:cNvPr id="7" name="Shape 5"/>
          <p:cNvSpPr/>
          <p:nvPr/>
        </p:nvSpPr>
        <p:spPr>
          <a:xfrm>
            <a:off x="365760" y="2176272"/>
            <a:ext cx="8412480" cy="804672"/>
          </a:xfrm>
          <a:prstGeom prst="rect">
            <a:avLst/>
          </a:prstGeom>
          <a:solidFill>
            <a:srgbClr val="FEF9EE"/>
          </a:solidFill>
          <a:ln/>
          <a:effectLst>
            <a:outerShdw blurRad="88900" dist="25400" dir="8100000" algn="bl" rotWithShape="0">
              <a:srgbClr val="000000">
                <a:alpha val="9000"/>
              </a:srgbClr>
            </a:outerShdw>
          </a:effectLst>
        </p:spPr>
      </p:sp>
      <p:sp>
        <p:nvSpPr>
          <p:cNvPr id="8" name="Shape 6"/>
          <p:cNvSpPr/>
          <p:nvPr/>
        </p:nvSpPr>
        <p:spPr>
          <a:xfrm>
            <a:off x="365760" y="2176272"/>
            <a:ext cx="64008" cy="804672"/>
          </a:xfrm>
          <a:prstGeom prst="rect">
            <a:avLst/>
          </a:prstGeom>
          <a:solidFill>
            <a:srgbClr val="D97706"/>
          </a:solidFill>
          <a:ln/>
        </p:spPr>
      </p:sp>
      <p:sp>
        <p:nvSpPr>
          <p:cNvPr id="9" name="Text 7"/>
          <p:cNvSpPr/>
          <p:nvPr/>
        </p:nvSpPr>
        <p:spPr>
          <a:xfrm>
            <a:off x="548640" y="2221992"/>
            <a:ext cx="2743200" cy="274320"/>
          </a:xfrm>
          <a:prstGeom prst="rect">
            <a:avLst/>
          </a:prstGeom>
          <a:noFill/>
          <a:ln/>
        </p:spPr>
        <p:txBody>
          <a:bodyPr wrap="square" lIns="0" tIns="0" rIns="0" bIns="0" rtlCol="0" anchor="ctr"/>
          <a:lstStyle/>
          <a:p>
            <a:pPr marL="0" indent="0">
              <a:buNone/>
            </a:pPr>
            <a:r>
              <a:rPr lang="en-US" sz="1300" b="1" dirty="0">
                <a:solidFill>
                  <a:srgbClr val="D97706"/>
                </a:solidFill>
                <a:latin typeface="Trebuchet MS" pitchFamily="34" charset="0"/>
                <a:ea typeface="Trebuchet MS" pitchFamily="34" charset="-122"/>
                <a:cs typeface="Trebuchet MS" pitchFamily="34" charset="-120"/>
              </a:rPr>
              <a:t>❓  The Problem CV Solves</a:t>
            </a:r>
            <a:endParaRPr lang="en-US" sz="1300" dirty="0"/>
          </a:p>
        </p:txBody>
      </p:sp>
      <p:sp>
        <p:nvSpPr>
          <p:cNvPr id="10" name="Text 8"/>
          <p:cNvSpPr/>
          <p:nvPr/>
        </p:nvSpPr>
        <p:spPr>
          <a:xfrm>
            <a:off x="548640" y="2496312"/>
            <a:ext cx="8046720" cy="420624"/>
          </a:xfrm>
          <a:prstGeom prst="rect">
            <a:avLst/>
          </a:prstGeom>
          <a:noFill/>
          <a:ln/>
        </p:spPr>
        <p:txBody>
          <a:bodyPr wrap="square" rtlCol="0" anchor="t"/>
          <a:lstStyle/>
          <a:p>
            <a:pPr marL="0" indent="0">
              <a:buNone/>
            </a:pPr>
            <a:r>
              <a:rPr lang="en-US" sz="1250" dirty="0">
                <a:solidFill>
                  <a:srgbClr val="78350F"/>
                </a:solidFill>
                <a:latin typeface="Calibri" pitchFamily="34" charset="0"/>
                <a:ea typeface="Calibri" pitchFamily="34" charset="-122"/>
                <a:cs typeface="Calibri" pitchFamily="34" charset="-120"/>
              </a:rPr>
              <a:t>You want to compare how consistent salaries (in PKR thousands) are vs how consistent temperatures (in °C) are. Their SDs are in different units — you CANNOT compare them directly. CV converts both into a % so comparison becomes fair and meaningful.</a:t>
            </a:r>
            <a:endParaRPr lang="en-US" sz="1250" dirty="0"/>
          </a:p>
        </p:txBody>
      </p:sp>
      <p:sp>
        <p:nvSpPr>
          <p:cNvPr id="11" name="Shape 9"/>
          <p:cNvSpPr/>
          <p:nvPr/>
        </p:nvSpPr>
        <p:spPr>
          <a:xfrm>
            <a:off x="365760" y="3090672"/>
            <a:ext cx="4069080" cy="1810512"/>
          </a:xfrm>
          <a:prstGeom prst="rect">
            <a:avLst/>
          </a:prstGeom>
          <a:solidFill>
            <a:srgbClr val="EFF6FF"/>
          </a:solidFill>
          <a:ln/>
          <a:effectLst>
            <a:outerShdw blurRad="88900" dist="25400" dir="8100000" algn="bl" rotWithShape="0">
              <a:srgbClr val="000000">
                <a:alpha val="9000"/>
              </a:srgbClr>
            </a:outerShdw>
          </a:effectLst>
        </p:spPr>
      </p:sp>
      <p:sp>
        <p:nvSpPr>
          <p:cNvPr id="12" name="Shape 10"/>
          <p:cNvSpPr/>
          <p:nvPr/>
        </p:nvSpPr>
        <p:spPr>
          <a:xfrm>
            <a:off x="365760" y="3090672"/>
            <a:ext cx="64008" cy="1810512"/>
          </a:xfrm>
          <a:prstGeom prst="rect">
            <a:avLst/>
          </a:prstGeom>
          <a:solidFill>
            <a:srgbClr val="1D4ED8"/>
          </a:solidFill>
          <a:ln/>
        </p:spPr>
      </p:sp>
      <p:sp>
        <p:nvSpPr>
          <p:cNvPr id="13" name="Text 11"/>
          <p:cNvSpPr/>
          <p:nvPr/>
        </p:nvSpPr>
        <p:spPr>
          <a:xfrm>
            <a:off x="521208" y="3145536"/>
            <a:ext cx="3794760" cy="274320"/>
          </a:xfrm>
          <a:prstGeom prst="rect">
            <a:avLst/>
          </a:prstGeom>
          <a:noFill/>
          <a:ln/>
        </p:spPr>
        <p:txBody>
          <a:bodyPr wrap="square" lIns="0" tIns="0" rIns="0" bIns="0" rtlCol="0" anchor="ctr"/>
          <a:lstStyle/>
          <a:p>
            <a:pPr marL="0" indent="0">
              <a:buNone/>
            </a:pPr>
            <a:r>
              <a:rPr lang="en-US" sz="1250" b="1" dirty="0">
                <a:solidFill>
                  <a:srgbClr val="1D4ED8"/>
                </a:solidFill>
                <a:latin typeface="Trebuchet MS" pitchFamily="34" charset="0"/>
                <a:ea typeface="Trebuchet MS" pitchFamily="34" charset="-122"/>
                <a:cs typeface="Trebuchet MS" pitchFamily="34" charset="-120"/>
              </a:rPr>
              <a:t>📊  Example A — Monthly Salaries</a:t>
            </a:r>
            <a:endParaRPr lang="en-US" sz="1250" dirty="0"/>
          </a:p>
        </p:txBody>
      </p:sp>
      <p:sp>
        <p:nvSpPr>
          <p:cNvPr id="14" name="Text 12"/>
          <p:cNvSpPr/>
          <p:nvPr/>
        </p:nvSpPr>
        <p:spPr>
          <a:xfrm>
            <a:off x="521208" y="3456432"/>
            <a:ext cx="3794760" cy="1353312"/>
          </a:xfrm>
          <a:prstGeom prst="rect">
            <a:avLst/>
          </a:prstGeom>
          <a:noFill/>
          <a:ln/>
        </p:spPr>
        <p:txBody>
          <a:bodyPr wrap="square" rtlCol="0" anchor="t"/>
          <a:lstStyle/>
          <a:p>
            <a:pPr marL="0" indent="0">
              <a:buNone/>
            </a:pPr>
            <a:r>
              <a:rPr lang="en-US" sz="1200" dirty="0">
                <a:solidFill>
                  <a:srgbClr val="1E3A5F"/>
                </a:solidFill>
                <a:latin typeface="Calibri" pitchFamily="34" charset="0"/>
                <a:ea typeface="Calibri" pitchFamily="34" charset="-122"/>
                <a:cs typeface="Calibri" pitchFamily="34" charset="-120"/>
              </a:rPr>
              <a:t>Salaries (PKR 000s): 30, 35, 40, 45, 50</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Mean = 40,    SD = 7.07</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CV = (7.07 ÷ 40) × 100  =  17.7%</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Salaries vary by 17.7% around the average.</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This is a moderate level of spread.</a:t>
            </a:r>
            <a:endParaRPr lang="en-US" sz="1200" dirty="0"/>
          </a:p>
        </p:txBody>
      </p:sp>
      <p:sp>
        <p:nvSpPr>
          <p:cNvPr id="15" name="Shape 13"/>
          <p:cNvSpPr/>
          <p:nvPr/>
        </p:nvSpPr>
        <p:spPr>
          <a:xfrm>
            <a:off x="4709160" y="3090672"/>
            <a:ext cx="4069080" cy="1810512"/>
          </a:xfrm>
          <a:prstGeom prst="rect">
            <a:avLst/>
          </a:prstGeom>
          <a:solidFill>
            <a:srgbClr val="F0FDF4"/>
          </a:solidFill>
          <a:ln/>
          <a:effectLst>
            <a:outerShdw blurRad="88900" dist="25400" dir="8100000" algn="bl" rotWithShape="0">
              <a:srgbClr val="000000">
                <a:alpha val="9000"/>
              </a:srgbClr>
            </a:outerShdw>
          </a:effectLst>
        </p:spPr>
      </p:sp>
      <p:sp>
        <p:nvSpPr>
          <p:cNvPr id="16" name="Shape 14"/>
          <p:cNvSpPr/>
          <p:nvPr/>
        </p:nvSpPr>
        <p:spPr>
          <a:xfrm>
            <a:off x="4709160" y="3090672"/>
            <a:ext cx="64008" cy="1810512"/>
          </a:xfrm>
          <a:prstGeom prst="rect">
            <a:avLst/>
          </a:prstGeom>
          <a:solidFill>
            <a:srgbClr val="16A34A"/>
          </a:solidFill>
          <a:ln/>
        </p:spPr>
      </p:sp>
      <p:sp>
        <p:nvSpPr>
          <p:cNvPr id="17" name="Text 15"/>
          <p:cNvSpPr/>
          <p:nvPr/>
        </p:nvSpPr>
        <p:spPr>
          <a:xfrm>
            <a:off x="4864608" y="3145536"/>
            <a:ext cx="3794760" cy="274320"/>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  Example B — Daily Temperature</a:t>
            </a:r>
            <a:endParaRPr lang="en-US" sz="1250" dirty="0"/>
          </a:p>
        </p:txBody>
      </p:sp>
      <p:sp>
        <p:nvSpPr>
          <p:cNvPr id="18" name="Text 16"/>
          <p:cNvSpPr/>
          <p:nvPr/>
        </p:nvSpPr>
        <p:spPr>
          <a:xfrm>
            <a:off x="4864608" y="3456432"/>
            <a:ext cx="3794760" cy="1353312"/>
          </a:xfrm>
          <a:prstGeom prst="rect">
            <a:avLst/>
          </a:prstGeom>
          <a:noFill/>
          <a:ln/>
        </p:spPr>
        <p:txBody>
          <a:bodyPr wrap="square" rtlCol="0" anchor="t"/>
          <a:lstStyle/>
          <a:p>
            <a:pPr marL="0" indent="0">
              <a:buNone/>
            </a:pPr>
            <a:r>
              <a:rPr lang="en-US" sz="1200" dirty="0">
                <a:solidFill>
                  <a:srgbClr val="14532D"/>
                </a:solidFill>
                <a:latin typeface="Calibri" pitchFamily="34" charset="0"/>
                <a:ea typeface="Calibri" pitchFamily="34" charset="-122"/>
                <a:cs typeface="Calibri" pitchFamily="34" charset="-120"/>
              </a:rPr>
              <a:t>Temperatures (°C): 28, 30, 32, 31, 29</a:t>
            </a: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Mean = 30,    SD = 1.41</a:t>
            </a:r>
            <a:endParaRPr lang="en-US" sz="1200" dirty="0"/>
          </a:p>
          <a:p>
            <a:pPr marL="0" indent="0">
              <a:buNone/>
            </a:pP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CV = (1.41 ÷ 30) × 100  =  4.7%</a:t>
            </a:r>
            <a:endParaRPr lang="en-US" sz="1200" dirty="0"/>
          </a:p>
          <a:p>
            <a:pPr marL="0" indent="0">
              <a:buNone/>
            </a:pP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Temperatures vary by only 4.7%.</a:t>
            </a:r>
            <a:endParaRPr lang="en-US" sz="1200" dirty="0"/>
          </a:p>
          <a:p>
            <a:pPr marL="0" indent="0">
              <a:buNone/>
            </a:pPr>
            <a:r>
              <a:rPr lang="en-US" sz="1200" dirty="0">
                <a:solidFill>
                  <a:srgbClr val="14532D"/>
                </a:solidFill>
                <a:latin typeface="Calibri" pitchFamily="34" charset="0"/>
                <a:ea typeface="Calibri" pitchFamily="34" charset="-122"/>
                <a:cs typeface="Calibri" pitchFamily="34" charset="-120"/>
              </a:rPr>
              <a:t>Much more consistent than salaries.</a:t>
            </a:r>
            <a:endParaRPr lang="en-US" sz="1200" dirty="0"/>
          </a:p>
        </p:txBody>
      </p:sp>
      <p:sp>
        <p:nvSpPr>
          <p:cNvPr id="19" name="Shape 17"/>
          <p:cNvSpPr/>
          <p:nvPr/>
        </p:nvSpPr>
        <p:spPr>
          <a:xfrm>
            <a:off x="0" y="4800600"/>
            <a:ext cx="9144000" cy="342900"/>
          </a:xfrm>
          <a:prstGeom prst="rect">
            <a:avLst/>
          </a:prstGeom>
          <a:solidFill>
            <a:srgbClr val="E2E8F0"/>
          </a:solidFill>
          <a:ln/>
        </p:spPr>
      </p:sp>
      <p:sp>
        <p:nvSpPr>
          <p:cNvPr id="20" name="Text 1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Skewness — Is the Data Symmetric or Does It Lean?</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Skewness tells us whether data is balanced or whether more values are concentrated on one side. It describes the direction and length of the tail of a distribution.</a:t>
            </a:r>
            <a:endParaRPr lang="en-US" sz="1400" dirty="0"/>
          </a:p>
        </p:txBody>
      </p:sp>
      <p:sp>
        <p:nvSpPr>
          <p:cNvPr id="5" name="Shape 3"/>
          <p:cNvSpPr/>
          <p:nvPr/>
        </p:nvSpPr>
        <p:spPr>
          <a:xfrm>
            <a:off x="301752" y="1417320"/>
            <a:ext cx="2724912" cy="3291840"/>
          </a:xfrm>
          <a:prstGeom prst="rect">
            <a:avLst/>
          </a:prstGeom>
          <a:solidFill>
            <a:srgbClr val="EFF6FF"/>
          </a:solidFill>
          <a:ln/>
          <a:effectLst>
            <a:outerShdw blurRad="88900" dist="25400" dir="8100000" algn="bl" rotWithShape="0">
              <a:srgbClr val="000000">
                <a:alpha val="9000"/>
              </a:srgbClr>
            </a:outerShdw>
          </a:effectLst>
        </p:spPr>
      </p:sp>
      <p:sp>
        <p:nvSpPr>
          <p:cNvPr id="6" name="Shape 4"/>
          <p:cNvSpPr/>
          <p:nvPr/>
        </p:nvSpPr>
        <p:spPr>
          <a:xfrm>
            <a:off x="301752" y="1417320"/>
            <a:ext cx="64008" cy="3291840"/>
          </a:xfrm>
          <a:prstGeom prst="rect">
            <a:avLst/>
          </a:prstGeom>
          <a:solidFill>
            <a:srgbClr val="1D4ED8"/>
          </a:solidFill>
          <a:ln/>
        </p:spPr>
      </p:sp>
      <p:sp>
        <p:nvSpPr>
          <p:cNvPr id="7" name="Text 5"/>
          <p:cNvSpPr/>
          <p:nvPr/>
        </p:nvSpPr>
        <p:spPr>
          <a:xfrm>
            <a:off x="457200" y="1472184"/>
            <a:ext cx="2496312" cy="292608"/>
          </a:xfrm>
          <a:prstGeom prst="rect">
            <a:avLst/>
          </a:prstGeom>
          <a:noFill/>
          <a:ln/>
        </p:spPr>
        <p:txBody>
          <a:bodyPr wrap="square" lIns="0" tIns="0" rIns="0" bIns="0" rtlCol="0" anchor="ctr"/>
          <a:lstStyle/>
          <a:p>
            <a:pPr marL="0" indent="0">
              <a:buNone/>
            </a:pPr>
            <a:r>
              <a:rPr lang="en-US" sz="1250" b="1" dirty="0">
                <a:solidFill>
                  <a:srgbClr val="1D4ED8"/>
                </a:solidFill>
                <a:latin typeface="Trebuchet MS" pitchFamily="34" charset="0"/>
                <a:ea typeface="Trebuchet MS" pitchFamily="34" charset="-122"/>
                <a:cs typeface="Trebuchet MS" pitchFamily="34" charset="-120"/>
              </a:rPr>
              <a:t>◀  Negative Skew (Left)</a:t>
            </a:r>
            <a:endParaRPr lang="en-US" sz="1250" dirty="0"/>
          </a:p>
        </p:txBody>
      </p:sp>
      <p:sp>
        <p:nvSpPr>
          <p:cNvPr id="8" name="Text 6"/>
          <p:cNvSpPr/>
          <p:nvPr/>
        </p:nvSpPr>
        <p:spPr>
          <a:xfrm>
            <a:off x="457200" y="1801368"/>
            <a:ext cx="2496312" cy="2834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Tail stretches to the LEFT.</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Most data is on the right side.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Mean &lt; Median &lt; Mode</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Real-life example: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Retirement age — most people retire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around 60–65 (right side), but a</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few retire very early at 30–40,</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pulling the left tail downward.</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If you see mean &lt; median, the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distribution is left-skewed.</a:t>
            </a:r>
            <a:endParaRPr lang="en-US" sz="1150" dirty="0"/>
          </a:p>
        </p:txBody>
      </p:sp>
      <p:sp>
        <p:nvSpPr>
          <p:cNvPr id="9" name="Shape 7"/>
          <p:cNvSpPr/>
          <p:nvPr/>
        </p:nvSpPr>
        <p:spPr>
          <a:xfrm>
            <a:off x="3172968" y="1417320"/>
            <a:ext cx="2724912" cy="3291840"/>
          </a:xfrm>
          <a:prstGeom prst="rect">
            <a:avLst/>
          </a:prstGeom>
          <a:solidFill>
            <a:srgbClr val="F0FDF4"/>
          </a:solidFill>
          <a:ln/>
          <a:effectLst>
            <a:outerShdw blurRad="88900" dist="25400" dir="8100000" algn="bl" rotWithShape="0">
              <a:srgbClr val="000000">
                <a:alpha val="9000"/>
              </a:srgbClr>
            </a:outerShdw>
          </a:effectLst>
        </p:spPr>
      </p:sp>
      <p:sp>
        <p:nvSpPr>
          <p:cNvPr id="10" name="Shape 8"/>
          <p:cNvSpPr/>
          <p:nvPr/>
        </p:nvSpPr>
        <p:spPr>
          <a:xfrm>
            <a:off x="3172968" y="1417320"/>
            <a:ext cx="64008" cy="3291840"/>
          </a:xfrm>
          <a:prstGeom prst="rect">
            <a:avLst/>
          </a:prstGeom>
          <a:solidFill>
            <a:srgbClr val="16A34A"/>
          </a:solidFill>
          <a:ln/>
        </p:spPr>
      </p:sp>
      <p:sp>
        <p:nvSpPr>
          <p:cNvPr id="11" name="Text 9"/>
          <p:cNvSpPr/>
          <p:nvPr/>
        </p:nvSpPr>
        <p:spPr>
          <a:xfrm>
            <a:off x="3328416" y="1472184"/>
            <a:ext cx="2496312" cy="292608"/>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  Zero Skew (Symmetric)</a:t>
            </a:r>
            <a:endParaRPr lang="en-US" sz="1250" dirty="0"/>
          </a:p>
        </p:txBody>
      </p:sp>
      <p:sp>
        <p:nvSpPr>
          <p:cNvPr id="12" name="Text 10"/>
          <p:cNvSpPr/>
          <p:nvPr/>
        </p:nvSpPr>
        <p:spPr>
          <a:xfrm>
            <a:off x="3328416" y="1801368"/>
            <a:ext cx="2496312" cy="2834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Data is perfectly balanced.</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Left and right sides mirror each other.</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Mean = Median = Mode</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Real-life example: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Heights of adult men in a large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population — most cluster around</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the average with equal numbers</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above and below — a classic</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bell-curve / normal distribution.</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Skewness value = 0</a:t>
            </a:r>
            <a:endParaRPr lang="en-US" sz="1150" dirty="0"/>
          </a:p>
        </p:txBody>
      </p:sp>
      <p:sp>
        <p:nvSpPr>
          <p:cNvPr id="13" name="Shape 11"/>
          <p:cNvSpPr/>
          <p:nvPr/>
        </p:nvSpPr>
        <p:spPr>
          <a:xfrm>
            <a:off x="6044184" y="1417320"/>
            <a:ext cx="2724912" cy="3291840"/>
          </a:xfrm>
          <a:prstGeom prst="rect">
            <a:avLst/>
          </a:prstGeom>
          <a:solidFill>
            <a:srgbClr val="FEF3C7"/>
          </a:solidFill>
          <a:ln/>
          <a:effectLst>
            <a:outerShdw blurRad="88900" dist="25400" dir="8100000" algn="bl" rotWithShape="0">
              <a:srgbClr val="000000">
                <a:alpha val="9000"/>
              </a:srgbClr>
            </a:outerShdw>
          </a:effectLst>
        </p:spPr>
      </p:sp>
      <p:sp>
        <p:nvSpPr>
          <p:cNvPr id="14" name="Shape 12"/>
          <p:cNvSpPr/>
          <p:nvPr/>
        </p:nvSpPr>
        <p:spPr>
          <a:xfrm>
            <a:off x="6044184" y="1417320"/>
            <a:ext cx="64008" cy="3291840"/>
          </a:xfrm>
          <a:prstGeom prst="rect">
            <a:avLst/>
          </a:prstGeom>
          <a:solidFill>
            <a:srgbClr val="D97706"/>
          </a:solidFill>
          <a:ln/>
        </p:spPr>
      </p:sp>
      <p:sp>
        <p:nvSpPr>
          <p:cNvPr id="15" name="Text 13"/>
          <p:cNvSpPr/>
          <p:nvPr/>
        </p:nvSpPr>
        <p:spPr>
          <a:xfrm>
            <a:off x="6199632" y="1472184"/>
            <a:ext cx="2496312" cy="292608"/>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  Positive Skew (Right)</a:t>
            </a:r>
            <a:endParaRPr lang="en-US" sz="1250" dirty="0"/>
          </a:p>
        </p:txBody>
      </p:sp>
      <p:sp>
        <p:nvSpPr>
          <p:cNvPr id="16" name="Text 14"/>
          <p:cNvSpPr/>
          <p:nvPr/>
        </p:nvSpPr>
        <p:spPr>
          <a:xfrm>
            <a:off x="6199632" y="1801368"/>
            <a:ext cx="2496312" cy="2834640"/>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Tail stretches to the RIGHT.</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Most data is on the left side.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Mode &lt; Median &lt; Mean</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Real-life example: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Income in a country — most people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earn moderate salaries (left side),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but a few billionaires earn extreme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amounts, pulling the right tail far</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out to the right.</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If you see mean &gt; median, the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distribution is right-skewed.</a:t>
            </a:r>
            <a:endParaRPr lang="en-US" sz="1150" dirty="0"/>
          </a:p>
        </p:txBody>
      </p:sp>
      <p:sp>
        <p:nvSpPr>
          <p:cNvPr id="17" name="Text 15"/>
          <p:cNvSpPr/>
          <p:nvPr/>
        </p:nvSpPr>
        <p:spPr>
          <a:xfrm>
            <a:off x="457200" y="4663440"/>
            <a:ext cx="8229600" cy="256032"/>
          </a:xfrm>
          <a:prstGeom prst="rect">
            <a:avLst/>
          </a:prstGeom>
          <a:noFill/>
          <a:ln/>
        </p:spPr>
        <p:txBody>
          <a:bodyPr wrap="square" lIns="0" tIns="0" rIns="0" bIns="0" rtlCol="0" anchor="ctr"/>
          <a:lstStyle/>
          <a:p>
            <a:pPr marL="0" indent="0">
              <a:buNone/>
            </a:pPr>
            <a:r>
              <a:rPr lang="en-US" sz="1150" dirty="0">
                <a:solidFill>
                  <a:srgbClr val="D97706"/>
                </a:solidFill>
                <a:latin typeface="Calibri" pitchFamily="34" charset="0"/>
                <a:ea typeface="Calibri" pitchFamily="34" charset="-122"/>
                <a:cs typeface="Calibri" pitchFamily="34" charset="-120"/>
              </a:rPr>
              <a:t>💡  Rule of Thumb:   Skewness near 0 = symmetric.   Skewness &gt; +1 or &lt; −1 = highly skewed.   Values between −1 and +1 = moderate skew.</a:t>
            </a:r>
            <a:endParaRPr lang="en-US" sz="1150" dirty="0"/>
          </a:p>
        </p:txBody>
      </p:sp>
      <p:sp>
        <p:nvSpPr>
          <p:cNvPr id="18" name="Shape 16"/>
          <p:cNvSpPr/>
          <p:nvPr/>
        </p:nvSpPr>
        <p:spPr>
          <a:xfrm>
            <a:off x="0" y="4800600"/>
            <a:ext cx="9144000" cy="342900"/>
          </a:xfrm>
          <a:prstGeom prst="rect">
            <a:avLst/>
          </a:prstGeom>
          <a:solidFill>
            <a:srgbClr val="E2E8F0"/>
          </a:solidFill>
          <a:ln/>
        </p:spPr>
      </p:sp>
      <p:sp>
        <p:nvSpPr>
          <p:cNvPr id="19" name="Text 17"/>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Kurtosis — How Sharp or Flat is the Distribution Peak?</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Kurtosis describes the shape of the peak and the weight of the tails compared to a normal distribution. High kurtosis means more extreme values (outliers) occur than expected.</a:t>
            </a:r>
            <a:endParaRPr lang="en-US" sz="1400" dirty="0"/>
          </a:p>
        </p:txBody>
      </p:sp>
      <p:sp>
        <p:nvSpPr>
          <p:cNvPr id="5" name="Shape 3"/>
          <p:cNvSpPr/>
          <p:nvPr/>
        </p:nvSpPr>
        <p:spPr>
          <a:xfrm>
            <a:off x="365760" y="1389888"/>
            <a:ext cx="8412480" cy="548640"/>
          </a:xfrm>
          <a:prstGeom prst="rect">
            <a:avLst/>
          </a:prstGeom>
          <a:solidFill>
            <a:srgbClr val="F3E8FF"/>
          </a:solidFill>
          <a:ln/>
          <a:effectLst>
            <a:outerShdw blurRad="88900" dist="25400" dir="8100000" algn="bl" rotWithShape="0">
              <a:srgbClr val="000000">
                <a:alpha val="9000"/>
              </a:srgbClr>
            </a:outerShdw>
          </a:effectLst>
        </p:spPr>
      </p:sp>
      <p:sp>
        <p:nvSpPr>
          <p:cNvPr id="6" name="Shape 4"/>
          <p:cNvSpPr/>
          <p:nvPr/>
        </p:nvSpPr>
        <p:spPr>
          <a:xfrm>
            <a:off x="365760" y="1389888"/>
            <a:ext cx="64008" cy="548640"/>
          </a:xfrm>
          <a:prstGeom prst="rect">
            <a:avLst/>
          </a:prstGeom>
          <a:solidFill>
            <a:srgbClr val="7C3AED"/>
          </a:solidFill>
          <a:ln/>
        </p:spPr>
      </p:sp>
      <p:sp>
        <p:nvSpPr>
          <p:cNvPr id="7" name="Text 5"/>
          <p:cNvSpPr/>
          <p:nvPr/>
        </p:nvSpPr>
        <p:spPr>
          <a:xfrm>
            <a:off x="548640" y="1444752"/>
            <a:ext cx="8046720" cy="420624"/>
          </a:xfrm>
          <a:prstGeom prst="rect">
            <a:avLst/>
          </a:prstGeom>
          <a:noFill/>
          <a:ln/>
        </p:spPr>
        <p:txBody>
          <a:bodyPr wrap="square" lIns="0" tIns="0" rIns="0" bIns="0" rtlCol="0" anchor="ctr"/>
          <a:lstStyle/>
          <a:p>
            <a:pPr marL="0" indent="0" algn="ctr">
              <a:buNone/>
            </a:pPr>
            <a:r>
              <a:rPr lang="en-US" sz="1350" b="1" dirty="0">
                <a:solidFill>
                  <a:srgbClr val="7C3AED"/>
                </a:solidFill>
                <a:latin typeface="Trebuchet MS" pitchFamily="34" charset="0"/>
                <a:ea typeface="Trebuchet MS" pitchFamily="34" charset="-122"/>
                <a:cs typeface="Trebuchet MS" pitchFamily="34" charset="-120"/>
              </a:rPr>
              <a:t>Reference:  Normal Distribution has Kurtosis = 3     |     Excess Kurtosis = Kurtosis − 3     |     Normal Excess = 0</a:t>
            </a:r>
            <a:endParaRPr lang="en-US" sz="1350" dirty="0"/>
          </a:p>
        </p:txBody>
      </p:sp>
      <p:sp>
        <p:nvSpPr>
          <p:cNvPr id="8" name="Shape 6"/>
          <p:cNvSpPr/>
          <p:nvPr/>
        </p:nvSpPr>
        <p:spPr>
          <a:xfrm>
            <a:off x="301752" y="2057400"/>
            <a:ext cx="2724912" cy="2670048"/>
          </a:xfrm>
          <a:prstGeom prst="rect">
            <a:avLst/>
          </a:prstGeom>
          <a:solidFill>
            <a:srgbClr val="FEE2E2"/>
          </a:solidFill>
          <a:ln/>
          <a:effectLst>
            <a:outerShdw blurRad="88900" dist="25400" dir="8100000" algn="bl" rotWithShape="0">
              <a:srgbClr val="000000">
                <a:alpha val="9000"/>
              </a:srgbClr>
            </a:outerShdw>
          </a:effectLst>
        </p:spPr>
      </p:sp>
      <p:sp>
        <p:nvSpPr>
          <p:cNvPr id="9" name="Shape 7"/>
          <p:cNvSpPr/>
          <p:nvPr/>
        </p:nvSpPr>
        <p:spPr>
          <a:xfrm>
            <a:off x="301752" y="2057400"/>
            <a:ext cx="64008" cy="2670048"/>
          </a:xfrm>
          <a:prstGeom prst="rect">
            <a:avLst/>
          </a:prstGeom>
          <a:solidFill>
            <a:srgbClr val="DC2626"/>
          </a:solidFill>
          <a:ln/>
        </p:spPr>
      </p:sp>
      <p:sp>
        <p:nvSpPr>
          <p:cNvPr id="10" name="Text 8"/>
          <p:cNvSpPr/>
          <p:nvPr/>
        </p:nvSpPr>
        <p:spPr>
          <a:xfrm>
            <a:off x="457200" y="2112264"/>
            <a:ext cx="2496312" cy="292608"/>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  Leptokurtic  (Kurtosis &gt; 3)</a:t>
            </a:r>
            <a:endParaRPr lang="en-US" sz="1250" dirty="0"/>
          </a:p>
        </p:txBody>
      </p:sp>
      <p:sp>
        <p:nvSpPr>
          <p:cNvPr id="11" name="Text 9"/>
          <p:cNvSpPr/>
          <p:nvPr/>
        </p:nvSpPr>
        <p:spPr>
          <a:xfrm>
            <a:off x="457200" y="2441448"/>
            <a:ext cx="2496312" cy="2212848"/>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Very SHARP, tall, narrow peak.</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Heavy tails — extreme outliers are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more common than expected.</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Excess Kurtosis &gt; 0</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Think: a pointed mountain spike.</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Example: Stock market returns</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during a crisis — most days calm,</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but extreme crashes happen more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often than a normal bell curve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would predict.</a:t>
            </a:r>
            <a:endParaRPr lang="en-US" sz="1150" dirty="0"/>
          </a:p>
        </p:txBody>
      </p:sp>
      <p:sp>
        <p:nvSpPr>
          <p:cNvPr id="12" name="Shape 10"/>
          <p:cNvSpPr/>
          <p:nvPr/>
        </p:nvSpPr>
        <p:spPr>
          <a:xfrm>
            <a:off x="3172968" y="2057400"/>
            <a:ext cx="2724912" cy="2670048"/>
          </a:xfrm>
          <a:prstGeom prst="rect">
            <a:avLst/>
          </a:prstGeom>
          <a:solidFill>
            <a:srgbClr val="F0FDF4"/>
          </a:solidFill>
          <a:ln/>
          <a:effectLst>
            <a:outerShdw blurRad="88900" dist="25400" dir="8100000" algn="bl" rotWithShape="0">
              <a:srgbClr val="000000">
                <a:alpha val="9000"/>
              </a:srgbClr>
            </a:outerShdw>
          </a:effectLst>
        </p:spPr>
      </p:sp>
      <p:sp>
        <p:nvSpPr>
          <p:cNvPr id="13" name="Shape 11"/>
          <p:cNvSpPr/>
          <p:nvPr/>
        </p:nvSpPr>
        <p:spPr>
          <a:xfrm>
            <a:off x="3172968" y="2057400"/>
            <a:ext cx="64008" cy="2670048"/>
          </a:xfrm>
          <a:prstGeom prst="rect">
            <a:avLst/>
          </a:prstGeom>
          <a:solidFill>
            <a:srgbClr val="16A34A"/>
          </a:solidFill>
          <a:ln/>
        </p:spPr>
      </p:sp>
      <p:sp>
        <p:nvSpPr>
          <p:cNvPr id="14" name="Text 12"/>
          <p:cNvSpPr/>
          <p:nvPr/>
        </p:nvSpPr>
        <p:spPr>
          <a:xfrm>
            <a:off x="3328416" y="2112264"/>
            <a:ext cx="2496312" cy="292608"/>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  Mesokurtic  (Kurtosis = 3)</a:t>
            </a:r>
            <a:endParaRPr lang="en-US" sz="1250" dirty="0"/>
          </a:p>
        </p:txBody>
      </p:sp>
      <p:sp>
        <p:nvSpPr>
          <p:cNvPr id="15" name="Text 13"/>
          <p:cNvSpPr/>
          <p:nvPr/>
        </p:nvSpPr>
        <p:spPr>
          <a:xfrm>
            <a:off x="3328416" y="2441448"/>
            <a:ext cx="2496312" cy="2212848"/>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Standard bell-curve shape.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Normal tails — typical outlier rate.</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Excess Kurtosis = 0</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Think: a smooth rolling hill.</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Example: Heights of students in a</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large school — a classic normal</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distribution with neither too sharp</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a peak nor too heavy tails.</a:t>
            </a:r>
            <a:endParaRPr lang="en-US" sz="1150" dirty="0"/>
          </a:p>
        </p:txBody>
      </p:sp>
      <p:sp>
        <p:nvSpPr>
          <p:cNvPr id="16" name="Shape 14"/>
          <p:cNvSpPr/>
          <p:nvPr/>
        </p:nvSpPr>
        <p:spPr>
          <a:xfrm>
            <a:off x="6044184" y="2057400"/>
            <a:ext cx="2724912" cy="2670048"/>
          </a:xfrm>
          <a:prstGeom prst="rect">
            <a:avLst/>
          </a:prstGeom>
          <a:solidFill>
            <a:srgbClr val="DBEAFE"/>
          </a:solidFill>
          <a:ln/>
          <a:effectLst>
            <a:outerShdw blurRad="88900" dist="25400" dir="8100000" algn="bl" rotWithShape="0">
              <a:srgbClr val="000000">
                <a:alpha val="9000"/>
              </a:srgbClr>
            </a:outerShdw>
          </a:effectLst>
        </p:spPr>
      </p:sp>
      <p:sp>
        <p:nvSpPr>
          <p:cNvPr id="17" name="Shape 15"/>
          <p:cNvSpPr/>
          <p:nvPr/>
        </p:nvSpPr>
        <p:spPr>
          <a:xfrm>
            <a:off x="6044184" y="2057400"/>
            <a:ext cx="64008" cy="2670048"/>
          </a:xfrm>
          <a:prstGeom prst="rect">
            <a:avLst/>
          </a:prstGeom>
          <a:solidFill>
            <a:srgbClr val="1D4ED8"/>
          </a:solidFill>
          <a:ln/>
        </p:spPr>
      </p:sp>
      <p:sp>
        <p:nvSpPr>
          <p:cNvPr id="18" name="Text 16"/>
          <p:cNvSpPr/>
          <p:nvPr/>
        </p:nvSpPr>
        <p:spPr>
          <a:xfrm>
            <a:off x="6199632" y="2112264"/>
            <a:ext cx="2496312" cy="292608"/>
          </a:xfrm>
          <a:prstGeom prst="rect">
            <a:avLst/>
          </a:prstGeom>
          <a:noFill/>
          <a:ln/>
        </p:spPr>
        <p:txBody>
          <a:bodyPr wrap="square" lIns="0" tIns="0" rIns="0" bIns="0" rtlCol="0" anchor="ctr"/>
          <a:lstStyle/>
          <a:p>
            <a:pPr marL="0" indent="0">
              <a:buNone/>
            </a:pPr>
            <a:r>
              <a:rPr lang="en-US" sz="1250" b="1" dirty="0">
                <a:solidFill>
                  <a:srgbClr val="1D4ED8"/>
                </a:solidFill>
                <a:latin typeface="Trebuchet MS" pitchFamily="34" charset="0"/>
                <a:ea typeface="Trebuchet MS" pitchFamily="34" charset="-122"/>
                <a:cs typeface="Trebuchet MS" pitchFamily="34" charset="-120"/>
              </a:rPr>
              <a:t>🏔  Platykurtic  (Kurtosis &lt; 3)</a:t>
            </a:r>
            <a:endParaRPr lang="en-US" sz="1250" dirty="0"/>
          </a:p>
        </p:txBody>
      </p:sp>
      <p:sp>
        <p:nvSpPr>
          <p:cNvPr id="19" name="Text 17"/>
          <p:cNvSpPr/>
          <p:nvPr/>
        </p:nvSpPr>
        <p:spPr>
          <a:xfrm>
            <a:off x="6199632" y="2441448"/>
            <a:ext cx="2496312" cy="2212848"/>
          </a:xfrm>
          <a:prstGeom prst="rect">
            <a:avLst/>
          </a:prstGeom>
          <a:noFill/>
          <a:ln/>
        </p:spPr>
        <p:txBody>
          <a:bodyPr wrap="square" rtlCol="0" anchor="t"/>
          <a:lstStyle/>
          <a:p>
            <a:pPr marL="0" indent="0">
              <a:buNone/>
            </a:pPr>
            <a:r>
              <a:rPr lang="en-US" sz="1150" dirty="0">
                <a:solidFill>
                  <a:srgbClr val="475569"/>
                </a:solidFill>
                <a:latin typeface="Calibri" pitchFamily="34" charset="0"/>
                <a:ea typeface="Calibri" pitchFamily="34" charset="-122"/>
                <a:cs typeface="Calibri" pitchFamily="34" charset="-120"/>
              </a:rPr>
              <a:t>FLAT, wide, low peak.</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Light tails — fewer extreme values.</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Excess Kurtosis &lt; 0</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Think: a wide flat plateau.</a:t>
            </a:r>
            <a:endParaRPr lang="en-US" sz="1150" dirty="0"/>
          </a:p>
          <a:p>
            <a:pPr marL="0" indent="0">
              <a:buNone/>
            </a:pP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Example: Rolling a fair dice — all</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outcomes (1–6) are equally likely.</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There is no central peak at all.</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Distribution is perfectly flat</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with very light tails.</a:t>
            </a:r>
            <a:endParaRPr lang="en-US" sz="1150" dirty="0"/>
          </a:p>
        </p:txBody>
      </p:sp>
      <p:sp>
        <p:nvSpPr>
          <p:cNvPr id="20" name="Text 18"/>
          <p:cNvSpPr/>
          <p:nvPr/>
        </p:nvSpPr>
        <p:spPr>
          <a:xfrm>
            <a:off x="457200" y="4645152"/>
            <a:ext cx="8229600" cy="274320"/>
          </a:xfrm>
          <a:prstGeom prst="rect">
            <a:avLst/>
          </a:prstGeom>
          <a:noFill/>
          <a:ln/>
        </p:spPr>
        <p:txBody>
          <a:bodyPr wrap="square" lIns="0" tIns="0" rIns="0" bIns="0" rtlCol="0" anchor="ctr"/>
          <a:lstStyle/>
          <a:p>
            <a:pPr marL="0" indent="0">
              <a:buNone/>
            </a:pPr>
            <a:r>
              <a:rPr lang="en-US" sz="1150" dirty="0">
                <a:solidFill>
                  <a:srgbClr val="7C3AED"/>
                </a:solidFill>
                <a:latin typeface="Calibri" pitchFamily="34" charset="0"/>
                <a:ea typeface="Calibri" pitchFamily="34" charset="-122"/>
                <a:cs typeface="Calibri" pitchFamily="34" charset="-120"/>
              </a:rPr>
              <a:t>💡  Key Insight:  Kurtosis is more about TAILS than the peak. High kurtosis means extreme values are more likely than in a normal distribution — very important in finance and risk.</a:t>
            </a:r>
            <a:endParaRPr lang="en-US" sz="1150" dirty="0"/>
          </a:p>
        </p:txBody>
      </p:sp>
      <p:sp>
        <p:nvSpPr>
          <p:cNvPr id="21" name="Shape 19"/>
          <p:cNvSpPr/>
          <p:nvPr/>
        </p:nvSpPr>
        <p:spPr>
          <a:xfrm>
            <a:off x="0" y="4800600"/>
            <a:ext cx="9144000" cy="342900"/>
          </a:xfrm>
          <a:prstGeom prst="rect">
            <a:avLst/>
          </a:prstGeom>
          <a:solidFill>
            <a:srgbClr val="E2E8F0"/>
          </a:solidFill>
          <a:ln/>
        </p:spPr>
      </p:sp>
      <p:sp>
        <p:nvSpPr>
          <p:cNvPr id="22" name="Text 20"/>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Measures of Dispersion — Complete Reference Table</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3730752"/>
        </p:xfrm>
        <a:graphic>
          <a:graphicData uri="http://schemas.openxmlformats.org/drawingml/2006/table">
            <a:tbl>
              <a:tblPr/>
              <a:tblGrid>
                <a:gridCol w="1554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621792">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Measure</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What It Measures</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Simple Formula</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Daily-Life Use</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extLst>
                  <a:ext uri="{0D108BD9-81ED-4DB2-BD59-A6C34878D82A}">
                    <a16:rowId xmlns:a16="http://schemas.microsoft.com/office/drawing/2014/main" val="10000"/>
                  </a:ext>
                </a:extLst>
              </a:tr>
              <a:tr h="621792">
                <a:tc>
                  <a:txBody>
                    <a:bodyPr/>
                    <a:lstStyle/>
                    <a:p>
                      <a:pPr marL="0" indent="0">
                        <a:buNone/>
                      </a:pPr>
                      <a:r>
                        <a:rPr lang="en-US" sz="1200" b="1" dirty="0">
                          <a:solidFill>
                            <a:srgbClr val="1D4ED8"/>
                          </a:solidFill>
                          <a:latin typeface="Calibri" pitchFamily="34" charset="0"/>
                          <a:ea typeface="Calibri" pitchFamily="34" charset="-122"/>
                          <a:cs typeface="Calibri" pitchFamily="34" charset="-120"/>
                        </a:rPr>
                        <a:t>Variance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BEAFE"/>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Average squared distance from mean</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Σ(x − mean)² ÷ n</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Quality control in factories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200" b="1" dirty="0">
                          <a:solidFill>
                            <a:srgbClr val="16A34A"/>
                          </a:solidFill>
                          <a:latin typeface="Calibri" pitchFamily="34" charset="0"/>
                          <a:ea typeface="Calibri" pitchFamily="34" charset="-122"/>
                          <a:cs typeface="Calibri" pitchFamily="34" charset="-120"/>
                        </a:rPr>
                        <a:t>Std Deviation</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Spread in original units (√Variance)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 Variance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Consistency of exam scores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200" b="1" dirty="0">
                          <a:solidFill>
                            <a:srgbClr val="7C3AED"/>
                          </a:solidFill>
                          <a:latin typeface="Calibri" pitchFamily="34" charset="0"/>
                          <a:ea typeface="Calibri" pitchFamily="34" charset="-122"/>
                          <a:cs typeface="Calibri" pitchFamily="34" charset="-120"/>
                        </a:rPr>
                        <a:t>CV</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3E8FF"/>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Relative spread as % (unit-free)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(SD ÷ Mean) × 100</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Comparing risk across investments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200" b="1" dirty="0">
                          <a:solidFill>
                            <a:srgbClr val="D97706"/>
                          </a:solidFill>
                          <a:latin typeface="Calibri" pitchFamily="34" charset="0"/>
                          <a:ea typeface="Calibri" pitchFamily="34" charset="-122"/>
                          <a:cs typeface="Calibri" pitchFamily="34" charset="-120"/>
                        </a:rPr>
                        <a:t>Skewness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Direction &amp; degree of asymmetry</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Tail direction (left / right / none)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Income &amp; salary distribution analysis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621792">
                <a:tc>
                  <a:txBody>
                    <a:bodyPr/>
                    <a:lstStyle/>
                    <a:p>
                      <a:pPr marL="0" indent="0">
                        <a:buNone/>
                      </a:pPr>
                      <a:r>
                        <a:rPr lang="en-US" sz="1200" b="1" dirty="0">
                          <a:solidFill>
                            <a:srgbClr val="DC2626"/>
                          </a:solidFill>
                          <a:latin typeface="Calibri" pitchFamily="34" charset="0"/>
                          <a:ea typeface="Calibri" pitchFamily="34" charset="-122"/>
                          <a:cs typeface="Calibri" pitchFamily="34" charset="-120"/>
                        </a:rPr>
                        <a:t>Kurtosis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E2E2"/>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Sharpness of peak &amp; tail heaviness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Kurtosis value vs Normal (= 3)</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Risk analysis in financial markets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0" y="4800600"/>
            <a:ext cx="9144000" cy="342900"/>
          </a:xfrm>
          <a:prstGeom prst="rect">
            <a:avLst/>
          </a:prstGeom>
          <a:solidFill>
            <a:srgbClr val="E2E8F0"/>
          </a:solidFill>
          <a:ln/>
        </p:spPr>
      </p:sp>
      <p:sp>
        <p:nvSpPr>
          <p:cNvPr id="6" name="Text 3"/>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35"/>
        </a:solidFill>
        <a:effectLst/>
      </p:bgPr>
    </p:bg>
    <p:spTree>
      <p:nvGrpSpPr>
        <p:cNvPr id="1" name=""/>
        <p:cNvGrpSpPr/>
        <p:nvPr/>
      </p:nvGrpSpPr>
      <p:grpSpPr>
        <a:xfrm>
          <a:off x="0" y="0"/>
          <a:ext cx="0" cy="0"/>
          <a:chOff x="0" y="0"/>
          <a:chExt cx="0" cy="0"/>
        </a:xfrm>
      </p:grpSpPr>
      <p:sp>
        <p:nvSpPr>
          <p:cNvPr id="2" name="Shape 0"/>
          <p:cNvSpPr/>
          <p:nvPr/>
        </p:nvSpPr>
        <p:spPr>
          <a:xfrm>
            <a:off x="0" y="804672"/>
            <a:ext cx="9144000" cy="3995928"/>
          </a:xfrm>
          <a:prstGeom prst="rect">
            <a:avLst/>
          </a:prstGeom>
          <a:solidFill>
            <a:srgbClr val="09152A"/>
          </a:solidFill>
          <a:ln/>
        </p:spPr>
      </p:sp>
      <p:sp>
        <p:nvSpPr>
          <p:cNvPr id="3" name="Shape 1"/>
          <p:cNvSpPr/>
          <p:nvPr/>
        </p:nvSpPr>
        <p:spPr>
          <a:xfrm>
            <a:off x="0" y="0"/>
            <a:ext cx="164592" cy="5143500"/>
          </a:xfrm>
          <a:prstGeom prst="rect">
            <a:avLst/>
          </a:prstGeom>
          <a:solidFill>
            <a:srgbClr val="0D9488"/>
          </a:solidFill>
          <a:ln/>
        </p:spPr>
      </p:sp>
      <p:sp>
        <p:nvSpPr>
          <p:cNvPr id="4" name="Text 2"/>
          <p:cNvSpPr/>
          <p:nvPr/>
        </p:nvSpPr>
        <p:spPr>
          <a:xfrm>
            <a:off x="457200" y="137160"/>
            <a:ext cx="8229600" cy="502920"/>
          </a:xfrm>
          <a:prstGeom prst="rect">
            <a:avLst/>
          </a:prstGeom>
          <a:noFill/>
          <a:ln/>
        </p:spPr>
        <p:txBody>
          <a:bodyPr wrap="square" lIns="0" tIns="0" rIns="0" bIns="0" rtlCol="0" anchor="ctr"/>
          <a:lstStyle/>
          <a:p>
            <a:pPr marL="0" indent="0">
              <a:buNone/>
            </a:pPr>
            <a:r>
              <a:rPr lang="en-US" sz="1500" dirty="0">
                <a:solidFill>
                  <a:srgbClr val="5EEAD4"/>
                </a:solidFill>
                <a:latin typeface="Calibri" pitchFamily="34" charset="0"/>
                <a:ea typeface="Calibri" pitchFamily="34" charset="-122"/>
                <a:cs typeface="Calibri" pitchFamily="34" charset="-120"/>
              </a:rPr>
              <a:t>Hours 3 – 4</a:t>
            </a:r>
            <a:endParaRPr lang="en-US" sz="1500" dirty="0"/>
          </a:p>
        </p:txBody>
      </p:sp>
      <p:sp>
        <p:nvSpPr>
          <p:cNvPr id="5" name="Text 3"/>
          <p:cNvSpPr/>
          <p:nvPr/>
        </p:nvSpPr>
        <p:spPr>
          <a:xfrm>
            <a:off x="457200" y="64008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Measures of Position</a:t>
            </a:r>
            <a:endParaRPr lang="en-US" sz="4000" dirty="0"/>
          </a:p>
        </p:txBody>
      </p:sp>
      <p:sp>
        <p:nvSpPr>
          <p:cNvPr id="6" name="Text 4"/>
          <p:cNvSpPr/>
          <p:nvPr/>
        </p:nvSpPr>
        <p:spPr>
          <a:xfrm>
            <a:off x="457200" y="1481328"/>
            <a:ext cx="8229600" cy="384048"/>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Where does a single value stand within the entire dataset?</a:t>
            </a:r>
            <a:endParaRPr lang="en-US" sz="1600" dirty="0"/>
          </a:p>
        </p:txBody>
      </p:sp>
      <p:sp>
        <p:nvSpPr>
          <p:cNvPr id="7" name="Shape 5"/>
          <p:cNvSpPr/>
          <p:nvPr/>
        </p:nvSpPr>
        <p:spPr>
          <a:xfrm>
            <a:off x="457200" y="2029968"/>
            <a:ext cx="45720" cy="384048"/>
          </a:xfrm>
          <a:prstGeom prst="rect">
            <a:avLst/>
          </a:prstGeom>
          <a:solidFill>
            <a:srgbClr val="0D9488"/>
          </a:solidFill>
          <a:ln/>
        </p:spPr>
      </p:sp>
      <p:sp>
        <p:nvSpPr>
          <p:cNvPr id="8" name="Text 6"/>
          <p:cNvSpPr/>
          <p:nvPr/>
        </p:nvSpPr>
        <p:spPr>
          <a:xfrm>
            <a:off x="621792" y="2048256"/>
            <a:ext cx="8046720" cy="347472"/>
          </a:xfrm>
          <a:prstGeom prst="rect">
            <a:avLst/>
          </a:prstGeom>
          <a:noFill/>
          <a:ln/>
        </p:spPr>
        <p:txBody>
          <a:bodyPr wrap="square" lIns="0" tIns="0" rIns="0" bIns="0" rtlCol="0" anchor="ctr"/>
          <a:lstStyle/>
          <a:p>
            <a:pPr marL="0" indent="0">
              <a:buNone/>
            </a:pPr>
            <a:r>
              <a:rPr lang="en-US" sz="1350" dirty="0">
                <a:solidFill>
                  <a:srgbClr val="CBD5E1"/>
                </a:solidFill>
                <a:latin typeface="Calibri" pitchFamily="34" charset="0"/>
                <a:ea typeface="Calibri" pitchFamily="34" charset="-122"/>
                <a:cs typeface="Calibri" pitchFamily="34" charset="-120"/>
              </a:rPr>
              <a:t>Measures of Dispersion → HOW SPREAD the data is overall.</a:t>
            </a:r>
            <a:endParaRPr lang="en-US" sz="1350" dirty="0"/>
          </a:p>
        </p:txBody>
      </p:sp>
      <p:sp>
        <p:nvSpPr>
          <p:cNvPr id="9" name="Shape 7"/>
          <p:cNvSpPr/>
          <p:nvPr/>
        </p:nvSpPr>
        <p:spPr>
          <a:xfrm>
            <a:off x="457200" y="2560320"/>
            <a:ext cx="45720" cy="384048"/>
          </a:xfrm>
          <a:prstGeom prst="rect">
            <a:avLst/>
          </a:prstGeom>
          <a:solidFill>
            <a:srgbClr val="0D9488"/>
          </a:solidFill>
          <a:ln/>
        </p:spPr>
      </p:sp>
      <p:sp>
        <p:nvSpPr>
          <p:cNvPr id="10" name="Text 8"/>
          <p:cNvSpPr/>
          <p:nvPr/>
        </p:nvSpPr>
        <p:spPr>
          <a:xfrm>
            <a:off x="621792" y="2578608"/>
            <a:ext cx="8046720" cy="347472"/>
          </a:xfrm>
          <a:prstGeom prst="rect">
            <a:avLst/>
          </a:prstGeom>
          <a:noFill/>
          <a:ln/>
        </p:spPr>
        <p:txBody>
          <a:bodyPr wrap="square" lIns="0" tIns="0" rIns="0" bIns="0" rtlCol="0" anchor="ctr"/>
          <a:lstStyle/>
          <a:p>
            <a:pPr marL="0" indent="0">
              <a:buNone/>
            </a:pPr>
            <a:r>
              <a:rPr lang="en-US" sz="1350" dirty="0">
                <a:solidFill>
                  <a:srgbClr val="CBD5E1"/>
                </a:solidFill>
                <a:latin typeface="Calibri" pitchFamily="34" charset="0"/>
                <a:ea typeface="Calibri" pitchFamily="34" charset="-122"/>
                <a:cs typeface="Calibri" pitchFamily="34" charset="-120"/>
              </a:rPr>
              <a:t>Measures of Position   → WHERE one specific value sits within that spread.</a:t>
            </a:r>
            <a:endParaRPr lang="en-US" sz="1350" dirty="0"/>
          </a:p>
        </p:txBody>
      </p:sp>
      <p:sp>
        <p:nvSpPr>
          <p:cNvPr id="11" name="Shape 9"/>
          <p:cNvSpPr/>
          <p:nvPr/>
        </p:nvSpPr>
        <p:spPr>
          <a:xfrm>
            <a:off x="457200" y="3090672"/>
            <a:ext cx="45720" cy="384048"/>
          </a:xfrm>
          <a:prstGeom prst="rect">
            <a:avLst/>
          </a:prstGeom>
          <a:solidFill>
            <a:srgbClr val="0D9488"/>
          </a:solidFill>
          <a:ln/>
        </p:spPr>
      </p:sp>
      <p:sp>
        <p:nvSpPr>
          <p:cNvPr id="12" name="Text 10"/>
          <p:cNvSpPr/>
          <p:nvPr/>
        </p:nvSpPr>
        <p:spPr>
          <a:xfrm>
            <a:off x="621792" y="3108960"/>
            <a:ext cx="8046720" cy="347472"/>
          </a:xfrm>
          <a:prstGeom prst="rect">
            <a:avLst/>
          </a:prstGeom>
          <a:noFill/>
          <a:ln/>
        </p:spPr>
        <p:txBody>
          <a:bodyPr wrap="square" lIns="0" tIns="0" rIns="0" bIns="0" rtlCol="0" anchor="ctr"/>
          <a:lstStyle/>
          <a:p>
            <a:pPr marL="0" indent="0">
              <a:buNone/>
            </a:pPr>
            <a:r>
              <a:rPr lang="en-US" sz="1350" dirty="0">
                <a:solidFill>
                  <a:srgbClr val="CBD5E1"/>
                </a:solidFill>
                <a:latin typeface="Calibri" pitchFamily="34" charset="0"/>
                <a:ea typeface="Calibri" pitchFamily="34" charset="-122"/>
                <a:cs typeface="Calibri" pitchFamily="34" charset="-120"/>
              </a:rPr>
              <a:t>Together they provide a complete statistical picture of any dataset.</a:t>
            </a:r>
            <a:endParaRPr lang="en-US" sz="1350" dirty="0"/>
          </a:p>
        </p:txBody>
      </p:sp>
      <p:sp>
        <p:nvSpPr>
          <p:cNvPr id="13" name="Shape 11"/>
          <p:cNvSpPr/>
          <p:nvPr/>
        </p:nvSpPr>
        <p:spPr>
          <a:xfrm>
            <a:off x="457200" y="3611880"/>
            <a:ext cx="2606040" cy="987552"/>
          </a:xfrm>
          <a:prstGeom prst="rect">
            <a:avLst/>
          </a:prstGeom>
          <a:solidFill>
            <a:srgbClr val="0D2A4A"/>
          </a:solidFill>
          <a:ln/>
          <a:effectLst>
            <a:outerShdw blurRad="101600" dist="25400" dir="8100000" algn="bl" rotWithShape="0">
              <a:srgbClr val="000000">
                <a:alpha val="30000"/>
              </a:srgbClr>
            </a:outerShdw>
          </a:effectLst>
        </p:spPr>
      </p:sp>
      <p:sp>
        <p:nvSpPr>
          <p:cNvPr id="14" name="Shape 12"/>
          <p:cNvSpPr/>
          <p:nvPr/>
        </p:nvSpPr>
        <p:spPr>
          <a:xfrm>
            <a:off x="457200" y="3611880"/>
            <a:ext cx="2606040" cy="54864"/>
          </a:xfrm>
          <a:prstGeom prst="rect">
            <a:avLst/>
          </a:prstGeom>
          <a:solidFill>
            <a:srgbClr val="0EA5E9"/>
          </a:solidFill>
          <a:ln/>
        </p:spPr>
      </p:sp>
      <p:sp>
        <p:nvSpPr>
          <p:cNvPr id="15" name="Text 13"/>
          <p:cNvSpPr/>
          <p:nvPr/>
        </p:nvSpPr>
        <p:spPr>
          <a:xfrm>
            <a:off x="502920" y="3703320"/>
            <a:ext cx="2514600" cy="347472"/>
          </a:xfrm>
          <a:prstGeom prst="rect">
            <a:avLst/>
          </a:prstGeom>
          <a:noFill/>
          <a:ln/>
        </p:spPr>
        <p:txBody>
          <a:bodyPr wrap="square" lIns="0" tIns="0" rIns="0" bIns="0" rtlCol="0" anchor="ctr"/>
          <a:lstStyle/>
          <a:p>
            <a:pPr marL="0" indent="0" algn="ctr">
              <a:buNone/>
            </a:pPr>
            <a:r>
              <a:rPr lang="en-US" sz="2000" b="1" dirty="0">
                <a:solidFill>
                  <a:srgbClr val="0EA5E9"/>
                </a:solidFill>
                <a:latin typeface="Trebuchet MS" pitchFamily="34" charset="0"/>
                <a:ea typeface="Trebuchet MS" pitchFamily="34" charset="-122"/>
                <a:cs typeface="Trebuchet MS" pitchFamily="34" charset="-120"/>
              </a:rPr>
              <a:t>Z-Score</a:t>
            </a:r>
            <a:endParaRPr lang="en-US" sz="2000" dirty="0"/>
          </a:p>
        </p:txBody>
      </p:sp>
      <p:sp>
        <p:nvSpPr>
          <p:cNvPr id="16" name="Text 14"/>
          <p:cNvSpPr/>
          <p:nvPr/>
        </p:nvSpPr>
        <p:spPr>
          <a:xfrm>
            <a:off x="502920" y="4078224"/>
            <a:ext cx="2514600" cy="384048"/>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Standardised position</a:t>
            </a:r>
            <a:endParaRPr lang="en-US" sz="1200" dirty="0"/>
          </a:p>
        </p:txBody>
      </p:sp>
      <p:sp>
        <p:nvSpPr>
          <p:cNvPr id="17" name="Shape 15"/>
          <p:cNvSpPr/>
          <p:nvPr/>
        </p:nvSpPr>
        <p:spPr>
          <a:xfrm>
            <a:off x="3291840" y="3611880"/>
            <a:ext cx="2606040" cy="987552"/>
          </a:xfrm>
          <a:prstGeom prst="rect">
            <a:avLst/>
          </a:prstGeom>
          <a:solidFill>
            <a:srgbClr val="0D2A4A"/>
          </a:solidFill>
          <a:ln/>
          <a:effectLst>
            <a:outerShdw blurRad="101600" dist="25400" dir="8100000" algn="bl" rotWithShape="0">
              <a:srgbClr val="000000">
                <a:alpha val="30000"/>
              </a:srgbClr>
            </a:outerShdw>
          </a:effectLst>
        </p:spPr>
      </p:sp>
      <p:sp>
        <p:nvSpPr>
          <p:cNvPr id="18" name="Shape 16"/>
          <p:cNvSpPr/>
          <p:nvPr/>
        </p:nvSpPr>
        <p:spPr>
          <a:xfrm>
            <a:off x="3291840" y="3611880"/>
            <a:ext cx="2606040" cy="54864"/>
          </a:xfrm>
          <a:prstGeom prst="rect">
            <a:avLst/>
          </a:prstGeom>
          <a:solidFill>
            <a:srgbClr val="0D9488"/>
          </a:solidFill>
          <a:ln/>
        </p:spPr>
      </p:sp>
      <p:sp>
        <p:nvSpPr>
          <p:cNvPr id="19" name="Text 17"/>
          <p:cNvSpPr/>
          <p:nvPr/>
        </p:nvSpPr>
        <p:spPr>
          <a:xfrm>
            <a:off x="3337560" y="3703320"/>
            <a:ext cx="2514600" cy="347472"/>
          </a:xfrm>
          <a:prstGeom prst="rect">
            <a:avLst/>
          </a:prstGeom>
          <a:noFill/>
          <a:ln/>
        </p:spPr>
        <p:txBody>
          <a:bodyPr wrap="square" lIns="0" tIns="0" rIns="0" bIns="0" rtlCol="0" anchor="ctr"/>
          <a:lstStyle/>
          <a:p>
            <a:pPr marL="0" indent="0" algn="ctr">
              <a:buNone/>
            </a:pPr>
            <a:r>
              <a:rPr lang="en-US" sz="2000" b="1" dirty="0">
                <a:solidFill>
                  <a:srgbClr val="0D9488"/>
                </a:solidFill>
                <a:latin typeface="Trebuchet MS" pitchFamily="34" charset="0"/>
                <a:ea typeface="Trebuchet MS" pitchFamily="34" charset="-122"/>
                <a:cs typeface="Trebuchet MS" pitchFamily="34" charset="-120"/>
              </a:rPr>
              <a:t>Percentile</a:t>
            </a:r>
            <a:endParaRPr lang="en-US" sz="2000" dirty="0"/>
          </a:p>
        </p:txBody>
      </p:sp>
      <p:sp>
        <p:nvSpPr>
          <p:cNvPr id="20" name="Text 18"/>
          <p:cNvSpPr/>
          <p:nvPr/>
        </p:nvSpPr>
        <p:spPr>
          <a:xfrm>
            <a:off x="3337560" y="4078224"/>
            <a:ext cx="2514600" cy="384048"/>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Rank as % of data</a:t>
            </a:r>
            <a:endParaRPr lang="en-US" sz="1200" dirty="0"/>
          </a:p>
        </p:txBody>
      </p:sp>
      <p:sp>
        <p:nvSpPr>
          <p:cNvPr id="21" name="Shape 19"/>
          <p:cNvSpPr/>
          <p:nvPr/>
        </p:nvSpPr>
        <p:spPr>
          <a:xfrm>
            <a:off x="6126480" y="3611880"/>
            <a:ext cx="2606040" cy="987552"/>
          </a:xfrm>
          <a:prstGeom prst="rect">
            <a:avLst/>
          </a:prstGeom>
          <a:solidFill>
            <a:srgbClr val="0D2A4A"/>
          </a:solidFill>
          <a:ln/>
          <a:effectLst>
            <a:outerShdw blurRad="101600" dist="25400" dir="8100000" algn="bl" rotWithShape="0">
              <a:srgbClr val="000000">
                <a:alpha val="30000"/>
              </a:srgbClr>
            </a:outerShdw>
          </a:effectLst>
        </p:spPr>
      </p:sp>
      <p:sp>
        <p:nvSpPr>
          <p:cNvPr id="22" name="Shape 20"/>
          <p:cNvSpPr/>
          <p:nvPr/>
        </p:nvSpPr>
        <p:spPr>
          <a:xfrm>
            <a:off x="6126480" y="3611880"/>
            <a:ext cx="2606040" cy="54864"/>
          </a:xfrm>
          <a:prstGeom prst="rect">
            <a:avLst/>
          </a:prstGeom>
          <a:solidFill>
            <a:srgbClr val="9333EA"/>
          </a:solidFill>
          <a:ln/>
        </p:spPr>
      </p:sp>
      <p:sp>
        <p:nvSpPr>
          <p:cNvPr id="23" name="Text 21"/>
          <p:cNvSpPr/>
          <p:nvPr/>
        </p:nvSpPr>
        <p:spPr>
          <a:xfrm>
            <a:off x="6172200" y="3703320"/>
            <a:ext cx="2514600" cy="347472"/>
          </a:xfrm>
          <a:prstGeom prst="rect">
            <a:avLst/>
          </a:prstGeom>
          <a:noFill/>
          <a:ln/>
        </p:spPr>
        <p:txBody>
          <a:bodyPr wrap="square" lIns="0" tIns="0" rIns="0" bIns="0" rtlCol="0" anchor="ctr"/>
          <a:lstStyle/>
          <a:p>
            <a:pPr marL="0" indent="0" algn="ctr">
              <a:buNone/>
            </a:pPr>
            <a:r>
              <a:rPr lang="en-US" sz="2000" b="1" dirty="0">
                <a:solidFill>
                  <a:srgbClr val="9333EA"/>
                </a:solidFill>
                <a:latin typeface="Trebuchet MS" pitchFamily="34" charset="0"/>
                <a:ea typeface="Trebuchet MS" pitchFamily="34" charset="-122"/>
                <a:cs typeface="Trebuchet MS" pitchFamily="34" charset="-120"/>
              </a:rPr>
              <a:t>Quartile</a:t>
            </a:r>
            <a:endParaRPr lang="en-US" sz="2000" dirty="0"/>
          </a:p>
        </p:txBody>
      </p:sp>
      <p:sp>
        <p:nvSpPr>
          <p:cNvPr id="24" name="Text 22"/>
          <p:cNvSpPr/>
          <p:nvPr/>
        </p:nvSpPr>
        <p:spPr>
          <a:xfrm>
            <a:off x="6172200" y="4078224"/>
            <a:ext cx="2514600" cy="384048"/>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Split into 4 equal parts</a:t>
            </a:r>
            <a:endParaRPr lang="en-US" sz="1200" dirty="0"/>
          </a:p>
        </p:txBody>
      </p:sp>
      <p:sp>
        <p:nvSpPr>
          <p:cNvPr id="25" name="Shape 23"/>
          <p:cNvSpPr/>
          <p:nvPr/>
        </p:nvSpPr>
        <p:spPr>
          <a:xfrm>
            <a:off x="0" y="4800600"/>
            <a:ext cx="9144000" cy="342900"/>
          </a:xfrm>
          <a:prstGeom prst="rect">
            <a:avLst/>
          </a:prstGeom>
          <a:solidFill>
            <a:srgbClr val="060F1E"/>
          </a:solidFill>
          <a:ln/>
        </p:spPr>
      </p:sp>
      <p:sp>
        <p:nvSpPr>
          <p:cNvPr id="26" name="Text 24"/>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C4A6E"/>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Z-Score — How Many Standard Deviations From the Mean?</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A Z-Score standardises any value by measuring how far it sits from the mean in units of standard deviation. It allows fair comparison across completely different datasets.</a:t>
            </a:r>
            <a:endParaRPr lang="en-US" sz="1400" dirty="0"/>
          </a:p>
        </p:txBody>
      </p:sp>
      <p:sp>
        <p:nvSpPr>
          <p:cNvPr id="5" name="Shape 3"/>
          <p:cNvSpPr/>
          <p:nvPr/>
        </p:nvSpPr>
        <p:spPr>
          <a:xfrm>
            <a:off x="365760" y="1389888"/>
            <a:ext cx="8412480" cy="658368"/>
          </a:xfrm>
          <a:prstGeom prst="rect">
            <a:avLst/>
          </a:prstGeom>
          <a:solidFill>
            <a:srgbClr val="DBEAFE"/>
          </a:solidFill>
          <a:ln/>
          <a:effectLst>
            <a:outerShdw blurRad="50800" dist="12700" dir="8100000" algn="bl" rotWithShape="0">
              <a:srgbClr val="000000">
                <a:alpha val="7000"/>
              </a:srgbClr>
            </a:outerShdw>
          </a:effectLst>
        </p:spPr>
      </p:sp>
      <p:sp>
        <p:nvSpPr>
          <p:cNvPr id="6" name="Text 4"/>
          <p:cNvSpPr/>
          <p:nvPr/>
        </p:nvSpPr>
        <p:spPr>
          <a:xfrm>
            <a:off x="502920" y="1463040"/>
            <a:ext cx="8138160" cy="512064"/>
          </a:xfrm>
          <a:prstGeom prst="rect">
            <a:avLst/>
          </a:prstGeom>
          <a:noFill/>
          <a:ln/>
        </p:spPr>
        <p:txBody>
          <a:bodyPr wrap="square" lIns="0" tIns="0" rIns="0" bIns="0" rtlCol="0" anchor="ctr"/>
          <a:lstStyle/>
          <a:p>
            <a:pPr marL="0" indent="0" algn="ctr">
              <a:buNone/>
            </a:pPr>
            <a:r>
              <a:rPr lang="en-US" sz="1500" b="1" dirty="0">
                <a:solidFill>
                  <a:srgbClr val="1D4ED8"/>
                </a:solidFill>
                <a:latin typeface="Trebuchet MS" pitchFamily="34" charset="0"/>
                <a:ea typeface="Trebuchet MS" pitchFamily="34" charset="-122"/>
                <a:cs typeface="Trebuchet MS" pitchFamily="34" charset="-120"/>
              </a:rPr>
              <a:t>Z = (x − μ) ÷ σ         i.e.   Z-Score  =  (Value − Mean)  ÷  Standard Deviation</a:t>
            </a:r>
            <a:endParaRPr lang="en-US" sz="1500" dirty="0"/>
          </a:p>
        </p:txBody>
      </p:sp>
      <p:sp>
        <p:nvSpPr>
          <p:cNvPr id="7" name="Shape 5"/>
          <p:cNvSpPr/>
          <p:nvPr/>
        </p:nvSpPr>
        <p:spPr>
          <a:xfrm>
            <a:off x="365760" y="2176272"/>
            <a:ext cx="8412480" cy="896112"/>
          </a:xfrm>
          <a:prstGeom prst="rect">
            <a:avLst/>
          </a:prstGeom>
          <a:solidFill>
            <a:srgbClr val="EFF6FF"/>
          </a:solidFill>
          <a:ln/>
          <a:effectLst>
            <a:outerShdw blurRad="88900" dist="25400" dir="8100000" algn="bl" rotWithShape="0">
              <a:srgbClr val="000000">
                <a:alpha val="9000"/>
              </a:srgbClr>
            </a:outerShdw>
          </a:effectLst>
        </p:spPr>
      </p:sp>
      <p:sp>
        <p:nvSpPr>
          <p:cNvPr id="8" name="Shape 6"/>
          <p:cNvSpPr/>
          <p:nvPr/>
        </p:nvSpPr>
        <p:spPr>
          <a:xfrm>
            <a:off x="365760" y="2176272"/>
            <a:ext cx="64008" cy="896112"/>
          </a:xfrm>
          <a:prstGeom prst="rect">
            <a:avLst/>
          </a:prstGeom>
          <a:solidFill>
            <a:srgbClr val="1D4ED8"/>
          </a:solidFill>
          <a:ln/>
        </p:spPr>
      </p:sp>
      <p:sp>
        <p:nvSpPr>
          <p:cNvPr id="9" name="Text 7"/>
          <p:cNvSpPr/>
          <p:nvPr/>
        </p:nvSpPr>
        <p:spPr>
          <a:xfrm>
            <a:off x="548640" y="2231136"/>
            <a:ext cx="5486400" cy="274320"/>
          </a:xfrm>
          <a:prstGeom prst="rect">
            <a:avLst/>
          </a:prstGeom>
          <a:noFill/>
          <a:ln/>
        </p:spPr>
        <p:txBody>
          <a:bodyPr wrap="square" lIns="0" tIns="0" rIns="0" bIns="0" rtlCol="0" anchor="ctr"/>
          <a:lstStyle/>
          <a:p>
            <a:pPr marL="0" indent="0">
              <a:buNone/>
            </a:pPr>
            <a:r>
              <a:rPr lang="en-US" sz="1300" b="1" dirty="0">
                <a:solidFill>
                  <a:srgbClr val="1D4ED8"/>
                </a:solidFill>
                <a:latin typeface="Trebuchet MS" pitchFamily="34" charset="0"/>
                <a:ea typeface="Trebuchet MS" pitchFamily="34" charset="-122"/>
                <a:cs typeface="Trebuchet MS" pitchFamily="34" charset="-120"/>
              </a:rPr>
              <a:t>📐  Reading a Z-Score — What the Numbers Tell You</a:t>
            </a:r>
            <a:endParaRPr lang="en-US" sz="1300" dirty="0"/>
          </a:p>
        </p:txBody>
      </p:sp>
      <p:sp>
        <p:nvSpPr>
          <p:cNvPr id="10" name="Text 8"/>
          <p:cNvSpPr/>
          <p:nvPr/>
        </p:nvSpPr>
        <p:spPr>
          <a:xfrm>
            <a:off x="548640" y="2542032"/>
            <a:ext cx="8046720" cy="438912"/>
          </a:xfrm>
          <a:prstGeom prst="rect">
            <a:avLst/>
          </a:prstGeom>
          <a:noFill/>
          <a:ln/>
        </p:spPr>
        <p:txBody>
          <a:bodyPr wrap="square" rtlCol="0" anchor="t"/>
          <a:lstStyle/>
          <a:p>
            <a:pPr marL="0" indent="0">
              <a:buNone/>
            </a:pPr>
            <a:r>
              <a:rPr lang="en-US" sz="1250" dirty="0">
                <a:solidFill>
                  <a:srgbClr val="1E3A5F"/>
                </a:solidFill>
                <a:latin typeface="Calibri" pitchFamily="34" charset="0"/>
                <a:ea typeface="Calibri" pitchFamily="34" charset="-122"/>
                <a:cs typeface="Calibri" pitchFamily="34" charset="-120"/>
              </a:rPr>
              <a:t>Z = 0 → value equals the mean exactly  |  Z = +1 → one SD above mean  |  Z = −1 → one SD below mean  |  Z &gt; ±2 → unusual value (potential outlier)  |  Z &gt; ±3 → extremely rare</a:t>
            </a:r>
            <a:endParaRPr lang="en-US" sz="1250" dirty="0"/>
          </a:p>
        </p:txBody>
      </p:sp>
      <p:sp>
        <p:nvSpPr>
          <p:cNvPr id="11" name="Shape 9"/>
          <p:cNvSpPr/>
          <p:nvPr/>
        </p:nvSpPr>
        <p:spPr>
          <a:xfrm>
            <a:off x="365760" y="3165784"/>
            <a:ext cx="5029200" cy="1719072"/>
          </a:xfrm>
          <a:prstGeom prst="rect">
            <a:avLst/>
          </a:prstGeom>
          <a:solidFill>
            <a:srgbClr val="FFFFFF"/>
          </a:solidFill>
          <a:ln/>
          <a:effectLst>
            <a:outerShdw blurRad="88900" dist="25400" dir="8100000" algn="bl" rotWithShape="0">
              <a:srgbClr val="000000">
                <a:alpha val="9000"/>
              </a:srgbClr>
            </a:outerShdw>
          </a:effectLst>
        </p:spPr>
      </p:sp>
      <p:sp>
        <p:nvSpPr>
          <p:cNvPr id="12" name="Shape 10"/>
          <p:cNvSpPr/>
          <p:nvPr/>
        </p:nvSpPr>
        <p:spPr>
          <a:xfrm>
            <a:off x="365760" y="3182112"/>
            <a:ext cx="64008" cy="1719072"/>
          </a:xfrm>
          <a:prstGeom prst="rect">
            <a:avLst/>
          </a:prstGeom>
          <a:solidFill>
            <a:srgbClr val="0EA5E9"/>
          </a:solidFill>
          <a:ln/>
        </p:spPr>
      </p:sp>
      <p:sp>
        <p:nvSpPr>
          <p:cNvPr id="13" name="Text 11"/>
          <p:cNvSpPr/>
          <p:nvPr/>
        </p:nvSpPr>
        <p:spPr>
          <a:xfrm>
            <a:off x="521208" y="3236976"/>
            <a:ext cx="4754880" cy="274320"/>
          </a:xfrm>
          <a:prstGeom prst="rect">
            <a:avLst/>
          </a:prstGeom>
          <a:noFill/>
          <a:ln/>
        </p:spPr>
        <p:txBody>
          <a:bodyPr wrap="square" lIns="0" tIns="0" rIns="0" bIns="0" rtlCol="0" anchor="ctr"/>
          <a:lstStyle/>
          <a:p>
            <a:pPr marL="0" indent="0">
              <a:buNone/>
            </a:pPr>
            <a:r>
              <a:rPr lang="en-US" sz="1350" b="1" dirty="0">
                <a:solidFill>
                  <a:srgbClr val="0EA5E9"/>
                </a:solidFill>
                <a:latin typeface="Trebuchet MS" pitchFamily="34" charset="0"/>
                <a:ea typeface="Trebuchet MS" pitchFamily="34" charset="-122"/>
                <a:cs typeface="Trebuchet MS" pitchFamily="34" charset="-120"/>
              </a:rPr>
              <a:t>📘  Worked Example</a:t>
            </a:r>
            <a:endParaRPr lang="en-US" sz="1350" dirty="0"/>
          </a:p>
        </p:txBody>
      </p:sp>
      <p:sp>
        <p:nvSpPr>
          <p:cNvPr id="14" name="Text 12"/>
          <p:cNvSpPr/>
          <p:nvPr/>
        </p:nvSpPr>
        <p:spPr>
          <a:xfrm>
            <a:off x="521208" y="3566160"/>
            <a:ext cx="4754880" cy="1243584"/>
          </a:xfrm>
          <a:prstGeom prst="rect">
            <a:avLst/>
          </a:prstGeom>
          <a:noFill/>
          <a:ln/>
        </p:spPr>
        <p:txBody>
          <a:bodyPr wrap="square" rtlCol="0" anchor="t"/>
          <a:lstStyle/>
          <a:p>
            <a:pPr marL="0" indent="0">
              <a:buNone/>
            </a:pPr>
            <a:r>
              <a:rPr lang="en-US" sz="1200" dirty="0">
                <a:solidFill>
                  <a:srgbClr val="1E3A5F"/>
                </a:solidFill>
                <a:latin typeface="Calibri" pitchFamily="34" charset="0"/>
                <a:ea typeface="Calibri" pitchFamily="34" charset="-122"/>
                <a:cs typeface="Calibri" pitchFamily="34" charset="-120"/>
              </a:rPr>
              <a:t>A student scored 85.   Class Mean = 70,   SD = 10</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Z = (85 − 70) ÷ 10  =  15 ÷ 10  =  +1.5</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This student is 1.5 standard deviations ABOVE the</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class average — a clearly above-average performance.</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If another student scored 55:</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Z = (55 − 70) ÷ 10  =  −1.5   →  1.5 SDs below average.</a:t>
            </a:r>
            <a:endParaRPr lang="en-US" sz="1200" dirty="0"/>
          </a:p>
        </p:txBody>
      </p:sp>
      <p:sp>
        <p:nvSpPr>
          <p:cNvPr id="15" name="Shape 13"/>
          <p:cNvSpPr/>
          <p:nvPr/>
        </p:nvSpPr>
        <p:spPr>
          <a:xfrm>
            <a:off x="5623560" y="3182112"/>
            <a:ext cx="3154680" cy="1719072"/>
          </a:xfrm>
          <a:prstGeom prst="rect">
            <a:avLst/>
          </a:prstGeom>
          <a:solidFill>
            <a:srgbClr val="FEF3C7"/>
          </a:solidFill>
          <a:ln/>
          <a:effectLst>
            <a:outerShdw blurRad="88900" dist="25400" dir="8100000" algn="bl" rotWithShape="0">
              <a:srgbClr val="000000">
                <a:alpha val="9000"/>
              </a:srgbClr>
            </a:outerShdw>
          </a:effectLst>
        </p:spPr>
      </p:sp>
      <p:sp>
        <p:nvSpPr>
          <p:cNvPr id="16" name="Shape 14"/>
          <p:cNvSpPr/>
          <p:nvPr/>
        </p:nvSpPr>
        <p:spPr>
          <a:xfrm>
            <a:off x="5623560" y="3182112"/>
            <a:ext cx="64008" cy="1719072"/>
          </a:xfrm>
          <a:prstGeom prst="rect">
            <a:avLst/>
          </a:prstGeom>
          <a:solidFill>
            <a:srgbClr val="D97706"/>
          </a:solidFill>
          <a:ln/>
        </p:spPr>
      </p:sp>
      <p:sp>
        <p:nvSpPr>
          <p:cNvPr id="17" name="Text 15"/>
          <p:cNvSpPr/>
          <p:nvPr/>
        </p:nvSpPr>
        <p:spPr>
          <a:xfrm>
            <a:off x="5715000" y="2965269"/>
            <a:ext cx="2880360" cy="274320"/>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  Real-Life Uses</a:t>
            </a:r>
            <a:endParaRPr lang="en-US" sz="1250" dirty="0"/>
          </a:p>
        </p:txBody>
      </p:sp>
      <p:sp>
        <p:nvSpPr>
          <p:cNvPr id="18" name="Text 16"/>
          <p:cNvSpPr/>
          <p:nvPr/>
        </p:nvSpPr>
        <p:spPr>
          <a:xfrm>
            <a:off x="5715000" y="3276165"/>
            <a:ext cx="2880360" cy="1261872"/>
          </a:xfrm>
          <a:prstGeom prst="rect">
            <a:avLst/>
          </a:prstGeom>
          <a:noFill/>
          <a:ln/>
        </p:spPr>
        <p:txBody>
          <a:bodyPr wrap="square" rtlCol="0" anchor="t"/>
          <a:lstStyle/>
          <a:p>
            <a:pPr marL="0" indent="0">
              <a:buNone/>
            </a:pPr>
            <a:r>
              <a:rPr lang="en-US" sz="1200" dirty="0">
                <a:solidFill>
                  <a:srgbClr val="78350F"/>
                </a:solidFill>
                <a:latin typeface="Calibri" pitchFamily="34" charset="0"/>
                <a:ea typeface="Calibri" pitchFamily="34" charset="-122"/>
                <a:cs typeface="Calibri" pitchFamily="34" charset="-120"/>
              </a:rPr>
              <a:t>• Compare students across different exams (different means &amp; SDs).</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Identify unusual or suspicious values in a dataset.</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Medical: is a blood pressure reading abnormal for this age group?</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Finance: is this month's spending unusually high compared to average?</a:t>
            </a:r>
            <a:endParaRPr lang="en-US" sz="1200" dirty="0"/>
          </a:p>
        </p:txBody>
      </p:sp>
      <p:sp>
        <p:nvSpPr>
          <p:cNvPr id="19" name="Shape 17"/>
          <p:cNvSpPr/>
          <p:nvPr/>
        </p:nvSpPr>
        <p:spPr>
          <a:xfrm>
            <a:off x="0" y="4800600"/>
            <a:ext cx="9144000" cy="342900"/>
          </a:xfrm>
          <a:prstGeom prst="rect">
            <a:avLst/>
          </a:prstGeom>
          <a:solidFill>
            <a:srgbClr val="E2E8F0"/>
          </a:solidFill>
          <a:ln/>
        </p:spPr>
      </p:sp>
      <p:sp>
        <p:nvSpPr>
          <p:cNvPr id="20" name="Text 1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C4A6E"/>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Z-Score — Three Cases with Full Examples</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Every Z-Score tells a different story depending on whether it is positive, negative, or zero. Understanding all three is essential to interpreting statistical results.</a:t>
            </a:r>
            <a:endParaRPr lang="en-US" sz="1400" dirty="0"/>
          </a:p>
        </p:txBody>
      </p:sp>
      <p:sp>
        <p:nvSpPr>
          <p:cNvPr id="5" name="Shape 3"/>
          <p:cNvSpPr/>
          <p:nvPr/>
        </p:nvSpPr>
        <p:spPr>
          <a:xfrm>
            <a:off x="301752" y="1417320"/>
            <a:ext cx="2724912" cy="3337560"/>
          </a:xfrm>
          <a:prstGeom prst="rect">
            <a:avLst/>
          </a:prstGeom>
          <a:solidFill>
            <a:srgbClr val="EFF6FF"/>
          </a:solidFill>
          <a:ln/>
          <a:effectLst>
            <a:outerShdw blurRad="88900" dist="25400" dir="8100000" algn="bl" rotWithShape="0">
              <a:srgbClr val="000000">
                <a:alpha val="9000"/>
              </a:srgbClr>
            </a:outerShdw>
          </a:effectLst>
        </p:spPr>
      </p:sp>
      <p:sp>
        <p:nvSpPr>
          <p:cNvPr id="6" name="Shape 4"/>
          <p:cNvSpPr/>
          <p:nvPr/>
        </p:nvSpPr>
        <p:spPr>
          <a:xfrm>
            <a:off x="301752" y="1417320"/>
            <a:ext cx="64008" cy="3337560"/>
          </a:xfrm>
          <a:prstGeom prst="rect">
            <a:avLst/>
          </a:prstGeom>
          <a:solidFill>
            <a:srgbClr val="0EA5E9"/>
          </a:solidFill>
          <a:ln/>
        </p:spPr>
      </p:sp>
      <p:sp>
        <p:nvSpPr>
          <p:cNvPr id="7" name="Text 5"/>
          <p:cNvSpPr/>
          <p:nvPr/>
        </p:nvSpPr>
        <p:spPr>
          <a:xfrm>
            <a:off x="457200" y="1472184"/>
            <a:ext cx="2496312" cy="292608"/>
          </a:xfrm>
          <a:prstGeom prst="rect">
            <a:avLst/>
          </a:prstGeom>
          <a:noFill/>
          <a:ln/>
        </p:spPr>
        <p:txBody>
          <a:bodyPr wrap="square" lIns="0" tIns="0" rIns="0" bIns="0" rtlCol="0" anchor="ctr"/>
          <a:lstStyle/>
          <a:p>
            <a:pPr marL="0" indent="0">
              <a:buNone/>
            </a:pPr>
            <a:r>
              <a:rPr lang="en-US" sz="1250" b="1" dirty="0">
                <a:solidFill>
                  <a:srgbClr val="0EA5E9"/>
                </a:solidFill>
                <a:latin typeface="Trebuchet MS" pitchFamily="34" charset="0"/>
                <a:ea typeface="Trebuchet MS" pitchFamily="34" charset="-122"/>
                <a:cs typeface="Trebuchet MS" pitchFamily="34" charset="-120"/>
              </a:rPr>
              <a:t>➕  Positive Z-Score</a:t>
            </a:r>
            <a:endParaRPr lang="en-US" sz="1250" dirty="0"/>
          </a:p>
        </p:txBody>
      </p:sp>
      <p:sp>
        <p:nvSpPr>
          <p:cNvPr id="8" name="Text 6"/>
          <p:cNvSpPr/>
          <p:nvPr/>
        </p:nvSpPr>
        <p:spPr>
          <a:xfrm>
            <a:off x="457200" y="1801368"/>
            <a:ext cx="2496312" cy="288036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The value is ABOVE the mean.</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+1.5 means 1.5 SDs above average.</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Example: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Salary = PKR 85,000</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Class Mean = PKR 70,000   SD = 10,000</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(85000−70000) ÷ 10000  =  +1.5</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This person earns 1.5 standard deviations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MORE than the average employee.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Positive Z → above-average performance.</a:t>
            </a:r>
            <a:endParaRPr lang="en-US" sz="1200" dirty="0"/>
          </a:p>
        </p:txBody>
      </p:sp>
      <p:sp>
        <p:nvSpPr>
          <p:cNvPr id="9" name="Shape 7"/>
          <p:cNvSpPr/>
          <p:nvPr/>
        </p:nvSpPr>
        <p:spPr>
          <a:xfrm>
            <a:off x="3172968" y="1417320"/>
            <a:ext cx="2724912" cy="3337560"/>
          </a:xfrm>
          <a:prstGeom prst="rect">
            <a:avLst/>
          </a:prstGeom>
          <a:solidFill>
            <a:srgbClr val="F0FDF4"/>
          </a:solidFill>
          <a:ln/>
          <a:effectLst>
            <a:outerShdw blurRad="88900" dist="25400" dir="8100000" algn="bl" rotWithShape="0">
              <a:srgbClr val="000000">
                <a:alpha val="9000"/>
              </a:srgbClr>
            </a:outerShdw>
          </a:effectLst>
        </p:spPr>
      </p:sp>
      <p:sp>
        <p:nvSpPr>
          <p:cNvPr id="10" name="Shape 8"/>
          <p:cNvSpPr/>
          <p:nvPr/>
        </p:nvSpPr>
        <p:spPr>
          <a:xfrm>
            <a:off x="3172968" y="1417320"/>
            <a:ext cx="64008" cy="3337560"/>
          </a:xfrm>
          <a:prstGeom prst="rect">
            <a:avLst/>
          </a:prstGeom>
          <a:solidFill>
            <a:srgbClr val="16A34A"/>
          </a:solidFill>
          <a:ln/>
        </p:spPr>
      </p:sp>
      <p:sp>
        <p:nvSpPr>
          <p:cNvPr id="11" name="Text 9"/>
          <p:cNvSpPr/>
          <p:nvPr/>
        </p:nvSpPr>
        <p:spPr>
          <a:xfrm>
            <a:off x="3328416" y="1472184"/>
            <a:ext cx="2496312" cy="292608"/>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  Zero Z-Score</a:t>
            </a:r>
            <a:endParaRPr lang="en-US" sz="1250" dirty="0"/>
          </a:p>
        </p:txBody>
      </p:sp>
      <p:sp>
        <p:nvSpPr>
          <p:cNvPr id="12" name="Text 10"/>
          <p:cNvSpPr/>
          <p:nvPr/>
        </p:nvSpPr>
        <p:spPr>
          <a:xfrm>
            <a:off x="3328416" y="1801368"/>
            <a:ext cx="2496312" cy="288036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The value equals the mean exactly.</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0 means perfectly average.</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Example: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Today's Temperature = 30°C</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Monthly Mean = 30°C   SD = 5°C</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(30 − 30) ÷ 5  =  0</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Today is neither hotter nor colder</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than average — exactly typical.</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Zero Z → exactly at the centre.</a:t>
            </a:r>
            <a:endParaRPr lang="en-US" sz="1200" dirty="0"/>
          </a:p>
        </p:txBody>
      </p:sp>
      <p:sp>
        <p:nvSpPr>
          <p:cNvPr id="13" name="Shape 11"/>
          <p:cNvSpPr/>
          <p:nvPr/>
        </p:nvSpPr>
        <p:spPr>
          <a:xfrm>
            <a:off x="6044184" y="1417320"/>
            <a:ext cx="2724912" cy="3337560"/>
          </a:xfrm>
          <a:prstGeom prst="rect">
            <a:avLst/>
          </a:prstGeom>
          <a:solidFill>
            <a:srgbClr val="FEE2E2"/>
          </a:solidFill>
          <a:ln/>
          <a:effectLst>
            <a:outerShdw blurRad="88900" dist="25400" dir="8100000" algn="bl" rotWithShape="0">
              <a:srgbClr val="000000">
                <a:alpha val="9000"/>
              </a:srgbClr>
            </a:outerShdw>
          </a:effectLst>
        </p:spPr>
      </p:sp>
      <p:sp>
        <p:nvSpPr>
          <p:cNvPr id="14" name="Shape 12"/>
          <p:cNvSpPr/>
          <p:nvPr/>
        </p:nvSpPr>
        <p:spPr>
          <a:xfrm>
            <a:off x="6044184" y="1417320"/>
            <a:ext cx="64008" cy="3337560"/>
          </a:xfrm>
          <a:prstGeom prst="rect">
            <a:avLst/>
          </a:prstGeom>
          <a:solidFill>
            <a:srgbClr val="DC2626"/>
          </a:solidFill>
          <a:ln/>
        </p:spPr>
      </p:sp>
      <p:sp>
        <p:nvSpPr>
          <p:cNvPr id="15" name="Text 13"/>
          <p:cNvSpPr/>
          <p:nvPr/>
        </p:nvSpPr>
        <p:spPr>
          <a:xfrm>
            <a:off x="6199632" y="1472184"/>
            <a:ext cx="2496312" cy="292608"/>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  Negative Z-Score</a:t>
            </a:r>
            <a:endParaRPr lang="en-US" sz="1250" dirty="0"/>
          </a:p>
        </p:txBody>
      </p:sp>
      <p:sp>
        <p:nvSpPr>
          <p:cNvPr id="16" name="Text 14"/>
          <p:cNvSpPr/>
          <p:nvPr/>
        </p:nvSpPr>
        <p:spPr>
          <a:xfrm>
            <a:off x="6199632" y="1801368"/>
            <a:ext cx="2496312" cy="288036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The value is BELOW the mean.</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−2 means 2 SDs below average.</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Example: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Test score = 50</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Class Mean = 70   SD = 10</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Z = (50 − 70) ÷ 10  =  −2</a:t>
            </a:r>
            <a:endParaRPr lang="en-US" sz="1200" dirty="0"/>
          </a:p>
          <a:p>
            <a:pPr marL="0" indent="0">
              <a:buNone/>
            </a:pP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This student is 2 standard deviations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BELOW the class average — quite far</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from the centre. Unusual result.</a:t>
            </a:r>
            <a:endParaRPr lang="en-US" sz="1200" dirty="0"/>
          </a:p>
        </p:txBody>
      </p:sp>
      <p:sp>
        <p:nvSpPr>
          <p:cNvPr id="17" name="Text 15"/>
          <p:cNvSpPr/>
          <p:nvPr/>
        </p:nvSpPr>
        <p:spPr>
          <a:xfrm>
            <a:off x="457200" y="4645152"/>
            <a:ext cx="8229600" cy="256032"/>
          </a:xfrm>
          <a:prstGeom prst="rect">
            <a:avLst/>
          </a:prstGeom>
          <a:noFill/>
          <a:ln/>
        </p:spPr>
        <p:txBody>
          <a:bodyPr wrap="square" lIns="0" tIns="0" rIns="0" bIns="0" rtlCol="0" anchor="ctr"/>
          <a:lstStyle/>
          <a:p>
            <a:pPr marL="0" indent="0">
              <a:buNone/>
            </a:pPr>
            <a:r>
              <a:rPr lang="en-US" sz="1150" dirty="0">
                <a:solidFill>
                  <a:srgbClr val="0EA5E9"/>
                </a:solidFill>
                <a:latin typeface="Calibri" pitchFamily="34" charset="0"/>
                <a:ea typeface="Calibri" pitchFamily="34" charset="-122"/>
                <a:cs typeface="Calibri" pitchFamily="34" charset="-120"/>
              </a:rPr>
              <a:t>💡  Important Rule:  Z beyond ±2 is unusual.   Z beyond ±3 is extremely rare.   These are used to flag outliers in any dataset.</a:t>
            </a:r>
            <a:endParaRPr lang="en-US" sz="1150" dirty="0"/>
          </a:p>
        </p:txBody>
      </p:sp>
      <p:sp>
        <p:nvSpPr>
          <p:cNvPr id="18" name="Shape 16"/>
          <p:cNvSpPr/>
          <p:nvPr/>
        </p:nvSpPr>
        <p:spPr>
          <a:xfrm>
            <a:off x="0" y="4800600"/>
            <a:ext cx="9144000" cy="342900"/>
          </a:xfrm>
          <a:prstGeom prst="rect">
            <a:avLst/>
          </a:prstGeom>
          <a:solidFill>
            <a:srgbClr val="E2E8F0"/>
          </a:solidFill>
          <a:ln/>
        </p:spPr>
      </p:sp>
      <p:sp>
        <p:nvSpPr>
          <p:cNvPr id="19" name="Text 17"/>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34E4A"/>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Percentile — Your Rank Compared to Everyone Else</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A percentile tells you what percentage of values in a dataset fall BELOW a given value. It measures your position relative to the entire group — not just the average.</a:t>
            </a:r>
            <a:endParaRPr lang="en-US" sz="1400" dirty="0"/>
          </a:p>
        </p:txBody>
      </p:sp>
      <p:sp>
        <p:nvSpPr>
          <p:cNvPr id="5" name="Shape 3"/>
          <p:cNvSpPr/>
          <p:nvPr/>
        </p:nvSpPr>
        <p:spPr>
          <a:xfrm>
            <a:off x="365760" y="1389888"/>
            <a:ext cx="8412480" cy="658368"/>
          </a:xfrm>
          <a:prstGeom prst="rect">
            <a:avLst/>
          </a:prstGeom>
          <a:solidFill>
            <a:srgbClr val="F0FDFA"/>
          </a:solidFill>
          <a:ln/>
          <a:effectLst>
            <a:outerShdw blurRad="50800" dist="12700" dir="8100000" algn="bl" rotWithShape="0">
              <a:srgbClr val="000000">
                <a:alpha val="7000"/>
              </a:srgbClr>
            </a:outerShdw>
          </a:effectLst>
        </p:spPr>
      </p:sp>
      <p:sp>
        <p:nvSpPr>
          <p:cNvPr id="6" name="Text 4"/>
          <p:cNvSpPr/>
          <p:nvPr/>
        </p:nvSpPr>
        <p:spPr>
          <a:xfrm>
            <a:off x="502920" y="1463040"/>
            <a:ext cx="8138160" cy="512064"/>
          </a:xfrm>
          <a:prstGeom prst="rect">
            <a:avLst/>
          </a:prstGeom>
          <a:noFill/>
          <a:ln/>
        </p:spPr>
        <p:txBody>
          <a:bodyPr wrap="square" lIns="0" tIns="0" rIns="0" bIns="0" rtlCol="0" anchor="ctr"/>
          <a:lstStyle/>
          <a:p>
            <a:pPr marL="0" indent="0" algn="ctr">
              <a:buNone/>
            </a:pPr>
            <a:r>
              <a:rPr lang="en-US" sz="1500" b="1" dirty="0">
                <a:solidFill>
                  <a:srgbClr val="0D9488"/>
                </a:solidFill>
                <a:latin typeface="Trebuchet MS" pitchFamily="34" charset="0"/>
                <a:ea typeface="Trebuchet MS" pitchFamily="34" charset="-122"/>
                <a:cs typeface="Trebuchet MS" pitchFamily="34" charset="-120"/>
              </a:rPr>
              <a:t>Percentile Rank  =  (Number of values BELOW your value  ÷  Total values)  ×  100</a:t>
            </a:r>
            <a:endParaRPr lang="en-US" sz="1500" dirty="0"/>
          </a:p>
        </p:txBody>
      </p:sp>
      <p:sp>
        <p:nvSpPr>
          <p:cNvPr id="7" name="Shape 5"/>
          <p:cNvSpPr/>
          <p:nvPr/>
        </p:nvSpPr>
        <p:spPr>
          <a:xfrm>
            <a:off x="365760" y="2176272"/>
            <a:ext cx="5029200" cy="2697480"/>
          </a:xfrm>
          <a:prstGeom prst="rect">
            <a:avLst/>
          </a:prstGeom>
          <a:solidFill>
            <a:srgbClr val="FFFFFF"/>
          </a:solidFill>
          <a:ln/>
          <a:effectLst>
            <a:outerShdw blurRad="88900" dist="25400" dir="8100000" algn="bl" rotWithShape="0">
              <a:srgbClr val="000000">
                <a:alpha val="9000"/>
              </a:srgbClr>
            </a:outerShdw>
          </a:effectLst>
        </p:spPr>
      </p:sp>
      <p:sp>
        <p:nvSpPr>
          <p:cNvPr id="8" name="Shape 6"/>
          <p:cNvSpPr/>
          <p:nvPr/>
        </p:nvSpPr>
        <p:spPr>
          <a:xfrm>
            <a:off x="365760" y="2176272"/>
            <a:ext cx="64008" cy="2697480"/>
          </a:xfrm>
          <a:prstGeom prst="rect">
            <a:avLst/>
          </a:prstGeom>
          <a:solidFill>
            <a:srgbClr val="0D9488"/>
          </a:solidFill>
          <a:ln/>
        </p:spPr>
      </p:sp>
      <p:sp>
        <p:nvSpPr>
          <p:cNvPr id="9" name="Text 7"/>
          <p:cNvSpPr/>
          <p:nvPr/>
        </p:nvSpPr>
        <p:spPr>
          <a:xfrm>
            <a:off x="521208" y="2231136"/>
            <a:ext cx="4754880" cy="292608"/>
          </a:xfrm>
          <a:prstGeom prst="rect">
            <a:avLst/>
          </a:prstGeom>
          <a:noFill/>
          <a:ln/>
        </p:spPr>
        <p:txBody>
          <a:bodyPr wrap="square" lIns="0" tIns="0" rIns="0" bIns="0" rtlCol="0" anchor="ctr"/>
          <a:lstStyle/>
          <a:p>
            <a:pPr marL="0" indent="0">
              <a:buNone/>
            </a:pPr>
            <a:r>
              <a:rPr lang="en-US" sz="1350" b="1" dirty="0">
                <a:solidFill>
                  <a:srgbClr val="0D9488"/>
                </a:solidFill>
                <a:latin typeface="Trebuchet MS" pitchFamily="34" charset="0"/>
                <a:ea typeface="Trebuchet MS" pitchFamily="34" charset="-122"/>
                <a:cs typeface="Trebuchet MS" pitchFamily="34" charset="-120"/>
              </a:rPr>
              <a:t>📘  Full Step-by-Step Example</a:t>
            </a:r>
            <a:endParaRPr lang="en-US" sz="1350" dirty="0"/>
          </a:p>
        </p:txBody>
      </p:sp>
      <p:sp>
        <p:nvSpPr>
          <p:cNvPr id="10" name="Text 8"/>
          <p:cNvSpPr/>
          <p:nvPr/>
        </p:nvSpPr>
        <p:spPr>
          <a:xfrm>
            <a:off x="521208" y="2560320"/>
            <a:ext cx="4754880" cy="2212848"/>
          </a:xfrm>
          <a:prstGeom prst="rect">
            <a:avLst/>
          </a:prstGeom>
          <a:noFill/>
          <a:ln/>
        </p:spPr>
        <p:txBody>
          <a:bodyPr wrap="square" rtlCol="0" anchor="t"/>
          <a:lstStyle/>
          <a:p>
            <a:pPr marL="0" indent="0">
              <a:buNone/>
            </a:pPr>
            <a:r>
              <a:rPr lang="en-US" sz="1200" dirty="0">
                <a:solidFill>
                  <a:srgbClr val="134E4A"/>
                </a:solidFill>
                <a:latin typeface="Calibri" pitchFamily="34" charset="0"/>
                <a:ea typeface="Calibri" pitchFamily="34" charset="-122"/>
                <a:cs typeface="Calibri" pitchFamily="34" charset="-120"/>
              </a:rPr>
              <a:t>10 students scored:</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45, 52, 58, 63, 67, 72, 78, 85, 90, 96</a:t>
            </a:r>
            <a:endParaRPr lang="en-US" sz="1200" dirty="0"/>
          </a:p>
          <a:p>
            <a:pPr marL="0" indent="0">
              <a:buNone/>
            </a:pP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Question: What is the percentile of score 78?</a:t>
            </a:r>
            <a:endParaRPr lang="en-US" sz="1200" dirty="0"/>
          </a:p>
          <a:p>
            <a:pPr marL="0" indent="0">
              <a:buNone/>
            </a:pP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Step 1 — Count values below 78:</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         45, 52, 58, 63, 67, 72  →  6 values</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Step 2 — Apply formula:</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         (6 ÷ 10) × 100  =  60th Percentile</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The student who scored 78 performed</a:t>
            </a:r>
            <a:endParaRPr lang="en-US" sz="1200" dirty="0"/>
          </a:p>
          <a:p>
            <a:pPr marL="0" indent="0">
              <a:buNone/>
            </a:pPr>
            <a:r>
              <a:rPr lang="en-US" sz="1200" dirty="0">
                <a:solidFill>
                  <a:srgbClr val="134E4A"/>
                </a:solidFill>
                <a:latin typeface="Calibri" pitchFamily="34" charset="0"/>
                <a:ea typeface="Calibri" pitchFamily="34" charset="-122"/>
                <a:cs typeface="Calibri" pitchFamily="34" charset="-120"/>
              </a:rPr>
              <a:t>better than 60% of all classmates.</a:t>
            </a:r>
            <a:endParaRPr lang="en-US" sz="1200" dirty="0"/>
          </a:p>
        </p:txBody>
      </p:sp>
      <p:sp>
        <p:nvSpPr>
          <p:cNvPr id="11" name="Shape 9"/>
          <p:cNvSpPr/>
          <p:nvPr/>
        </p:nvSpPr>
        <p:spPr>
          <a:xfrm>
            <a:off x="5623560" y="2176272"/>
            <a:ext cx="3154680" cy="1261872"/>
          </a:xfrm>
          <a:prstGeom prst="rect">
            <a:avLst/>
          </a:prstGeom>
          <a:solidFill>
            <a:srgbClr val="F3E8FF"/>
          </a:solidFill>
          <a:ln/>
          <a:effectLst>
            <a:outerShdw blurRad="88900" dist="25400" dir="8100000" algn="bl" rotWithShape="0">
              <a:srgbClr val="000000">
                <a:alpha val="9000"/>
              </a:srgbClr>
            </a:outerShdw>
          </a:effectLst>
        </p:spPr>
      </p:sp>
      <p:sp>
        <p:nvSpPr>
          <p:cNvPr id="12" name="Shape 10"/>
          <p:cNvSpPr/>
          <p:nvPr/>
        </p:nvSpPr>
        <p:spPr>
          <a:xfrm>
            <a:off x="5623560" y="2176272"/>
            <a:ext cx="64008" cy="1261872"/>
          </a:xfrm>
          <a:prstGeom prst="rect">
            <a:avLst/>
          </a:prstGeom>
          <a:solidFill>
            <a:srgbClr val="7C3AED"/>
          </a:solidFill>
          <a:ln/>
        </p:spPr>
      </p:sp>
      <p:sp>
        <p:nvSpPr>
          <p:cNvPr id="13" name="Text 11"/>
          <p:cNvSpPr/>
          <p:nvPr/>
        </p:nvSpPr>
        <p:spPr>
          <a:xfrm>
            <a:off x="5779008" y="2137737"/>
            <a:ext cx="2880360" cy="274320"/>
          </a:xfrm>
          <a:prstGeom prst="rect">
            <a:avLst/>
          </a:prstGeom>
          <a:noFill/>
          <a:ln/>
        </p:spPr>
        <p:txBody>
          <a:bodyPr wrap="square" lIns="0" tIns="0" rIns="0" bIns="0" rtlCol="0" anchor="ctr"/>
          <a:lstStyle/>
          <a:p>
            <a:pPr marL="0" indent="0">
              <a:buNone/>
            </a:pPr>
            <a:r>
              <a:rPr lang="en-US" sz="1250" b="1" dirty="0">
                <a:solidFill>
                  <a:srgbClr val="7C3AED"/>
                </a:solidFill>
                <a:latin typeface="Trebuchet MS" pitchFamily="34" charset="0"/>
                <a:ea typeface="Trebuchet MS" pitchFamily="34" charset="-122"/>
                <a:cs typeface="Trebuchet MS" pitchFamily="34" charset="-120"/>
              </a:rPr>
              <a:t>🏆  Famous Percentiles</a:t>
            </a:r>
            <a:endParaRPr lang="en-US" sz="1250" dirty="0"/>
          </a:p>
        </p:txBody>
      </p:sp>
      <p:sp>
        <p:nvSpPr>
          <p:cNvPr id="14" name="Text 12"/>
          <p:cNvSpPr/>
          <p:nvPr/>
        </p:nvSpPr>
        <p:spPr>
          <a:xfrm>
            <a:off x="5779008" y="2448633"/>
            <a:ext cx="2880360" cy="804672"/>
          </a:xfrm>
          <a:prstGeom prst="rect">
            <a:avLst/>
          </a:prstGeom>
          <a:noFill/>
          <a:ln/>
        </p:spPr>
        <p:txBody>
          <a:bodyPr wrap="square" rtlCol="0" anchor="t"/>
          <a:lstStyle/>
          <a:p>
            <a:pPr marL="0" indent="0">
              <a:buNone/>
            </a:pPr>
            <a:r>
              <a:rPr lang="en-US" sz="1200" dirty="0">
                <a:solidFill>
                  <a:srgbClr val="4C1D95"/>
                </a:solidFill>
                <a:latin typeface="Calibri" pitchFamily="34" charset="0"/>
                <a:ea typeface="Calibri" pitchFamily="34" charset="-122"/>
                <a:cs typeface="Calibri" pitchFamily="34" charset="-120"/>
              </a:rPr>
              <a:t>25th Percentile = Q1 (Lower Quartile)</a:t>
            </a:r>
            <a:endParaRPr lang="en-US" sz="1200" dirty="0"/>
          </a:p>
          <a:p>
            <a:pPr marL="0" indent="0">
              <a:buNone/>
            </a:pPr>
            <a:r>
              <a:rPr lang="en-US" sz="1200" dirty="0">
                <a:solidFill>
                  <a:srgbClr val="4C1D95"/>
                </a:solidFill>
                <a:latin typeface="Calibri" pitchFamily="34" charset="0"/>
                <a:ea typeface="Calibri" pitchFamily="34" charset="-122"/>
                <a:cs typeface="Calibri" pitchFamily="34" charset="-120"/>
              </a:rPr>
              <a:t>50th Percentile = Median (Middle)</a:t>
            </a:r>
            <a:endParaRPr lang="en-US" sz="1200" dirty="0"/>
          </a:p>
          <a:p>
            <a:pPr marL="0" indent="0">
              <a:buNone/>
            </a:pPr>
            <a:r>
              <a:rPr lang="en-US" sz="1200" dirty="0">
                <a:solidFill>
                  <a:srgbClr val="4C1D95"/>
                </a:solidFill>
                <a:latin typeface="Calibri" pitchFamily="34" charset="0"/>
                <a:ea typeface="Calibri" pitchFamily="34" charset="-122"/>
                <a:cs typeface="Calibri" pitchFamily="34" charset="-120"/>
              </a:rPr>
              <a:t>75th Percentile = Q3 (Upper Quartile)</a:t>
            </a:r>
            <a:endParaRPr lang="en-US" sz="1200" dirty="0"/>
          </a:p>
          <a:p>
            <a:pPr marL="0" indent="0">
              <a:buNone/>
            </a:pPr>
            <a:r>
              <a:rPr lang="en-US" sz="1200" dirty="0">
                <a:solidFill>
                  <a:srgbClr val="4C1D95"/>
                </a:solidFill>
                <a:latin typeface="Calibri" pitchFamily="34" charset="0"/>
                <a:ea typeface="Calibri" pitchFamily="34" charset="-122"/>
                <a:cs typeface="Calibri" pitchFamily="34" charset="-120"/>
              </a:rPr>
              <a:t>90th Percentile = Top 10% performer</a:t>
            </a:r>
            <a:endParaRPr lang="en-US" sz="1200" dirty="0"/>
          </a:p>
          <a:p>
            <a:pPr marL="0" indent="0">
              <a:buNone/>
            </a:pPr>
            <a:r>
              <a:rPr lang="en-US" sz="1200" dirty="0">
                <a:solidFill>
                  <a:srgbClr val="4C1D95"/>
                </a:solidFill>
                <a:latin typeface="Calibri" pitchFamily="34" charset="0"/>
                <a:ea typeface="Calibri" pitchFamily="34" charset="-122"/>
                <a:cs typeface="Calibri" pitchFamily="34" charset="-120"/>
              </a:rPr>
              <a:t>99th Percentile = Top 1% in the group</a:t>
            </a:r>
            <a:endParaRPr lang="en-US" sz="1200" dirty="0"/>
          </a:p>
        </p:txBody>
      </p:sp>
      <p:sp>
        <p:nvSpPr>
          <p:cNvPr id="15" name="Shape 13"/>
          <p:cNvSpPr/>
          <p:nvPr/>
        </p:nvSpPr>
        <p:spPr>
          <a:xfrm>
            <a:off x="5623560" y="3454473"/>
            <a:ext cx="3154680" cy="1325880"/>
          </a:xfrm>
          <a:prstGeom prst="rect">
            <a:avLst/>
          </a:prstGeom>
          <a:solidFill>
            <a:srgbClr val="FEF3C7"/>
          </a:solidFill>
          <a:ln/>
          <a:effectLst>
            <a:outerShdw blurRad="88900" dist="25400" dir="8100000" algn="bl" rotWithShape="0">
              <a:srgbClr val="000000">
                <a:alpha val="9000"/>
              </a:srgbClr>
            </a:outerShdw>
          </a:effectLst>
        </p:spPr>
      </p:sp>
      <p:sp>
        <p:nvSpPr>
          <p:cNvPr id="16" name="Shape 14"/>
          <p:cNvSpPr/>
          <p:nvPr/>
        </p:nvSpPr>
        <p:spPr>
          <a:xfrm>
            <a:off x="5623560" y="3454473"/>
            <a:ext cx="64008" cy="1325880"/>
          </a:xfrm>
          <a:prstGeom prst="rect">
            <a:avLst/>
          </a:prstGeom>
          <a:solidFill>
            <a:srgbClr val="D97706"/>
          </a:solidFill>
          <a:ln/>
        </p:spPr>
      </p:sp>
      <p:sp>
        <p:nvSpPr>
          <p:cNvPr id="17" name="Text 15"/>
          <p:cNvSpPr/>
          <p:nvPr/>
        </p:nvSpPr>
        <p:spPr>
          <a:xfrm>
            <a:off x="5779008" y="3509337"/>
            <a:ext cx="2880360" cy="274320"/>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  Real-Life Uses</a:t>
            </a:r>
            <a:endParaRPr lang="en-US" sz="1250" dirty="0"/>
          </a:p>
        </p:txBody>
      </p:sp>
      <p:sp>
        <p:nvSpPr>
          <p:cNvPr id="18" name="Text 16"/>
          <p:cNvSpPr/>
          <p:nvPr/>
        </p:nvSpPr>
        <p:spPr>
          <a:xfrm>
            <a:off x="5779008" y="3820233"/>
            <a:ext cx="2880360" cy="896112"/>
          </a:xfrm>
          <a:prstGeom prst="rect">
            <a:avLst/>
          </a:prstGeom>
          <a:noFill/>
          <a:ln/>
        </p:spPr>
        <p:txBody>
          <a:bodyPr wrap="square" rtlCol="0" anchor="t"/>
          <a:lstStyle/>
          <a:p>
            <a:pPr marL="0" indent="0">
              <a:buNone/>
            </a:pPr>
            <a:r>
              <a:rPr lang="en-US" sz="1200" dirty="0">
                <a:solidFill>
                  <a:srgbClr val="78350F"/>
                </a:solidFill>
                <a:latin typeface="Calibri" pitchFamily="34" charset="0"/>
                <a:ea typeface="Calibri" pitchFamily="34" charset="-122"/>
                <a:cs typeface="Calibri" pitchFamily="34" charset="-120"/>
              </a:rPr>
              <a:t>• Growth charts for children (height, weight at Xth percentile).</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MDCAT / ECAT / GRE score reports.</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Internet speed: your speed vs national average.</a:t>
            </a:r>
            <a:endParaRPr lang="en-US" sz="1200" dirty="0"/>
          </a:p>
          <a:p>
            <a:pPr marL="0" indent="0">
              <a:buNone/>
            </a:pPr>
            <a:r>
              <a:rPr lang="en-US" sz="1200" dirty="0">
                <a:solidFill>
                  <a:srgbClr val="78350F"/>
                </a:solidFill>
                <a:latin typeface="Calibri" pitchFamily="34" charset="0"/>
                <a:ea typeface="Calibri" pitchFamily="34" charset="-122"/>
                <a:cs typeface="Calibri" pitchFamily="34" charset="-120"/>
              </a:rPr>
              <a:t>• University merit lists.</a:t>
            </a:r>
            <a:endParaRPr lang="en-US" sz="1200" dirty="0"/>
          </a:p>
        </p:txBody>
      </p:sp>
      <p:sp>
        <p:nvSpPr>
          <p:cNvPr id="19" name="Shape 17"/>
          <p:cNvSpPr/>
          <p:nvPr/>
        </p:nvSpPr>
        <p:spPr>
          <a:xfrm>
            <a:off x="0" y="4800600"/>
            <a:ext cx="9144000" cy="342900"/>
          </a:xfrm>
          <a:prstGeom prst="rect">
            <a:avLst/>
          </a:prstGeom>
          <a:solidFill>
            <a:srgbClr val="E2E8F0"/>
          </a:solidFill>
          <a:ln/>
        </p:spPr>
      </p:sp>
      <p:sp>
        <p:nvSpPr>
          <p:cNvPr id="20" name="Text 1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3B0764"/>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Quartile — Dividing Data into Four Equal Quarters</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Quartiles divide a sorted dataset into exactly four equal parts. They are specific percentiles: Q1=25th, Q2=50th (median), Q3=75th. Each reveals a boundary in the data.</a:t>
            </a:r>
            <a:endParaRPr lang="en-US" sz="1400" dirty="0"/>
          </a:p>
        </p:txBody>
      </p:sp>
      <p:sp>
        <p:nvSpPr>
          <p:cNvPr id="5" name="Shape 3"/>
          <p:cNvSpPr/>
          <p:nvPr/>
        </p:nvSpPr>
        <p:spPr>
          <a:xfrm>
            <a:off x="301752" y="1417320"/>
            <a:ext cx="2724912" cy="2852928"/>
          </a:xfrm>
          <a:prstGeom prst="rect">
            <a:avLst/>
          </a:prstGeom>
          <a:solidFill>
            <a:srgbClr val="EFF6FF"/>
          </a:solidFill>
          <a:ln/>
          <a:effectLst>
            <a:outerShdw blurRad="88900" dist="25400" dir="8100000" algn="bl" rotWithShape="0">
              <a:srgbClr val="000000">
                <a:alpha val="9000"/>
              </a:srgbClr>
            </a:outerShdw>
          </a:effectLst>
        </p:spPr>
      </p:sp>
      <p:sp>
        <p:nvSpPr>
          <p:cNvPr id="6" name="Shape 4"/>
          <p:cNvSpPr/>
          <p:nvPr/>
        </p:nvSpPr>
        <p:spPr>
          <a:xfrm>
            <a:off x="301752" y="1417320"/>
            <a:ext cx="64008" cy="2852928"/>
          </a:xfrm>
          <a:prstGeom prst="rect">
            <a:avLst/>
          </a:prstGeom>
          <a:solidFill>
            <a:srgbClr val="0EA5E9"/>
          </a:solidFill>
          <a:ln/>
        </p:spPr>
      </p:sp>
      <p:sp>
        <p:nvSpPr>
          <p:cNvPr id="7" name="Text 5"/>
          <p:cNvSpPr/>
          <p:nvPr/>
        </p:nvSpPr>
        <p:spPr>
          <a:xfrm>
            <a:off x="457200" y="1472184"/>
            <a:ext cx="594360" cy="594360"/>
          </a:xfrm>
          <a:prstGeom prst="rect">
            <a:avLst/>
          </a:prstGeom>
          <a:noFill/>
          <a:ln/>
        </p:spPr>
        <p:txBody>
          <a:bodyPr wrap="square" lIns="0" tIns="0" rIns="0" bIns="0" rtlCol="0" anchor="ctr"/>
          <a:lstStyle/>
          <a:p>
            <a:pPr marL="0" indent="0" algn="ctr">
              <a:buNone/>
            </a:pPr>
            <a:r>
              <a:rPr lang="en-US" sz="2800" b="1" dirty="0">
                <a:solidFill>
                  <a:srgbClr val="0EA5E9"/>
                </a:solidFill>
                <a:latin typeface="Trebuchet MS" pitchFamily="34" charset="0"/>
                <a:ea typeface="Trebuchet MS" pitchFamily="34" charset="-122"/>
                <a:cs typeface="Trebuchet MS" pitchFamily="34" charset="-120"/>
              </a:rPr>
              <a:t>Q1</a:t>
            </a:r>
            <a:endParaRPr lang="en-US" sz="2800" dirty="0"/>
          </a:p>
        </p:txBody>
      </p:sp>
      <p:sp>
        <p:nvSpPr>
          <p:cNvPr id="8" name="Text 6"/>
          <p:cNvSpPr/>
          <p:nvPr/>
        </p:nvSpPr>
        <p:spPr>
          <a:xfrm>
            <a:off x="1115568" y="1517904"/>
            <a:ext cx="1737360" cy="274320"/>
          </a:xfrm>
          <a:prstGeom prst="rect">
            <a:avLst/>
          </a:prstGeom>
          <a:noFill/>
          <a:ln/>
        </p:spPr>
        <p:txBody>
          <a:bodyPr wrap="square" lIns="0" tIns="0" rIns="0" bIns="0" rtlCol="0" anchor="ctr"/>
          <a:lstStyle/>
          <a:p>
            <a:pPr marL="0" indent="0">
              <a:buNone/>
            </a:pPr>
            <a:r>
              <a:rPr lang="en-US" sz="1300" b="1" dirty="0">
                <a:solidFill>
                  <a:srgbClr val="0EA5E9"/>
                </a:solidFill>
                <a:latin typeface="Trebuchet MS" pitchFamily="34" charset="0"/>
                <a:ea typeface="Trebuchet MS" pitchFamily="34" charset="-122"/>
                <a:cs typeface="Trebuchet MS" pitchFamily="34" charset="-120"/>
              </a:rPr>
              <a:t>Lower Quartile</a:t>
            </a:r>
            <a:endParaRPr lang="en-US" sz="1300" dirty="0"/>
          </a:p>
        </p:txBody>
      </p:sp>
      <p:sp>
        <p:nvSpPr>
          <p:cNvPr id="9" name="Text 7"/>
          <p:cNvSpPr/>
          <p:nvPr/>
        </p:nvSpPr>
        <p:spPr>
          <a:xfrm>
            <a:off x="1115568" y="1801368"/>
            <a:ext cx="173736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25th Percentile</a:t>
            </a:r>
            <a:endParaRPr lang="en-US" sz="1100" dirty="0"/>
          </a:p>
        </p:txBody>
      </p:sp>
      <p:sp>
        <p:nvSpPr>
          <p:cNvPr id="10" name="Text 8"/>
          <p:cNvSpPr/>
          <p:nvPr/>
        </p:nvSpPr>
        <p:spPr>
          <a:xfrm>
            <a:off x="457200" y="2121408"/>
            <a:ext cx="2496312" cy="2084832"/>
          </a:xfrm>
          <a:prstGeom prst="rect">
            <a:avLst/>
          </a:prstGeom>
          <a:noFill/>
          <a:ln/>
        </p:spPr>
        <p:txBody>
          <a:bodyPr wrap="square" rtlCol="0" anchor="t"/>
          <a:lstStyle/>
          <a:p>
            <a:pPr marL="0" indent="0">
              <a:buNone/>
            </a:pPr>
            <a:r>
              <a:rPr lang="en-US" sz="1180" dirty="0">
                <a:solidFill>
                  <a:srgbClr val="475569"/>
                </a:solidFill>
                <a:latin typeface="Calibri" pitchFamily="34" charset="0"/>
                <a:ea typeface="Calibri" pitchFamily="34" charset="-122"/>
                <a:cs typeface="Calibri" pitchFamily="34" charset="-120"/>
              </a:rPr>
              <a:t>25% of data falls BELOW Q1.</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75% of data falls ABOVE Q1.</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It marks the lower boundary</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of typical values.</a:t>
            </a:r>
            <a:endParaRPr lang="en-US" sz="1180" dirty="0"/>
          </a:p>
          <a:p>
            <a:pPr marL="0" indent="0">
              <a:buNone/>
            </a:pP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In exam context: Q1 is the</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score that only the bottom 25%</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of students fell below.</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It separates weak performers</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from the rest of the class.</a:t>
            </a:r>
            <a:endParaRPr lang="en-US" sz="1180" dirty="0"/>
          </a:p>
        </p:txBody>
      </p:sp>
      <p:sp>
        <p:nvSpPr>
          <p:cNvPr id="11" name="Shape 9"/>
          <p:cNvSpPr/>
          <p:nvPr/>
        </p:nvSpPr>
        <p:spPr>
          <a:xfrm>
            <a:off x="3172968" y="1417320"/>
            <a:ext cx="2724912" cy="2852928"/>
          </a:xfrm>
          <a:prstGeom prst="rect">
            <a:avLst/>
          </a:prstGeom>
          <a:solidFill>
            <a:srgbClr val="F0FDFA"/>
          </a:solidFill>
          <a:ln/>
          <a:effectLst>
            <a:outerShdw blurRad="88900" dist="25400" dir="8100000" algn="bl" rotWithShape="0">
              <a:srgbClr val="000000">
                <a:alpha val="9000"/>
              </a:srgbClr>
            </a:outerShdw>
          </a:effectLst>
        </p:spPr>
      </p:sp>
      <p:sp>
        <p:nvSpPr>
          <p:cNvPr id="12" name="Shape 10"/>
          <p:cNvSpPr/>
          <p:nvPr/>
        </p:nvSpPr>
        <p:spPr>
          <a:xfrm>
            <a:off x="3172968" y="1417320"/>
            <a:ext cx="64008" cy="2852928"/>
          </a:xfrm>
          <a:prstGeom prst="rect">
            <a:avLst/>
          </a:prstGeom>
          <a:solidFill>
            <a:srgbClr val="0D9488"/>
          </a:solidFill>
          <a:ln/>
        </p:spPr>
      </p:sp>
      <p:sp>
        <p:nvSpPr>
          <p:cNvPr id="13" name="Text 11"/>
          <p:cNvSpPr/>
          <p:nvPr/>
        </p:nvSpPr>
        <p:spPr>
          <a:xfrm>
            <a:off x="3328416" y="1472184"/>
            <a:ext cx="594360" cy="594360"/>
          </a:xfrm>
          <a:prstGeom prst="rect">
            <a:avLst/>
          </a:prstGeom>
          <a:noFill/>
          <a:ln/>
        </p:spPr>
        <p:txBody>
          <a:bodyPr wrap="square" lIns="0" tIns="0" rIns="0" bIns="0" rtlCol="0" anchor="ctr"/>
          <a:lstStyle/>
          <a:p>
            <a:pPr marL="0" indent="0" algn="ctr">
              <a:buNone/>
            </a:pPr>
            <a:r>
              <a:rPr lang="en-US" sz="2800" b="1" dirty="0">
                <a:solidFill>
                  <a:srgbClr val="0D9488"/>
                </a:solidFill>
                <a:latin typeface="Trebuchet MS" pitchFamily="34" charset="0"/>
                <a:ea typeface="Trebuchet MS" pitchFamily="34" charset="-122"/>
                <a:cs typeface="Trebuchet MS" pitchFamily="34" charset="-120"/>
              </a:rPr>
              <a:t>Q2</a:t>
            </a:r>
            <a:endParaRPr lang="en-US" sz="2800" dirty="0"/>
          </a:p>
        </p:txBody>
      </p:sp>
      <p:sp>
        <p:nvSpPr>
          <p:cNvPr id="14" name="Text 12"/>
          <p:cNvSpPr/>
          <p:nvPr/>
        </p:nvSpPr>
        <p:spPr>
          <a:xfrm>
            <a:off x="3986784" y="1517904"/>
            <a:ext cx="1737360" cy="274320"/>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Median</a:t>
            </a:r>
            <a:endParaRPr lang="en-US" sz="1300" dirty="0"/>
          </a:p>
        </p:txBody>
      </p:sp>
      <p:sp>
        <p:nvSpPr>
          <p:cNvPr id="15" name="Text 13"/>
          <p:cNvSpPr/>
          <p:nvPr/>
        </p:nvSpPr>
        <p:spPr>
          <a:xfrm>
            <a:off x="3986784" y="1801368"/>
            <a:ext cx="173736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50th Percentile</a:t>
            </a:r>
            <a:endParaRPr lang="en-US" sz="1100" dirty="0"/>
          </a:p>
        </p:txBody>
      </p:sp>
      <p:sp>
        <p:nvSpPr>
          <p:cNvPr id="16" name="Text 14"/>
          <p:cNvSpPr/>
          <p:nvPr/>
        </p:nvSpPr>
        <p:spPr>
          <a:xfrm>
            <a:off x="3328416" y="2121408"/>
            <a:ext cx="2496312" cy="2084832"/>
          </a:xfrm>
          <a:prstGeom prst="rect">
            <a:avLst/>
          </a:prstGeom>
          <a:noFill/>
          <a:ln/>
        </p:spPr>
        <p:txBody>
          <a:bodyPr wrap="square" rtlCol="0" anchor="t"/>
          <a:lstStyle/>
          <a:p>
            <a:pPr marL="0" indent="0">
              <a:buNone/>
            </a:pPr>
            <a:r>
              <a:rPr lang="en-US" sz="1180" dirty="0">
                <a:solidFill>
                  <a:srgbClr val="475569"/>
                </a:solidFill>
                <a:latin typeface="Calibri" pitchFamily="34" charset="0"/>
                <a:ea typeface="Calibri" pitchFamily="34" charset="-122"/>
                <a:cs typeface="Calibri" pitchFamily="34" charset="-120"/>
              </a:rPr>
              <a:t>Exactly half the data is below.</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Exactly half is above.</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Q2 is the median — the centre.</a:t>
            </a:r>
            <a:endParaRPr lang="en-US" sz="1180" dirty="0"/>
          </a:p>
          <a:p>
            <a:pPr marL="0" indent="0">
              <a:buNone/>
            </a:pP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In exam context: Q2 divides</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the class exactly in half.</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50% scored above this mark</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and 50% scored below it.</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Q2 = best measure of centre</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when data has outliers.</a:t>
            </a:r>
            <a:endParaRPr lang="en-US" sz="1180" dirty="0"/>
          </a:p>
        </p:txBody>
      </p:sp>
      <p:sp>
        <p:nvSpPr>
          <p:cNvPr id="17" name="Shape 15"/>
          <p:cNvSpPr/>
          <p:nvPr/>
        </p:nvSpPr>
        <p:spPr>
          <a:xfrm>
            <a:off x="6044184" y="1417320"/>
            <a:ext cx="2724912" cy="2852928"/>
          </a:xfrm>
          <a:prstGeom prst="rect">
            <a:avLst/>
          </a:prstGeom>
          <a:solidFill>
            <a:srgbClr val="F3E8FF"/>
          </a:solidFill>
          <a:ln/>
          <a:effectLst>
            <a:outerShdw blurRad="88900" dist="25400" dir="8100000" algn="bl" rotWithShape="0">
              <a:srgbClr val="000000">
                <a:alpha val="9000"/>
              </a:srgbClr>
            </a:outerShdw>
          </a:effectLst>
        </p:spPr>
      </p:sp>
      <p:sp>
        <p:nvSpPr>
          <p:cNvPr id="18" name="Shape 16"/>
          <p:cNvSpPr/>
          <p:nvPr/>
        </p:nvSpPr>
        <p:spPr>
          <a:xfrm>
            <a:off x="6044184" y="1417320"/>
            <a:ext cx="64008" cy="2852928"/>
          </a:xfrm>
          <a:prstGeom prst="rect">
            <a:avLst/>
          </a:prstGeom>
          <a:solidFill>
            <a:srgbClr val="9333EA"/>
          </a:solidFill>
          <a:ln/>
        </p:spPr>
      </p:sp>
      <p:sp>
        <p:nvSpPr>
          <p:cNvPr id="19" name="Text 17"/>
          <p:cNvSpPr/>
          <p:nvPr/>
        </p:nvSpPr>
        <p:spPr>
          <a:xfrm>
            <a:off x="6199632" y="1472184"/>
            <a:ext cx="594360" cy="594360"/>
          </a:xfrm>
          <a:prstGeom prst="rect">
            <a:avLst/>
          </a:prstGeom>
          <a:noFill/>
          <a:ln/>
        </p:spPr>
        <p:txBody>
          <a:bodyPr wrap="square" lIns="0" tIns="0" rIns="0" bIns="0" rtlCol="0" anchor="ctr"/>
          <a:lstStyle/>
          <a:p>
            <a:pPr marL="0" indent="0" algn="ctr">
              <a:buNone/>
            </a:pPr>
            <a:r>
              <a:rPr lang="en-US" sz="2800" b="1" dirty="0">
                <a:solidFill>
                  <a:srgbClr val="9333EA"/>
                </a:solidFill>
                <a:latin typeface="Trebuchet MS" pitchFamily="34" charset="0"/>
                <a:ea typeface="Trebuchet MS" pitchFamily="34" charset="-122"/>
                <a:cs typeface="Trebuchet MS" pitchFamily="34" charset="-120"/>
              </a:rPr>
              <a:t>Q3</a:t>
            </a:r>
            <a:endParaRPr lang="en-US" sz="2800" dirty="0"/>
          </a:p>
        </p:txBody>
      </p:sp>
      <p:sp>
        <p:nvSpPr>
          <p:cNvPr id="20" name="Text 18"/>
          <p:cNvSpPr/>
          <p:nvPr/>
        </p:nvSpPr>
        <p:spPr>
          <a:xfrm>
            <a:off x="6858000" y="1517904"/>
            <a:ext cx="1737360" cy="274320"/>
          </a:xfrm>
          <a:prstGeom prst="rect">
            <a:avLst/>
          </a:prstGeom>
          <a:noFill/>
          <a:ln/>
        </p:spPr>
        <p:txBody>
          <a:bodyPr wrap="square" lIns="0" tIns="0" rIns="0" bIns="0" rtlCol="0" anchor="ctr"/>
          <a:lstStyle/>
          <a:p>
            <a:pPr marL="0" indent="0">
              <a:buNone/>
            </a:pPr>
            <a:r>
              <a:rPr lang="en-US" sz="1300" b="1" dirty="0">
                <a:solidFill>
                  <a:srgbClr val="9333EA"/>
                </a:solidFill>
                <a:latin typeface="Trebuchet MS" pitchFamily="34" charset="0"/>
                <a:ea typeface="Trebuchet MS" pitchFamily="34" charset="-122"/>
                <a:cs typeface="Trebuchet MS" pitchFamily="34" charset="-120"/>
              </a:rPr>
              <a:t>Upper Quartile</a:t>
            </a:r>
            <a:endParaRPr lang="en-US" sz="1300" dirty="0"/>
          </a:p>
        </p:txBody>
      </p:sp>
      <p:sp>
        <p:nvSpPr>
          <p:cNvPr id="21" name="Text 19"/>
          <p:cNvSpPr/>
          <p:nvPr/>
        </p:nvSpPr>
        <p:spPr>
          <a:xfrm>
            <a:off x="6858000" y="1801368"/>
            <a:ext cx="173736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75th Percentile</a:t>
            </a:r>
            <a:endParaRPr lang="en-US" sz="1100" dirty="0"/>
          </a:p>
        </p:txBody>
      </p:sp>
      <p:sp>
        <p:nvSpPr>
          <p:cNvPr id="22" name="Text 20"/>
          <p:cNvSpPr/>
          <p:nvPr/>
        </p:nvSpPr>
        <p:spPr>
          <a:xfrm>
            <a:off x="6199632" y="2121408"/>
            <a:ext cx="2496312" cy="2084832"/>
          </a:xfrm>
          <a:prstGeom prst="rect">
            <a:avLst/>
          </a:prstGeom>
          <a:noFill/>
          <a:ln/>
        </p:spPr>
        <p:txBody>
          <a:bodyPr wrap="square" rtlCol="0" anchor="t"/>
          <a:lstStyle/>
          <a:p>
            <a:pPr marL="0" indent="0">
              <a:buNone/>
            </a:pPr>
            <a:r>
              <a:rPr lang="en-US" sz="1180" dirty="0">
                <a:solidFill>
                  <a:srgbClr val="475569"/>
                </a:solidFill>
                <a:latin typeface="Calibri" pitchFamily="34" charset="0"/>
                <a:ea typeface="Calibri" pitchFamily="34" charset="-122"/>
                <a:cs typeface="Calibri" pitchFamily="34" charset="-120"/>
              </a:rPr>
              <a:t>75% of data falls BELOW Q3.</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25% of data falls ABOVE Q3.</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It marks the upper boundary</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of typical values.</a:t>
            </a:r>
            <a:endParaRPr lang="en-US" sz="1180" dirty="0"/>
          </a:p>
          <a:p>
            <a:pPr marL="0" indent="0">
              <a:buNone/>
            </a:pP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In exam context: Q3 is the</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score where top 25% begins.</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Scoring above Q3 means you</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are in the top quarter of</a:t>
            </a:r>
            <a:endParaRPr lang="en-US" sz="1180" dirty="0"/>
          </a:p>
          <a:p>
            <a:pPr marL="0" indent="0">
              <a:buNone/>
            </a:pPr>
            <a:r>
              <a:rPr lang="en-US" sz="1180" dirty="0">
                <a:solidFill>
                  <a:srgbClr val="475569"/>
                </a:solidFill>
                <a:latin typeface="Calibri" pitchFamily="34" charset="0"/>
                <a:ea typeface="Calibri" pitchFamily="34" charset="-122"/>
                <a:cs typeface="Calibri" pitchFamily="34" charset="-120"/>
              </a:rPr>
              <a:t>all students in the class.</a:t>
            </a:r>
            <a:endParaRPr lang="en-US" sz="1180" dirty="0"/>
          </a:p>
        </p:txBody>
      </p:sp>
      <p:sp>
        <p:nvSpPr>
          <p:cNvPr id="23" name="Shape 21"/>
          <p:cNvSpPr/>
          <p:nvPr/>
        </p:nvSpPr>
        <p:spPr>
          <a:xfrm>
            <a:off x="365760" y="4315968"/>
            <a:ext cx="8412480" cy="438912"/>
          </a:xfrm>
          <a:prstGeom prst="rect">
            <a:avLst/>
          </a:prstGeom>
          <a:solidFill>
            <a:srgbClr val="FEF3C7"/>
          </a:solidFill>
          <a:ln/>
          <a:effectLst>
            <a:outerShdw blurRad="88900" dist="25400" dir="8100000" algn="bl" rotWithShape="0">
              <a:srgbClr val="000000">
                <a:alpha val="9000"/>
              </a:srgbClr>
            </a:outerShdw>
          </a:effectLst>
        </p:spPr>
      </p:sp>
      <p:sp>
        <p:nvSpPr>
          <p:cNvPr id="24" name="Shape 22"/>
          <p:cNvSpPr/>
          <p:nvPr/>
        </p:nvSpPr>
        <p:spPr>
          <a:xfrm>
            <a:off x="365760" y="4315968"/>
            <a:ext cx="64008" cy="438912"/>
          </a:xfrm>
          <a:prstGeom prst="rect">
            <a:avLst/>
          </a:prstGeom>
          <a:solidFill>
            <a:srgbClr val="D97706"/>
          </a:solidFill>
          <a:ln/>
        </p:spPr>
      </p:sp>
      <p:sp>
        <p:nvSpPr>
          <p:cNvPr id="25" name="Text 23"/>
          <p:cNvSpPr/>
          <p:nvPr/>
        </p:nvSpPr>
        <p:spPr>
          <a:xfrm>
            <a:off x="548640" y="4352544"/>
            <a:ext cx="4114800" cy="256032"/>
          </a:xfrm>
          <a:prstGeom prst="rect">
            <a:avLst/>
          </a:prstGeom>
          <a:noFill/>
          <a:ln/>
        </p:spPr>
        <p:txBody>
          <a:bodyPr wrap="square" lIns="0" tIns="0" rIns="0" bIns="0" rtlCol="0" anchor="ctr"/>
          <a:lstStyle/>
          <a:p>
            <a:pPr marL="0" indent="0">
              <a:buNone/>
            </a:pPr>
            <a:r>
              <a:rPr lang="en-US" sz="1300" b="1" dirty="0">
                <a:solidFill>
                  <a:srgbClr val="D97706"/>
                </a:solidFill>
                <a:latin typeface="Trebuchet MS" pitchFamily="34" charset="0"/>
                <a:ea typeface="Trebuchet MS" pitchFamily="34" charset="-122"/>
                <a:cs typeface="Trebuchet MS" pitchFamily="34" charset="-120"/>
              </a:rPr>
              <a:t>📌  Interquartile Range (IQR) = Q3 − Q1</a:t>
            </a:r>
            <a:endParaRPr lang="en-US" sz="1300" dirty="0"/>
          </a:p>
        </p:txBody>
      </p:sp>
      <p:sp>
        <p:nvSpPr>
          <p:cNvPr id="26" name="Text 24"/>
          <p:cNvSpPr/>
          <p:nvPr/>
        </p:nvSpPr>
        <p:spPr>
          <a:xfrm>
            <a:off x="4754880" y="4352544"/>
            <a:ext cx="3840480" cy="320040"/>
          </a:xfrm>
          <a:prstGeom prst="rect">
            <a:avLst/>
          </a:prstGeom>
          <a:noFill/>
          <a:ln/>
        </p:spPr>
        <p:txBody>
          <a:bodyPr wrap="square" lIns="0" tIns="0" rIns="0" bIns="0" rtlCol="0" anchor="ctr"/>
          <a:lstStyle/>
          <a:p>
            <a:pPr marL="0" indent="0">
              <a:buNone/>
            </a:pPr>
            <a:r>
              <a:rPr lang="en-US" sz="1150" dirty="0">
                <a:solidFill>
                  <a:srgbClr val="78350F"/>
                </a:solidFill>
                <a:latin typeface="Calibri" pitchFamily="34" charset="0"/>
                <a:ea typeface="Calibri" pitchFamily="34" charset="-122"/>
                <a:cs typeface="Calibri" pitchFamily="34" charset="-120"/>
              </a:rPr>
              <a:t>IQR represents the spread of the middle 50% of data. It is NOT affected by outliers — making it the most reliable spread measure for skewed datasets.</a:t>
            </a:r>
            <a:endParaRPr lang="en-US" sz="1150" dirty="0"/>
          </a:p>
        </p:txBody>
      </p:sp>
      <p:sp>
        <p:nvSpPr>
          <p:cNvPr id="27" name="Shape 25"/>
          <p:cNvSpPr/>
          <p:nvPr/>
        </p:nvSpPr>
        <p:spPr>
          <a:xfrm>
            <a:off x="0" y="4800600"/>
            <a:ext cx="9144000" cy="342900"/>
          </a:xfrm>
          <a:prstGeom prst="rect">
            <a:avLst/>
          </a:prstGeom>
          <a:solidFill>
            <a:srgbClr val="E2E8F0"/>
          </a:solidFill>
          <a:ln/>
        </p:spPr>
      </p:sp>
      <p:sp>
        <p:nvSpPr>
          <p:cNvPr id="28" name="Text 26"/>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3B0764"/>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Quartile — Complete Worked Example with IQR</a:t>
            </a:r>
            <a:endParaRPr lang="en-US" sz="2200" dirty="0"/>
          </a:p>
        </p:txBody>
      </p:sp>
      <p:sp>
        <p:nvSpPr>
          <p:cNvPr id="4" name="Text 2"/>
          <p:cNvSpPr/>
          <p:nvPr/>
        </p:nvSpPr>
        <p:spPr>
          <a:xfrm>
            <a:off x="457200" y="932688"/>
            <a:ext cx="8229600" cy="384048"/>
          </a:xfrm>
          <a:prstGeom prst="rect">
            <a:avLst/>
          </a:prstGeom>
          <a:noFill/>
          <a:ln/>
        </p:spPr>
        <p:txBody>
          <a:bodyPr wrap="square" lIns="0" tIns="0" rIns="0" bIns="0" rtlCol="0" anchor="ctr"/>
          <a:lstStyle/>
          <a:p>
            <a:pPr marL="0" indent="0">
              <a:buNone/>
            </a:pPr>
            <a:r>
              <a:rPr lang="en-US" sz="1400" i="1" dirty="0">
                <a:solidFill>
                  <a:srgbClr val="1E293B"/>
                </a:solidFill>
                <a:latin typeface="Calibri" pitchFamily="34" charset="0"/>
                <a:ea typeface="Calibri" pitchFamily="34" charset="-122"/>
                <a:cs typeface="Calibri" pitchFamily="34" charset="-120"/>
              </a:rPr>
              <a:t>Let's find Q1, Q2 (median), Q3 and the IQR step by step for a real dataset. This is a skill tested in every statistics exam and used in every data analysis.</a:t>
            </a:r>
            <a:endParaRPr lang="en-US" sz="1400" dirty="0"/>
          </a:p>
        </p:txBody>
      </p:sp>
      <p:sp>
        <p:nvSpPr>
          <p:cNvPr id="5" name="Shape 3"/>
          <p:cNvSpPr/>
          <p:nvPr/>
        </p:nvSpPr>
        <p:spPr>
          <a:xfrm>
            <a:off x="365760" y="1417320"/>
            <a:ext cx="5212080" cy="3401568"/>
          </a:xfrm>
          <a:prstGeom prst="rect">
            <a:avLst/>
          </a:prstGeom>
          <a:solidFill>
            <a:srgbClr val="FFFFFF"/>
          </a:solidFill>
          <a:ln/>
          <a:effectLst>
            <a:outerShdw blurRad="88900" dist="25400" dir="8100000" algn="bl" rotWithShape="0">
              <a:srgbClr val="000000">
                <a:alpha val="9000"/>
              </a:srgbClr>
            </a:outerShdw>
          </a:effectLst>
        </p:spPr>
      </p:sp>
      <p:sp>
        <p:nvSpPr>
          <p:cNvPr id="6" name="Shape 4"/>
          <p:cNvSpPr/>
          <p:nvPr/>
        </p:nvSpPr>
        <p:spPr>
          <a:xfrm>
            <a:off x="365760" y="1417320"/>
            <a:ext cx="64008" cy="3401568"/>
          </a:xfrm>
          <a:prstGeom prst="rect">
            <a:avLst/>
          </a:prstGeom>
          <a:solidFill>
            <a:srgbClr val="9333EA"/>
          </a:solidFill>
          <a:ln/>
        </p:spPr>
      </p:sp>
      <p:sp>
        <p:nvSpPr>
          <p:cNvPr id="7" name="Text 5"/>
          <p:cNvSpPr/>
          <p:nvPr/>
        </p:nvSpPr>
        <p:spPr>
          <a:xfrm>
            <a:off x="521208" y="1472184"/>
            <a:ext cx="4846320" cy="292608"/>
          </a:xfrm>
          <a:prstGeom prst="rect">
            <a:avLst/>
          </a:prstGeom>
          <a:noFill/>
          <a:ln/>
        </p:spPr>
        <p:txBody>
          <a:bodyPr wrap="square" lIns="0" tIns="0" rIns="0" bIns="0" rtlCol="0" anchor="ctr"/>
          <a:lstStyle/>
          <a:p>
            <a:pPr marL="0" indent="0">
              <a:buNone/>
            </a:pPr>
            <a:r>
              <a:rPr lang="en-US" sz="1350" b="1" dirty="0">
                <a:solidFill>
                  <a:srgbClr val="9333EA"/>
                </a:solidFill>
                <a:latin typeface="Trebuchet MS" pitchFamily="34" charset="0"/>
                <a:ea typeface="Trebuchet MS" pitchFamily="34" charset="-122"/>
                <a:cs typeface="Trebuchet MS" pitchFamily="34" charset="-120"/>
              </a:rPr>
              <a:t>📘  Step-by-Step Walkthrough</a:t>
            </a:r>
            <a:endParaRPr lang="en-US" sz="1350" dirty="0"/>
          </a:p>
        </p:txBody>
      </p:sp>
      <p:sp>
        <p:nvSpPr>
          <p:cNvPr id="8" name="Text 6"/>
          <p:cNvSpPr/>
          <p:nvPr/>
        </p:nvSpPr>
        <p:spPr>
          <a:xfrm>
            <a:off x="521208" y="1828800"/>
            <a:ext cx="4846320" cy="2907792"/>
          </a:xfrm>
          <a:prstGeom prst="rect">
            <a:avLst/>
          </a:prstGeom>
          <a:noFill/>
          <a:ln/>
        </p:spPr>
        <p:txBody>
          <a:bodyPr wrap="square" rtlCol="0" anchor="t"/>
          <a:lstStyle/>
          <a:p>
            <a:pPr marL="0" indent="0">
              <a:buNone/>
            </a:pPr>
            <a:r>
              <a:rPr lang="en-US" sz="1200" dirty="0">
                <a:solidFill>
                  <a:srgbClr val="1E3A5F"/>
                </a:solidFill>
                <a:latin typeface="Calibri" pitchFamily="34" charset="0"/>
                <a:ea typeface="Calibri" pitchFamily="34" charset="-122"/>
                <a:cs typeface="Calibri" pitchFamily="34" charset="-120"/>
              </a:rPr>
              <a:t>Dataset (already sorted, n = 10):</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4,  8,  15,  16,  23,  42,  55,  60,  72,  88</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1 — Find Median (Q2):</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Even count → average of 5th and 6th value</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5th = 23,  6th = 42</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Q2 = (23 + 42) ÷ 2  =  32.5</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2 — Lower half: 4, 8, 15, 16, 23</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Middle value = 15   →   Q1 = 15</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Step 3 — Upper half: 42, 55, 60, 72, 88</a:t>
            </a: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         Middle value = 60   →   Q3 = 60</a:t>
            </a:r>
            <a:endParaRPr lang="en-US" sz="1200" dirty="0"/>
          </a:p>
          <a:p>
            <a:pPr marL="0" indent="0">
              <a:buNone/>
            </a:pPr>
            <a:endParaRPr lang="en-US" sz="1200" dirty="0"/>
          </a:p>
          <a:p>
            <a:pPr marL="0" indent="0">
              <a:buNone/>
            </a:pPr>
            <a:r>
              <a:rPr lang="en-US" sz="1200" dirty="0">
                <a:solidFill>
                  <a:srgbClr val="1E3A5F"/>
                </a:solidFill>
                <a:latin typeface="Calibri" pitchFamily="34" charset="0"/>
                <a:ea typeface="Calibri" pitchFamily="34" charset="-122"/>
                <a:cs typeface="Calibri" pitchFamily="34" charset="-120"/>
              </a:rPr>
              <a:t>IQR = Q3 − Q1  =  60 − 15  =  45</a:t>
            </a:r>
            <a:endParaRPr lang="en-US" sz="1200" dirty="0"/>
          </a:p>
        </p:txBody>
      </p:sp>
      <p:sp>
        <p:nvSpPr>
          <p:cNvPr id="9" name="Shape 7"/>
          <p:cNvSpPr/>
          <p:nvPr/>
        </p:nvSpPr>
        <p:spPr>
          <a:xfrm>
            <a:off x="5760720" y="1417320"/>
            <a:ext cx="3017520" cy="749808"/>
          </a:xfrm>
          <a:prstGeom prst="rect">
            <a:avLst/>
          </a:prstGeom>
          <a:solidFill>
            <a:srgbClr val="F8FAFC"/>
          </a:solidFill>
          <a:ln/>
          <a:effectLst>
            <a:outerShdw blurRad="88900" dist="25400" dir="8100000" algn="bl" rotWithShape="0">
              <a:srgbClr val="000000">
                <a:alpha val="9000"/>
              </a:srgbClr>
            </a:outerShdw>
          </a:effectLst>
        </p:spPr>
      </p:sp>
      <p:sp>
        <p:nvSpPr>
          <p:cNvPr id="10" name="Shape 8"/>
          <p:cNvSpPr/>
          <p:nvPr/>
        </p:nvSpPr>
        <p:spPr>
          <a:xfrm>
            <a:off x="5760720" y="1417320"/>
            <a:ext cx="64008" cy="749808"/>
          </a:xfrm>
          <a:prstGeom prst="rect">
            <a:avLst/>
          </a:prstGeom>
          <a:solidFill>
            <a:srgbClr val="0EA5E9"/>
          </a:solidFill>
          <a:ln/>
        </p:spPr>
      </p:sp>
      <p:sp>
        <p:nvSpPr>
          <p:cNvPr id="11" name="Text 9"/>
          <p:cNvSpPr/>
          <p:nvPr/>
        </p:nvSpPr>
        <p:spPr>
          <a:xfrm>
            <a:off x="5925312" y="1472184"/>
            <a:ext cx="2011680" cy="274320"/>
          </a:xfrm>
          <a:prstGeom prst="rect">
            <a:avLst/>
          </a:prstGeom>
          <a:noFill/>
          <a:ln/>
        </p:spPr>
        <p:txBody>
          <a:bodyPr wrap="square" lIns="0" tIns="0" rIns="0" bIns="0" rtlCol="0" anchor="ctr"/>
          <a:lstStyle/>
          <a:p>
            <a:pPr marL="0" indent="0">
              <a:buNone/>
            </a:pPr>
            <a:r>
              <a:rPr lang="en-US" sz="1200" b="1" dirty="0">
                <a:solidFill>
                  <a:srgbClr val="0EA5E9"/>
                </a:solidFill>
                <a:latin typeface="Trebuchet MS" pitchFamily="34" charset="0"/>
                <a:ea typeface="Trebuchet MS" pitchFamily="34" charset="-122"/>
                <a:cs typeface="Trebuchet MS" pitchFamily="34" charset="-120"/>
              </a:rPr>
              <a:t>Q1  (25th Percentile)</a:t>
            </a:r>
            <a:endParaRPr lang="en-US" sz="1200" dirty="0"/>
          </a:p>
        </p:txBody>
      </p:sp>
      <p:sp>
        <p:nvSpPr>
          <p:cNvPr id="12" name="Text 10"/>
          <p:cNvSpPr/>
          <p:nvPr/>
        </p:nvSpPr>
        <p:spPr>
          <a:xfrm>
            <a:off x="8119872" y="1435608"/>
            <a:ext cx="594360" cy="457200"/>
          </a:xfrm>
          <a:prstGeom prst="rect">
            <a:avLst/>
          </a:prstGeom>
          <a:noFill/>
          <a:ln/>
        </p:spPr>
        <p:txBody>
          <a:bodyPr wrap="square" lIns="0" tIns="0" rIns="0" bIns="0" rtlCol="0" anchor="ctr"/>
          <a:lstStyle/>
          <a:p>
            <a:pPr marL="0" indent="0" algn="ctr">
              <a:buNone/>
            </a:pPr>
            <a:r>
              <a:rPr lang="en-US" sz="2200" b="1" dirty="0">
                <a:solidFill>
                  <a:srgbClr val="0EA5E9"/>
                </a:solidFill>
                <a:latin typeface="Trebuchet MS" pitchFamily="34" charset="0"/>
                <a:ea typeface="Trebuchet MS" pitchFamily="34" charset="-122"/>
                <a:cs typeface="Trebuchet MS" pitchFamily="34" charset="-120"/>
              </a:rPr>
              <a:t>15</a:t>
            </a:r>
            <a:endParaRPr lang="en-US" sz="2200" dirty="0"/>
          </a:p>
        </p:txBody>
      </p:sp>
      <p:sp>
        <p:nvSpPr>
          <p:cNvPr id="13" name="Text 11"/>
          <p:cNvSpPr/>
          <p:nvPr/>
        </p:nvSpPr>
        <p:spPr>
          <a:xfrm>
            <a:off x="5925312" y="1755648"/>
            <a:ext cx="228600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Lower quarter boundary</a:t>
            </a:r>
            <a:endParaRPr lang="en-US" sz="1100" dirty="0"/>
          </a:p>
        </p:txBody>
      </p:sp>
      <p:sp>
        <p:nvSpPr>
          <p:cNvPr id="14" name="Shape 12"/>
          <p:cNvSpPr/>
          <p:nvPr/>
        </p:nvSpPr>
        <p:spPr>
          <a:xfrm>
            <a:off x="5760720" y="2267712"/>
            <a:ext cx="3017520" cy="749808"/>
          </a:xfrm>
          <a:prstGeom prst="rect">
            <a:avLst/>
          </a:prstGeom>
          <a:solidFill>
            <a:srgbClr val="F8FAFC"/>
          </a:solidFill>
          <a:ln/>
          <a:effectLst>
            <a:outerShdw blurRad="88900" dist="25400" dir="8100000" algn="bl" rotWithShape="0">
              <a:srgbClr val="000000">
                <a:alpha val="9000"/>
              </a:srgbClr>
            </a:outerShdw>
          </a:effectLst>
        </p:spPr>
      </p:sp>
      <p:sp>
        <p:nvSpPr>
          <p:cNvPr id="15" name="Shape 13"/>
          <p:cNvSpPr/>
          <p:nvPr/>
        </p:nvSpPr>
        <p:spPr>
          <a:xfrm>
            <a:off x="5760720" y="2267712"/>
            <a:ext cx="64008" cy="749808"/>
          </a:xfrm>
          <a:prstGeom prst="rect">
            <a:avLst/>
          </a:prstGeom>
          <a:solidFill>
            <a:srgbClr val="0D9488"/>
          </a:solidFill>
          <a:ln/>
        </p:spPr>
      </p:sp>
      <p:sp>
        <p:nvSpPr>
          <p:cNvPr id="16" name="Text 14"/>
          <p:cNvSpPr/>
          <p:nvPr/>
        </p:nvSpPr>
        <p:spPr>
          <a:xfrm>
            <a:off x="5925312" y="2322576"/>
            <a:ext cx="2011680" cy="274320"/>
          </a:xfrm>
          <a:prstGeom prst="rect">
            <a:avLst/>
          </a:prstGeom>
          <a:noFill/>
          <a:ln/>
        </p:spPr>
        <p:txBody>
          <a:bodyPr wrap="square" lIns="0" tIns="0" rIns="0" bIns="0" rtlCol="0" anchor="ctr"/>
          <a:lstStyle/>
          <a:p>
            <a:pPr marL="0" indent="0">
              <a:buNone/>
            </a:pPr>
            <a:r>
              <a:rPr lang="en-US" sz="1200" b="1" dirty="0">
                <a:solidFill>
                  <a:srgbClr val="0D9488"/>
                </a:solidFill>
                <a:latin typeface="Trebuchet MS" pitchFamily="34" charset="0"/>
                <a:ea typeface="Trebuchet MS" pitchFamily="34" charset="-122"/>
                <a:cs typeface="Trebuchet MS" pitchFamily="34" charset="-120"/>
              </a:rPr>
              <a:t>Q2  (Median / 50th)</a:t>
            </a:r>
            <a:endParaRPr lang="en-US" sz="1200" dirty="0"/>
          </a:p>
        </p:txBody>
      </p:sp>
      <p:sp>
        <p:nvSpPr>
          <p:cNvPr id="17" name="Text 15"/>
          <p:cNvSpPr/>
          <p:nvPr/>
        </p:nvSpPr>
        <p:spPr>
          <a:xfrm>
            <a:off x="8119872" y="2286000"/>
            <a:ext cx="594360"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32.5</a:t>
            </a:r>
            <a:endParaRPr lang="en-US" sz="2200" dirty="0"/>
          </a:p>
        </p:txBody>
      </p:sp>
      <p:sp>
        <p:nvSpPr>
          <p:cNvPr id="18" name="Text 16"/>
          <p:cNvSpPr/>
          <p:nvPr/>
        </p:nvSpPr>
        <p:spPr>
          <a:xfrm>
            <a:off x="5925312" y="2606040"/>
            <a:ext cx="228600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Centre of dataset</a:t>
            </a:r>
            <a:endParaRPr lang="en-US" sz="1100" dirty="0"/>
          </a:p>
        </p:txBody>
      </p:sp>
      <p:sp>
        <p:nvSpPr>
          <p:cNvPr id="19" name="Shape 17"/>
          <p:cNvSpPr/>
          <p:nvPr/>
        </p:nvSpPr>
        <p:spPr>
          <a:xfrm>
            <a:off x="5760720" y="3118104"/>
            <a:ext cx="3017520" cy="749808"/>
          </a:xfrm>
          <a:prstGeom prst="rect">
            <a:avLst/>
          </a:prstGeom>
          <a:solidFill>
            <a:srgbClr val="F8FAFC"/>
          </a:solidFill>
          <a:ln/>
          <a:effectLst>
            <a:outerShdw blurRad="88900" dist="25400" dir="8100000" algn="bl" rotWithShape="0">
              <a:srgbClr val="000000">
                <a:alpha val="9000"/>
              </a:srgbClr>
            </a:outerShdw>
          </a:effectLst>
        </p:spPr>
      </p:sp>
      <p:sp>
        <p:nvSpPr>
          <p:cNvPr id="20" name="Shape 18"/>
          <p:cNvSpPr/>
          <p:nvPr/>
        </p:nvSpPr>
        <p:spPr>
          <a:xfrm>
            <a:off x="5760720" y="3118104"/>
            <a:ext cx="64008" cy="749808"/>
          </a:xfrm>
          <a:prstGeom prst="rect">
            <a:avLst/>
          </a:prstGeom>
          <a:solidFill>
            <a:srgbClr val="9333EA"/>
          </a:solidFill>
          <a:ln/>
        </p:spPr>
      </p:sp>
      <p:sp>
        <p:nvSpPr>
          <p:cNvPr id="21" name="Text 19"/>
          <p:cNvSpPr/>
          <p:nvPr/>
        </p:nvSpPr>
        <p:spPr>
          <a:xfrm>
            <a:off x="5925312" y="3172968"/>
            <a:ext cx="2011680" cy="274320"/>
          </a:xfrm>
          <a:prstGeom prst="rect">
            <a:avLst/>
          </a:prstGeom>
          <a:noFill/>
          <a:ln/>
        </p:spPr>
        <p:txBody>
          <a:bodyPr wrap="square" lIns="0" tIns="0" rIns="0" bIns="0" rtlCol="0" anchor="ctr"/>
          <a:lstStyle/>
          <a:p>
            <a:pPr marL="0" indent="0">
              <a:buNone/>
            </a:pPr>
            <a:r>
              <a:rPr lang="en-US" sz="1200" b="1" dirty="0">
                <a:solidFill>
                  <a:srgbClr val="9333EA"/>
                </a:solidFill>
                <a:latin typeface="Trebuchet MS" pitchFamily="34" charset="0"/>
                <a:ea typeface="Trebuchet MS" pitchFamily="34" charset="-122"/>
                <a:cs typeface="Trebuchet MS" pitchFamily="34" charset="-120"/>
              </a:rPr>
              <a:t>Q3  (75th Percentile)</a:t>
            </a:r>
            <a:endParaRPr lang="en-US" sz="1200" dirty="0"/>
          </a:p>
        </p:txBody>
      </p:sp>
      <p:sp>
        <p:nvSpPr>
          <p:cNvPr id="22" name="Text 20"/>
          <p:cNvSpPr/>
          <p:nvPr/>
        </p:nvSpPr>
        <p:spPr>
          <a:xfrm>
            <a:off x="8119872" y="3136392"/>
            <a:ext cx="594360" cy="457200"/>
          </a:xfrm>
          <a:prstGeom prst="rect">
            <a:avLst/>
          </a:prstGeom>
          <a:noFill/>
          <a:ln/>
        </p:spPr>
        <p:txBody>
          <a:bodyPr wrap="square" lIns="0" tIns="0" rIns="0" bIns="0" rtlCol="0" anchor="ctr"/>
          <a:lstStyle/>
          <a:p>
            <a:pPr marL="0" indent="0" algn="ctr">
              <a:buNone/>
            </a:pPr>
            <a:r>
              <a:rPr lang="en-US" sz="2200" b="1" dirty="0">
                <a:solidFill>
                  <a:srgbClr val="9333EA"/>
                </a:solidFill>
                <a:latin typeface="Trebuchet MS" pitchFamily="34" charset="0"/>
                <a:ea typeface="Trebuchet MS" pitchFamily="34" charset="-122"/>
                <a:cs typeface="Trebuchet MS" pitchFamily="34" charset="-120"/>
              </a:rPr>
              <a:t>60</a:t>
            </a:r>
            <a:endParaRPr lang="en-US" sz="2200" dirty="0"/>
          </a:p>
        </p:txBody>
      </p:sp>
      <p:sp>
        <p:nvSpPr>
          <p:cNvPr id="23" name="Text 21"/>
          <p:cNvSpPr/>
          <p:nvPr/>
        </p:nvSpPr>
        <p:spPr>
          <a:xfrm>
            <a:off x="5925312" y="3456432"/>
            <a:ext cx="228600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Upper quarter boundary</a:t>
            </a:r>
            <a:endParaRPr lang="en-US" sz="1100" dirty="0"/>
          </a:p>
        </p:txBody>
      </p:sp>
      <p:sp>
        <p:nvSpPr>
          <p:cNvPr id="24" name="Shape 22"/>
          <p:cNvSpPr/>
          <p:nvPr/>
        </p:nvSpPr>
        <p:spPr>
          <a:xfrm>
            <a:off x="5760720" y="3960332"/>
            <a:ext cx="3017520" cy="749808"/>
          </a:xfrm>
          <a:prstGeom prst="rect">
            <a:avLst/>
          </a:prstGeom>
          <a:solidFill>
            <a:srgbClr val="FEF3C7"/>
          </a:solidFill>
          <a:ln/>
          <a:effectLst>
            <a:outerShdw blurRad="88900" dist="25400" dir="8100000" algn="bl" rotWithShape="0">
              <a:srgbClr val="000000">
                <a:alpha val="9000"/>
              </a:srgbClr>
            </a:outerShdw>
          </a:effectLst>
        </p:spPr>
      </p:sp>
      <p:sp>
        <p:nvSpPr>
          <p:cNvPr id="25" name="Shape 23"/>
          <p:cNvSpPr/>
          <p:nvPr/>
        </p:nvSpPr>
        <p:spPr>
          <a:xfrm>
            <a:off x="5760720" y="3968496"/>
            <a:ext cx="64008" cy="749808"/>
          </a:xfrm>
          <a:prstGeom prst="rect">
            <a:avLst/>
          </a:prstGeom>
          <a:solidFill>
            <a:srgbClr val="D97706"/>
          </a:solidFill>
          <a:ln/>
        </p:spPr>
      </p:sp>
      <p:sp>
        <p:nvSpPr>
          <p:cNvPr id="26" name="Text 24"/>
          <p:cNvSpPr/>
          <p:nvPr/>
        </p:nvSpPr>
        <p:spPr>
          <a:xfrm>
            <a:off x="5925312" y="4023360"/>
            <a:ext cx="2011680" cy="274320"/>
          </a:xfrm>
          <a:prstGeom prst="rect">
            <a:avLst/>
          </a:prstGeom>
          <a:noFill/>
          <a:ln/>
        </p:spPr>
        <p:txBody>
          <a:bodyPr wrap="square" lIns="0" tIns="0" rIns="0" bIns="0" rtlCol="0" anchor="ctr"/>
          <a:lstStyle/>
          <a:p>
            <a:pPr marL="0" indent="0">
              <a:buNone/>
            </a:pPr>
            <a:r>
              <a:rPr lang="en-US" sz="1200" b="1" dirty="0">
                <a:solidFill>
                  <a:srgbClr val="D97706"/>
                </a:solidFill>
                <a:latin typeface="Trebuchet MS" pitchFamily="34" charset="0"/>
                <a:ea typeface="Trebuchet MS" pitchFamily="34" charset="-122"/>
                <a:cs typeface="Trebuchet MS" pitchFamily="34" charset="-120"/>
              </a:rPr>
              <a:t>IQR  =  Q3 − Q1</a:t>
            </a:r>
            <a:endParaRPr lang="en-US" sz="1200" dirty="0"/>
          </a:p>
        </p:txBody>
      </p:sp>
      <p:sp>
        <p:nvSpPr>
          <p:cNvPr id="27" name="Text 25"/>
          <p:cNvSpPr/>
          <p:nvPr/>
        </p:nvSpPr>
        <p:spPr>
          <a:xfrm>
            <a:off x="8119872" y="3986784"/>
            <a:ext cx="594360" cy="457200"/>
          </a:xfrm>
          <a:prstGeom prst="rect">
            <a:avLst/>
          </a:prstGeom>
          <a:noFill/>
          <a:ln/>
        </p:spPr>
        <p:txBody>
          <a:bodyPr wrap="square" lIns="0" tIns="0" rIns="0" bIns="0" rtlCol="0" anchor="ctr"/>
          <a:lstStyle/>
          <a:p>
            <a:pPr marL="0" indent="0" algn="ctr">
              <a:buNone/>
            </a:pPr>
            <a:r>
              <a:rPr lang="en-US" sz="2200" b="1" dirty="0">
                <a:solidFill>
                  <a:srgbClr val="D97706"/>
                </a:solidFill>
                <a:latin typeface="Trebuchet MS" pitchFamily="34" charset="0"/>
                <a:ea typeface="Trebuchet MS" pitchFamily="34" charset="-122"/>
                <a:cs typeface="Trebuchet MS" pitchFamily="34" charset="-120"/>
              </a:rPr>
              <a:t>45</a:t>
            </a:r>
            <a:endParaRPr lang="en-US" sz="2200" dirty="0"/>
          </a:p>
        </p:txBody>
      </p:sp>
      <p:sp>
        <p:nvSpPr>
          <p:cNvPr id="28" name="Text 26"/>
          <p:cNvSpPr/>
          <p:nvPr/>
        </p:nvSpPr>
        <p:spPr>
          <a:xfrm>
            <a:off x="5925312" y="4306824"/>
            <a:ext cx="2286000" cy="219456"/>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Spread of middle 50%</a:t>
            </a:r>
            <a:endParaRPr lang="en-US" sz="1100" dirty="0"/>
          </a:p>
        </p:txBody>
      </p:sp>
      <p:sp>
        <p:nvSpPr>
          <p:cNvPr id="29" name="Shape 27"/>
          <p:cNvSpPr/>
          <p:nvPr/>
        </p:nvSpPr>
        <p:spPr>
          <a:xfrm>
            <a:off x="0" y="4800600"/>
            <a:ext cx="9144000" cy="342900"/>
          </a:xfrm>
          <a:prstGeom prst="rect">
            <a:avLst/>
          </a:prstGeom>
          <a:solidFill>
            <a:srgbClr val="E2E8F0"/>
          </a:solidFill>
          <a:ln/>
        </p:spPr>
      </p:sp>
      <p:sp>
        <p:nvSpPr>
          <p:cNvPr id="30" name="Text 28"/>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A35"/>
          </a:solidFill>
          <a:ln/>
        </p:spPr>
      </p:sp>
      <p:sp>
        <p:nvSpPr>
          <p:cNvPr id="3" name="Text 1"/>
          <p:cNvSpPr/>
          <p:nvPr/>
        </p:nvSpPr>
        <p:spPr>
          <a:xfrm>
            <a:off x="411480" y="91440"/>
            <a:ext cx="8321040" cy="62179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Measures of Position — When to Use Which?</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2880360"/>
        </p:xfrm>
        <a:graphic>
          <a:graphicData uri="http://schemas.openxmlformats.org/drawingml/2006/table">
            <a:tbl>
              <a:tblPr/>
              <a:tblGrid>
                <a:gridCol w="1371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76072">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Measure</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Key Question It Answers</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How to Calculate</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tc>
                  <a:txBody>
                    <a:bodyP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Best Used When…</a:t>
                      </a:r>
                      <a:endParaRPr lang="en-US" sz="1250" dirty="0">
                        <a:latin typeface="Trebuchet MS" charset="0"/>
                        <a:ea typeface="Trebuchet MS" charset="0"/>
                        <a:cs typeface="Trebuchet MS"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1A35"/>
                    </a:solidFill>
                  </a:tcPr>
                </a:tc>
                <a:extLst>
                  <a:ext uri="{0D108BD9-81ED-4DB2-BD59-A6C34878D82A}">
                    <a16:rowId xmlns:a16="http://schemas.microsoft.com/office/drawing/2014/main" val="10000"/>
                  </a:ext>
                </a:extLst>
              </a:tr>
              <a:tr h="576072">
                <a:tc>
                  <a:txBody>
                    <a:bodyPr/>
                    <a:lstStyle/>
                    <a:p>
                      <a:pPr marL="0" indent="0">
                        <a:buNone/>
                      </a:pPr>
                      <a:r>
                        <a:rPr lang="en-US" sz="1200" b="1" dirty="0">
                          <a:solidFill>
                            <a:srgbClr val="1D4ED8"/>
                          </a:solidFill>
                          <a:latin typeface="Calibri" pitchFamily="34" charset="0"/>
                          <a:ea typeface="Calibri" pitchFamily="34" charset="-122"/>
                          <a:cs typeface="Calibri" pitchFamily="34" charset="-120"/>
                        </a:rPr>
                        <a:t>Z-Score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BEAFE"/>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How many SDs is this value from the mean?</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(x − mean) ÷ SD</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Comparing values across different datasets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76072">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Percentile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DFA"/>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What % of data falls below this value?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(values below ÷ total) × 100</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Ranking within a group (exams, growth charts)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76072">
                <a:tc>
                  <a:txBody>
                    <a:bodyPr/>
                    <a:lstStyle/>
                    <a:p>
                      <a:pPr marL="0" indent="0">
                        <a:buNone/>
                      </a:pPr>
                      <a:r>
                        <a:rPr lang="en-US" sz="1200" b="1" dirty="0">
                          <a:solidFill>
                            <a:srgbClr val="7C3AED"/>
                          </a:solidFill>
                          <a:latin typeface="Calibri" pitchFamily="34" charset="0"/>
                          <a:ea typeface="Calibri" pitchFamily="34" charset="-122"/>
                          <a:cs typeface="Calibri" pitchFamily="34" charset="-120"/>
                        </a:rPr>
                        <a:t>Quartile</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3E8FF"/>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Which of the 4 quarters does this fall in?</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Sort → split into 4 equal parts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Understanding data structure and spread</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76072">
                <a:tc>
                  <a:txBody>
                    <a:bodyPr/>
                    <a:lstStyle/>
                    <a:p>
                      <a:pPr marL="0" indent="0">
                        <a:buNone/>
                      </a:pPr>
                      <a:r>
                        <a:rPr lang="en-US" sz="1200" b="1" dirty="0">
                          <a:solidFill>
                            <a:srgbClr val="D97706"/>
                          </a:solidFill>
                          <a:latin typeface="Calibri" pitchFamily="34" charset="0"/>
                          <a:ea typeface="Calibri" pitchFamily="34" charset="-122"/>
                          <a:cs typeface="Calibri" pitchFamily="34" charset="-120"/>
                        </a:rPr>
                        <a:t>IQR</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How wide is the middle 50% of data?</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Q3 − Q1</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475569"/>
                          </a:solidFill>
                          <a:latin typeface="Calibri" pitchFamily="34" charset="0"/>
                          <a:ea typeface="Calibri" pitchFamily="34" charset="-122"/>
                          <a:cs typeface="Calibri" pitchFamily="34" charset="-120"/>
                        </a:rPr>
                        <a:t>Robust spread measure unaffected by outliers</a:t>
                      </a:r>
                      <a:endParaRPr lang="en-US" sz="12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365760" y="4251960"/>
            <a:ext cx="8412480" cy="457200"/>
          </a:xfrm>
          <a:prstGeom prst="rect">
            <a:avLst/>
          </a:prstGeom>
          <a:solidFill>
            <a:srgbClr val="DBEAFE"/>
          </a:solidFill>
          <a:ln/>
          <a:effectLst>
            <a:outerShdw blurRad="88900" dist="25400" dir="8100000" algn="bl" rotWithShape="0">
              <a:srgbClr val="000000">
                <a:alpha val="9000"/>
              </a:srgbClr>
            </a:outerShdw>
          </a:effectLst>
        </p:spPr>
      </p:sp>
      <p:sp>
        <p:nvSpPr>
          <p:cNvPr id="6" name="Shape 3"/>
          <p:cNvSpPr/>
          <p:nvPr/>
        </p:nvSpPr>
        <p:spPr>
          <a:xfrm>
            <a:off x="365760" y="4251960"/>
            <a:ext cx="64008" cy="457200"/>
          </a:xfrm>
          <a:prstGeom prst="rect">
            <a:avLst/>
          </a:prstGeom>
          <a:solidFill>
            <a:srgbClr val="1D4ED8"/>
          </a:solidFill>
          <a:ln/>
        </p:spPr>
      </p:sp>
      <p:sp>
        <p:nvSpPr>
          <p:cNvPr id="7" name="Text 4"/>
          <p:cNvSpPr/>
          <p:nvPr/>
        </p:nvSpPr>
        <p:spPr>
          <a:xfrm>
            <a:off x="548640" y="4306824"/>
            <a:ext cx="8046720" cy="320040"/>
          </a:xfrm>
          <a:prstGeom prst="rect">
            <a:avLst/>
          </a:prstGeom>
          <a:noFill/>
          <a:ln/>
        </p:spPr>
        <p:txBody>
          <a:bodyPr wrap="square" lIns="0" tIns="0" rIns="0" bIns="0" rtlCol="0" anchor="ctr"/>
          <a:lstStyle/>
          <a:p>
            <a:pPr marL="0" indent="0">
              <a:buNone/>
            </a:pPr>
            <a:r>
              <a:rPr lang="en-US" sz="1200" dirty="0">
                <a:solidFill>
                  <a:srgbClr val="1D4ED8"/>
                </a:solidFill>
                <a:latin typeface="Calibri" pitchFamily="34" charset="0"/>
                <a:ea typeface="Calibri" pitchFamily="34" charset="-122"/>
                <a:cs typeface="Calibri" pitchFamily="34" charset="-120"/>
              </a:rPr>
              <a:t>💡  Connect the Dots:  Z-Score uses SD to standardise.  Percentile ranks within group.  Quartiles divide into 4 parts.  IQR = Q3−Q1 = best robust spread measure for skewed data.</a:t>
            </a:r>
            <a:endParaRPr lang="en-US" sz="1200" dirty="0"/>
          </a:p>
        </p:txBody>
      </p:sp>
      <p:sp>
        <p:nvSpPr>
          <p:cNvPr id="8" name="Shape 5"/>
          <p:cNvSpPr/>
          <p:nvPr/>
        </p:nvSpPr>
        <p:spPr>
          <a:xfrm>
            <a:off x="0" y="4800600"/>
            <a:ext cx="9144000" cy="342900"/>
          </a:xfrm>
          <a:prstGeom prst="rect">
            <a:avLst/>
          </a:prstGeom>
          <a:solidFill>
            <a:srgbClr val="E2E8F0"/>
          </a:solidFill>
          <a:ln/>
        </p:spPr>
      </p:sp>
      <p:sp>
        <p:nvSpPr>
          <p:cNvPr id="9" name="Text 6"/>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35"/>
        </a:solidFill>
        <a:effectLst/>
      </p:bgPr>
    </p:bg>
    <p:spTree>
      <p:nvGrpSpPr>
        <p:cNvPr id="1" name=""/>
        <p:cNvGrpSpPr/>
        <p:nvPr/>
      </p:nvGrpSpPr>
      <p:grpSpPr>
        <a:xfrm>
          <a:off x="0" y="0"/>
          <a:ext cx="0" cy="0"/>
          <a:chOff x="0" y="0"/>
          <a:chExt cx="0" cy="0"/>
        </a:xfrm>
      </p:grpSpPr>
      <p:sp>
        <p:nvSpPr>
          <p:cNvPr id="2" name="Shape 0"/>
          <p:cNvSpPr/>
          <p:nvPr/>
        </p:nvSpPr>
        <p:spPr>
          <a:xfrm>
            <a:off x="0" y="804672"/>
            <a:ext cx="9144000" cy="3995928"/>
          </a:xfrm>
          <a:prstGeom prst="rect">
            <a:avLst/>
          </a:prstGeom>
          <a:solidFill>
            <a:srgbClr val="09152A"/>
          </a:solidFill>
          <a:ln/>
        </p:spPr>
      </p:sp>
      <p:sp>
        <p:nvSpPr>
          <p:cNvPr id="3" name="Shape 1"/>
          <p:cNvSpPr/>
          <p:nvPr/>
        </p:nvSpPr>
        <p:spPr>
          <a:xfrm>
            <a:off x="0" y="0"/>
            <a:ext cx="164592" cy="5143500"/>
          </a:xfrm>
          <a:prstGeom prst="rect">
            <a:avLst/>
          </a:prstGeom>
          <a:solidFill>
            <a:srgbClr val="0D9488"/>
          </a:solidFill>
          <a:ln/>
        </p:spPr>
      </p:sp>
      <p:sp>
        <p:nvSpPr>
          <p:cNvPr id="4" name="Text 2"/>
          <p:cNvSpPr/>
          <p:nvPr/>
        </p:nvSpPr>
        <p:spPr>
          <a:xfrm>
            <a:off x="457200" y="91440"/>
            <a:ext cx="8412480" cy="621792"/>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Day 5 — Summary &amp; Key Takeaways</a:t>
            </a:r>
            <a:endParaRPr lang="en-US" sz="2600" dirty="0"/>
          </a:p>
        </p:txBody>
      </p:sp>
      <p:sp>
        <p:nvSpPr>
          <p:cNvPr id="5" name="Shape 3"/>
          <p:cNvSpPr/>
          <p:nvPr/>
        </p:nvSpPr>
        <p:spPr>
          <a:xfrm>
            <a:off x="274320" y="960120"/>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6" name="Shape 4"/>
          <p:cNvSpPr/>
          <p:nvPr/>
        </p:nvSpPr>
        <p:spPr>
          <a:xfrm>
            <a:off x="274320" y="960120"/>
            <a:ext cx="54864" cy="676656"/>
          </a:xfrm>
          <a:prstGeom prst="rect">
            <a:avLst/>
          </a:prstGeom>
          <a:solidFill>
            <a:srgbClr val="1D4ED8"/>
          </a:solidFill>
          <a:ln/>
        </p:spPr>
      </p:sp>
      <p:sp>
        <p:nvSpPr>
          <p:cNvPr id="7" name="Text 5"/>
          <p:cNvSpPr/>
          <p:nvPr/>
        </p:nvSpPr>
        <p:spPr>
          <a:xfrm>
            <a:off x="402336" y="1014984"/>
            <a:ext cx="4023360" cy="256032"/>
          </a:xfrm>
          <a:prstGeom prst="rect">
            <a:avLst/>
          </a:prstGeom>
          <a:noFill/>
          <a:ln/>
        </p:spPr>
        <p:txBody>
          <a:bodyPr wrap="square" lIns="0" tIns="0" rIns="0" bIns="0" rtlCol="0" anchor="ctr"/>
          <a:lstStyle/>
          <a:p>
            <a:pPr marL="0" indent="0">
              <a:buNone/>
            </a:pPr>
            <a:r>
              <a:rPr lang="en-US" sz="1250" b="1" dirty="0">
                <a:solidFill>
                  <a:srgbClr val="1D4ED8"/>
                </a:solidFill>
                <a:latin typeface="Trebuchet MS" pitchFamily="34" charset="0"/>
                <a:ea typeface="Trebuchet MS" pitchFamily="34" charset="-122"/>
                <a:cs typeface="Trebuchet MS" pitchFamily="34" charset="-120"/>
              </a:rPr>
              <a:t>📐  Variance</a:t>
            </a:r>
            <a:endParaRPr lang="en-US" sz="1250" dirty="0"/>
          </a:p>
        </p:txBody>
      </p:sp>
      <p:sp>
        <p:nvSpPr>
          <p:cNvPr id="8" name="Text 6"/>
          <p:cNvSpPr/>
          <p:nvPr/>
        </p:nvSpPr>
        <p:spPr>
          <a:xfrm>
            <a:off x="402336" y="1289304"/>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Average squared distance from mean. Large = more spread. Units are squared — hard to interpret directly.</a:t>
            </a:r>
            <a:endParaRPr lang="en-US" sz="1100" dirty="0"/>
          </a:p>
        </p:txBody>
      </p:sp>
      <p:sp>
        <p:nvSpPr>
          <p:cNvPr id="9" name="Shape 7"/>
          <p:cNvSpPr/>
          <p:nvPr/>
        </p:nvSpPr>
        <p:spPr>
          <a:xfrm>
            <a:off x="4846320" y="960120"/>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10" name="Shape 8"/>
          <p:cNvSpPr/>
          <p:nvPr/>
        </p:nvSpPr>
        <p:spPr>
          <a:xfrm>
            <a:off x="4846320" y="960120"/>
            <a:ext cx="54864" cy="676656"/>
          </a:xfrm>
          <a:prstGeom prst="rect">
            <a:avLst/>
          </a:prstGeom>
          <a:solidFill>
            <a:srgbClr val="0D9488"/>
          </a:solidFill>
          <a:ln/>
        </p:spPr>
      </p:sp>
      <p:sp>
        <p:nvSpPr>
          <p:cNvPr id="11" name="Text 9"/>
          <p:cNvSpPr/>
          <p:nvPr/>
        </p:nvSpPr>
        <p:spPr>
          <a:xfrm>
            <a:off x="4974336" y="1014984"/>
            <a:ext cx="4023360" cy="256032"/>
          </a:xfrm>
          <a:prstGeom prst="rect">
            <a:avLst/>
          </a:prstGeom>
          <a:noFill/>
          <a:ln/>
        </p:spPr>
        <p:txBody>
          <a:bodyPr wrap="square" lIns="0" tIns="0" rIns="0" bIns="0" rtlCol="0" anchor="ctr"/>
          <a:lstStyle/>
          <a:p>
            <a:pPr marL="0" indent="0">
              <a:buNone/>
            </a:pPr>
            <a:r>
              <a:rPr lang="en-US" sz="1250" b="1" dirty="0">
                <a:solidFill>
                  <a:srgbClr val="0D9488"/>
                </a:solidFill>
                <a:latin typeface="Trebuchet MS" pitchFamily="34" charset="0"/>
                <a:ea typeface="Trebuchet MS" pitchFamily="34" charset="-122"/>
                <a:cs typeface="Trebuchet MS" pitchFamily="34" charset="-120"/>
              </a:rPr>
              <a:t>📏  Std Deviation</a:t>
            </a:r>
            <a:endParaRPr lang="en-US" sz="1250" dirty="0"/>
          </a:p>
        </p:txBody>
      </p:sp>
      <p:sp>
        <p:nvSpPr>
          <p:cNvPr id="12" name="Text 10"/>
          <p:cNvSpPr/>
          <p:nvPr/>
        </p:nvSpPr>
        <p:spPr>
          <a:xfrm>
            <a:off x="4974336" y="1289304"/>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√Variance. Same unit as data. Small SD = consistent group. Large SD = widely spread, unpredictable data.</a:t>
            </a:r>
            <a:endParaRPr lang="en-US" sz="1100" dirty="0"/>
          </a:p>
        </p:txBody>
      </p:sp>
      <p:sp>
        <p:nvSpPr>
          <p:cNvPr id="13" name="Shape 11"/>
          <p:cNvSpPr/>
          <p:nvPr/>
        </p:nvSpPr>
        <p:spPr>
          <a:xfrm>
            <a:off x="274320" y="1719072"/>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14" name="Shape 12"/>
          <p:cNvSpPr/>
          <p:nvPr/>
        </p:nvSpPr>
        <p:spPr>
          <a:xfrm>
            <a:off x="274320" y="1719072"/>
            <a:ext cx="54864" cy="676656"/>
          </a:xfrm>
          <a:prstGeom prst="rect">
            <a:avLst/>
          </a:prstGeom>
          <a:solidFill>
            <a:srgbClr val="7C3AED"/>
          </a:solidFill>
          <a:ln/>
        </p:spPr>
      </p:sp>
      <p:sp>
        <p:nvSpPr>
          <p:cNvPr id="15" name="Text 13"/>
          <p:cNvSpPr/>
          <p:nvPr/>
        </p:nvSpPr>
        <p:spPr>
          <a:xfrm>
            <a:off x="402336" y="1773936"/>
            <a:ext cx="4023360" cy="256032"/>
          </a:xfrm>
          <a:prstGeom prst="rect">
            <a:avLst/>
          </a:prstGeom>
          <a:noFill/>
          <a:ln/>
        </p:spPr>
        <p:txBody>
          <a:bodyPr wrap="square" lIns="0" tIns="0" rIns="0" bIns="0" rtlCol="0" anchor="ctr"/>
          <a:lstStyle/>
          <a:p>
            <a:pPr marL="0" indent="0">
              <a:buNone/>
            </a:pPr>
            <a:r>
              <a:rPr lang="en-US" sz="1250" b="1" dirty="0">
                <a:solidFill>
                  <a:srgbClr val="7C3AED"/>
                </a:solidFill>
                <a:latin typeface="Trebuchet MS" pitchFamily="34" charset="0"/>
                <a:ea typeface="Trebuchet MS" pitchFamily="34" charset="-122"/>
                <a:cs typeface="Trebuchet MS" pitchFamily="34" charset="-120"/>
              </a:rPr>
              <a:t>%  CV</a:t>
            </a:r>
            <a:endParaRPr lang="en-US" sz="1250" dirty="0"/>
          </a:p>
        </p:txBody>
      </p:sp>
      <p:sp>
        <p:nvSpPr>
          <p:cNvPr id="16" name="Text 14"/>
          <p:cNvSpPr/>
          <p:nvPr/>
        </p:nvSpPr>
        <p:spPr>
          <a:xfrm>
            <a:off x="402336" y="2048256"/>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(SD÷Mean)×100. Unit-free %. Use when comparing spread across datasets with different units or scales.</a:t>
            </a:r>
            <a:endParaRPr lang="en-US" sz="1100" dirty="0"/>
          </a:p>
        </p:txBody>
      </p:sp>
      <p:sp>
        <p:nvSpPr>
          <p:cNvPr id="17" name="Shape 15"/>
          <p:cNvSpPr/>
          <p:nvPr/>
        </p:nvSpPr>
        <p:spPr>
          <a:xfrm>
            <a:off x="4846320" y="1719072"/>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18" name="Shape 16"/>
          <p:cNvSpPr/>
          <p:nvPr/>
        </p:nvSpPr>
        <p:spPr>
          <a:xfrm>
            <a:off x="4846320" y="1719072"/>
            <a:ext cx="54864" cy="676656"/>
          </a:xfrm>
          <a:prstGeom prst="rect">
            <a:avLst/>
          </a:prstGeom>
          <a:solidFill>
            <a:srgbClr val="D97706"/>
          </a:solidFill>
          <a:ln/>
        </p:spPr>
      </p:sp>
      <p:sp>
        <p:nvSpPr>
          <p:cNvPr id="19" name="Text 17"/>
          <p:cNvSpPr/>
          <p:nvPr/>
        </p:nvSpPr>
        <p:spPr>
          <a:xfrm>
            <a:off x="4974336" y="1773936"/>
            <a:ext cx="4023360" cy="256032"/>
          </a:xfrm>
          <a:prstGeom prst="rect">
            <a:avLst/>
          </a:prstGeom>
          <a:noFill/>
          <a:ln/>
        </p:spPr>
        <p:txBody>
          <a:bodyPr wrap="square" lIns="0" tIns="0" rIns="0" bIns="0" rtlCol="0" anchor="ctr"/>
          <a:lstStyle/>
          <a:p>
            <a:pPr marL="0" indent="0">
              <a:buNone/>
            </a:pPr>
            <a:r>
              <a:rPr lang="en-US" sz="1250" b="1" dirty="0">
                <a:solidFill>
                  <a:srgbClr val="D97706"/>
                </a:solidFill>
                <a:latin typeface="Trebuchet MS" pitchFamily="34" charset="0"/>
                <a:ea typeface="Trebuchet MS" pitchFamily="34" charset="-122"/>
                <a:cs typeface="Trebuchet MS" pitchFamily="34" charset="-120"/>
              </a:rPr>
              <a:t>↔  Skewness</a:t>
            </a:r>
            <a:endParaRPr lang="en-US" sz="1250" dirty="0"/>
          </a:p>
        </p:txBody>
      </p:sp>
      <p:sp>
        <p:nvSpPr>
          <p:cNvPr id="20" name="Text 18"/>
          <p:cNvSpPr/>
          <p:nvPr/>
        </p:nvSpPr>
        <p:spPr>
          <a:xfrm>
            <a:off x="4974336" y="2048256"/>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+ve = right tail (mean &gt; median). −ve = left tail (mean &lt; median). Zero = symmetric distribution.</a:t>
            </a:r>
            <a:endParaRPr lang="en-US" sz="1100" dirty="0"/>
          </a:p>
        </p:txBody>
      </p:sp>
      <p:sp>
        <p:nvSpPr>
          <p:cNvPr id="21" name="Shape 19"/>
          <p:cNvSpPr/>
          <p:nvPr/>
        </p:nvSpPr>
        <p:spPr>
          <a:xfrm>
            <a:off x="274320" y="2478024"/>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22" name="Shape 20"/>
          <p:cNvSpPr/>
          <p:nvPr/>
        </p:nvSpPr>
        <p:spPr>
          <a:xfrm>
            <a:off x="274320" y="2478024"/>
            <a:ext cx="54864" cy="676656"/>
          </a:xfrm>
          <a:prstGeom prst="rect">
            <a:avLst/>
          </a:prstGeom>
          <a:solidFill>
            <a:srgbClr val="DC2626"/>
          </a:solidFill>
          <a:ln/>
        </p:spPr>
      </p:sp>
      <p:sp>
        <p:nvSpPr>
          <p:cNvPr id="23" name="Text 21"/>
          <p:cNvSpPr/>
          <p:nvPr/>
        </p:nvSpPr>
        <p:spPr>
          <a:xfrm>
            <a:off x="402336" y="2532888"/>
            <a:ext cx="4023360" cy="256032"/>
          </a:xfrm>
          <a:prstGeom prst="rect">
            <a:avLst/>
          </a:prstGeom>
          <a:noFill/>
          <a:ln/>
        </p:spPr>
        <p:txBody>
          <a:bodyPr wrap="square" lIns="0" tIns="0" rIns="0" bIns="0" rtlCol="0" anchor="ctr"/>
          <a:lstStyle/>
          <a:p>
            <a:pPr marL="0" indent="0">
              <a:buNone/>
            </a:pPr>
            <a:r>
              <a:rPr lang="en-US" sz="1250" b="1" dirty="0">
                <a:solidFill>
                  <a:srgbClr val="DC2626"/>
                </a:solidFill>
                <a:latin typeface="Trebuchet MS" pitchFamily="34" charset="0"/>
                <a:ea typeface="Trebuchet MS" pitchFamily="34" charset="-122"/>
                <a:cs typeface="Trebuchet MS" pitchFamily="34" charset="-120"/>
              </a:rPr>
              <a:t>⛰  Kurtosis</a:t>
            </a:r>
            <a:endParaRPr lang="en-US" sz="1250" dirty="0"/>
          </a:p>
        </p:txBody>
      </p:sp>
      <p:sp>
        <p:nvSpPr>
          <p:cNvPr id="24" name="Text 22"/>
          <p:cNvSpPr/>
          <p:nvPr/>
        </p:nvSpPr>
        <p:spPr>
          <a:xfrm>
            <a:off x="402336" y="2807208"/>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Lepto &gt;3 (sharp peak, heavy tails). Meso =3 (normal). Platy &lt;3 (flat, light tails).</a:t>
            </a:r>
            <a:endParaRPr lang="en-US" sz="1100" dirty="0"/>
          </a:p>
        </p:txBody>
      </p:sp>
      <p:sp>
        <p:nvSpPr>
          <p:cNvPr id="25" name="Shape 23"/>
          <p:cNvSpPr/>
          <p:nvPr/>
        </p:nvSpPr>
        <p:spPr>
          <a:xfrm>
            <a:off x="4846320" y="2478024"/>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26" name="Shape 24"/>
          <p:cNvSpPr/>
          <p:nvPr/>
        </p:nvSpPr>
        <p:spPr>
          <a:xfrm>
            <a:off x="4846320" y="2478024"/>
            <a:ext cx="54864" cy="676656"/>
          </a:xfrm>
          <a:prstGeom prst="rect">
            <a:avLst/>
          </a:prstGeom>
          <a:solidFill>
            <a:srgbClr val="0EA5E9"/>
          </a:solidFill>
          <a:ln/>
        </p:spPr>
      </p:sp>
      <p:sp>
        <p:nvSpPr>
          <p:cNvPr id="27" name="Text 25"/>
          <p:cNvSpPr/>
          <p:nvPr/>
        </p:nvSpPr>
        <p:spPr>
          <a:xfrm>
            <a:off x="4974336" y="2532888"/>
            <a:ext cx="4023360" cy="256032"/>
          </a:xfrm>
          <a:prstGeom prst="rect">
            <a:avLst/>
          </a:prstGeom>
          <a:noFill/>
          <a:ln/>
        </p:spPr>
        <p:txBody>
          <a:bodyPr wrap="square" lIns="0" tIns="0" rIns="0" bIns="0" rtlCol="0" anchor="ctr"/>
          <a:lstStyle/>
          <a:p>
            <a:pPr marL="0" indent="0">
              <a:buNone/>
            </a:pPr>
            <a:r>
              <a:rPr lang="en-US" sz="1250" b="1" dirty="0">
                <a:solidFill>
                  <a:srgbClr val="0EA5E9"/>
                </a:solidFill>
                <a:latin typeface="Trebuchet MS" pitchFamily="34" charset="0"/>
                <a:ea typeface="Trebuchet MS" pitchFamily="34" charset="-122"/>
                <a:cs typeface="Trebuchet MS" pitchFamily="34" charset="-120"/>
              </a:rPr>
              <a:t>Z  Z-Score</a:t>
            </a:r>
            <a:endParaRPr lang="en-US" sz="1250" dirty="0"/>
          </a:p>
        </p:txBody>
      </p:sp>
      <p:sp>
        <p:nvSpPr>
          <p:cNvPr id="28" name="Text 26"/>
          <p:cNvSpPr/>
          <p:nvPr/>
        </p:nvSpPr>
        <p:spPr>
          <a:xfrm>
            <a:off x="4974336" y="2807208"/>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(x−mean)÷SD. Tells how many SDs a value is from the mean. ±2 = unusual. ±3 = extreme outlier.</a:t>
            </a:r>
            <a:endParaRPr lang="en-US" sz="1100" dirty="0"/>
          </a:p>
        </p:txBody>
      </p:sp>
      <p:sp>
        <p:nvSpPr>
          <p:cNvPr id="29" name="Shape 27"/>
          <p:cNvSpPr/>
          <p:nvPr/>
        </p:nvSpPr>
        <p:spPr>
          <a:xfrm>
            <a:off x="274320" y="3236976"/>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30" name="Shape 28"/>
          <p:cNvSpPr/>
          <p:nvPr/>
        </p:nvSpPr>
        <p:spPr>
          <a:xfrm>
            <a:off x="274320" y="3236976"/>
            <a:ext cx="54864" cy="676656"/>
          </a:xfrm>
          <a:prstGeom prst="rect">
            <a:avLst/>
          </a:prstGeom>
          <a:solidFill>
            <a:srgbClr val="16A34A"/>
          </a:solidFill>
          <a:ln/>
        </p:spPr>
      </p:sp>
      <p:sp>
        <p:nvSpPr>
          <p:cNvPr id="31" name="Text 29"/>
          <p:cNvSpPr/>
          <p:nvPr/>
        </p:nvSpPr>
        <p:spPr>
          <a:xfrm>
            <a:off x="402336" y="3291840"/>
            <a:ext cx="4023360" cy="256032"/>
          </a:xfrm>
          <a:prstGeom prst="rect">
            <a:avLst/>
          </a:prstGeom>
          <a:noFill/>
          <a:ln/>
        </p:spPr>
        <p:txBody>
          <a:bodyPr wrap="square" lIns="0" tIns="0" rIns="0" bIns="0" rtlCol="0" anchor="ctr"/>
          <a:lstStyle/>
          <a:p>
            <a:pPr marL="0" indent="0">
              <a:buNone/>
            </a:pPr>
            <a:r>
              <a:rPr lang="en-US" sz="1250" b="1" dirty="0">
                <a:solidFill>
                  <a:srgbClr val="16A34A"/>
                </a:solidFill>
                <a:latin typeface="Trebuchet MS" pitchFamily="34" charset="0"/>
                <a:ea typeface="Trebuchet MS" pitchFamily="34" charset="-122"/>
                <a:cs typeface="Trebuchet MS" pitchFamily="34" charset="-120"/>
              </a:rPr>
              <a:t>P  Percentile</a:t>
            </a:r>
            <a:endParaRPr lang="en-US" sz="1250" dirty="0"/>
          </a:p>
        </p:txBody>
      </p:sp>
      <p:sp>
        <p:nvSpPr>
          <p:cNvPr id="32" name="Text 30"/>
          <p:cNvSpPr/>
          <p:nvPr/>
        </p:nvSpPr>
        <p:spPr>
          <a:xfrm>
            <a:off x="402336" y="3566160"/>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of values BELOW this point. 50th = median. Used in exams, medical growth charts, test rankings.</a:t>
            </a:r>
            <a:endParaRPr lang="en-US" sz="1100" dirty="0"/>
          </a:p>
        </p:txBody>
      </p:sp>
      <p:sp>
        <p:nvSpPr>
          <p:cNvPr id="33" name="Shape 31"/>
          <p:cNvSpPr/>
          <p:nvPr/>
        </p:nvSpPr>
        <p:spPr>
          <a:xfrm>
            <a:off x="4846320" y="3236976"/>
            <a:ext cx="4251960" cy="676656"/>
          </a:xfrm>
          <a:prstGeom prst="rect">
            <a:avLst/>
          </a:prstGeom>
          <a:solidFill>
            <a:srgbClr val="0D2A4A"/>
          </a:solidFill>
          <a:ln/>
          <a:effectLst>
            <a:outerShdw blurRad="76200" dist="25400" dir="8100000" algn="bl" rotWithShape="0">
              <a:srgbClr val="000000">
                <a:alpha val="25000"/>
              </a:srgbClr>
            </a:outerShdw>
          </a:effectLst>
        </p:spPr>
      </p:sp>
      <p:sp>
        <p:nvSpPr>
          <p:cNvPr id="34" name="Shape 32"/>
          <p:cNvSpPr/>
          <p:nvPr/>
        </p:nvSpPr>
        <p:spPr>
          <a:xfrm>
            <a:off x="4846320" y="3236976"/>
            <a:ext cx="54864" cy="676656"/>
          </a:xfrm>
          <a:prstGeom prst="rect">
            <a:avLst/>
          </a:prstGeom>
          <a:solidFill>
            <a:srgbClr val="9333EA"/>
          </a:solidFill>
          <a:ln/>
        </p:spPr>
      </p:sp>
      <p:sp>
        <p:nvSpPr>
          <p:cNvPr id="35" name="Text 33"/>
          <p:cNvSpPr/>
          <p:nvPr/>
        </p:nvSpPr>
        <p:spPr>
          <a:xfrm>
            <a:off x="4974336" y="3291840"/>
            <a:ext cx="4023360" cy="256032"/>
          </a:xfrm>
          <a:prstGeom prst="rect">
            <a:avLst/>
          </a:prstGeom>
          <a:noFill/>
          <a:ln/>
        </p:spPr>
        <p:txBody>
          <a:bodyPr wrap="square" lIns="0" tIns="0" rIns="0" bIns="0" rtlCol="0" anchor="ctr"/>
          <a:lstStyle/>
          <a:p>
            <a:pPr marL="0" indent="0">
              <a:buNone/>
            </a:pPr>
            <a:r>
              <a:rPr lang="en-US" sz="1250" b="1" dirty="0">
                <a:solidFill>
                  <a:srgbClr val="9333EA"/>
                </a:solidFill>
                <a:latin typeface="Trebuchet MS" pitchFamily="34" charset="0"/>
                <a:ea typeface="Trebuchet MS" pitchFamily="34" charset="-122"/>
                <a:cs typeface="Trebuchet MS" pitchFamily="34" charset="-120"/>
              </a:rPr>
              <a:t>Q  Quartile+IQR</a:t>
            </a:r>
            <a:endParaRPr lang="en-US" sz="1250" dirty="0"/>
          </a:p>
        </p:txBody>
      </p:sp>
      <p:sp>
        <p:nvSpPr>
          <p:cNvPr id="36" name="Text 34"/>
          <p:cNvSpPr/>
          <p:nvPr/>
        </p:nvSpPr>
        <p:spPr>
          <a:xfrm>
            <a:off x="4974336" y="3566160"/>
            <a:ext cx="4023360" cy="29260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Q1=25%, Q2=50%, Q3=75%. IQR=Q3−Q1 = spread of middle 50%. Best robust measure for skewed data.</a:t>
            </a:r>
            <a:endParaRPr lang="en-US" sz="1100" dirty="0"/>
          </a:p>
        </p:txBody>
      </p:sp>
      <p:sp>
        <p:nvSpPr>
          <p:cNvPr id="37" name="Shape 35"/>
          <p:cNvSpPr/>
          <p:nvPr/>
        </p:nvSpPr>
        <p:spPr>
          <a:xfrm>
            <a:off x="0" y="4800600"/>
            <a:ext cx="9144000" cy="342900"/>
          </a:xfrm>
          <a:prstGeom prst="rect">
            <a:avLst/>
          </a:prstGeom>
          <a:solidFill>
            <a:srgbClr val="060F1E"/>
          </a:solidFill>
          <a:ln/>
        </p:spPr>
      </p:sp>
      <p:sp>
        <p:nvSpPr>
          <p:cNvPr id="38" name="Text 36"/>
          <p:cNvSpPr/>
          <p:nvPr/>
        </p:nvSpPr>
        <p:spPr>
          <a:xfrm>
            <a:off x="365760" y="4828032"/>
            <a:ext cx="8412480" cy="29260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R.A : Muhammad Huzifa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3230</Words>
  <Application>Microsoft Office PowerPoint</Application>
  <PresentationFormat>On-screen Show (16:9)</PresentationFormat>
  <Paragraphs>429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5 — Measures of Dispersion &amp; Position</dc:title>
  <dc:subject>PptxGenJS Presentation</dc:subject>
  <dc:creator>PptxGenJS</dc:creator>
  <cp:lastModifiedBy>Muhammad Huzifa</cp:lastModifiedBy>
  <cp:revision>5</cp:revision>
  <dcterms:created xsi:type="dcterms:W3CDTF">2026-03-09T22:44:46Z</dcterms:created>
  <dcterms:modified xsi:type="dcterms:W3CDTF">2026-03-10T16:00:01Z</dcterms:modified>
</cp:coreProperties>
</file>