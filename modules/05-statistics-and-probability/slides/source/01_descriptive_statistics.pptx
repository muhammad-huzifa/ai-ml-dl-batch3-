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Data, Types &amp; AI Overview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Central Tendency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1–4  ·  Structured &amp; Unstructured Data  ·  AI/ML/DL  ·  Mean · Median ·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— What is Data?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any raw fact, figure, or information collected from the world around 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64008" cy="2651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Why Data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4963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we make is based on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use sales data to plan.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use patient data to treat.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 — we are just guessing.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508760"/>
            <a:ext cx="2697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508760"/>
            <a:ext cx="64008" cy="26517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Data in Daily Life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892808"/>
            <a:ext cx="24963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tracks your steps → fitness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app shows recommendations → browsing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app shows forecast → sensor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likes → behavioural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25896" y="1508760"/>
            <a:ext cx="2697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508760"/>
            <a:ext cx="64008" cy="26517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Two Big Categories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3056" y="1892808"/>
            <a:ext cx="24963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broadly divided into: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Data (organized, table-form)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Unstructured Data (free-form, messy)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types are equally important.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vs Unstructured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38404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78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Structured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1426464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in rows and columns (like a table).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search, sort, and analyse.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databases and spreadsheets.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mark sheet (Name, Marks, Grade)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transaction records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Hospital patient records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neat cupboard where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has a fixed shelf.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23360" cy="3840480"/>
          </a:xfrm>
          <a:prstGeom prst="rect">
            <a:avLst/>
          </a:prstGeom>
          <a:solidFill>
            <a:srgbClr val="FEF9EE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60120"/>
            <a:ext cx="40233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78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Unstructured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1426464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format or organisation.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search directly.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AI to extract meaning from it.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Emails and text messages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Videos, images, audio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 posts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pile of papers thrown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on the floor.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Data — Numbers That Measure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data is data that can be measured and expressed as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38404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Numerical Data — Any data represented by a number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069080" cy="28803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64008" cy="2880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8366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Variables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take ANY value within a range.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measured, not counted.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height: 5.7 feet, 5.71, 5.712...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Body temperature: 37.2°C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Distance: 10.5 km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Values can be infinitely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(decimal points possible).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069080" cy="2880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64008" cy="2880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88366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Discrete Variables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267712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take SPECIFIC whole values.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counted, not measured.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of students in a class: 30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Goals scored in a match: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of books on a shelf: 15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You cannot have 2.5 children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3.7 goals — only whole numbers.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977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 Machine Learning · Deep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three layers of modern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51760" cy="3657600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78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Artificial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concept.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machines smart enough 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tasks that normally need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intelligence.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Maps suggesting routes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Spam email filter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Face unlock on your phone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parent — ML and 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its children.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3657600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078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Machine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49047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learn from data and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automatically without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explicitly programmed.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Netflix recommending movies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auto-sort (Social/Promo)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Predicting house prices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data → it finds patterns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makes predictions.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3657600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60120"/>
            <a:ext cx="265176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078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B4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Deep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149047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multi-layered neural networks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the human brain.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very complex data.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ChatGPT understanding language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Self-driving cars seeing roads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image diagnosis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huge amounts of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powerful computers (GPUs).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F1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AI, ML &amp; Deep Learning Relate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three nesting circles — each one is a more specific version of the one before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3383280"/>
          </a:xfrm>
          <a:prstGeom prst="ellipse">
            <a:avLst/>
          </a:prstGeom>
          <a:solidFill>
            <a:srgbClr val="DBEAFE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691640"/>
            <a:ext cx="2834640" cy="2651760"/>
          </a:xfrm>
          <a:prstGeom prst="ellipse">
            <a:avLst/>
          </a:prstGeom>
          <a:solidFill>
            <a:srgbClr val="BBF7D0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103120"/>
            <a:ext cx="1554480" cy="1828800"/>
          </a:xfrm>
          <a:prstGeom prst="ellipse">
            <a:avLst/>
          </a:prstGeom>
          <a:solidFill>
            <a:srgbClr val="E9D5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450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39319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960120"/>
            <a:ext cx="64008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(Artificial Intelligence)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344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field of making machines intelligent. Broadest category.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2258568"/>
            <a:ext cx="39319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258568"/>
            <a:ext cx="64008" cy="1170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Machine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6426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inside AI. Machines learn patterns from data automatically.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3557016"/>
            <a:ext cx="39319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557016"/>
            <a:ext cx="64008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602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Deep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9410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technique inside ML. Uses brain-inspired layers for complex tasks.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flow: Collect Data → Choose ML model → Train (Deep Learning if complex) → Predict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Data — Categories &amp; Labels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data describes qualities or characteristics — it uses words and labels, not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69080" cy="1554480"/>
          </a:xfrm>
          <a:prstGeom prst="rect">
            <a:avLst/>
          </a:prstGeom>
          <a:solidFill>
            <a:srgbClr val="FAF5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 Categorical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placed into groups/categories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02536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belongs to one group.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numerical meaning.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Blood type (A, B, AB, 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Favourite colour (Red, Blue)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069080" cy="15544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417320"/>
            <a:ext cx="64008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 Nominal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764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NO natural order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002536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that are simply different.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ranked.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Country names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 brands (Toyota, Honda)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069080" cy="155448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08960"/>
            <a:ext cx="64008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Ordinal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a natural order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94176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that can be ranked.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gaps between ranks are unequal.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Education (School→BSc→MSc)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Satisfaction (Low/Med/High)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4069080" cy="15544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108960"/>
            <a:ext cx="64008" cy="1554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Binary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possible values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694176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category.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choices exist.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Yes / 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True / False, Pass / Fail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 — Complete Overview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4904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926080"/>
                <a:gridCol w="2377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Data Type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Sub-Type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Feature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Simple Example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— infinite decimal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Height: 5.7 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— whole numbers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Students: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order — just different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Country: Pakistan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natural rank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Grade: A &gt; B &gt;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two possible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3 –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Tendency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·  Median  ·  Mode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single number that represents the entire dataset"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2468880" cy="1234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33756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337560"/>
            <a:ext cx="2468880" cy="1234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333756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337560"/>
            <a:ext cx="2468880" cy="1234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337560"/>
            <a:ext cx="24688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F1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— The Average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the sum of all values divided by the number of values.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858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264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Formula:   Mean  =  Sum of all values  ÷  Total number of values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51206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64008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📘 Step-by-Step Example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of 5 students: 60, 70, 80, 90, 100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Add all values: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60 + 70 + 80 + 90 + 100 = 400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Divide by the count (5):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400 ÷ 5 = 80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80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15000" y="2148840"/>
            <a:ext cx="3063240" cy="1115568"/>
          </a:xfrm>
          <a:prstGeom prst="rect">
            <a:avLst/>
          </a:prstGeom>
          <a:solidFill>
            <a:srgbClr val="FEF9EE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33872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Real Life Example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33872" y="24963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salary of a team,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temperature of a week.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3383280"/>
            <a:ext cx="3063240" cy="1207008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33872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12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Common Mistake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33872" y="3730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is affected by extreme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(outliers). One very high/low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pull the mean up or down.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 — The Middle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is the middle value when data is arranged in ascending (small → big)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858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264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  Odd count → middle item is median   |   Even count → average of two middle items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64008" cy="2560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94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📗 Example — Odd Count (5 values)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8, 3, 5, 1, 7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Sort ascending: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1, 3, 5, 7, 8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Find middle position: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5 values → position 3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5  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148840"/>
            <a:ext cx="40690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48840"/>
            <a:ext cx="64008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194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📗 Example — Even Count (6 values)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4, 8, 2, 6, 10, 1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Sort ascending: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1, 2, 4, 6, 8, 10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Two middles: 4 and 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(4 + 6) ÷ 2 = 5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5  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Advantage of Median: Unlike the mean, it is NOT affected by extreme (outlier) values.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— The Most Frequent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 is the value that appears most often in the dataset.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85800"/>
          </a:xfrm>
          <a:prstGeom prst="rect">
            <a:avLst/>
          </a:prstGeom>
          <a:solidFill>
            <a:srgbClr val="FAF5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264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  Find the value that repeats the MOST.  A dataset can have one, many, or no mode.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651760" cy="2514600"/>
          </a:xfrm>
          <a:prstGeom prst="rect">
            <a:avLst/>
          </a:prstGeom>
          <a:solidFill>
            <a:srgbClr val="FAF5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64008" cy="2514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945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Mode (Unimodal)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2, 3, 4, 4, 5, 6, 4, 7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182112"/>
            <a:ext cx="2468880" cy="384048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4  (appears 3 times)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value in dataset.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82112" y="2148840"/>
            <a:ext cx="2651760" cy="25146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2148840"/>
            <a:ext cx="64008" cy="2514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21945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Modes (Bimodal)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9272" y="2542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9272" y="2770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1, 2, 2, 3, 4, 4, 5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27832" y="3182112"/>
            <a:ext cx="2468880" cy="384048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73552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2 and 4  (each appears twice)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3657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values share the top frequency.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98464" y="2148840"/>
            <a:ext cx="2651760" cy="2514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98464" y="2148840"/>
            <a:ext cx="64008" cy="2514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135624" y="21945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35624" y="2542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35624" y="2770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10, 20, 30, 40, 50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44184" y="3182112"/>
            <a:ext cx="2468880" cy="384048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089904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 — all values appear once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35624" y="3657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repetition means no mode.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Mode is the only measure that works for Qualitative (categorical) data too!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Mean, Median or Mode?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560320"/>
                <a:gridCol w="2377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Measure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finds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used when…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Daily Example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mathematical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has no extreme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exam score of the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middle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has outliers (skewed)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house price in a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frequently occurring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the most popular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popular shoe size in a 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Quick Memory Trick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2702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Add all then divide  |  Median = Sort then find middle  |  Mode = Count and find most repeated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977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 — Summary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713232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Data Types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is organised in tables; Unstructured is free-form (videos, texts).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51960" cy="713232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74336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Quantitative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4336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— Continuous (measured, decimals OK) vs Discrete (counted, whole numbers).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4251960" cy="713232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6479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→ ML → DL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big idea. ML learns from data. Deep Learning handles complex tasks using neural networks.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764792"/>
            <a:ext cx="4251960" cy="713232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76479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74336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Qualitative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4336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— Nominal (no order), Ordinal (ranked), Binary (2 values only).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69464"/>
            <a:ext cx="4251960" cy="713232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6946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➗ Mean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÷ Count. Affected by outliers. Best for evenly spread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9464"/>
            <a:ext cx="4251960" cy="713232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56946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74336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Median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4336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after sorting. Not affected by outliers. Best for skewed data.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3374136"/>
            <a:ext cx="4572000" cy="713232"/>
          </a:xfrm>
          <a:prstGeom prst="rect">
            <a:avLst/>
          </a:prstGeom>
          <a:solidFill>
            <a:srgbClr val="0D2A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0" y="337413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414016" y="341985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Mode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14016" y="369417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repeated value. Works even for qualitative/categorical data.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F1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Data &amp; AI Overview + Measures of Central Tendency</dc:title>
  <dc:subject>PptxGenJS Presentation</dc:subject>
  <dc:creator>PptxGenJS</dc:creator>
  <cp:lastModifiedBy>PptxGenJS</cp:lastModifiedBy>
  <cp:revision>1</cp:revision>
  <dcterms:created xsi:type="dcterms:W3CDTF">2026-03-09T22:24:11Z</dcterms:created>
  <dcterms:modified xsi:type="dcterms:W3CDTF">2026-03-09T22:24:11Z</dcterms:modified>
</cp:coreProperties>
</file>