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deep-dive into the VGG-16 architecture.
Published by Karen Simonyan and Andrew Zisserman from the Visual Geometry Group (VGG) at Oxford, this model won 1st place in localisation and 2nd place in classification at ILSVRC 2014. Its impact was not primarily from winning — it was from demonstrating a clear, replicable design principle: depth through uniformity using only 3×3 convolutions.
This session will cover:
  1. Why 3×3 is the magic filter size
  2. The exact block structure
  3. The parameter cost and where it hides
  4. How max-pooling controls spatial resolution
  5. Comparison to predecessor AlexNet
Encourage learners to have the original paper open alongside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AlexNet (Krizhevsky, Sutskever, Hinton — 2012) was the watershed moment that proved deep neural networks could win large-scale image challenges. But its design was somewhat ad hoc — large 11×11 kernels, local response normalisation, and a mix of kernel sizes that were tuned empirically.
VGG answered the question: 'What happens if we simply make networks deeper and use only one kernel size everywhere?'
Key insight for students: AlexNet used an 11×11 kernel in its first layer to capture large spatial patterns quickly. VGG showed you can achieve the SAME receptive field with stacked 3×3 layers — while gaining more non-linearity and using fewer parameters per layer pair.
This is not just a performance upgrade; it is a philosophical upgrade. VGG gave the community a recipe: use small filters, go deep, be uniform. Every modern architecture (ResNet, DenseNet, EfficientNet) inherits this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insight of the VGG paper. Let us walk through the proof carefully.
RECEPTIVE FIELD PROOF:
A 3×3 convolution at layer L looks at a 3×3 patch of the feature map from layer L-1.
A second 3×3 convolution at layer L+1 looks at a 3×3 patch of layer L's feature map, which itself looked at a 3×3 patch. So the effective window in the original input is 3 + 2*(3-1)/2 = 5... more precisely: at each stacked layer, the receptive field grows by (kernel_size - 1) pixels in each direction. With stride=1:
  - After 1× Conv(3×3): RF = 3×3
  - After 2× Conv(3×3): RF = 5×5
  - After 3× Conv(3×3): RF = 7×7
PARAMETER COUNT COMPARISON:
Assume C input channels and C output channels (symmetric for simplicity).
  - One 5×5 Conv layer: 5 × 5 × C × C = 25C²
  - Two 3×3 Conv layers: 2 × (3 × 3 × C × C) = 18C²
  - Saving = (25 - 18) / 25 ≈ 28%
NON-LINEARITY BENEFIT:
Each Conv layer is followed by ReLU. More layers = more ReLU applications = a more non-linear decision function. This is the functional advantage that makes 'deep and thin' better than 'shallow and wide'.
This insight directly influenced ResNet's design (which also uses 3×3 as its fundamental building block) and virtually every modern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VGG-16's block-based design — the key to its success and elegance.
BLOCK STRUCTURE DETAILS:
  Block 1: Input 224×224×3 → 2 Conv(64) → MaxPool → 112×112×64
  Block 2: 112×112×64 → 2 Conv(128) → MaxPool → 56×56×128
  Block 3: 56×56×128 → 3 Conv(256) → MaxPool → 28×28×256
  Block 4: 28×28×256 → 3 Conv(512) → MaxPool → 14×14×512
  Block 5: 14×14×512 → 3 Conv(512) → MaxPool → 7×7×512
DOUBLING PATTERN — observe: 64 → 128 → 256 → 512 → 512
  Each block doubles the number of feature maps (except block 5 which stays at 512, as doubling to 1024 would be prohibitively expensive). This is a deliberate trade-off. As spatial resolution halves, feature depth doubles — preserving the total amount of information being processed at each stage.
UNIFORMITY ADVANTAGE:
  Because every layer uses the same 3×3 kernel, implementation is simple and highly parallelisable. This was a major reason why VGG became the go-to backbone for transfer learning — researchers could easily strip the dense top and attach task-specific heads.
TOTAL CONVOLUTIONAL LAYERS COUNT: 2+2+3+3+3 = 13 Conv layers + 3 FC = 16 total weight layers → VGG-16.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Pooling in VGG does two important things simultaneously:
1. SPATIAL DOWNSAMPLING:
   A 2×2 MaxPool with stride 2 takes a 2×2 non-overlapping window and returns the maximum value.
   Effect on dimensions: H × W → (H/2) × (W/2)
   So a 224×224 feature map becomes 112×112 — exactly half in each dimension, one quarter of the area.
   After 5 such pooling operations: 224 / 2^5 = 7×7. VGG's convolutional backbone outputs a 7×7×512 tensor.
2. TRANSLATION INVARIANCE:
   By taking the max, pooling introduces a degree of invariance to small spatial shifts. If a feature moves one pixel, the max-pooling window likely still captures it.
3. CHANNEL GROWTH COMPENSATES FOR RESOLUTION LOSS:
   As the spatial map shrinks, the number of channels doubles: 64→128→256→512. This keeps the total information volume roughly constant through the network.
   Computation per layer: W × H × C_in × C_out × K_h × K_w
   Halving W&amp;H while doubling C_out keeps the FLOP count roughly constant per block.
4. WHY MAX, NOT AVERAGE?
   Max pooling selects the strongest activation — the most prominent feature in the region. Average pooling dilutes strong activations. In practice, max pooling empirically outperforms average pooling in classification tasks during this era (though modern architectures revisit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do the exact arithmetic for VGG-16's parameter count — this is an excellent exam topic.
CONVOLUTIONAL LAYERS (~14.7M params):
  Block 1: 2× Conv(3,3,3,64) + 2× Conv(3,3,64,64) ≈ 1.7K + 36.9K ≈ 38.7K params (tiny)
  Block 2: 2× Conv(3,3,64,128) = 73.7K + 147.5K ≈ 221K params
  Block 3: 3× Conv(3,3,128,256)+(256,256) ≈ 1.18M
  Block 4: 3× Conv(3,3,256,512)+(512,512) ≈ 7.1M
  Block 5: 3× Conv(3,3,512,512) ≈ 7.1M
  Total Conv ≈ 14.7M
FULLY CONNECTED LAYERS (~123.6M params):
  FC-1: Flatten(7×7×512)=25,088 neurons → 4,096 units
         25,088 × 4,096 = 102,760,448 ≈ 102.8M  ← THE MONSTER
  FC-2: 4,096 × 4,096 = 16,777,216 ≈ 16.8M
  FC-3: 4,096 × 1,000 (ImageNet) or 4,096 × 2 (binary) ≈ 4.1M
KEY LESSON: VGG's parameter explosion is entirely in the fully-connected layers. This is why:
  (a) VGG needs heavy Dropout (p=0.5) on FC layers to avoid overfitting.
  (b) Transfer learning is enormously effective — remove the FC head, freeze the conv backbone, train only a new smaller head.
  (c) ResNet and successors replaced FC layers with Global Average Pooling, which reduces the classification head to just C × num_classes parameters — millions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VGG-16's real legacy is as a transfer learning backbone, not as a model trained from scratch.
TRANSFER LEARNING WORKFLOW:
  1. Load VGG-16 with ImageNet weights, include_top=False (excludes the dense head)
  2. Freeze all convolutional layers (set trainable=False)
  3. Add Global Average Pooling or Flatten
  4. Add a small custom Dense head for your task
  5. Train ONLY the new head for 5-10 epochs at LR 1e-4
  6. Optionally unfreeze the top 1-2 blocks and fine-tune at LR 1e-5
WHY FREEZE THE BACKBONE?
  VGG's convolutional filters learned from 1.2 million ImageNet images. They detect universal features (edges, textures, shapes, object parts). These features are task-agnostic and can be reused for cats/dogs, medical imaging, satellite imagery, etc.
FINE-TUNING STRATEGY:
  Lower blocks (1-2) capture low-level features (colour, edges) that are universal — rarely worth fine-tuning.
  Upper blocks (4-5) capture high-level, task-specific features — worth fine-tuning on domain-specific data.
CODE SNIPPET (Keras):
  base = tf.keras.applications.VGG16(weights='imagenet', include_top=False, input_shape=(224,224,3))
  base.trainable = False
  x = layers.GlobalAveragePooling2D()(base.output)
  x = layers.Dense(256, activation='relu')(x)
  outputs = layers.Dense(2, activation='softmax')(x)
  model = Model(base.input,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by reinforcing each takeaway:
1. 3×3 FILTER PRINCIPLE — This is the most transferable insight. Every modern CNN (ResNet, DenseNet, EfficientNet, Vision Transformer patch embeddings) uses small filters stacked deeply. VGG validated this empirically at massive scale.
2. MODULAR BLOCK DESIGN — Modular architectures are easier to build, debug, and reproduce. VGG's regularity made it the standard 'off-the-shelf' backbone for years.
3. PARAMETER CONCENTRATION IN FC LAYERS — Understanding where parameters live is critical for anyone designing efficient networks. The FC explosion is WHY batch normalization + GAP + residual connections emerged: to enable depth without FC bottlenecks.
4. MAX POOL HALVING — Know the maths: each pooling halves H and W. After N pools: spatial = 224 / 2^N. After 5 pools: 224/32 = 7. This is not VGG-specific — it applies to ResNet, VGG, and most CNNs.
5. TRANSFER LEARNING LEGACY — Even in 2024+, VGG-16 backbone with ImageNet weights achieves state-of-the-art results on many small-dataset classification tasks. The features learned on ImageNet are extraordinarily general.
6. DEPTH AS THE VARIABLE — Before VGG, it was unclear whether filter size or network depth drove performance. VGG's controlled experiments (configurations A through E in the paper) isolate depth as the primary variable.
EXAM QUESTIONS TO POSE:
  Q: What is the receptive field of 4 stacked 3×3 convolutions?
  A: 4×(3-1)+1 = 9×9
  Q: How many parameters in VGG-16's first FC layer if the conv backbone ends at 7×7×512?
  A: 7 × 7 × 512 × 4096 = 102,760,448 ≈ 103M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B7E8A"/>
          </a:solidFill>
          <a:ln w="12700">
            <a:solidFill>
              <a:srgbClr val="1B7E8A"/>
            </a:solidFill>
            <a:prstDash val="solid"/>
          </a:ln>
        </p:spPr>
      </p:sp>
      <p:sp>
        <p:nvSpPr>
          <p:cNvPr id="3" name="Text 1"/>
          <p:cNvSpPr/>
          <p:nvPr/>
        </p:nvSpPr>
        <p:spPr>
          <a:xfrm>
            <a:off x="457200" y="822960"/>
            <a:ext cx="8229600" cy="1280160"/>
          </a:xfrm>
          <a:prstGeom prst="rect">
            <a:avLst/>
          </a:prstGeom>
          <a:noFill/>
          <a:ln/>
        </p:spPr>
        <p:txBody>
          <a:bodyPr wrap="square" lIns="0" tIns="0" rIns="0" bIns="0" rtlCol="0" anchor="ctr"/>
          <a:lstStyle/>
          <a:p>
            <a:pPr algn="l" indent="0" marL="0">
              <a:buNone/>
            </a:pPr>
            <a:r>
              <a:rPr lang="en-US" sz="7200" b="1" spc="600" kern="0" dirty="0">
                <a:solidFill>
                  <a:srgbClr val="FFFFFF"/>
                </a:solidFill>
                <a:latin typeface="Calibri" pitchFamily="34" charset="0"/>
                <a:ea typeface="Calibri" pitchFamily="34" charset="-122"/>
                <a:cs typeface="Calibri" pitchFamily="34" charset="-120"/>
              </a:rPr>
              <a:t>VGG-16</a:t>
            </a:r>
            <a:endParaRPr lang="en-US" sz="7200" dirty="0"/>
          </a:p>
        </p:txBody>
      </p:sp>
      <p:sp>
        <p:nvSpPr>
          <p:cNvPr id="4" name="Text 2"/>
          <p:cNvSpPr/>
          <p:nvPr/>
        </p:nvSpPr>
        <p:spPr>
          <a:xfrm>
            <a:off x="457200" y="2057400"/>
            <a:ext cx="8229600" cy="640080"/>
          </a:xfrm>
          <a:prstGeom prst="rect">
            <a:avLst/>
          </a:prstGeom>
          <a:noFill/>
          <a:ln/>
        </p:spPr>
        <p:txBody>
          <a:bodyPr wrap="square" lIns="0" tIns="0" rIns="0" bIns="0" rtlCol="0" anchor="ctr"/>
          <a:lstStyle/>
          <a:p>
            <a:pPr algn="l" indent="0" marL="0">
              <a:buNone/>
            </a:pPr>
            <a:r>
              <a:rPr lang="en-US" sz="2800" dirty="0">
                <a:solidFill>
                  <a:srgbClr val="2EAFC0"/>
                </a:solidFill>
                <a:latin typeface="Calibri" pitchFamily="34" charset="0"/>
                <a:ea typeface="Calibri" pitchFamily="34" charset="-122"/>
                <a:cs typeface="Calibri" pitchFamily="34" charset="-120"/>
              </a:rPr>
              <a:t>Architecture Deep Dive</a:t>
            </a:r>
            <a:endParaRPr lang="en-US" sz="2800" dirty="0"/>
          </a:p>
        </p:txBody>
      </p:sp>
      <p:sp>
        <p:nvSpPr>
          <p:cNvPr id="5" name="Text 3"/>
          <p:cNvSpPr/>
          <p:nvPr/>
        </p:nvSpPr>
        <p:spPr>
          <a:xfrm>
            <a:off x="457200" y="2788920"/>
            <a:ext cx="7772400" cy="502920"/>
          </a:xfrm>
          <a:prstGeom prst="rect">
            <a:avLst/>
          </a:prstGeom>
          <a:noFill/>
          <a:ln/>
        </p:spPr>
        <p:txBody>
          <a:bodyPr wrap="square" lIns="0" tIns="0" rIns="0" bIns="0" rtlCol="0" anchor="ctr"/>
          <a:lstStyle/>
          <a:p>
            <a:pPr algn="l" indent="0" marL="0">
              <a:buNone/>
            </a:pPr>
            <a:r>
              <a:rPr lang="en-US" sz="1600" i="1" dirty="0">
                <a:solidFill>
                  <a:srgbClr val="CBD5E0"/>
                </a:solidFill>
                <a:latin typeface="Calibri" pitchFamily="34" charset="0"/>
                <a:ea typeface="Calibri" pitchFamily="34" charset="-122"/>
                <a:cs typeface="Calibri" pitchFamily="34" charset="-120"/>
              </a:rPr>
              <a:t>Why small filters stacked deep changed everything in computer vision</a:t>
            </a:r>
            <a:endParaRPr lang="en-US" sz="1600" dirty="0"/>
          </a:p>
        </p:txBody>
      </p:sp>
      <p:sp>
        <p:nvSpPr>
          <p:cNvPr id="6" name="Text 4"/>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CBD5E0"/>
                </a:solidFill>
                <a:latin typeface="Calibri" pitchFamily="34" charset="0"/>
                <a:ea typeface="Calibri" pitchFamily="34" charset="-122"/>
                <a:cs typeface="Calibri" pitchFamily="34" charset="-120"/>
              </a:rPr>
              <a:t>Simonyan &amp; Zisserman  •  ICLR 2015  •  138 M Parameters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From AlexNet to VGG-16: A Paradigm Shift</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365760" y="1097280"/>
            <a:ext cx="3749040" cy="347472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1097280"/>
            <a:ext cx="3749040" cy="457200"/>
          </a:xfrm>
          <a:prstGeom prst="rect">
            <a:avLst/>
          </a:prstGeom>
          <a:solidFill>
            <a:srgbClr val="E05C5C"/>
          </a:solidFill>
          <a:ln w="12700">
            <a:solidFill>
              <a:srgbClr val="E05C5C"/>
            </a:solidFill>
            <a:prstDash val="solid"/>
          </a:ln>
        </p:spPr>
      </p:sp>
      <p:sp>
        <p:nvSpPr>
          <p:cNvPr id="6" name="Text 4"/>
          <p:cNvSpPr/>
          <p:nvPr/>
        </p:nvSpPr>
        <p:spPr>
          <a:xfrm>
            <a:off x="365760" y="1097280"/>
            <a:ext cx="3749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AlexNet  (2012)</a:t>
            </a:r>
            <a:endParaRPr lang="en-US" sz="1500" dirty="0"/>
          </a:p>
        </p:txBody>
      </p:sp>
      <p:sp>
        <p:nvSpPr>
          <p:cNvPr id="7" name="Text 5"/>
          <p:cNvSpPr/>
          <p:nvPr/>
        </p:nvSpPr>
        <p:spPr>
          <a:xfrm>
            <a:off x="502920" y="1645920"/>
            <a:ext cx="3474720" cy="2834640"/>
          </a:xfrm>
          <a:prstGeom prst="rect">
            <a:avLst/>
          </a:prstGeom>
          <a:noFill/>
          <a:ln/>
        </p:spPr>
        <p:txBody>
          <a:bodyPr wrap="square" rtlCol="0" anchor="ctr"/>
          <a:lstStyle/>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8 layers total (5 Conv + 3 FC)</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Large, varied filter sizes: 11×11, 5×5, 3×3</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11×11 first layer — huge receptive field immediately</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Local Response Normalisation (LRN)</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~60 million parameters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Breakthrough — but not principled in depth</a:t>
            </a:r>
            <a:endParaRPr lang="en-US" sz="1300" dirty="0"/>
          </a:p>
        </p:txBody>
      </p:sp>
      <p:sp>
        <p:nvSpPr>
          <p:cNvPr id="8" name="Shape 6"/>
          <p:cNvSpPr/>
          <p:nvPr/>
        </p:nvSpPr>
        <p:spPr>
          <a:xfrm>
            <a:off x="5029200" y="1097280"/>
            <a:ext cx="3749040" cy="347472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5029200" y="1097280"/>
            <a:ext cx="3749040" cy="457200"/>
          </a:xfrm>
          <a:prstGeom prst="rect">
            <a:avLst/>
          </a:prstGeom>
          <a:solidFill>
            <a:srgbClr val="1B7E8A"/>
          </a:solidFill>
          <a:ln w="12700">
            <a:solidFill>
              <a:srgbClr val="1B7E8A"/>
            </a:solidFill>
            <a:prstDash val="solid"/>
          </a:ln>
        </p:spPr>
      </p:sp>
      <p:sp>
        <p:nvSpPr>
          <p:cNvPr id="10" name="Text 8"/>
          <p:cNvSpPr/>
          <p:nvPr/>
        </p:nvSpPr>
        <p:spPr>
          <a:xfrm>
            <a:off x="5029200" y="1097280"/>
            <a:ext cx="3749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VGG-16  (2014)</a:t>
            </a:r>
            <a:endParaRPr lang="en-US" sz="1500" dirty="0"/>
          </a:p>
        </p:txBody>
      </p:sp>
      <p:sp>
        <p:nvSpPr>
          <p:cNvPr id="11" name="Text 9"/>
          <p:cNvSpPr/>
          <p:nvPr/>
        </p:nvSpPr>
        <p:spPr>
          <a:xfrm>
            <a:off x="5166360" y="1645920"/>
            <a:ext cx="3474720" cy="2834640"/>
          </a:xfrm>
          <a:prstGeom prst="rect">
            <a:avLst/>
          </a:prstGeom>
          <a:noFill/>
          <a:ln/>
        </p:spPr>
        <p:txBody>
          <a:bodyPr wrap="square" rtlCol="0" anchor="ctr"/>
          <a:lstStyle/>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16 weight layers (13 Conv + 3 FC)</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ONLY 3×3 filters — radical uniformity</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Depth achieved via stacking, not large kernels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No LRN — batch normalisation era approaching</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~138 million parameters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Principled, modular, and easy to replicate</a:t>
            </a:r>
            <a:endParaRPr lang="en-US" sz="1300" dirty="0"/>
          </a:p>
        </p:txBody>
      </p:sp>
      <p:sp>
        <p:nvSpPr>
          <p:cNvPr id="12" name="Shape 10"/>
          <p:cNvSpPr/>
          <p:nvPr/>
        </p:nvSpPr>
        <p:spPr>
          <a:xfrm>
            <a:off x="4133088" y="2148840"/>
            <a:ext cx="886968" cy="886968"/>
          </a:xfrm>
          <a:prstGeom prst="ellipse">
            <a:avLst/>
          </a:prstGeom>
          <a:solidFill>
            <a:srgbClr val="E88D22"/>
          </a:solidFill>
          <a:ln w="12700">
            <a:solidFill>
              <a:srgbClr val="E88D22"/>
            </a:solidFill>
            <a:prstDash val="solid"/>
          </a:ln>
        </p:spPr>
      </p:sp>
      <p:sp>
        <p:nvSpPr>
          <p:cNvPr id="13" name="Text 11"/>
          <p:cNvSpPr/>
          <p:nvPr/>
        </p:nvSpPr>
        <p:spPr>
          <a:xfrm>
            <a:off x="4133088" y="2148840"/>
            <a:ext cx="886968" cy="8869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The Philosophy of 3×3: Mathematical Proof</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365760" y="1051560"/>
            <a:ext cx="384048" cy="384048"/>
          </a:xfrm>
          <a:prstGeom prst="rect">
            <a:avLst/>
          </a:prstGeom>
          <a:solidFill>
            <a:srgbClr val="E8F4F7"/>
          </a:solidFill>
          <a:ln w="12700">
            <a:solidFill>
              <a:srgbClr val="1B7E8A"/>
            </a:solidFill>
            <a:prstDash val="solid"/>
          </a:ln>
        </p:spPr>
      </p:sp>
      <p:sp>
        <p:nvSpPr>
          <p:cNvPr id="5" name="Shape 3"/>
          <p:cNvSpPr/>
          <p:nvPr/>
        </p:nvSpPr>
        <p:spPr>
          <a:xfrm>
            <a:off x="749808" y="1051560"/>
            <a:ext cx="384048" cy="384048"/>
          </a:xfrm>
          <a:prstGeom prst="rect">
            <a:avLst/>
          </a:prstGeom>
          <a:solidFill>
            <a:srgbClr val="E8F4F7"/>
          </a:solidFill>
          <a:ln w="12700">
            <a:solidFill>
              <a:srgbClr val="1B7E8A"/>
            </a:solidFill>
            <a:prstDash val="solid"/>
          </a:ln>
        </p:spPr>
      </p:sp>
      <p:sp>
        <p:nvSpPr>
          <p:cNvPr id="6" name="Shape 4"/>
          <p:cNvSpPr/>
          <p:nvPr/>
        </p:nvSpPr>
        <p:spPr>
          <a:xfrm>
            <a:off x="1133856" y="1051560"/>
            <a:ext cx="384048" cy="384048"/>
          </a:xfrm>
          <a:prstGeom prst="rect">
            <a:avLst/>
          </a:prstGeom>
          <a:solidFill>
            <a:srgbClr val="E8F4F7"/>
          </a:solidFill>
          <a:ln w="12700">
            <a:solidFill>
              <a:srgbClr val="1B7E8A"/>
            </a:solidFill>
            <a:prstDash val="solid"/>
          </a:ln>
        </p:spPr>
      </p:sp>
      <p:sp>
        <p:nvSpPr>
          <p:cNvPr id="7" name="Shape 5"/>
          <p:cNvSpPr/>
          <p:nvPr/>
        </p:nvSpPr>
        <p:spPr>
          <a:xfrm>
            <a:off x="1517904" y="1051560"/>
            <a:ext cx="384048" cy="384048"/>
          </a:xfrm>
          <a:prstGeom prst="rect">
            <a:avLst/>
          </a:prstGeom>
          <a:solidFill>
            <a:srgbClr val="E8F4F7"/>
          </a:solidFill>
          <a:ln w="12700">
            <a:solidFill>
              <a:srgbClr val="1B7E8A"/>
            </a:solidFill>
            <a:prstDash val="solid"/>
          </a:ln>
        </p:spPr>
      </p:sp>
      <p:sp>
        <p:nvSpPr>
          <p:cNvPr id="8" name="Shape 6"/>
          <p:cNvSpPr/>
          <p:nvPr/>
        </p:nvSpPr>
        <p:spPr>
          <a:xfrm>
            <a:off x="1901952" y="1051560"/>
            <a:ext cx="384048" cy="384048"/>
          </a:xfrm>
          <a:prstGeom prst="rect">
            <a:avLst/>
          </a:prstGeom>
          <a:solidFill>
            <a:srgbClr val="E8F4F7"/>
          </a:solidFill>
          <a:ln w="12700">
            <a:solidFill>
              <a:srgbClr val="1B7E8A"/>
            </a:solidFill>
            <a:prstDash val="solid"/>
          </a:ln>
        </p:spPr>
      </p:sp>
      <p:sp>
        <p:nvSpPr>
          <p:cNvPr id="9" name="Shape 7"/>
          <p:cNvSpPr/>
          <p:nvPr/>
        </p:nvSpPr>
        <p:spPr>
          <a:xfrm>
            <a:off x="365760" y="1435608"/>
            <a:ext cx="384048" cy="384048"/>
          </a:xfrm>
          <a:prstGeom prst="rect">
            <a:avLst/>
          </a:prstGeom>
          <a:solidFill>
            <a:srgbClr val="E8F4F7"/>
          </a:solidFill>
          <a:ln w="12700">
            <a:solidFill>
              <a:srgbClr val="1B7E8A"/>
            </a:solidFill>
            <a:prstDash val="solid"/>
          </a:ln>
        </p:spPr>
      </p:sp>
      <p:sp>
        <p:nvSpPr>
          <p:cNvPr id="10" name="Shape 8"/>
          <p:cNvSpPr/>
          <p:nvPr/>
        </p:nvSpPr>
        <p:spPr>
          <a:xfrm>
            <a:off x="749808" y="1435608"/>
            <a:ext cx="384048" cy="384048"/>
          </a:xfrm>
          <a:prstGeom prst="rect">
            <a:avLst/>
          </a:prstGeom>
          <a:solidFill>
            <a:srgbClr val="C7EAF0"/>
          </a:solidFill>
          <a:ln w="12700">
            <a:solidFill>
              <a:srgbClr val="1B7E8A"/>
            </a:solidFill>
            <a:prstDash val="solid"/>
          </a:ln>
        </p:spPr>
      </p:sp>
      <p:sp>
        <p:nvSpPr>
          <p:cNvPr id="11" name="Shape 9"/>
          <p:cNvSpPr/>
          <p:nvPr/>
        </p:nvSpPr>
        <p:spPr>
          <a:xfrm>
            <a:off x="1133856" y="1435608"/>
            <a:ext cx="384048" cy="384048"/>
          </a:xfrm>
          <a:prstGeom prst="rect">
            <a:avLst/>
          </a:prstGeom>
          <a:solidFill>
            <a:srgbClr val="C7EAF0"/>
          </a:solidFill>
          <a:ln w="12700">
            <a:solidFill>
              <a:srgbClr val="1B7E8A"/>
            </a:solidFill>
            <a:prstDash val="solid"/>
          </a:ln>
        </p:spPr>
      </p:sp>
      <p:sp>
        <p:nvSpPr>
          <p:cNvPr id="12" name="Shape 10"/>
          <p:cNvSpPr/>
          <p:nvPr/>
        </p:nvSpPr>
        <p:spPr>
          <a:xfrm>
            <a:off x="1517904" y="1435608"/>
            <a:ext cx="384048" cy="384048"/>
          </a:xfrm>
          <a:prstGeom prst="rect">
            <a:avLst/>
          </a:prstGeom>
          <a:solidFill>
            <a:srgbClr val="C7EAF0"/>
          </a:solidFill>
          <a:ln w="12700">
            <a:solidFill>
              <a:srgbClr val="1B7E8A"/>
            </a:solidFill>
            <a:prstDash val="solid"/>
          </a:ln>
        </p:spPr>
      </p:sp>
      <p:sp>
        <p:nvSpPr>
          <p:cNvPr id="13" name="Shape 11"/>
          <p:cNvSpPr/>
          <p:nvPr/>
        </p:nvSpPr>
        <p:spPr>
          <a:xfrm>
            <a:off x="1901952" y="1435608"/>
            <a:ext cx="384048" cy="384048"/>
          </a:xfrm>
          <a:prstGeom prst="rect">
            <a:avLst/>
          </a:prstGeom>
          <a:solidFill>
            <a:srgbClr val="E8F4F7"/>
          </a:solidFill>
          <a:ln w="12700">
            <a:solidFill>
              <a:srgbClr val="1B7E8A"/>
            </a:solidFill>
            <a:prstDash val="solid"/>
          </a:ln>
        </p:spPr>
      </p:sp>
      <p:sp>
        <p:nvSpPr>
          <p:cNvPr id="14" name="Shape 12"/>
          <p:cNvSpPr/>
          <p:nvPr/>
        </p:nvSpPr>
        <p:spPr>
          <a:xfrm>
            <a:off x="365760" y="1819656"/>
            <a:ext cx="384048" cy="384048"/>
          </a:xfrm>
          <a:prstGeom prst="rect">
            <a:avLst/>
          </a:prstGeom>
          <a:solidFill>
            <a:srgbClr val="E8F4F7"/>
          </a:solidFill>
          <a:ln w="12700">
            <a:solidFill>
              <a:srgbClr val="1B7E8A"/>
            </a:solidFill>
            <a:prstDash val="solid"/>
          </a:ln>
        </p:spPr>
      </p:sp>
      <p:sp>
        <p:nvSpPr>
          <p:cNvPr id="15" name="Shape 13"/>
          <p:cNvSpPr/>
          <p:nvPr/>
        </p:nvSpPr>
        <p:spPr>
          <a:xfrm>
            <a:off x="749808" y="1819656"/>
            <a:ext cx="384048" cy="384048"/>
          </a:xfrm>
          <a:prstGeom prst="rect">
            <a:avLst/>
          </a:prstGeom>
          <a:solidFill>
            <a:srgbClr val="C7EAF0"/>
          </a:solidFill>
          <a:ln w="12700">
            <a:solidFill>
              <a:srgbClr val="1B7E8A"/>
            </a:solidFill>
            <a:prstDash val="solid"/>
          </a:ln>
        </p:spPr>
      </p:sp>
      <p:sp>
        <p:nvSpPr>
          <p:cNvPr id="16" name="Shape 14"/>
          <p:cNvSpPr/>
          <p:nvPr/>
        </p:nvSpPr>
        <p:spPr>
          <a:xfrm>
            <a:off x="1133856" y="1819656"/>
            <a:ext cx="384048" cy="384048"/>
          </a:xfrm>
          <a:prstGeom prst="rect">
            <a:avLst/>
          </a:prstGeom>
          <a:solidFill>
            <a:srgbClr val="C7EAF0"/>
          </a:solidFill>
          <a:ln w="12700">
            <a:solidFill>
              <a:srgbClr val="1B7E8A"/>
            </a:solidFill>
            <a:prstDash val="solid"/>
          </a:ln>
        </p:spPr>
      </p:sp>
      <p:sp>
        <p:nvSpPr>
          <p:cNvPr id="17" name="Shape 15"/>
          <p:cNvSpPr/>
          <p:nvPr/>
        </p:nvSpPr>
        <p:spPr>
          <a:xfrm>
            <a:off x="1517904" y="1819656"/>
            <a:ext cx="384048" cy="384048"/>
          </a:xfrm>
          <a:prstGeom prst="rect">
            <a:avLst/>
          </a:prstGeom>
          <a:solidFill>
            <a:srgbClr val="C7EAF0"/>
          </a:solidFill>
          <a:ln w="12700">
            <a:solidFill>
              <a:srgbClr val="1B7E8A"/>
            </a:solidFill>
            <a:prstDash val="solid"/>
          </a:ln>
        </p:spPr>
      </p:sp>
      <p:sp>
        <p:nvSpPr>
          <p:cNvPr id="18" name="Shape 16"/>
          <p:cNvSpPr/>
          <p:nvPr/>
        </p:nvSpPr>
        <p:spPr>
          <a:xfrm>
            <a:off x="1901952" y="1819656"/>
            <a:ext cx="384048" cy="384048"/>
          </a:xfrm>
          <a:prstGeom prst="rect">
            <a:avLst/>
          </a:prstGeom>
          <a:solidFill>
            <a:srgbClr val="E8F4F7"/>
          </a:solidFill>
          <a:ln w="12700">
            <a:solidFill>
              <a:srgbClr val="1B7E8A"/>
            </a:solidFill>
            <a:prstDash val="solid"/>
          </a:ln>
        </p:spPr>
      </p:sp>
      <p:sp>
        <p:nvSpPr>
          <p:cNvPr id="19" name="Shape 17"/>
          <p:cNvSpPr/>
          <p:nvPr/>
        </p:nvSpPr>
        <p:spPr>
          <a:xfrm>
            <a:off x="365760" y="2203704"/>
            <a:ext cx="384048" cy="384048"/>
          </a:xfrm>
          <a:prstGeom prst="rect">
            <a:avLst/>
          </a:prstGeom>
          <a:solidFill>
            <a:srgbClr val="E8F4F7"/>
          </a:solidFill>
          <a:ln w="12700">
            <a:solidFill>
              <a:srgbClr val="1B7E8A"/>
            </a:solidFill>
            <a:prstDash val="solid"/>
          </a:ln>
        </p:spPr>
      </p:sp>
      <p:sp>
        <p:nvSpPr>
          <p:cNvPr id="20" name="Shape 18"/>
          <p:cNvSpPr/>
          <p:nvPr/>
        </p:nvSpPr>
        <p:spPr>
          <a:xfrm>
            <a:off x="749808" y="2203704"/>
            <a:ext cx="384048" cy="384048"/>
          </a:xfrm>
          <a:prstGeom prst="rect">
            <a:avLst/>
          </a:prstGeom>
          <a:solidFill>
            <a:srgbClr val="C7EAF0"/>
          </a:solidFill>
          <a:ln w="12700">
            <a:solidFill>
              <a:srgbClr val="1B7E8A"/>
            </a:solidFill>
            <a:prstDash val="solid"/>
          </a:ln>
        </p:spPr>
      </p:sp>
      <p:sp>
        <p:nvSpPr>
          <p:cNvPr id="21" name="Shape 19"/>
          <p:cNvSpPr/>
          <p:nvPr/>
        </p:nvSpPr>
        <p:spPr>
          <a:xfrm>
            <a:off x="1133856" y="2203704"/>
            <a:ext cx="384048" cy="384048"/>
          </a:xfrm>
          <a:prstGeom prst="rect">
            <a:avLst/>
          </a:prstGeom>
          <a:solidFill>
            <a:srgbClr val="C7EAF0"/>
          </a:solidFill>
          <a:ln w="12700">
            <a:solidFill>
              <a:srgbClr val="1B7E8A"/>
            </a:solidFill>
            <a:prstDash val="solid"/>
          </a:ln>
        </p:spPr>
      </p:sp>
      <p:sp>
        <p:nvSpPr>
          <p:cNvPr id="22" name="Shape 20"/>
          <p:cNvSpPr/>
          <p:nvPr/>
        </p:nvSpPr>
        <p:spPr>
          <a:xfrm>
            <a:off x="1517904" y="2203704"/>
            <a:ext cx="384048" cy="384048"/>
          </a:xfrm>
          <a:prstGeom prst="rect">
            <a:avLst/>
          </a:prstGeom>
          <a:solidFill>
            <a:srgbClr val="C7EAF0"/>
          </a:solidFill>
          <a:ln w="12700">
            <a:solidFill>
              <a:srgbClr val="1B7E8A"/>
            </a:solidFill>
            <a:prstDash val="solid"/>
          </a:ln>
        </p:spPr>
      </p:sp>
      <p:sp>
        <p:nvSpPr>
          <p:cNvPr id="23" name="Shape 21"/>
          <p:cNvSpPr/>
          <p:nvPr/>
        </p:nvSpPr>
        <p:spPr>
          <a:xfrm>
            <a:off x="1901952" y="2203704"/>
            <a:ext cx="384048" cy="384048"/>
          </a:xfrm>
          <a:prstGeom prst="rect">
            <a:avLst/>
          </a:prstGeom>
          <a:solidFill>
            <a:srgbClr val="E8F4F7"/>
          </a:solidFill>
          <a:ln w="12700">
            <a:solidFill>
              <a:srgbClr val="1B7E8A"/>
            </a:solidFill>
            <a:prstDash val="solid"/>
          </a:ln>
        </p:spPr>
      </p:sp>
      <p:sp>
        <p:nvSpPr>
          <p:cNvPr id="24" name="Shape 22"/>
          <p:cNvSpPr/>
          <p:nvPr/>
        </p:nvSpPr>
        <p:spPr>
          <a:xfrm>
            <a:off x="365760" y="2587752"/>
            <a:ext cx="384048" cy="384048"/>
          </a:xfrm>
          <a:prstGeom prst="rect">
            <a:avLst/>
          </a:prstGeom>
          <a:solidFill>
            <a:srgbClr val="E8F4F7"/>
          </a:solidFill>
          <a:ln w="12700">
            <a:solidFill>
              <a:srgbClr val="1B7E8A"/>
            </a:solidFill>
            <a:prstDash val="solid"/>
          </a:ln>
        </p:spPr>
      </p:sp>
      <p:sp>
        <p:nvSpPr>
          <p:cNvPr id="25" name="Shape 23"/>
          <p:cNvSpPr/>
          <p:nvPr/>
        </p:nvSpPr>
        <p:spPr>
          <a:xfrm>
            <a:off x="749808" y="2587752"/>
            <a:ext cx="384048" cy="384048"/>
          </a:xfrm>
          <a:prstGeom prst="rect">
            <a:avLst/>
          </a:prstGeom>
          <a:solidFill>
            <a:srgbClr val="E8F4F7"/>
          </a:solidFill>
          <a:ln w="12700">
            <a:solidFill>
              <a:srgbClr val="1B7E8A"/>
            </a:solidFill>
            <a:prstDash val="solid"/>
          </a:ln>
        </p:spPr>
      </p:sp>
      <p:sp>
        <p:nvSpPr>
          <p:cNvPr id="26" name="Shape 24"/>
          <p:cNvSpPr/>
          <p:nvPr/>
        </p:nvSpPr>
        <p:spPr>
          <a:xfrm>
            <a:off x="1133856" y="2587752"/>
            <a:ext cx="384048" cy="384048"/>
          </a:xfrm>
          <a:prstGeom prst="rect">
            <a:avLst/>
          </a:prstGeom>
          <a:solidFill>
            <a:srgbClr val="E8F4F7"/>
          </a:solidFill>
          <a:ln w="12700">
            <a:solidFill>
              <a:srgbClr val="1B7E8A"/>
            </a:solidFill>
            <a:prstDash val="solid"/>
          </a:ln>
        </p:spPr>
      </p:sp>
      <p:sp>
        <p:nvSpPr>
          <p:cNvPr id="27" name="Shape 25"/>
          <p:cNvSpPr/>
          <p:nvPr/>
        </p:nvSpPr>
        <p:spPr>
          <a:xfrm>
            <a:off x="1517904" y="2587752"/>
            <a:ext cx="384048" cy="384048"/>
          </a:xfrm>
          <a:prstGeom prst="rect">
            <a:avLst/>
          </a:prstGeom>
          <a:solidFill>
            <a:srgbClr val="E8F4F7"/>
          </a:solidFill>
          <a:ln w="12700">
            <a:solidFill>
              <a:srgbClr val="1B7E8A"/>
            </a:solidFill>
            <a:prstDash val="solid"/>
          </a:ln>
        </p:spPr>
      </p:sp>
      <p:sp>
        <p:nvSpPr>
          <p:cNvPr id="28" name="Shape 26"/>
          <p:cNvSpPr/>
          <p:nvPr/>
        </p:nvSpPr>
        <p:spPr>
          <a:xfrm>
            <a:off x="1901952" y="2587752"/>
            <a:ext cx="384048" cy="384048"/>
          </a:xfrm>
          <a:prstGeom prst="rect">
            <a:avLst/>
          </a:prstGeom>
          <a:solidFill>
            <a:srgbClr val="E8F4F7"/>
          </a:solidFill>
          <a:ln w="12700">
            <a:solidFill>
              <a:srgbClr val="1B7E8A"/>
            </a:solidFill>
            <a:prstDash val="solid"/>
          </a:ln>
        </p:spPr>
      </p:sp>
      <p:sp>
        <p:nvSpPr>
          <p:cNvPr id="29" name="Text 27"/>
          <p:cNvSpPr/>
          <p:nvPr/>
        </p:nvSpPr>
        <p:spPr>
          <a:xfrm>
            <a:off x="365760" y="3017520"/>
            <a:ext cx="1920240" cy="320040"/>
          </a:xfrm>
          <a:prstGeom prst="rect">
            <a:avLst/>
          </a:prstGeom>
          <a:noFill/>
          <a:ln/>
        </p:spPr>
        <p:txBody>
          <a:bodyPr wrap="square" lIns="0" tIns="0" rIns="0" bIns="0" rtlCol="0" anchor="ctr"/>
          <a:lstStyle/>
          <a:p>
            <a:pPr algn="ctr" indent="0" marL="0">
              <a:buNone/>
            </a:pPr>
            <a:r>
              <a:rPr lang="en-US" sz="1100" b="1" dirty="0">
                <a:solidFill>
                  <a:srgbClr val="1B7E8A"/>
                </a:solidFill>
                <a:latin typeface="Calibri" pitchFamily="34" charset="0"/>
                <a:ea typeface="Calibri" pitchFamily="34" charset="-122"/>
                <a:cs typeface="Calibri" pitchFamily="34" charset="-120"/>
              </a:rPr>
              <a:t>5×5 Receptive Field</a:t>
            </a:r>
            <a:endParaRPr lang="en-US" sz="1100" dirty="0"/>
          </a:p>
        </p:txBody>
      </p:sp>
      <p:sp>
        <p:nvSpPr>
          <p:cNvPr id="30" name="Text 28"/>
          <p:cNvSpPr/>
          <p:nvPr/>
        </p:nvSpPr>
        <p:spPr>
          <a:xfrm>
            <a:off x="2331720" y="1874520"/>
            <a:ext cx="457200" cy="457200"/>
          </a:xfrm>
          <a:prstGeom prst="rect">
            <a:avLst/>
          </a:prstGeom>
          <a:noFill/>
          <a:ln/>
        </p:spPr>
        <p:txBody>
          <a:bodyPr wrap="square" lIns="0" tIns="0" rIns="0" bIns="0" rtlCol="0" anchor="ctr"/>
          <a:lstStyle/>
          <a:p>
            <a:pPr algn="ctr" indent="0" marL="0">
              <a:buNone/>
            </a:pPr>
            <a:r>
              <a:rPr lang="en-US" sz="3000" b="1" dirty="0">
                <a:solidFill>
                  <a:srgbClr val="E88D22"/>
                </a:solidFill>
                <a:latin typeface="Calibri" pitchFamily="34" charset="0"/>
                <a:ea typeface="Calibri" pitchFamily="34" charset="-122"/>
                <a:cs typeface="Calibri" pitchFamily="34" charset="-120"/>
              </a:rPr>
              <a:t>≡</a:t>
            </a:r>
            <a:endParaRPr lang="en-US" sz="3000" dirty="0"/>
          </a:p>
        </p:txBody>
      </p:sp>
      <p:sp>
        <p:nvSpPr>
          <p:cNvPr id="31" name="Shape 29"/>
          <p:cNvSpPr/>
          <p:nvPr/>
        </p:nvSpPr>
        <p:spPr>
          <a:xfrm>
            <a:off x="2926080" y="1051560"/>
            <a:ext cx="384048" cy="384048"/>
          </a:xfrm>
          <a:prstGeom prst="rect">
            <a:avLst/>
          </a:prstGeom>
          <a:solidFill>
            <a:srgbClr val="B5E8D5"/>
          </a:solidFill>
          <a:ln w="12700">
            <a:solidFill>
              <a:srgbClr val="0D1B2A"/>
            </a:solidFill>
            <a:prstDash val="solid"/>
          </a:ln>
        </p:spPr>
      </p:sp>
      <p:sp>
        <p:nvSpPr>
          <p:cNvPr id="32" name="Shape 30"/>
          <p:cNvSpPr/>
          <p:nvPr/>
        </p:nvSpPr>
        <p:spPr>
          <a:xfrm>
            <a:off x="3310128" y="1051560"/>
            <a:ext cx="384048" cy="384048"/>
          </a:xfrm>
          <a:prstGeom prst="rect">
            <a:avLst/>
          </a:prstGeom>
          <a:solidFill>
            <a:srgbClr val="B5E8D5"/>
          </a:solidFill>
          <a:ln w="12700">
            <a:solidFill>
              <a:srgbClr val="0D1B2A"/>
            </a:solidFill>
            <a:prstDash val="solid"/>
          </a:ln>
        </p:spPr>
      </p:sp>
      <p:sp>
        <p:nvSpPr>
          <p:cNvPr id="33" name="Shape 31"/>
          <p:cNvSpPr/>
          <p:nvPr/>
        </p:nvSpPr>
        <p:spPr>
          <a:xfrm>
            <a:off x="3694176" y="1051560"/>
            <a:ext cx="384048" cy="384048"/>
          </a:xfrm>
          <a:prstGeom prst="rect">
            <a:avLst/>
          </a:prstGeom>
          <a:solidFill>
            <a:srgbClr val="B5E8D5"/>
          </a:solidFill>
          <a:ln w="12700">
            <a:solidFill>
              <a:srgbClr val="0D1B2A"/>
            </a:solidFill>
            <a:prstDash val="solid"/>
          </a:ln>
        </p:spPr>
      </p:sp>
      <p:sp>
        <p:nvSpPr>
          <p:cNvPr id="34" name="Shape 32"/>
          <p:cNvSpPr/>
          <p:nvPr/>
        </p:nvSpPr>
        <p:spPr>
          <a:xfrm>
            <a:off x="2926080" y="1435608"/>
            <a:ext cx="384048" cy="384048"/>
          </a:xfrm>
          <a:prstGeom prst="rect">
            <a:avLst/>
          </a:prstGeom>
          <a:solidFill>
            <a:srgbClr val="B5E8D5"/>
          </a:solidFill>
          <a:ln w="12700">
            <a:solidFill>
              <a:srgbClr val="0D1B2A"/>
            </a:solidFill>
            <a:prstDash val="solid"/>
          </a:ln>
        </p:spPr>
      </p:sp>
      <p:sp>
        <p:nvSpPr>
          <p:cNvPr id="35" name="Shape 33"/>
          <p:cNvSpPr/>
          <p:nvPr/>
        </p:nvSpPr>
        <p:spPr>
          <a:xfrm>
            <a:off x="3310128" y="1435608"/>
            <a:ext cx="384048" cy="384048"/>
          </a:xfrm>
          <a:prstGeom prst="rect">
            <a:avLst/>
          </a:prstGeom>
          <a:solidFill>
            <a:srgbClr val="B5E8D5"/>
          </a:solidFill>
          <a:ln w="12700">
            <a:solidFill>
              <a:srgbClr val="0D1B2A"/>
            </a:solidFill>
            <a:prstDash val="solid"/>
          </a:ln>
        </p:spPr>
      </p:sp>
      <p:sp>
        <p:nvSpPr>
          <p:cNvPr id="36" name="Shape 34"/>
          <p:cNvSpPr/>
          <p:nvPr/>
        </p:nvSpPr>
        <p:spPr>
          <a:xfrm>
            <a:off x="3694176" y="1435608"/>
            <a:ext cx="384048" cy="384048"/>
          </a:xfrm>
          <a:prstGeom prst="rect">
            <a:avLst/>
          </a:prstGeom>
          <a:solidFill>
            <a:srgbClr val="B5E8D5"/>
          </a:solidFill>
          <a:ln w="12700">
            <a:solidFill>
              <a:srgbClr val="0D1B2A"/>
            </a:solidFill>
            <a:prstDash val="solid"/>
          </a:ln>
        </p:spPr>
      </p:sp>
      <p:sp>
        <p:nvSpPr>
          <p:cNvPr id="37" name="Shape 35"/>
          <p:cNvSpPr/>
          <p:nvPr/>
        </p:nvSpPr>
        <p:spPr>
          <a:xfrm>
            <a:off x="2926080" y="1819656"/>
            <a:ext cx="384048" cy="384048"/>
          </a:xfrm>
          <a:prstGeom prst="rect">
            <a:avLst/>
          </a:prstGeom>
          <a:solidFill>
            <a:srgbClr val="B5E8D5"/>
          </a:solidFill>
          <a:ln w="12700">
            <a:solidFill>
              <a:srgbClr val="0D1B2A"/>
            </a:solidFill>
            <a:prstDash val="solid"/>
          </a:ln>
        </p:spPr>
      </p:sp>
      <p:sp>
        <p:nvSpPr>
          <p:cNvPr id="38" name="Shape 36"/>
          <p:cNvSpPr/>
          <p:nvPr/>
        </p:nvSpPr>
        <p:spPr>
          <a:xfrm>
            <a:off x="3310128" y="1819656"/>
            <a:ext cx="384048" cy="384048"/>
          </a:xfrm>
          <a:prstGeom prst="rect">
            <a:avLst/>
          </a:prstGeom>
          <a:solidFill>
            <a:srgbClr val="B5E8D5"/>
          </a:solidFill>
          <a:ln w="12700">
            <a:solidFill>
              <a:srgbClr val="0D1B2A"/>
            </a:solidFill>
            <a:prstDash val="solid"/>
          </a:ln>
        </p:spPr>
      </p:sp>
      <p:sp>
        <p:nvSpPr>
          <p:cNvPr id="39" name="Shape 37"/>
          <p:cNvSpPr/>
          <p:nvPr/>
        </p:nvSpPr>
        <p:spPr>
          <a:xfrm>
            <a:off x="3694176" y="1819656"/>
            <a:ext cx="384048" cy="384048"/>
          </a:xfrm>
          <a:prstGeom prst="rect">
            <a:avLst/>
          </a:prstGeom>
          <a:solidFill>
            <a:srgbClr val="B5E8D5"/>
          </a:solidFill>
          <a:ln w="12700">
            <a:solidFill>
              <a:srgbClr val="0D1B2A"/>
            </a:solidFill>
            <a:prstDash val="solid"/>
          </a:ln>
        </p:spPr>
      </p:sp>
      <p:sp>
        <p:nvSpPr>
          <p:cNvPr id="40" name="Text 38"/>
          <p:cNvSpPr/>
          <p:nvPr/>
        </p:nvSpPr>
        <p:spPr>
          <a:xfrm>
            <a:off x="2926080" y="2221992"/>
            <a:ext cx="1152144" cy="256032"/>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3×3 Conv 1</a:t>
            </a:r>
            <a:endParaRPr lang="en-US" sz="1000" dirty="0"/>
          </a:p>
        </p:txBody>
      </p:sp>
      <p:sp>
        <p:nvSpPr>
          <p:cNvPr id="41" name="Shape 39"/>
          <p:cNvSpPr/>
          <p:nvPr/>
        </p:nvSpPr>
        <p:spPr>
          <a:xfrm>
            <a:off x="2926080" y="2340864"/>
            <a:ext cx="384048" cy="384048"/>
          </a:xfrm>
          <a:prstGeom prst="rect">
            <a:avLst/>
          </a:prstGeom>
          <a:solidFill>
            <a:srgbClr val="B5D8F0"/>
          </a:solidFill>
          <a:ln w="12700">
            <a:solidFill>
              <a:srgbClr val="0D1B2A"/>
            </a:solidFill>
            <a:prstDash val="solid"/>
          </a:ln>
        </p:spPr>
      </p:sp>
      <p:sp>
        <p:nvSpPr>
          <p:cNvPr id="42" name="Shape 40"/>
          <p:cNvSpPr/>
          <p:nvPr/>
        </p:nvSpPr>
        <p:spPr>
          <a:xfrm>
            <a:off x="3310128" y="2340864"/>
            <a:ext cx="384048" cy="384048"/>
          </a:xfrm>
          <a:prstGeom prst="rect">
            <a:avLst/>
          </a:prstGeom>
          <a:solidFill>
            <a:srgbClr val="B5D8F0"/>
          </a:solidFill>
          <a:ln w="12700">
            <a:solidFill>
              <a:srgbClr val="0D1B2A"/>
            </a:solidFill>
            <a:prstDash val="solid"/>
          </a:ln>
        </p:spPr>
      </p:sp>
      <p:sp>
        <p:nvSpPr>
          <p:cNvPr id="43" name="Shape 41"/>
          <p:cNvSpPr/>
          <p:nvPr/>
        </p:nvSpPr>
        <p:spPr>
          <a:xfrm>
            <a:off x="3694176" y="2340864"/>
            <a:ext cx="384048" cy="384048"/>
          </a:xfrm>
          <a:prstGeom prst="rect">
            <a:avLst/>
          </a:prstGeom>
          <a:solidFill>
            <a:srgbClr val="B5D8F0"/>
          </a:solidFill>
          <a:ln w="12700">
            <a:solidFill>
              <a:srgbClr val="0D1B2A"/>
            </a:solidFill>
            <a:prstDash val="solid"/>
          </a:ln>
        </p:spPr>
      </p:sp>
      <p:sp>
        <p:nvSpPr>
          <p:cNvPr id="44" name="Shape 42"/>
          <p:cNvSpPr/>
          <p:nvPr/>
        </p:nvSpPr>
        <p:spPr>
          <a:xfrm>
            <a:off x="2926080" y="2724912"/>
            <a:ext cx="384048" cy="384048"/>
          </a:xfrm>
          <a:prstGeom prst="rect">
            <a:avLst/>
          </a:prstGeom>
          <a:solidFill>
            <a:srgbClr val="B5D8F0"/>
          </a:solidFill>
          <a:ln w="12700">
            <a:solidFill>
              <a:srgbClr val="0D1B2A"/>
            </a:solidFill>
            <a:prstDash val="solid"/>
          </a:ln>
        </p:spPr>
      </p:sp>
      <p:sp>
        <p:nvSpPr>
          <p:cNvPr id="45" name="Shape 43"/>
          <p:cNvSpPr/>
          <p:nvPr/>
        </p:nvSpPr>
        <p:spPr>
          <a:xfrm>
            <a:off x="3310128" y="2724912"/>
            <a:ext cx="384048" cy="384048"/>
          </a:xfrm>
          <a:prstGeom prst="rect">
            <a:avLst/>
          </a:prstGeom>
          <a:solidFill>
            <a:srgbClr val="B5D8F0"/>
          </a:solidFill>
          <a:ln w="12700">
            <a:solidFill>
              <a:srgbClr val="0D1B2A"/>
            </a:solidFill>
            <a:prstDash val="solid"/>
          </a:ln>
        </p:spPr>
      </p:sp>
      <p:sp>
        <p:nvSpPr>
          <p:cNvPr id="46" name="Shape 44"/>
          <p:cNvSpPr/>
          <p:nvPr/>
        </p:nvSpPr>
        <p:spPr>
          <a:xfrm>
            <a:off x="3694176" y="2724912"/>
            <a:ext cx="384048" cy="384048"/>
          </a:xfrm>
          <a:prstGeom prst="rect">
            <a:avLst/>
          </a:prstGeom>
          <a:solidFill>
            <a:srgbClr val="B5D8F0"/>
          </a:solidFill>
          <a:ln w="12700">
            <a:solidFill>
              <a:srgbClr val="0D1B2A"/>
            </a:solidFill>
            <a:prstDash val="solid"/>
          </a:ln>
        </p:spPr>
      </p:sp>
      <p:sp>
        <p:nvSpPr>
          <p:cNvPr id="47" name="Shape 45"/>
          <p:cNvSpPr/>
          <p:nvPr/>
        </p:nvSpPr>
        <p:spPr>
          <a:xfrm>
            <a:off x="2926080" y="3108960"/>
            <a:ext cx="384048" cy="384048"/>
          </a:xfrm>
          <a:prstGeom prst="rect">
            <a:avLst/>
          </a:prstGeom>
          <a:solidFill>
            <a:srgbClr val="B5D8F0"/>
          </a:solidFill>
          <a:ln w="12700">
            <a:solidFill>
              <a:srgbClr val="0D1B2A"/>
            </a:solidFill>
            <a:prstDash val="solid"/>
          </a:ln>
        </p:spPr>
      </p:sp>
      <p:sp>
        <p:nvSpPr>
          <p:cNvPr id="48" name="Shape 46"/>
          <p:cNvSpPr/>
          <p:nvPr/>
        </p:nvSpPr>
        <p:spPr>
          <a:xfrm>
            <a:off x="3310128" y="3108960"/>
            <a:ext cx="384048" cy="384048"/>
          </a:xfrm>
          <a:prstGeom prst="rect">
            <a:avLst/>
          </a:prstGeom>
          <a:solidFill>
            <a:srgbClr val="B5D8F0"/>
          </a:solidFill>
          <a:ln w="12700">
            <a:solidFill>
              <a:srgbClr val="0D1B2A"/>
            </a:solidFill>
            <a:prstDash val="solid"/>
          </a:ln>
        </p:spPr>
      </p:sp>
      <p:sp>
        <p:nvSpPr>
          <p:cNvPr id="49" name="Shape 47"/>
          <p:cNvSpPr/>
          <p:nvPr/>
        </p:nvSpPr>
        <p:spPr>
          <a:xfrm>
            <a:off x="3694176" y="3108960"/>
            <a:ext cx="384048" cy="384048"/>
          </a:xfrm>
          <a:prstGeom prst="rect">
            <a:avLst/>
          </a:prstGeom>
          <a:solidFill>
            <a:srgbClr val="B5D8F0"/>
          </a:solidFill>
          <a:ln w="12700">
            <a:solidFill>
              <a:srgbClr val="0D1B2A"/>
            </a:solidFill>
            <a:prstDash val="solid"/>
          </a:ln>
        </p:spPr>
      </p:sp>
      <p:sp>
        <p:nvSpPr>
          <p:cNvPr id="50" name="Text 48"/>
          <p:cNvSpPr/>
          <p:nvPr/>
        </p:nvSpPr>
        <p:spPr>
          <a:xfrm>
            <a:off x="2926080" y="3511296"/>
            <a:ext cx="1152144" cy="256032"/>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3×3 Conv 2</a:t>
            </a:r>
            <a:endParaRPr lang="en-US" sz="1000" dirty="0"/>
          </a:p>
        </p:txBody>
      </p:sp>
      <p:sp>
        <p:nvSpPr>
          <p:cNvPr id="51" name="Text 49"/>
          <p:cNvSpPr/>
          <p:nvPr/>
        </p:nvSpPr>
        <p:spPr>
          <a:xfrm>
            <a:off x="4846320" y="1051560"/>
            <a:ext cx="3931920" cy="365760"/>
          </a:xfrm>
          <a:prstGeom prst="rect">
            <a:avLst/>
          </a:prstGeom>
          <a:noFill/>
          <a:ln/>
        </p:spPr>
        <p:txBody>
          <a:bodyPr wrap="square" lIns="0" tIns="0" rIns="0" bIns="0" rtlCol="0" anchor="ctr"/>
          <a:lstStyle/>
          <a:p>
            <a:pPr algn="l" indent="0" marL="0">
              <a:buNone/>
            </a:pPr>
            <a:r>
              <a:rPr lang="en-US" sz="1500" b="1" dirty="0">
                <a:solidFill>
                  <a:srgbClr val="0D1B2A"/>
                </a:solidFill>
                <a:latin typeface="Calibri" pitchFamily="34" charset="0"/>
                <a:ea typeface="Calibri" pitchFamily="34" charset="-122"/>
                <a:cs typeface="Calibri" pitchFamily="34" charset="-120"/>
              </a:rPr>
              <a:t>Why 3×3 Stacking Works</a:t>
            </a:r>
            <a:endParaRPr lang="en-US" sz="1500" dirty="0"/>
          </a:p>
        </p:txBody>
      </p:sp>
      <p:sp>
        <p:nvSpPr>
          <p:cNvPr id="52" name="Text 50"/>
          <p:cNvSpPr/>
          <p:nvPr/>
        </p:nvSpPr>
        <p:spPr>
          <a:xfrm>
            <a:off x="4846320" y="1463040"/>
            <a:ext cx="3931920" cy="3383280"/>
          </a:xfrm>
          <a:prstGeom prst="rect">
            <a:avLst/>
          </a:prstGeom>
          <a:noFill/>
          <a:ln/>
        </p:spPr>
        <p:txBody>
          <a:bodyPr wrap="square" rtlCol="0" anchor="ctr"/>
          <a:lstStyle/>
          <a:p>
            <a:pPr marL="342900" indent="-342900">
              <a:buSzPct val="100000"/>
              <a:buChar char="•"/>
            </a:pPr>
            <a:r>
              <a:rPr lang="en-US" sz="1300" b="1" dirty="0">
                <a:solidFill>
                  <a:srgbClr val="4A5568"/>
                </a:solidFill>
                <a:latin typeface="Calibri" pitchFamily="34" charset="0"/>
                <a:ea typeface="Calibri" pitchFamily="34" charset="-122"/>
                <a:cs typeface="Calibri" pitchFamily="34" charset="-120"/>
              </a:rPr>
              <a:t>Two stacked 3×3 Conv layers see the same 5×5 area as one 5×5 layer</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Three stacked 3×3 layers = one 7×7 receptive field</a:t>
            </a:r>
            <a:endParaRPr lang="en-US" sz="1300" dirty="0"/>
          </a:p>
          <a:p>
            <a:pPr marL="342900" indent="-342900">
              <a:buSzPct val="100000"/>
              <a:buChar char="•"/>
            </a:pPr>
            <a:endParaRPr lang="en-US" sz="1300" dirty="0"/>
          </a:p>
          <a:p>
            <a:pPr marL="342900" indent="-342900">
              <a:buSzPct val="100000"/>
              <a:buChar char="•"/>
            </a:pPr>
            <a:r>
              <a:rPr lang="en-US" sz="1300" b="1" dirty="0">
                <a:solidFill>
                  <a:srgbClr val="4A5568"/>
                </a:solidFill>
                <a:latin typeface="Calibri" pitchFamily="34" charset="0"/>
                <a:ea typeface="Calibri" pitchFamily="34" charset="-122"/>
                <a:cs typeface="Calibri" pitchFamily="34" charset="-120"/>
              </a:rPr>
              <a:t>Fewer Parameters:</a:t>
            </a:r>
            <a:endParaRPr lang="en-US" sz="1300" dirty="0"/>
          </a:p>
          <a:p>
            <a:pPr lvl="1" marL="685800" indent="-342900">
              <a:buSzPct val="100000"/>
              <a:buChar char="•"/>
            </a:pPr>
            <a:r>
              <a:rPr lang="en-US" sz="1300" dirty="0">
                <a:solidFill>
                  <a:srgbClr val="4A5568"/>
                </a:solidFill>
                <a:latin typeface="Calibri" pitchFamily="34" charset="0"/>
                <a:ea typeface="Calibri" pitchFamily="34" charset="-122"/>
                <a:cs typeface="Calibri" pitchFamily="34" charset="-120"/>
              </a:rPr>
              <a:t>1× single 5×5 filter = 25 weights</a:t>
            </a:r>
            <a:endParaRPr lang="en-US" sz="1300" dirty="0"/>
          </a:p>
          <a:p>
            <a:pPr lvl="1" marL="685800" indent="-342900">
              <a:buSzPct val="100000"/>
              <a:buChar char="•"/>
            </a:pPr>
            <a:r>
              <a:rPr lang="en-US" sz="1300" dirty="0">
                <a:solidFill>
                  <a:srgbClr val="4A5568"/>
                </a:solidFill>
                <a:latin typeface="Calibri" pitchFamily="34" charset="0"/>
                <a:ea typeface="Calibri" pitchFamily="34" charset="-122"/>
                <a:cs typeface="Calibri" pitchFamily="34" charset="-120"/>
              </a:rPr>
              <a:t>2× stacked 3×3 filters = 9 + 9 = 18 weights</a:t>
            </a:r>
            <a:endParaRPr lang="en-US" sz="1300" dirty="0"/>
          </a:p>
          <a:p>
            <a:pPr lvl="1" marL="685800" indent="-342900">
              <a:buSzPct val="100000"/>
              <a:buChar char="•"/>
            </a:pPr>
            <a:r>
              <a:rPr lang="en-US" sz="1300" dirty="0">
                <a:solidFill>
                  <a:srgbClr val="4A5568"/>
                </a:solidFill>
                <a:latin typeface="Calibri" pitchFamily="34" charset="0"/>
                <a:ea typeface="Calibri" pitchFamily="34" charset="-122"/>
                <a:cs typeface="Calibri" pitchFamily="34" charset="-120"/>
              </a:rPr>
              <a:t>Saving: 28% fewer weights per unit of receptive field</a:t>
            </a:r>
            <a:endParaRPr lang="en-US" sz="1300" dirty="0"/>
          </a:p>
          <a:p>
            <a:pPr marL="342900" indent="-342900">
              <a:buSzPct val="100000"/>
              <a:buChar char="•"/>
            </a:pPr>
            <a:endParaRPr lang="en-US" sz="1300" dirty="0"/>
          </a:p>
          <a:p>
            <a:pPr marL="342900" indent="-342900">
              <a:buSzPct val="100000"/>
              <a:buChar char="•"/>
            </a:pPr>
            <a:r>
              <a:rPr lang="en-US" sz="1300" b="1" dirty="0">
                <a:solidFill>
                  <a:srgbClr val="4A5568"/>
                </a:solidFill>
                <a:latin typeface="Calibri" pitchFamily="34" charset="0"/>
                <a:ea typeface="Calibri" pitchFamily="34" charset="-122"/>
                <a:cs typeface="Calibri" pitchFamily="34" charset="-120"/>
              </a:rPr>
              <a:t>More Non-Linearity:</a:t>
            </a:r>
            <a:endParaRPr lang="en-US" sz="1300" dirty="0"/>
          </a:p>
          <a:p>
            <a:pPr lvl="1" marL="685800" indent="-342900">
              <a:buSzPct val="100000"/>
              <a:buChar char="•"/>
            </a:pPr>
            <a:r>
              <a:rPr lang="en-US" sz="1300" dirty="0">
                <a:solidFill>
                  <a:srgbClr val="4A5568"/>
                </a:solidFill>
                <a:latin typeface="Calibri" pitchFamily="34" charset="0"/>
                <a:ea typeface="Calibri" pitchFamily="34" charset="-122"/>
                <a:cs typeface="Calibri" pitchFamily="34" charset="-120"/>
              </a:rPr>
              <a:t>Each Conv layer applies ReLU activation</a:t>
            </a:r>
            <a:endParaRPr lang="en-US" sz="1300" dirty="0"/>
          </a:p>
          <a:p>
            <a:pPr lvl="1" marL="685800" indent="-342900">
              <a:buSzPct val="100000"/>
              <a:buChar char="•"/>
            </a:pPr>
            <a:r>
              <a:rPr lang="en-US" sz="1300" dirty="0">
                <a:solidFill>
                  <a:srgbClr val="4A5568"/>
                </a:solidFill>
                <a:latin typeface="Calibri" pitchFamily="34" charset="0"/>
                <a:ea typeface="Calibri" pitchFamily="34" charset="-122"/>
                <a:cs typeface="Calibri" pitchFamily="34" charset="-120"/>
              </a:rPr>
              <a:t>2 layers → 2 ReLUs → richer decision boundary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Architectural Uniformity: Conv-Conv-Pool Blocks</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274320" y="1143000"/>
            <a:ext cx="1353312" cy="292608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1143000"/>
            <a:ext cx="1353312" cy="420624"/>
          </a:xfrm>
          <a:prstGeom prst="rect">
            <a:avLst/>
          </a:prstGeom>
          <a:solidFill>
            <a:srgbClr val="1B7E8A"/>
          </a:solidFill>
          <a:ln w="12700">
            <a:solidFill>
              <a:srgbClr val="1B7E8A"/>
            </a:solidFill>
            <a:prstDash val="solid"/>
          </a:ln>
        </p:spPr>
      </p:sp>
      <p:sp>
        <p:nvSpPr>
          <p:cNvPr id="6" name="Text 4"/>
          <p:cNvSpPr/>
          <p:nvPr/>
        </p:nvSpPr>
        <p:spPr>
          <a:xfrm>
            <a:off x="274320" y="1143000"/>
            <a:ext cx="135331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 1</a:t>
            </a:r>
            <a:endParaRPr lang="en-US" sz="1300" dirty="0"/>
          </a:p>
        </p:txBody>
      </p:sp>
      <p:sp>
        <p:nvSpPr>
          <p:cNvPr id="7" name="Shape 5"/>
          <p:cNvSpPr/>
          <p:nvPr/>
        </p:nvSpPr>
        <p:spPr>
          <a:xfrm>
            <a:off x="384048" y="1673352"/>
            <a:ext cx="1133856" cy="822960"/>
          </a:xfrm>
          <a:prstGeom prst="roundRect">
            <a:avLst>
              <a:gd name="adj" fmla="val 8889"/>
            </a:avLst>
          </a:prstGeom>
          <a:solidFill>
            <a:srgbClr val="E0F4F8"/>
          </a:solidFill>
          <a:ln w="12700">
            <a:solidFill>
              <a:srgbClr val="1B7E8A"/>
            </a:solidFill>
            <a:prstDash val="solid"/>
          </a:ln>
        </p:spPr>
      </p:sp>
      <p:sp>
        <p:nvSpPr>
          <p:cNvPr id="8" name="Text 6"/>
          <p:cNvSpPr/>
          <p:nvPr/>
        </p:nvSpPr>
        <p:spPr>
          <a:xfrm>
            <a:off x="384048" y="1673352"/>
            <a:ext cx="1133856" cy="82296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2× Conv</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64 filters</a:t>
            </a:r>
            <a:endParaRPr lang="en-US" sz="1100" dirty="0"/>
          </a:p>
        </p:txBody>
      </p:sp>
      <p:sp>
        <p:nvSpPr>
          <p:cNvPr id="9" name="Shape 7"/>
          <p:cNvSpPr/>
          <p:nvPr/>
        </p:nvSpPr>
        <p:spPr>
          <a:xfrm>
            <a:off x="384048" y="2606040"/>
            <a:ext cx="1133856" cy="548640"/>
          </a:xfrm>
          <a:prstGeom prst="rect">
            <a:avLst/>
          </a:prstGeom>
          <a:solidFill>
            <a:srgbClr val="FFF0D6"/>
          </a:solidFill>
          <a:ln w="12700">
            <a:solidFill>
              <a:srgbClr val="E88D22"/>
            </a:solidFill>
            <a:prstDash val="solid"/>
          </a:ln>
        </p:spPr>
      </p:sp>
      <p:sp>
        <p:nvSpPr>
          <p:cNvPr id="10" name="Text 8"/>
          <p:cNvSpPr/>
          <p:nvPr/>
        </p:nvSpPr>
        <p:spPr>
          <a:xfrm>
            <a:off x="384048" y="2606040"/>
            <a:ext cx="1133856" cy="548640"/>
          </a:xfrm>
          <a:prstGeom prst="rect">
            <a:avLst/>
          </a:prstGeom>
          <a:noFill/>
          <a:ln/>
        </p:spPr>
        <p:txBody>
          <a:bodyPr wrap="square" rtlCol="0" anchor="ctr"/>
          <a:lstStyle/>
          <a:p>
            <a:pPr algn="ctr" indent="0" marL="0">
              <a:buNone/>
            </a:pPr>
            <a:r>
              <a:rPr lang="en-US" sz="1100" b="1" dirty="0">
                <a:solidFill>
                  <a:srgbClr val="7A4000"/>
                </a:solidFill>
                <a:latin typeface="Calibri" pitchFamily="34" charset="0"/>
                <a:ea typeface="Calibri" pitchFamily="34" charset="-122"/>
                <a:cs typeface="Calibri" pitchFamily="34" charset="-120"/>
              </a:rPr>
              <a:t>MaxPool</a:t>
            </a:r>
            <a:endParaRPr lang="en-US" sz="1100" dirty="0"/>
          </a:p>
        </p:txBody>
      </p:sp>
      <p:sp>
        <p:nvSpPr>
          <p:cNvPr id="11" name="Text 9"/>
          <p:cNvSpPr/>
          <p:nvPr/>
        </p:nvSpPr>
        <p:spPr>
          <a:xfrm>
            <a:off x="320040" y="3291840"/>
            <a:ext cx="1261872" cy="457200"/>
          </a:xfrm>
          <a:prstGeom prst="rect">
            <a:avLst/>
          </a:prstGeom>
          <a:noFill/>
          <a:ln/>
        </p:spPr>
        <p:txBody>
          <a:bodyPr wrap="square"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224→112</a:t>
            </a:r>
            <a:endParaRPr lang="en-US" sz="1100" dirty="0"/>
          </a:p>
        </p:txBody>
      </p:sp>
      <p:sp>
        <p:nvSpPr>
          <p:cNvPr id="12" name="Shape 10"/>
          <p:cNvSpPr/>
          <p:nvPr/>
        </p:nvSpPr>
        <p:spPr>
          <a:xfrm>
            <a:off x="1700784" y="1143000"/>
            <a:ext cx="1353312" cy="292608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1700784" y="1143000"/>
            <a:ext cx="1353312" cy="420624"/>
          </a:xfrm>
          <a:prstGeom prst="rect">
            <a:avLst/>
          </a:prstGeom>
          <a:solidFill>
            <a:srgbClr val="1B7E8A"/>
          </a:solidFill>
          <a:ln w="12700">
            <a:solidFill>
              <a:srgbClr val="1B7E8A"/>
            </a:solidFill>
            <a:prstDash val="solid"/>
          </a:ln>
        </p:spPr>
      </p:sp>
      <p:sp>
        <p:nvSpPr>
          <p:cNvPr id="14" name="Text 12"/>
          <p:cNvSpPr/>
          <p:nvPr/>
        </p:nvSpPr>
        <p:spPr>
          <a:xfrm>
            <a:off x="1700784" y="1143000"/>
            <a:ext cx="135331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 2</a:t>
            </a:r>
            <a:endParaRPr lang="en-US" sz="1300" dirty="0"/>
          </a:p>
        </p:txBody>
      </p:sp>
      <p:sp>
        <p:nvSpPr>
          <p:cNvPr id="15" name="Shape 13"/>
          <p:cNvSpPr/>
          <p:nvPr/>
        </p:nvSpPr>
        <p:spPr>
          <a:xfrm>
            <a:off x="1810512" y="1673352"/>
            <a:ext cx="1133856" cy="822960"/>
          </a:xfrm>
          <a:prstGeom prst="roundRect">
            <a:avLst>
              <a:gd name="adj" fmla="val 8889"/>
            </a:avLst>
          </a:prstGeom>
          <a:solidFill>
            <a:srgbClr val="E0F4F8"/>
          </a:solidFill>
          <a:ln w="12700">
            <a:solidFill>
              <a:srgbClr val="1B7E8A"/>
            </a:solidFill>
            <a:prstDash val="solid"/>
          </a:ln>
        </p:spPr>
      </p:sp>
      <p:sp>
        <p:nvSpPr>
          <p:cNvPr id="16" name="Text 14"/>
          <p:cNvSpPr/>
          <p:nvPr/>
        </p:nvSpPr>
        <p:spPr>
          <a:xfrm>
            <a:off x="1810512" y="1673352"/>
            <a:ext cx="1133856" cy="82296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2× Conv</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128 filters</a:t>
            </a:r>
            <a:endParaRPr lang="en-US" sz="1100" dirty="0"/>
          </a:p>
        </p:txBody>
      </p:sp>
      <p:sp>
        <p:nvSpPr>
          <p:cNvPr id="17" name="Shape 15"/>
          <p:cNvSpPr/>
          <p:nvPr/>
        </p:nvSpPr>
        <p:spPr>
          <a:xfrm>
            <a:off x="1810512" y="2606040"/>
            <a:ext cx="1133856" cy="548640"/>
          </a:xfrm>
          <a:prstGeom prst="rect">
            <a:avLst/>
          </a:prstGeom>
          <a:solidFill>
            <a:srgbClr val="FFF0D6"/>
          </a:solidFill>
          <a:ln w="12700">
            <a:solidFill>
              <a:srgbClr val="E88D22"/>
            </a:solidFill>
            <a:prstDash val="solid"/>
          </a:ln>
        </p:spPr>
      </p:sp>
      <p:sp>
        <p:nvSpPr>
          <p:cNvPr id="18" name="Text 16"/>
          <p:cNvSpPr/>
          <p:nvPr/>
        </p:nvSpPr>
        <p:spPr>
          <a:xfrm>
            <a:off x="1810512" y="2606040"/>
            <a:ext cx="1133856" cy="548640"/>
          </a:xfrm>
          <a:prstGeom prst="rect">
            <a:avLst/>
          </a:prstGeom>
          <a:noFill/>
          <a:ln/>
        </p:spPr>
        <p:txBody>
          <a:bodyPr wrap="square" rtlCol="0" anchor="ctr"/>
          <a:lstStyle/>
          <a:p>
            <a:pPr algn="ctr" indent="0" marL="0">
              <a:buNone/>
            </a:pPr>
            <a:r>
              <a:rPr lang="en-US" sz="1100" b="1" dirty="0">
                <a:solidFill>
                  <a:srgbClr val="7A4000"/>
                </a:solidFill>
                <a:latin typeface="Calibri" pitchFamily="34" charset="0"/>
                <a:ea typeface="Calibri" pitchFamily="34" charset="-122"/>
                <a:cs typeface="Calibri" pitchFamily="34" charset="-120"/>
              </a:rPr>
              <a:t>MaxPool</a:t>
            </a:r>
            <a:endParaRPr lang="en-US" sz="1100" dirty="0"/>
          </a:p>
        </p:txBody>
      </p:sp>
      <p:sp>
        <p:nvSpPr>
          <p:cNvPr id="19" name="Text 17"/>
          <p:cNvSpPr/>
          <p:nvPr/>
        </p:nvSpPr>
        <p:spPr>
          <a:xfrm>
            <a:off x="1746504" y="3291840"/>
            <a:ext cx="1261872" cy="457200"/>
          </a:xfrm>
          <a:prstGeom prst="rect">
            <a:avLst/>
          </a:prstGeom>
          <a:noFill/>
          <a:ln/>
        </p:spPr>
        <p:txBody>
          <a:bodyPr wrap="square"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112→56</a:t>
            </a:r>
            <a:endParaRPr lang="en-US" sz="1100" dirty="0"/>
          </a:p>
        </p:txBody>
      </p:sp>
      <p:sp>
        <p:nvSpPr>
          <p:cNvPr id="20" name="Shape 18"/>
          <p:cNvSpPr/>
          <p:nvPr/>
        </p:nvSpPr>
        <p:spPr>
          <a:xfrm>
            <a:off x="3127248" y="1143000"/>
            <a:ext cx="1353312" cy="292608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127248" y="1143000"/>
            <a:ext cx="1353312" cy="420624"/>
          </a:xfrm>
          <a:prstGeom prst="rect">
            <a:avLst/>
          </a:prstGeom>
          <a:solidFill>
            <a:srgbClr val="1B6F7A"/>
          </a:solidFill>
          <a:ln w="12700">
            <a:solidFill>
              <a:srgbClr val="1B6F7A"/>
            </a:solidFill>
            <a:prstDash val="solid"/>
          </a:ln>
        </p:spPr>
      </p:sp>
      <p:sp>
        <p:nvSpPr>
          <p:cNvPr id="22" name="Text 20"/>
          <p:cNvSpPr/>
          <p:nvPr/>
        </p:nvSpPr>
        <p:spPr>
          <a:xfrm>
            <a:off x="3127248" y="1143000"/>
            <a:ext cx="135331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 3</a:t>
            </a:r>
            <a:endParaRPr lang="en-US" sz="1300" dirty="0"/>
          </a:p>
        </p:txBody>
      </p:sp>
      <p:sp>
        <p:nvSpPr>
          <p:cNvPr id="23" name="Shape 21"/>
          <p:cNvSpPr/>
          <p:nvPr/>
        </p:nvSpPr>
        <p:spPr>
          <a:xfrm>
            <a:off x="3236976" y="1673352"/>
            <a:ext cx="1133856" cy="822960"/>
          </a:xfrm>
          <a:prstGeom prst="roundRect">
            <a:avLst>
              <a:gd name="adj" fmla="val 8889"/>
            </a:avLst>
          </a:prstGeom>
          <a:solidFill>
            <a:srgbClr val="E0F4F8"/>
          </a:solidFill>
          <a:ln w="12700">
            <a:solidFill>
              <a:srgbClr val="1B7E8A"/>
            </a:solidFill>
            <a:prstDash val="solid"/>
          </a:ln>
        </p:spPr>
      </p:sp>
      <p:sp>
        <p:nvSpPr>
          <p:cNvPr id="24" name="Text 22"/>
          <p:cNvSpPr/>
          <p:nvPr/>
        </p:nvSpPr>
        <p:spPr>
          <a:xfrm>
            <a:off x="3236976" y="1673352"/>
            <a:ext cx="1133856" cy="82296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3× Conv</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256 filters</a:t>
            </a:r>
            <a:endParaRPr lang="en-US" sz="1100" dirty="0"/>
          </a:p>
        </p:txBody>
      </p:sp>
      <p:sp>
        <p:nvSpPr>
          <p:cNvPr id="25" name="Shape 23"/>
          <p:cNvSpPr/>
          <p:nvPr/>
        </p:nvSpPr>
        <p:spPr>
          <a:xfrm>
            <a:off x="3236976" y="2606040"/>
            <a:ext cx="1133856" cy="548640"/>
          </a:xfrm>
          <a:prstGeom prst="rect">
            <a:avLst/>
          </a:prstGeom>
          <a:solidFill>
            <a:srgbClr val="FFF0D6"/>
          </a:solidFill>
          <a:ln w="12700">
            <a:solidFill>
              <a:srgbClr val="E88D22"/>
            </a:solidFill>
            <a:prstDash val="solid"/>
          </a:ln>
        </p:spPr>
      </p:sp>
      <p:sp>
        <p:nvSpPr>
          <p:cNvPr id="26" name="Text 24"/>
          <p:cNvSpPr/>
          <p:nvPr/>
        </p:nvSpPr>
        <p:spPr>
          <a:xfrm>
            <a:off x="3236976" y="2606040"/>
            <a:ext cx="1133856" cy="548640"/>
          </a:xfrm>
          <a:prstGeom prst="rect">
            <a:avLst/>
          </a:prstGeom>
          <a:noFill/>
          <a:ln/>
        </p:spPr>
        <p:txBody>
          <a:bodyPr wrap="square" rtlCol="0" anchor="ctr"/>
          <a:lstStyle/>
          <a:p>
            <a:pPr algn="ctr" indent="0" marL="0">
              <a:buNone/>
            </a:pPr>
            <a:r>
              <a:rPr lang="en-US" sz="1100" b="1" dirty="0">
                <a:solidFill>
                  <a:srgbClr val="7A4000"/>
                </a:solidFill>
                <a:latin typeface="Calibri" pitchFamily="34" charset="0"/>
                <a:ea typeface="Calibri" pitchFamily="34" charset="-122"/>
                <a:cs typeface="Calibri" pitchFamily="34" charset="-120"/>
              </a:rPr>
              <a:t>MaxPool</a:t>
            </a:r>
            <a:endParaRPr lang="en-US" sz="1100" dirty="0"/>
          </a:p>
        </p:txBody>
      </p:sp>
      <p:sp>
        <p:nvSpPr>
          <p:cNvPr id="27" name="Text 25"/>
          <p:cNvSpPr/>
          <p:nvPr/>
        </p:nvSpPr>
        <p:spPr>
          <a:xfrm>
            <a:off x="3172968" y="3291840"/>
            <a:ext cx="1261872" cy="457200"/>
          </a:xfrm>
          <a:prstGeom prst="rect">
            <a:avLst/>
          </a:prstGeom>
          <a:noFill/>
          <a:ln/>
        </p:spPr>
        <p:txBody>
          <a:bodyPr wrap="square"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56→28</a:t>
            </a:r>
            <a:endParaRPr lang="en-US" sz="1100" dirty="0"/>
          </a:p>
        </p:txBody>
      </p:sp>
      <p:sp>
        <p:nvSpPr>
          <p:cNvPr id="28" name="Shape 26"/>
          <p:cNvSpPr/>
          <p:nvPr/>
        </p:nvSpPr>
        <p:spPr>
          <a:xfrm>
            <a:off x="4553712" y="1143000"/>
            <a:ext cx="1353312" cy="292608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4553712" y="1143000"/>
            <a:ext cx="1353312" cy="420624"/>
          </a:xfrm>
          <a:prstGeom prst="rect">
            <a:avLst/>
          </a:prstGeom>
          <a:solidFill>
            <a:srgbClr val="155E6A"/>
          </a:solidFill>
          <a:ln w="12700">
            <a:solidFill>
              <a:srgbClr val="155E6A"/>
            </a:solidFill>
            <a:prstDash val="solid"/>
          </a:ln>
        </p:spPr>
      </p:sp>
      <p:sp>
        <p:nvSpPr>
          <p:cNvPr id="30" name="Text 28"/>
          <p:cNvSpPr/>
          <p:nvPr/>
        </p:nvSpPr>
        <p:spPr>
          <a:xfrm>
            <a:off x="4553712" y="1143000"/>
            <a:ext cx="135331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 4</a:t>
            </a:r>
            <a:endParaRPr lang="en-US" sz="1300" dirty="0"/>
          </a:p>
        </p:txBody>
      </p:sp>
      <p:sp>
        <p:nvSpPr>
          <p:cNvPr id="31" name="Shape 29"/>
          <p:cNvSpPr/>
          <p:nvPr/>
        </p:nvSpPr>
        <p:spPr>
          <a:xfrm>
            <a:off x="4663440" y="1673352"/>
            <a:ext cx="1133856" cy="822960"/>
          </a:xfrm>
          <a:prstGeom prst="roundRect">
            <a:avLst>
              <a:gd name="adj" fmla="val 8889"/>
            </a:avLst>
          </a:prstGeom>
          <a:solidFill>
            <a:srgbClr val="E0F4F8"/>
          </a:solidFill>
          <a:ln w="12700">
            <a:solidFill>
              <a:srgbClr val="1B7E8A"/>
            </a:solidFill>
            <a:prstDash val="solid"/>
          </a:ln>
        </p:spPr>
      </p:sp>
      <p:sp>
        <p:nvSpPr>
          <p:cNvPr id="32" name="Text 30"/>
          <p:cNvSpPr/>
          <p:nvPr/>
        </p:nvSpPr>
        <p:spPr>
          <a:xfrm>
            <a:off x="4663440" y="1673352"/>
            <a:ext cx="1133856" cy="82296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3× Conv</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512 filters</a:t>
            </a:r>
            <a:endParaRPr lang="en-US" sz="1100" dirty="0"/>
          </a:p>
        </p:txBody>
      </p:sp>
      <p:sp>
        <p:nvSpPr>
          <p:cNvPr id="33" name="Shape 31"/>
          <p:cNvSpPr/>
          <p:nvPr/>
        </p:nvSpPr>
        <p:spPr>
          <a:xfrm>
            <a:off x="4663440" y="2606040"/>
            <a:ext cx="1133856" cy="548640"/>
          </a:xfrm>
          <a:prstGeom prst="rect">
            <a:avLst/>
          </a:prstGeom>
          <a:solidFill>
            <a:srgbClr val="FFF0D6"/>
          </a:solidFill>
          <a:ln w="12700">
            <a:solidFill>
              <a:srgbClr val="E88D22"/>
            </a:solidFill>
            <a:prstDash val="solid"/>
          </a:ln>
        </p:spPr>
      </p:sp>
      <p:sp>
        <p:nvSpPr>
          <p:cNvPr id="34" name="Text 32"/>
          <p:cNvSpPr/>
          <p:nvPr/>
        </p:nvSpPr>
        <p:spPr>
          <a:xfrm>
            <a:off x="4663440" y="2606040"/>
            <a:ext cx="1133856" cy="548640"/>
          </a:xfrm>
          <a:prstGeom prst="rect">
            <a:avLst/>
          </a:prstGeom>
          <a:noFill/>
          <a:ln/>
        </p:spPr>
        <p:txBody>
          <a:bodyPr wrap="square" rtlCol="0" anchor="ctr"/>
          <a:lstStyle/>
          <a:p>
            <a:pPr algn="ctr" indent="0" marL="0">
              <a:buNone/>
            </a:pPr>
            <a:r>
              <a:rPr lang="en-US" sz="1100" b="1" dirty="0">
                <a:solidFill>
                  <a:srgbClr val="7A4000"/>
                </a:solidFill>
                <a:latin typeface="Calibri" pitchFamily="34" charset="0"/>
                <a:ea typeface="Calibri" pitchFamily="34" charset="-122"/>
                <a:cs typeface="Calibri" pitchFamily="34" charset="-120"/>
              </a:rPr>
              <a:t>MaxPool</a:t>
            </a:r>
            <a:endParaRPr lang="en-US" sz="1100" dirty="0"/>
          </a:p>
        </p:txBody>
      </p:sp>
      <p:sp>
        <p:nvSpPr>
          <p:cNvPr id="35" name="Text 33"/>
          <p:cNvSpPr/>
          <p:nvPr/>
        </p:nvSpPr>
        <p:spPr>
          <a:xfrm>
            <a:off x="4599432" y="3291840"/>
            <a:ext cx="1261872" cy="457200"/>
          </a:xfrm>
          <a:prstGeom prst="rect">
            <a:avLst/>
          </a:prstGeom>
          <a:noFill/>
          <a:ln/>
        </p:spPr>
        <p:txBody>
          <a:bodyPr wrap="square"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28→14</a:t>
            </a:r>
            <a:endParaRPr lang="en-US" sz="1100" dirty="0"/>
          </a:p>
        </p:txBody>
      </p:sp>
      <p:sp>
        <p:nvSpPr>
          <p:cNvPr id="36" name="Shape 34"/>
          <p:cNvSpPr/>
          <p:nvPr/>
        </p:nvSpPr>
        <p:spPr>
          <a:xfrm>
            <a:off x="5980176" y="1143000"/>
            <a:ext cx="1353312" cy="2926080"/>
          </a:xfrm>
          <a:prstGeom prst="rect">
            <a:avLst/>
          </a:prstGeom>
          <a:solidFill>
            <a:srgbClr val="FFFFFF"/>
          </a:solidFill>
          <a:ln w="12700">
            <a:solidFill>
              <a:srgbClr val="CBD5E0"/>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5980176" y="1143000"/>
            <a:ext cx="1353312" cy="420624"/>
          </a:xfrm>
          <a:prstGeom prst="rect">
            <a:avLst/>
          </a:prstGeom>
          <a:solidFill>
            <a:srgbClr val="0D4A54"/>
          </a:solidFill>
          <a:ln w="12700">
            <a:solidFill>
              <a:srgbClr val="0D4A54"/>
            </a:solidFill>
            <a:prstDash val="solid"/>
          </a:ln>
        </p:spPr>
      </p:sp>
      <p:sp>
        <p:nvSpPr>
          <p:cNvPr id="38" name="Text 36"/>
          <p:cNvSpPr/>
          <p:nvPr/>
        </p:nvSpPr>
        <p:spPr>
          <a:xfrm>
            <a:off x="5980176" y="1143000"/>
            <a:ext cx="135331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 5</a:t>
            </a:r>
            <a:endParaRPr lang="en-US" sz="1300" dirty="0"/>
          </a:p>
        </p:txBody>
      </p:sp>
      <p:sp>
        <p:nvSpPr>
          <p:cNvPr id="39" name="Shape 37"/>
          <p:cNvSpPr/>
          <p:nvPr/>
        </p:nvSpPr>
        <p:spPr>
          <a:xfrm>
            <a:off x="6089904" y="1673352"/>
            <a:ext cx="1133856" cy="822960"/>
          </a:xfrm>
          <a:prstGeom prst="roundRect">
            <a:avLst>
              <a:gd name="adj" fmla="val 8889"/>
            </a:avLst>
          </a:prstGeom>
          <a:solidFill>
            <a:srgbClr val="E0F4F8"/>
          </a:solidFill>
          <a:ln w="12700">
            <a:solidFill>
              <a:srgbClr val="1B7E8A"/>
            </a:solidFill>
            <a:prstDash val="solid"/>
          </a:ln>
        </p:spPr>
      </p:sp>
      <p:sp>
        <p:nvSpPr>
          <p:cNvPr id="40" name="Text 38"/>
          <p:cNvSpPr/>
          <p:nvPr/>
        </p:nvSpPr>
        <p:spPr>
          <a:xfrm>
            <a:off x="6089904" y="1673352"/>
            <a:ext cx="1133856" cy="82296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3× Conv</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512 filters</a:t>
            </a:r>
            <a:endParaRPr lang="en-US" sz="1100" dirty="0"/>
          </a:p>
        </p:txBody>
      </p:sp>
      <p:sp>
        <p:nvSpPr>
          <p:cNvPr id="41" name="Shape 39"/>
          <p:cNvSpPr/>
          <p:nvPr/>
        </p:nvSpPr>
        <p:spPr>
          <a:xfrm>
            <a:off x="6089904" y="2606040"/>
            <a:ext cx="1133856" cy="548640"/>
          </a:xfrm>
          <a:prstGeom prst="rect">
            <a:avLst/>
          </a:prstGeom>
          <a:solidFill>
            <a:srgbClr val="FFF0D6"/>
          </a:solidFill>
          <a:ln w="12700">
            <a:solidFill>
              <a:srgbClr val="E88D22"/>
            </a:solidFill>
            <a:prstDash val="solid"/>
          </a:ln>
        </p:spPr>
      </p:sp>
      <p:sp>
        <p:nvSpPr>
          <p:cNvPr id="42" name="Text 40"/>
          <p:cNvSpPr/>
          <p:nvPr/>
        </p:nvSpPr>
        <p:spPr>
          <a:xfrm>
            <a:off x="6089904" y="2606040"/>
            <a:ext cx="1133856" cy="548640"/>
          </a:xfrm>
          <a:prstGeom prst="rect">
            <a:avLst/>
          </a:prstGeom>
          <a:noFill/>
          <a:ln/>
        </p:spPr>
        <p:txBody>
          <a:bodyPr wrap="square" rtlCol="0" anchor="ctr"/>
          <a:lstStyle/>
          <a:p>
            <a:pPr algn="ctr" indent="0" marL="0">
              <a:buNone/>
            </a:pPr>
            <a:r>
              <a:rPr lang="en-US" sz="1100" b="1" dirty="0">
                <a:solidFill>
                  <a:srgbClr val="7A4000"/>
                </a:solidFill>
                <a:latin typeface="Calibri" pitchFamily="34" charset="0"/>
                <a:ea typeface="Calibri" pitchFamily="34" charset="-122"/>
                <a:cs typeface="Calibri" pitchFamily="34" charset="-120"/>
              </a:rPr>
              <a:t>MaxPool</a:t>
            </a:r>
            <a:endParaRPr lang="en-US" sz="1100" dirty="0"/>
          </a:p>
        </p:txBody>
      </p:sp>
      <p:sp>
        <p:nvSpPr>
          <p:cNvPr id="43" name="Text 41"/>
          <p:cNvSpPr/>
          <p:nvPr/>
        </p:nvSpPr>
        <p:spPr>
          <a:xfrm>
            <a:off x="6025896" y="3291840"/>
            <a:ext cx="1261872" cy="457200"/>
          </a:xfrm>
          <a:prstGeom prst="rect">
            <a:avLst/>
          </a:prstGeom>
          <a:noFill/>
          <a:ln/>
        </p:spPr>
        <p:txBody>
          <a:bodyPr wrap="square"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14→7</a:t>
            </a:r>
            <a:endParaRPr lang="en-US" sz="1100" dirty="0"/>
          </a:p>
        </p:txBody>
      </p:sp>
      <p:sp>
        <p:nvSpPr>
          <p:cNvPr id="44" name="Shape 42"/>
          <p:cNvSpPr/>
          <p:nvPr/>
        </p:nvSpPr>
        <p:spPr>
          <a:xfrm>
            <a:off x="7452360" y="1143000"/>
            <a:ext cx="1325880" cy="2926080"/>
          </a:xfrm>
          <a:prstGeom prst="rect">
            <a:avLst/>
          </a:prstGeom>
          <a:solidFill>
            <a:srgbClr val="2C3E50"/>
          </a:solidFill>
          <a:ln w="12700">
            <a:solidFill>
              <a:srgbClr val="2C3E50"/>
            </a:solidFill>
            <a:prstDash val="solid"/>
          </a:ln>
          <a:effectLst>
            <a:outerShdw sx="100000" sy="100000" kx="0" ky="0" algn="bl" rotWithShape="0" blurRad="101600" dist="38100" dir="8100000">
              <a:srgbClr val="000000">
                <a:alpha val="18000"/>
              </a:srgbClr>
            </a:outerShdw>
          </a:effectLst>
        </p:spPr>
      </p:sp>
      <p:sp>
        <p:nvSpPr>
          <p:cNvPr id="45" name="Text 43"/>
          <p:cNvSpPr/>
          <p:nvPr/>
        </p:nvSpPr>
        <p:spPr>
          <a:xfrm>
            <a:off x="7452360" y="123444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Dense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Top</a:t>
            </a:r>
            <a:endParaRPr lang="en-US" sz="1200" dirty="0"/>
          </a:p>
        </p:txBody>
      </p:sp>
      <p:sp>
        <p:nvSpPr>
          <p:cNvPr id="46" name="Text 44"/>
          <p:cNvSpPr/>
          <p:nvPr/>
        </p:nvSpPr>
        <p:spPr>
          <a:xfrm>
            <a:off x="7452360" y="1737360"/>
            <a:ext cx="1325880" cy="2286000"/>
          </a:xfrm>
          <a:prstGeom prst="rect">
            <a:avLst/>
          </a:prstGeom>
          <a:noFill/>
          <a:ln/>
        </p:spPr>
        <p:txBody>
          <a:bodyPr wrap="square" rtlCol="0" anchor="ctr"/>
          <a:lstStyle/>
          <a:p>
            <a:pPr algn="ctr" indent="0" marL="0">
              <a:buNone/>
            </a:pPr>
            <a:r>
              <a:rPr lang="en-US" sz="1050" dirty="0">
                <a:solidFill>
                  <a:srgbClr val="CBD5E0"/>
                </a:solidFill>
                <a:latin typeface="Calibri" pitchFamily="34" charset="0"/>
                <a:ea typeface="Calibri" pitchFamily="34" charset="-122"/>
                <a:cs typeface="Calibri" pitchFamily="34" charset="-120"/>
              </a:rPr>
              <a:t>Flatten</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FC 4096</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FC 4096</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a:t>
            </a:r>
            <a:endParaRPr lang="en-US" sz="1050" dirty="0"/>
          </a:p>
          <a:p>
            <a:pPr algn="ctr" indent="0" marL="0">
              <a:buNone/>
            </a:pPr>
            <a:r>
              <a:rPr lang="en-US" sz="1050" dirty="0">
                <a:solidFill>
                  <a:srgbClr val="CBD5E0"/>
                </a:solidFill>
                <a:latin typeface="Calibri" pitchFamily="34" charset="0"/>
                <a:ea typeface="Calibri" pitchFamily="34" charset="-122"/>
                <a:cs typeface="Calibri" pitchFamily="34" charset="-120"/>
              </a:rPr>
              <a:t>Softmax(2)</a:t>
            </a:r>
            <a:endParaRPr lang="en-US" sz="1050" dirty="0"/>
          </a:p>
        </p:txBody>
      </p:sp>
      <p:sp>
        <p:nvSpPr>
          <p:cNvPr id="47" name="Shape 45"/>
          <p:cNvSpPr/>
          <p:nvPr/>
        </p:nvSpPr>
        <p:spPr>
          <a:xfrm>
            <a:off x="320040" y="4251960"/>
            <a:ext cx="8503920" cy="502920"/>
          </a:xfrm>
          <a:prstGeom prst="rect">
            <a:avLst/>
          </a:prstGeom>
          <a:solidFill>
            <a:srgbClr val="E8F8FB"/>
          </a:solidFill>
          <a:ln w="12700">
            <a:solidFill>
              <a:srgbClr val="1B7E8A"/>
            </a:solidFill>
            <a:prstDash val="solid"/>
          </a:ln>
        </p:spPr>
      </p:sp>
      <p:sp>
        <p:nvSpPr>
          <p:cNvPr id="48" name="Text 46"/>
          <p:cNvSpPr/>
          <p:nvPr/>
        </p:nvSpPr>
        <p:spPr>
          <a:xfrm>
            <a:off x="320040" y="4251960"/>
            <a:ext cx="8503920" cy="502920"/>
          </a:xfrm>
          <a:prstGeom prst="rect">
            <a:avLst/>
          </a:prstGeom>
          <a:noFill/>
          <a:ln/>
        </p:spPr>
        <p:txBody>
          <a:bodyPr wrap="square"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Rule: Every Conv uses 3×3 filters, stride 1, same padding, ReLU  |  Every MaxPool uses 2×2, stride 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Spatial Sensitivity: 2×2 Max Pooling with Stride 2</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274320" y="1097280"/>
            <a:ext cx="2011680" cy="2011680"/>
          </a:xfrm>
          <a:prstGeom prst="rect">
            <a:avLst/>
          </a:prstGeom>
          <a:solidFill>
            <a:srgbClr val="1B7E8A"/>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3154680"/>
            <a:ext cx="201168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224×224</a:t>
            </a:r>
            <a:endParaRPr lang="en-US" sz="1000" dirty="0"/>
          </a:p>
        </p:txBody>
      </p:sp>
      <p:sp>
        <p:nvSpPr>
          <p:cNvPr id="6" name="Shape 4"/>
          <p:cNvSpPr/>
          <p:nvPr/>
        </p:nvSpPr>
        <p:spPr>
          <a:xfrm>
            <a:off x="2606040" y="1325880"/>
            <a:ext cx="1554480" cy="1554480"/>
          </a:xfrm>
          <a:prstGeom prst="rect">
            <a:avLst/>
          </a:prstGeom>
          <a:solidFill>
            <a:srgbClr val="1B7E8A"/>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2606040" y="2926080"/>
            <a:ext cx="155448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112×112</a:t>
            </a:r>
            <a:endParaRPr lang="en-US" sz="1000" dirty="0"/>
          </a:p>
        </p:txBody>
      </p:sp>
      <p:sp>
        <p:nvSpPr>
          <p:cNvPr id="8" name="Shape 6"/>
          <p:cNvSpPr/>
          <p:nvPr/>
        </p:nvSpPr>
        <p:spPr>
          <a:xfrm>
            <a:off x="4434840" y="1554480"/>
            <a:ext cx="1097280" cy="1097280"/>
          </a:xfrm>
          <a:prstGeom prst="rect">
            <a:avLst/>
          </a:prstGeom>
          <a:solidFill>
            <a:srgbClr val="1B6F7A"/>
          </a:solidFill>
          <a:ln w="12700">
            <a:solidFill>
              <a:srgbClr val="1B6F7A"/>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434840" y="2697480"/>
            <a:ext cx="109728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56×56</a:t>
            </a:r>
            <a:endParaRPr lang="en-US" sz="1000" dirty="0"/>
          </a:p>
        </p:txBody>
      </p:sp>
      <p:sp>
        <p:nvSpPr>
          <p:cNvPr id="10" name="Shape 8"/>
          <p:cNvSpPr/>
          <p:nvPr/>
        </p:nvSpPr>
        <p:spPr>
          <a:xfrm>
            <a:off x="5806440" y="1714500"/>
            <a:ext cx="777240" cy="777240"/>
          </a:xfrm>
          <a:prstGeom prst="rect">
            <a:avLst/>
          </a:prstGeom>
          <a:solidFill>
            <a:srgbClr val="155E6A"/>
          </a:solidFill>
          <a:ln w="12700">
            <a:solidFill>
              <a:srgbClr val="155E6A"/>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5806440" y="2537460"/>
            <a:ext cx="77724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28×28</a:t>
            </a:r>
            <a:endParaRPr lang="en-US" sz="1000" dirty="0"/>
          </a:p>
        </p:txBody>
      </p:sp>
      <p:sp>
        <p:nvSpPr>
          <p:cNvPr id="12" name="Shape 10"/>
          <p:cNvSpPr/>
          <p:nvPr/>
        </p:nvSpPr>
        <p:spPr>
          <a:xfrm>
            <a:off x="6858000" y="1828800"/>
            <a:ext cx="548640" cy="548640"/>
          </a:xfrm>
          <a:prstGeom prst="rect">
            <a:avLst/>
          </a:prstGeom>
          <a:solidFill>
            <a:srgbClr val="0D4A54"/>
          </a:solidFill>
          <a:ln w="12700">
            <a:solidFill>
              <a:srgbClr val="0D4A54"/>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6858000" y="2423160"/>
            <a:ext cx="54864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14×14</a:t>
            </a:r>
            <a:endParaRPr lang="en-US" sz="1000" dirty="0"/>
          </a:p>
        </p:txBody>
      </p:sp>
      <p:sp>
        <p:nvSpPr>
          <p:cNvPr id="14" name="Shape 12"/>
          <p:cNvSpPr/>
          <p:nvPr/>
        </p:nvSpPr>
        <p:spPr>
          <a:xfrm>
            <a:off x="7680960" y="1911096"/>
            <a:ext cx="384048" cy="384048"/>
          </a:xfrm>
          <a:prstGeom prst="rect">
            <a:avLst/>
          </a:prstGeom>
          <a:solidFill>
            <a:srgbClr val="073540"/>
          </a:solidFill>
          <a:ln w="12700">
            <a:solidFill>
              <a:srgbClr val="073540"/>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7680960" y="2340864"/>
            <a:ext cx="384048"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7×7</a:t>
            </a:r>
            <a:endParaRPr lang="en-US" sz="1000" dirty="0"/>
          </a:p>
        </p:txBody>
      </p:sp>
      <p:sp>
        <p:nvSpPr>
          <p:cNvPr id="16" name="Text 14"/>
          <p:cNvSpPr/>
          <p:nvPr/>
        </p:nvSpPr>
        <p:spPr>
          <a:xfrm>
            <a:off x="2313432" y="1783080"/>
            <a:ext cx="256032" cy="411480"/>
          </a:xfrm>
          <a:prstGeom prst="rect">
            <a:avLst/>
          </a:prstGeom>
          <a:noFill/>
          <a:ln/>
        </p:spPr>
        <p:txBody>
          <a:bodyPr wrap="square" lIns="0" tIns="0" rIns="0" bIns="0" rtlCol="0" anchor="ctr"/>
          <a:lstStyle/>
          <a:p>
            <a:pPr algn="ctr" indent="0" marL="0">
              <a:buNone/>
            </a:pPr>
            <a:r>
              <a:rPr lang="en-US" sz="1800" b="1" dirty="0">
                <a:solidFill>
                  <a:srgbClr val="E88D22"/>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4187952" y="1783080"/>
            <a:ext cx="256032" cy="411480"/>
          </a:xfrm>
          <a:prstGeom prst="rect">
            <a:avLst/>
          </a:prstGeom>
          <a:noFill/>
          <a:ln/>
        </p:spPr>
        <p:txBody>
          <a:bodyPr wrap="square" lIns="0" tIns="0" rIns="0" bIns="0" rtlCol="0" anchor="ctr"/>
          <a:lstStyle/>
          <a:p>
            <a:pPr algn="ctr" indent="0" marL="0">
              <a:buNone/>
            </a:pPr>
            <a:r>
              <a:rPr lang="en-US" sz="1800" b="1" dirty="0">
                <a:solidFill>
                  <a:srgbClr val="E88D22"/>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5559552" y="1783080"/>
            <a:ext cx="256032" cy="411480"/>
          </a:xfrm>
          <a:prstGeom prst="rect">
            <a:avLst/>
          </a:prstGeom>
          <a:noFill/>
          <a:ln/>
        </p:spPr>
        <p:txBody>
          <a:bodyPr wrap="square" lIns="0" tIns="0" rIns="0" bIns="0" rtlCol="0" anchor="ctr"/>
          <a:lstStyle/>
          <a:p>
            <a:pPr algn="ctr" indent="0" marL="0">
              <a:buNone/>
            </a:pPr>
            <a:r>
              <a:rPr lang="en-US" sz="1800" b="1" dirty="0">
                <a:solidFill>
                  <a:srgbClr val="E88D22"/>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6611112" y="1783080"/>
            <a:ext cx="256032" cy="411480"/>
          </a:xfrm>
          <a:prstGeom prst="rect">
            <a:avLst/>
          </a:prstGeom>
          <a:noFill/>
          <a:ln/>
        </p:spPr>
        <p:txBody>
          <a:bodyPr wrap="square" lIns="0" tIns="0" rIns="0" bIns="0" rtlCol="0" anchor="ctr"/>
          <a:lstStyle/>
          <a:p>
            <a:pPr algn="ctr" indent="0" marL="0">
              <a:buNone/>
            </a:pPr>
            <a:r>
              <a:rPr lang="en-US" sz="1800" b="1" dirty="0">
                <a:solidFill>
                  <a:srgbClr val="E88D22"/>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7434072" y="1783080"/>
            <a:ext cx="256032" cy="411480"/>
          </a:xfrm>
          <a:prstGeom prst="rect">
            <a:avLst/>
          </a:prstGeom>
          <a:noFill/>
          <a:ln/>
        </p:spPr>
        <p:txBody>
          <a:bodyPr wrap="square" lIns="0" tIns="0" rIns="0" bIns="0" rtlCol="0" anchor="ctr"/>
          <a:lstStyle/>
          <a:p>
            <a:pPr algn="ctr" indent="0" marL="0">
              <a:buNone/>
            </a:pPr>
            <a:r>
              <a:rPr lang="en-US" sz="1800" b="1" dirty="0">
                <a:solidFill>
                  <a:srgbClr val="E88D22"/>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274320" y="4206240"/>
            <a:ext cx="2011680" cy="137160"/>
          </a:xfrm>
          <a:prstGeom prst="rect">
            <a:avLst/>
          </a:prstGeom>
          <a:solidFill>
            <a:srgbClr val="E88D22">
              <a:alpha val="80000"/>
            </a:srgbClr>
          </a:solidFill>
          <a:ln w="12700">
            <a:solidFill>
              <a:srgbClr val="E88D22"/>
            </a:solidFill>
            <a:prstDash val="solid"/>
          </a:ln>
        </p:spPr>
      </p:sp>
      <p:sp>
        <p:nvSpPr>
          <p:cNvPr id="22" name="Text 20"/>
          <p:cNvSpPr/>
          <p:nvPr/>
        </p:nvSpPr>
        <p:spPr>
          <a:xfrm>
            <a:off x="274320" y="3950208"/>
            <a:ext cx="2011680"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64ch</a:t>
            </a:r>
            <a:endParaRPr lang="en-US" sz="1000" dirty="0"/>
          </a:p>
        </p:txBody>
      </p:sp>
      <p:sp>
        <p:nvSpPr>
          <p:cNvPr id="23" name="Shape 21"/>
          <p:cNvSpPr/>
          <p:nvPr/>
        </p:nvSpPr>
        <p:spPr>
          <a:xfrm>
            <a:off x="2606040" y="4069080"/>
            <a:ext cx="1554480" cy="274320"/>
          </a:xfrm>
          <a:prstGeom prst="rect">
            <a:avLst/>
          </a:prstGeom>
          <a:solidFill>
            <a:srgbClr val="E88D22">
              <a:alpha val="80000"/>
            </a:srgbClr>
          </a:solidFill>
          <a:ln w="12700">
            <a:solidFill>
              <a:srgbClr val="E88D22"/>
            </a:solidFill>
            <a:prstDash val="solid"/>
          </a:ln>
        </p:spPr>
      </p:sp>
      <p:sp>
        <p:nvSpPr>
          <p:cNvPr id="24" name="Text 22"/>
          <p:cNvSpPr/>
          <p:nvPr/>
        </p:nvSpPr>
        <p:spPr>
          <a:xfrm>
            <a:off x="2606040" y="3813048"/>
            <a:ext cx="1554480"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128ch</a:t>
            </a:r>
            <a:endParaRPr lang="en-US" sz="1000" dirty="0"/>
          </a:p>
        </p:txBody>
      </p:sp>
      <p:sp>
        <p:nvSpPr>
          <p:cNvPr id="25" name="Shape 23"/>
          <p:cNvSpPr/>
          <p:nvPr/>
        </p:nvSpPr>
        <p:spPr>
          <a:xfrm>
            <a:off x="4434840" y="3794760"/>
            <a:ext cx="1097280" cy="548640"/>
          </a:xfrm>
          <a:prstGeom prst="rect">
            <a:avLst/>
          </a:prstGeom>
          <a:solidFill>
            <a:srgbClr val="E88D22">
              <a:alpha val="80000"/>
            </a:srgbClr>
          </a:solidFill>
          <a:ln w="12700">
            <a:solidFill>
              <a:srgbClr val="E88D22"/>
            </a:solidFill>
            <a:prstDash val="solid"/>
          </a:ln>
        </p:spPr>
      </p:sp>
      <p:sp>
        <p:nvSpPr>
          <p:cNvPr id="26" name="Text 24"/>
          <p:cNvSpPr/>
          <p:nvPr/>
        </p:nvSpPr>
        <p:spPr>
          <a:xfrm>
            <a:off x="4434840" y="3538728"/>
            <a:ext cx="1097280"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256ch</a:t>
            </a:r>
            <a:endParaRPr lang="en-US" sz="1000" dirty="0"/>
          </a:p>
        </p:txBody>
      </p:sp>
      <p:sp>
        <p:nvSpPr>
          <p:cNvPr id="27" name="Shape 25"/>
          <p:cNvSpPr/>
          <p:nvPr/>
        </p:nvSpPr>
        <p:spPr>
          <a:xfrm>
            <a:off x="5806440" y="3246120"/>
            <a:ext cx="777240" cy="1097280"/>
          </a:xfrm>
          <a:prstGeom prst="rect">
            <a:avLst/>
          </a:prstGeom>
          <a:solidFill>
            <a:srgbClr val="E88D22">
              <a:alpha val="80000"/>
            </a:srgbClr>
          </a:solidFill>
          <a:ln w="12700">
            <a:solidFill>
              <a:srgbClr val="E88D22"/>
            </a:solidFill>
            <a:prstDash val="solid"/>
          </a:ln>
        </p:spPr>
      </p:sp>
      <p:sp>
        <p:nvSpPr>
          <p:cNvPr id="28" name="Text 26"/>
          <p:cNvSpPr/>
          <p:nvPr/>
        </p:nvSpPr>
        <p:spPr>
          <a:xfrm>
            <a:off x="5806440" y="2990088"/>
            <a:ext cx="777240"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512ch</a:t>
            </a:r>
            <a:endParaRPr lang="en-US" sz="1000" dirty="0"/>
          </a:p>
        </p:txBody>
      </p:sp>
      <p:sp>
        <p:nvSpPr>
          <p:cNvPr id="29" name="Shape 27"/>
          <p:cNvSpPr/>
          <p:nvPr/>
        </p:nvSpPr>
        <p:spPr>
          <a:xfrm>
            <a:off x="6858000" y="3246120"/>
            <a:ext cx="548640" cy="1097280"/>
          </a:xfrm>
          <a:prstGeom prst="rect">
            <a:avLst/>
          </a:prstGeom>
          <a:solidFill>
            <a:srgbClr val="E88D22">
              <a:alpha val="80000"/>
            </a:srgbClr>
          </a:solidFill>
          <a:ln w="12700">
            <a:solidFill>
              <a:srgbClr val="E88D22"/>
            </a:solidFill>
            <a:prstDash val="solid"/>
          </a:ln>
        </p:spPr>
      </p:sp>
      <p:sp>
        <p:nvSpPr>
          <p:cNvPr id="30" name="Text 28"/>
          <p:cNvSpPr/>
          <p:nvPr/>
        </p:nvSpPr>
        <p:spPr>
          <a:xfrm>
            <a:off x="6858000" y="2990088"/>
            <a:ext cx="548640"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512ch</a:t>
            </a:r>
            <a:endParaRPr lang="en-US" sz="1000" dirty="0"/>
          </a:p>
        </p:txBody>
      </p:sp>
      <p:sp>
        <p:nvSpPr>
          <p:cNvPr id="31" name="Shape 29"/>
          <p:cNvSpPr/>
          <p:nvPr/>
        </p:nvSpPr>
        <p:spPr>
          <a:xfrm>
            <a:off x="7680960" y="3246120"/>
            <a:ext cx="384048" cy="1097280"/>
          </a:xfrm>
          <a:prstGeom prst="rect">
            <a:avLst/>
          </a:prstGeom>
          <a:solidFill>
            <a:srgbClr val="E88D22">
              <a:alpha val="80000"/>
            </a:srgbClr>
          </a:solidFill>
          <a:ln w="12700">
            <a:solidFill>
              <a:srgbClr val="E88D22"/>
            </a:solidFill>
            <a:prstDash val="solid"/>
          </a:ln>
        </p:spPr>
      </p:sp>
      <p:sp>
        <p:nvSpPr>
          <p:cNvPr id="32" name="Text 30"/>
          <p:cNvSpPr/>
          <p:nvPr/>
        </p:nvSpPr>
        <p:spPr>
          <a:xfrm>
            <a:off x="7680960" y="2990088"/>
            <a:ext cx="384048" cy="256032"/>
          </a:xfrm>
          <a:prstGeom prst="rect">
            <a:avLst/>
          </a:prstGeom>
          <a:noFill/>
          <a:ln/>
        </p:spPr>
        <p:txBody>
          <a:bodyPr wrap="square" lIns="0" tIns="0" rIns="0" bIns="0" rtlCol="0" anchor="ctr"/>
          <a:lstStyle/>
          <a:p>
            <a:pPr algn="ctr" indent="0" marL="0">
              <a:buNone/>
            </a:pPr>
            <a:r>
              <a:rPr lang="en-US" sz="1000" b="1" dirty="0">
                <a:solidFill>
                  <a:srgbClr val="E88D22"/>
                </a:solidFill>
                <a:latin typeface="Calibri" pitchFamily="34" charset="0"/>
                <a:ea typeface="Calibri" pitchFamily="34" charset="-122"/>
                <a:cs typeface="Calibri" pitchFamily="34" charset="-120"/>
              </a:rPr>
              <a:t>512ch</a:t>
            </a:r>
            <a:endParaRPr lang="en-US" sz="1000" dirty="0"/>
          </a:p>
        </p:txBody>
      </p:sp>
      <p:sp>
        <p:nvSpPr>
          <p:cNvPr id="33" name="Text 31"/>
          <p:cNvSpPr/>
          <p:nvPr/>
        </p:nvSpPr>
        <p:spPr>
          <a:xfrm>
            <a:off x="274320" y="914400"/>
            <a:ext cx="4114800" cy="274320"/>
          </a:xfrm>
          <a:prstGeom prst="rect">
            <a:avLst/>
          </a:prstGeom>
          <a:noFill/>
          <a:ln/>
        </p:spPr>
        <p:txBody>
          <a:bodyPr wrap="square" lIns="0" tIns="0" rIns="0" bIns="0" rtlCol="0" anchor="ctr"/>
          <a:lstStyle/>
          <a:p>
            <a:pPr algn="l" indent="0" marL="0">
              <a:buNone/>
            </a:pPr>
            <a:r>
              <a:rPr lang="en-US" sz="1100" i="1" dirty="0">
                <a:solidFill>
                  <a:srgbClr val="1B7E8A"/>
                </a:solidFill>
                <a:latin typeface="Calibri" pitchFamily="34" charset="0"/>
                <a:ea typeface="Calibri" pitchFamily="34" charset="-122"/>
                <a:cs typeface="Calibri" pitchFamily="34" charset="-120"/>
              </a:rPr>
              <a:t>Spatial Resolution  (shrinks ↓)</a:t>
            </a:r>
            <a:endParaRPr lang="en-US" sz="1100" dirty="0"/>
          </a:p>
        </p:txBody>
      </p:sp>
      <p:sp>
        <p:nvSpPr>
          <p:cNvPr id="34" name="Text 32"/>
          <p:cNvSpPr/>
          <p:nvPr/>
        </p:nvSpPr>
        <p:spPr>
          <a:xfrm>
            <a:off x="274320" y="2971800"/>
            <a:ext cx="4114800" cy="274320"/>
          </a:xfrm>
          <a:prstGeom prst="rect">
            <a:avLst/>
          </a:prstGeom>
          <a:noFill/>
          <a:ln/>
        </p:spPr>
        <p:txBody>
          <a:bodyPr wrap="square" lIns="0" tIns="0" rIns="0" bIns="0" rtlCol="0" anchor="ctr"/>
          <a:lstStyle/>
          <a:p>
            <a:pPr algn="l" indent="0" marL="0">
              <a:buNone/>
            </a:pPr>
            <a:r>
              <a:rPr lang="en-US" sz="1100" i="1" dirty="0">
                <a:solidFill>
                  <a:srgbClr val="E88D22"/>
                </a:solidFill>
                <a:latin typeface="Calibri" pitchFamily="34" charset="0"/>
                <a:ea typeface="Calibri" pitchFamily="34" charset="-122"/>
                <a:cs typeface="Calibri" pitchFamily="34" charset="-120"/>
              </a:rPr>
              <a:t>Feature Depth  (grows ↑)</a:t>
            </a:r>
            <a:endParaRPr lang="en-US" sz="1100" dirty="0"/>
          </a:p>
        </p:txBody>
      </p:sp>
      <p:sp>
        <p:nvSpPr>
          <p:cNvPr id="35" name="Shape 33"/>
          <p:cNvSpPr/>
          <p:nvPr/>
        </p:nvSpPr>
        <p:spPr>
          <a:xfrm>
            <a:off x="274320" y="4480560"/>
            <a:ext cx="8595360" cy="384048"/>
          </a:xfrm>
          <a:prstGeom prst="rect">
            <a:avLst/>
          </a:prstGeom>
          <a:solidFill>
            <a:srgbClr val="0D1B2A"/>
          </a:solidFill>
          <a:ln w="12700">
            <a:solidFill>
              <a:srgbClr val="0D1B2A"/>
            </a:solidFill>
            <a:prstDash val="solid"/>
          </a:ln>
        </p:spPr>
      </p:sp>
      <p:sp>
        <p:nvSpPr>
          <p:cNvPr id="36" name="Text 34"/>
          <p:cNvSpPr/>
          <p:nvPr/>
        </p:nvSpPr>
        <p:spPr>
          <a:xfrm>
            <a:off x="274320" y="4480560"/>
            <a:ext cx="8595360"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MaxPool(2×2, stride 2): halves H &amp; W per axis → ¼ feature map area  |  Channels double each block (64→128→256→512)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Weight &amp; Parameter Heavyweight: ~138 Million Parameters</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274320" y="1051560"/>
            <a:ext cx="3200400" cy="2286000"/>
          </a:xfrm>
          <a:prstGeom prst="roundRect">
            <a:avLst>
              <a:gd name="adj" fmla="val 6000"/>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1188720"/>
            <a:ext cx="3200400" cy="1005840"/>
          </a:xfrm>
          <a:prstGeom prst="rect">
            <a:avLst/>
          </a:prstGeom>
          <a:noFill/>
          <a:ln/>
        </p:spPr>
        <p:txBody>
          <a:bodyPr wrap="square" lIns="0" tIns="0" rIns="0" bIns="0" rtlCol="0" anchor="ctr"/>
          <a:lstStyle/>
          <a:p>
            <a:pPr algn="ctr" indent="0" marL="0">
              <a:buNone/>
            </a:pPr>
            <a:r>
              <a:rPr lang="en-US" sz="5200" b="1" dirty="0">
                <a:solidFill>
                  <a:srgbClr val="2EAFC0"/>
                </a:solidFill>
                <a:latin typeface="Calibri" pitchFamily="34" charset="0"/>
                <a:ea typeface="Calibri" pitchFamily="34" charset="-122"/>
                <a:cs typeface="Calibri" pitchFamily="34" charset="-120"/>
              </a:rPr>
              <a:t>138M</a:t>
            </a:r>
            <a:endParaRPr lang="en-US" sz="5200" dirty="0"/>
          </a:p>
        </p:txBody>
      </p:sp>
      <p:sp>
        <p:nvSpPr>
          <p:cNvPr id="6" name="Text 4"/>
          <p:cNvSpPr/>
          <p:nvPr/>
        </p:nvSpPr>
        <p:spPr>
          <a:xfrm>
            <a:off x="274320" y="2194560"/>
            <a:ext cx="32004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Total Parameters</a:t>
            </a:r>
            <a:endParaRPr lang="en-US" sz="1400" dirty="0"/>
          </a:p>
        </p:txBody>
      </p:sp>
      <p:sp>
        <p:nvSpPr>
          <p:cNvPr id="7" name="Text 5"/>
          <p:cNvSpPr/>
          <p:nvPr/>
        </p:nvSpPr>
        <p:spPr>
          <a:xfrm>
            <a:off x="274320" y="2651760"/>
            <a:ext cx="3200400" cy="365760"/>
          </a:xfrm>
          <a:prstGeom prst="rect">
            <a:avLst/>
          </a:prstGeom>
          <a:noFill/>
          <a:ln/>
        </p:spPr>
        <p:txBody>
          <a:bodyPr wrap="square" lIns="0" tIns="0" rIns="0" bIns="0" rtlCol="0" anchor="ctr"/>
          <a:lstStyle/>
          <a:p>
            <a:pPr algn="ctr" indent="0" marL="0">
              <a:buNone/>
            </a:pPr>
            <a:r>
              <a:rPr lang="en-US" sz="1100" i="1" dirty="0">
                <a:solidFill>
                  <a:srgbClr val="CBD5E0"/>
                </a:solidFill>
                <a:latin typeface="Calibri" pitchFamily="34" charset="0"/>
                <a:ea typeface="Calibri" pitchFamily="34" charset="-122"/>
                <a:cs typeface="Calibri" pitchFamily="34" charset="-120"/>
              </a:rPr>
              <a:t>~552 MB in float32</a:t>
            </a:r>
            <a:endParaRPr lang="en-US" sz="1100" dirty="0"/>
          </a:p>
        </p:txBody>
      </p:sp>
      <p:sp>
        <p:nvSpPr>
          <p:cNvPr id="8" name="Shape 6"/>
          <p:cNvSpPr/>
          <p:nvPr/>
        </p:nvSpPr>
        <p:spPr>
          <a:xfrm>
            <a:off x="3657600" y="3207236"/>
            <a:ext cx="1280160" cy="313204"/>
          </a:xfrm>
          <a:prstGeom prst="rect">
            <a:avLst/>
          </a:prstGeom>
          <a:solidFill>
            <a:srgbClr val="1B7E8A"/>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3657600" y="2859764"/>
            <a:ext cx="1280160" cy="347472"/>
          </a:xfrm>
          <a:prstGeom prst="rect">
            <a:avLst/>
          </a:prstGeom>
          <a:noFill/>
          <a:ln/>
        </p:spPr>
        <p:txBody>
          <a:bodyPr wrap="square" lIns="0" tIns="0" rIns="0" bIns="0" rtlCol="0" anchor="ctr"/>
          <a:lstStyle/>
          <a:p>
            <a:pPr algn="ctr" indent="0" marL="0">
              <a:buNone/>
            </a:pPr>
            <a:r>
              <a:rPr lang="en-US" sz="1300" b="1" dirty="0">
                <a:solidFill>
                  <a:srgbClr val="1B7E8A"/>
                </a:solidFill>
                <a:latin typeface="Calibri" pitchFamily="34" charset="0"/>
                <a:ea typeface="Calibri" pitchFamily="34" charset="-122"/>
                <a:cs typeface="Calibri" pitchFamily="34" charset="-120"/>
              </a:rPr>
              <a:t>14.7M</a:t>
            </a:r>
            <a:endParaRPr lang="en-US" sz="1300" dirty="0"/>
          </a:p>
        </p:txBody>
      </p:sp>
      <p:sp>
        <p:nvSpPr>
          <p:cNvPr id="10" name="Text 8"/>
          <p:cNvSpPr/>
          <p:nvPr/>
        </p:nvSpPr>
        <p:spPr>
          <a:xfrm>
            <a:off x="3657600" y="3566160"/>
            <a:ext cx="1280160" cy="502920"/>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All Conv</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Layers</a:t>
            </a:r>
            <a:endParaRPr lang="en-US" sz="1000" dirty="0"/>
          </a:p>
        </p:txBody>
      </p:sp>
      <p:sp>
        <p:nvSpPr>
          <p:cNvPr id="11" name="Shape 9"/>
          <p:cNvSpPr/>
          <p:nvPr/>
        </p:nvSpPr>
        <p:spPr>
          <a:xfrm>
            <a:off x="5166360" y="1330141"/>
            <a:ext cx="1280160" cy="2190299"/>
          </a:xfrm>
          <a:prstGeom prst="rect">
            <a:avLst/>
          </a:prstGeom>
          <a:solidFill>
            <a:srgbClr val="E05C5C"/>
          </a:solidFill>
          <a:ln w="12700">
            <a:solidFill>
              <a:srgbClr val="E05C5C"/>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5166360" y="982669"/>
            <a:ext cx="1280160" cy="347472"/>
          </a:xfrm>
          <a:prstGeom prst="rect">
            <a:avLst/>
          </a:prstGeom>
          <a:noFill/>
          <a:ln/>
        </p:spPr>
        <p:txBody>
          <a:bodyPr wrap="square" lIns="0" tIns="0" rIns="0" bIns="0" rtlCol="0" anchor="ctr"/>
          <a:lstStyle/>
          <a:p>
            <a:pPr algn="ctr" indent="0" marL="0">
              <a:buNone/>
            </a:pPr>
            <a:r>
              <a:rPr lang="en-US" sz="1300" b="1" dirty="0">
                <a:solidFill>
                  <a:srgbClr val="E05C5C"/>
                </a:solidFill>
                <a:latin typeface="Calibri" pitchFamily="34" charset="0"/>
                <a:ea typeface="Calibri" pitchFamily="34" charset="-122"/>
                <a:cs typeface="Calibri" pitchFamily="34" charset="-120"/>
              </a:rPr>
              <a:t>102.8M</a:t>
            </a:r>
            <a:endParaRPr lang="en-US" sz="1300" dirty="0"/>
          </a:p>
        </p:txBody>
      </p:sp>
      <p:sp>
        <p:nvSpPr>
          <p:cNvPr id="13" name="Text 11"/>
          <p:cNvSpPr/>
          <p:nvPr/>
        </p:nvSpPr>
        <p:spPr>
          <a:xfrm>
            <a:off x="5166360" y="3566160"/>
            <a:ext cx="1280160" cy="502920"/>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FC-1</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(4096)</a:t>
            </a:r>
            <a:endParaRPr lang="en-US" sz="1000" dirty="0"/>
          </a:p>
        </p:txBody>
      </p:sp>
      <p:sp>
        <p:nvSpPr>
          <p:cNvPr id="14" name="Shape 12"/>
          <p:cNvSpPr/>
          <p:nvPr/>
        </p:nvSpPr>
        <p:spPr>
          <a:xfrm>
            <a:off x="6675120" y="3162492"/>
            <a:ext cx="1280160" cy="357948"/>
          </a:xfrm>
          <a:prstGeom prst="rect">
            <a:avLst/>
          </a:prstGeom>
          <a:solidFill>
            <a:srgbClr val="E05C5C"/>
          </a:solidFill>
          <a:ln w="12700">
            <a:solidFill>
              <a:srgbClr val="E05C5C"/>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6675120" y="2815020"/>
            <a:ext cx="1280160" cy="347472"/>
          </a:xfrm>
          <a:prstGeom prst="rect">
            <a:avLst/>
          </a:prstGeom>
          <a:noFill/>
          <a:ln/>
        </p:spPr>
        <p:txBody>
          <a:bodyPr wrap="square" lIns="0" tIns="0" rIns="0" bIns="0" rtlCol="0" anchor="ctr"/>
          <a:lstStyle/>
          <a:p>
            <a:pPr algn="ctr" indent="0" marL="0">
              <a:buNone/>
            </a:pPr>
            <a:r>
              <a:rPr lang="en-US" sz="1300" b="1" dirty="0">
                <a:solidFill>
                  <a:srgbClr val="E05C5C"/>
                </a:solidFill>
                <a:latin typeface="Calibri" pitchFamily="34" charset="0"/>
                <a:ea typeface="Calibri" pitchFamily="34" charset="-122"/>
                <a:cs typeface="Calibri" pitchFamily="34" charset="-120"/>
              </a:rPr>
              <a:t>16.8M</a:t>
            </a:r>
            <a:endParaRPr lang="en-US" sz="1300" dirty="0"/>
          </a:p>
        </p:txBody>
      </p:sp>
      <p:sp>
        <p:nvSpPr>
          <p:cNvPr id="16" name="Text 14"/>
          <p:cNvSpPr/>
          <p:nvPr/>
        </p:nvSpPr>
        <p:spPr>
          <a:xfrm>
            <a:off x="6675120" y="3566160"/>
            <a:ext cx="1280160" cy="502920"/>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FC-2</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(4096)</a:t>
            </a:r>
            <a:endParaRPr lang="en-US" sz="1000" dirty="0"/>
          </a:p>
        </p:txBody>
      </p:sp>
      <p:sp>
        <p:nvSpPr>
          <p:cNvPr id="17" name="Shape 15"/>
          <p:cNvSpPr/>
          <p:nvPr/>
        </p:nvSpPr>
        <p:spPr>
          <a:xfrm>
            <a:off x="8183880" y="3433084"/>
            <a:ext cx="1280160" cy="87356"/>
          </a:xfrm>
          <a:prstGeom prst="rect">
            <a:avLst/>
          </a:prstGeom>
          <a:solidFill>
            <a:srgbClr val="E88D22"/>
          </a:solidFill>
          <a:ln w="12700">
            <a:solidFill>
              <a:srgbClr val="E88D22"/>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8183880" y="3085612"/>
            <a:ext cx="1280160" cy="347472"/>
          </a:xfrm>
          <a:prstGeom prst="rect">
            <a:avLst/>
          </a:prstGeom>
          <a:noFill/>
          <a:ln/>
        </p:spPr>
        <p:txBody>
          <a:bodyPr wrap="square" lIns="0" tIns="0" rIns="0" bIns="0" rtlCol="0" anchor="ctr"/>
          <a:lstStyle/>
          <a:p>
            <a:pPr algn="ctr" indent="0" marL="0">
              <a:buNone/>
            </a:pPr>
            <a:r>
              <a:rPr lang="en-US" sz="1300" b="1" dirty="0">
                <a:solidFill>
                  <a:srgbClr val="E88D22"/>
                </a:solidFill>
                <a:latin typeface="Calibri" pitchFamily="34" charset="0"/>
                <a:ea typeface="Calibri" pitchFamily="34" charset="-122"/>
                <a:cs typeface="Calibri" pitchFamily="34" charset="-120"/>
              </a:rPr>
              <a:t>4.1M</a:t>
            </a:r>
            <a:endParaRPr lang="en-US" sz="1300" dirty="0"/>
          </a:p>
        </p:txBody>
      </p:sp>
      <p:sp>
        <p:nvSpPr>
          <p:cNvPr id="19" name="Text 17"/>
          <p:cNvSpPr/>
          <p:nvPr/>
        </p:nvSpPr>
        <p:spPr>
          <a:xfrm>
            <a:off x="8183880" y="3566160"/>
            <a:ext cx="1280160" cy="502920"/>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FC-3</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(Softmax)</a:t>
            </a:r>
            <a:endParaRPr lang="en-US" sz="1000" dirty="0"/>
          </a:p>
        </p:txBody>
      </p:sp>
      <p:sp>
        <p:nvSpPr>
          <p:cNvPr id="20" name="Shape 18"/>
          <p:cNvSpPr/>
          <p:nvPr/>
        </p:nvSpPr>
        <p:spPr>
          <a:xfrm>
            <a:off x="3566160" y="3520440"/>
            <a:ext cx="5669280" cy="0"/>
          </a:xfrm>
          <a:prstGeom prst="line">
            <a:avLst/>
          </a:prstGeom>
          <a:noFill/>
          <a:ln w="12700">
            <a:solidFill>
              <a:srgbClr val="CBD5E0"/>
            </a:solidFill>
            <a:prstDash val="solid"/>
          </a:ln>
        </p:spPr>
      </p:sp>
      <p:sp>
        <p:nvSpPr>
          <p:cNvPr id="21" name="Text 19"/>
          <p:cNvSpPr/>
          <p:nvPr/>
        </p:nvSpPr>
        <p:spPr>
          <a:xfrm>
            <a:off x="3657600" y="1097280"/>
            <a:ext cx="5212080" cy="32004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Parameter breakdown by layer group</a:t>
            </a:r>
            <a:endParaRPr lang="en-US" sz="1200" dirty="0"/>
          </a:p>
        </p:txBody>
      </p:sp>
      <p:sp>
        <p:nvSpPr>
          <p:cNvPr id="22" name="Text 20"/>
          <p:cNvSpPr/>
          <p:nvPr/>
        </p:nvSpPr>
        <p:spPr>
          <a:xfrm>
            <a:off x="274320" y="3657600"/>
            <a:ext cx="3200400" cy="1417320"/>
          </a:xfrm>
          <a:prstGeom prst="rect">
            <a:avLst/>
          </a:prstGeom>
          <a:noFill/>
          <a:ln/>
        </p:spPr>
        <p:txBody>
          <a:bodyPr wrap="square" rtlCol="0" anchor="ctr"/>
          <a:lstStyle/>
          <a:p>
            <a:pPr marL="342900" indent="-342900">
              <a:buSzPct val="100000"/>
              <a:buChar char="•"/>
            </a:pPr>
            <a:r>
              <a:rPr lang="en-US" sz="1300" b="1" dirty="0">
                <a:solidFill>
                  <a:srgbClr val="4A5568"/>
                </a:solidFill>
                <a:latin typeface="Calibri" pitchFamily="34" charset="0"/>
                <a:ea typeface="Calibri" pitchFamily="34" charset="-122"/>
                <a:cs typeface="Calibri" pitchFamily="34" charset="-120"/>
              </a:rPr>
              <a:t>FC-1 alone accounts for ~74% of total parameters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7×7×512 = 25,088 neurons flattened — each connected to 4,096 FC neurons</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Modern architectures (ResNet, MobileNet) replace FC layers with Global Average Pooling (GAP) to eliminate this bottleneck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VGG-16 in Practice: Transfer Learning Strategy</a:t>
            </a:r>
            <a:endParaRPr lang="en-US" sz="2800" dirty="0"/>
          </a:p>
        </p:txBody>
      </p:sp>
      <p:sp>
        <p:nvSpPr>
          <p:cNvPr id="3" name="Shape 1"/>
          <p:cNvSpPr/>
          <p:nvPr/>
        </p:nvSpPr>
        <p:spPr>
          <a:xfrm>
            <a:off x="457200" y="932688"/>
            <a:ext cx="8229600" cy="36576"/>
          </a:xfrm>
          <a:prstGeom prst="rect">
            <a:avLst/>
          </a:prstGeom>
          <a:solidFill>
            <a:srgbClr val="1B7E8A"/>
          </a:solidFill>
          <a:ln w="12700">
            <a:solidFill>
              <a:srgbClr val="1B7E8A"/>
            </a:solidFill>
            <a:prstDash val="solid"/>
          </a:ln>
        </p:spPr>
      </p:sp>
      <p:sp>
        <p:nvSpPr>
          <p:cNvPr id="4" name="Shape 2"/>
          <p:cNvSpPr/>
          <p:nvPr/>
        </p:nvSpPr>
        <p:spPr>
          <a:xfrm>
            <a:off x="274320" y="1051560"/>
            <a:ext cx="5029200" cy="2926080"/>
          </a:xfrm>
          <a:prstGeom prst="rect">
            <a:avLst/>
          </a:prstGeom>
          <a:solidFill>
            <a:srgbClr val="FFFFFF"/>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1051560"/>
            <a:ext cx="50292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FROZEN BACKBONE  (Feature Extractor)</a:t>
            </a:r>
            <a:endParaRPr lang="en-US" sz="1200" dirty="0"/>
          </a:p>
        </p:txBody>
      </p:sp>
      <p:sp>
        <p:nvSpPr>
          <p:cNvPr id="6" name="Shape 4"/>
          <p:cNvSpPr/>
          <p:nvPr/>
        </p:nvSpPr>
        <p:spPr>
          <a:xfrm>
            <a:off x="274320" y="1051560"/>
            <a:ext cx="5029200" cy="438912"/>
          </a:xfrm>
          <a:prstGeom prst="rect">
            <a:avLst/>
          </a:prstGeom>
          <a:solidFill>
            <a:srgbClr val="1B7E8A"/>
          </a:solidFill>
          <a:ln w="12700">
            <a:solidFill>
              <a:srgbClr val="1B7E8A"/>
            </a:solidFill>
            <a:prstDash val="solid"/>
          </a:ln>
        </p:spPr>
      </p:sp>
      <p:sp>
        <p:nvSpPr>
          <p:cNvPr id="7" name="Text 5"/>
          <p:cNvSpPr/>
          <p:nvPr/>
        </p:nvSpPr>
        <p:spPr>
          <a:xfrm>
            <a:off x="274320" y="1051560"/>
            <a:ext cx="50292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FROZEN BACKBONE  (Feature Extractor)</a:t>
            </a:r>
            <a:endParaRPr lang="en-US" sz="1200" dirty="0"/>
          </a:p>
        </p:txBody>
      </p:sp>
      <p:sp>
        <p:nvSpPr>
          <p:cNvPr id="8" name="Shape 6"/>
          <p:cNvSpPr/>
          <p:nvPr/>
        </p:nvSpPr>
        <p:spPr>
          <a:xfrm>
            <a:off x="457200" y="1572768"/>
            <a:ext cx="4663440" cy="566928"/>
          </a:xfrm>
          <a:prstGeom prst="roundRect">
            <a:avLst>
              <a:gd name="adj" fmla="val 11290"/>
            </a:avLst>
          </a:prstGeom>
          <a:solidFill>
            <a:srgbClr val="E0F4F8"/>
          </a:solidFill>
          <a:ln w="12700">
            <a:solidFill>
              <a:srgbClr val="1B7E8A"/>
            </a:solidFill>
            <a:prstDash val="solid"/>
          </a:ln>
        </p:spPr>
      </p:sp>
      <p:sp>
        <p:nvSpPr>
          <p:cNvPr id="9" name="Text 7"/>
          <p:cNvSpPr/>
          <p:nvPr/>
        </p:nvSpPr>
        <p:spPr>
          <a:xfrm>
            <a:off x="457200" y="1572768"/>
            <a:ext cx="4663440" cy="566928"/>
          </a:xfrm>
          <a:prstGeom prst="rect">
            <a:avLst/>
          </a:prstGeom>
          <a:noFill/>
          <a:ln/>
        </p:spPr>
        <p:txBody>
          <a:bodyPr wrap="square" rtlCol="0" anchor="ctr"/>
          <a:lstStyle/>
          <a:p>
            <a:pPr algn="l" indent="0" marL="0">
              <a:buNone/>
            </a:pPr>
            <a:r>
              <a:rPr lang="en-US" sz="1200" dirty="0">
                <a:solidFill>
                  <a:srgbClr val="0D1B2A"/>
                </a:solidFill>
                <a:latin typeface="Calibri" pitchFamily="34" charset="0"/>
                <a:ea typeface="Calibri" pitchFamily="34" charset="-122"/>
                <a:cs typeface="Calibri" pitchFamily="34" charset="-120"/>
              </a:rPr>
              <a:t>🔒  Block 1-2: Low-level edges, colours</a:t>
            </a:r>
            <a:endParaRPr lang="en-US" sz="1200" dirty="0"/>
          </a:p>
        </p:txBody>
      </p:sp>
      <p:sp>
        <p:nvSpPr>
          <p:cNvPr id="10" name="Shape 8"/>
          <p:cNvSpPr/>
          <p:nvPr/>
        </p:nvSpPr>
        <p:spPr>
          <a:xfrm>
            <a:off x="457200" y="2258568"/>
            <a:ext cx="4663440" cy="566928"/>
          </a:xfrm>
          <a:prstGeom prst="roundRect">
            <a:avLst>
              <a:gd name="adj" fmla="val 11290"/>
            </a:avLst>
          </a:prstGeom>
          <a:solidFill>
            <a:srgbClr val="E0F4F8"/>
          </a:solidFill>
          <a:ln w="12700">
            <a:solidFill>
              <a:srgbClr val="1B7E8A"/>
            </a:solidFill>
            <a:prstDash val="solid"/>
          </a:ln>
        </p:spPr>
      </p:sp>
      <p:sp>
        <p:nvSpPr>
          <p:cNvPr id="11" name="Text 9"/>
          <p:cNvSpPr/>
          <p:nvPr/>
        </p:nvSpPr>
        <p:spPr>
          <a:xfrm>
            <a:off x="457200" y="2258568"/>
            <a:ext cx="4663440" cy="566928"/>
          </a:xfrm>
          <a:prstGeom prst="rect">
            <a:avLst/>
          </a:prstGeom>
          <a:noFill/>
          <a:ln/>
        </p:spPr>
        <p:txBody>
          <a:bodyPr wrap="square" rtlCol="0" anchor="ctr"/>
          <a:lstStyle/>
          <a:p>
            <a:pPr algn="l" indent="0" marL="0">
              <a:buNone/>
            </a:pPr>
            <a:r>
              <a:rPr lang="en-US" sz="1200" dirty="0">
                <a:solidFill>
                  <a:srgbClr val="0D1B2A"/>
                </a:solidFill>
                <a:latin typeface="Calibri" pitchFamily="34" charset="0"/>
                <a:ea typeface="Calibri" pitchFamily="34" charset="-122"/>
                <a:cs typeface="Calibri" pitchFamily="34" charset="-120"/>
              </a:rPr>
              <a:t>🔒  Block 3-4: Textures, patterns</a:t>
            </a:r>
            <a:endParaRPr lang="en-US" sz="1200" dirty="0"/>
          </a:p>
        </p:txBody>
      </p:sp>
      <p:sp>
        <p:nvSpPr>
          <p:cNvPr id="12" name="Shape 10"/>
          <p:cNvSpPr/>
          <p:nvPr/>
        </p:nvSpPr>
        <p:spPr>
          <a:xfrm>
            <a:off x="457200" y="2944368"/>
            <a:ext cx="4663440" cy="566928"/>
          </a:xfrm>
          <a:prstGeom prst="roundRect">
            <a:avLst>
              <a:gd name="adj" fmla="val 11290"/>
            </a:avLst>
          </a:prstGeom>
          <a:solidFill>
            <a:srgbClr val="E0F4F8"/>
          </a:solidFill>
          <a:ln w="12700">
            <a:solidFill>
              <a:srgbClr val="1B7E8A"/>
            </a:solidFill>
            <a:prstDash val="solid"/>
          </a:ln>
        </p:spPr>
      </p:sp>
      <p:sp>
        <p:nvSpPr>
          <p:cNvPr id="13" name="Text 11"/>
          <p:cNvSpPr/>
          <p:nvPr/>
        </p:nvSpPr>
        <p:spPr>
          <a:xfrm>
            <a:off x="457200" y="2944368"/>
            <a:ext cx="4663440" cy="566928"/>
          </a:xfrm>
          <a:prstGeom prst="rect">
            <a:avLst/>
          </a:prstGeom>
          <a:noFill/>
          <a:ln/>
        </p:spPr>
        <p:txBody>
          <a:bodyPr wrap="square" rtlCol="0" anchor="ctr"/>
          <a:lstStyle/>
          <a:p>
            <a:pPr algn="l" indent="0" marL="0">
              <a:buNone/>
            </a:pPr>
            <a:r>
              <a:rPr lang="en-US" sz="1200" dirty="0">
                <a:solidFill>
                  <a:srgbClr val="0D1B2A"/>
                </a:solidFill>
                <a:latin typeface="Calibri" pitchFamily="34" charset="0"/>
                <a:ea typeface="Calibri" pitchFamily="34" charset="-122"/>
                <a:cs typeface="Calibri" pitchFamily="34" charset="-120"/>
              </a:rPr>
              <a:t>🔒  Block 5: High-level part detectors</a:t>
            </a:r>
            <a:endParaRPr lang="en-US" sz="1200" dirty="0"/>
          </a:p>
        </p:txBody>
      </p:sp>
      <p:sp>
        <p:nvSpPr>
          <p:cNvPr id="14" name="Text 12"/>
          <p:cNvSpPr/>
          <p:nvPr/>
        </p:nvSpPr>
        <p:spPr>
          <a:xfrm>
            <a:off x="5349240" y="2148840"/>
            <a:ext cx="457200" cy="502920"/>
          </a:xfrm>
          <a:prstGeom prst="rect">
            <a:avLst/>
          </a:prstGeom>
          <a:noFill/>
          <a:ln/>
        </p:spPr>
        <p:txBody>
          <a:bodyPr wrap="square" lIns="0" tIns="0" rIns="0" bIns="0" rtlCol="0" anchor="ctr"/>
          <a:lstStyle/>
          <a:p>
            <a:pPr algn="ctr" indent="0" marL="0">
              <a:buNone/>
            </a:pPr>
            <a:r>
              <a:rPr lang="en-US" sz="3000" b="1" dirty="0">
                <a:solidFill>
                  <a:srgbClr val="E88D22"/>
                </a:solidFill>
                <a:latin typeface="Calibri" pitchFamily="34" charset="0"/>
                <a:ea typeface="Calibri" pitchFamily="34" charset="-122"/>
                <a:cs typeface="Calibri" pitchFamily="34" charset="-120"/>
              </a:rPr>
              <a:t>→</a:t>
            </a:r>
            <a:endParaRPr lang="en-US" sz="3000" dirty="0"/>
          </a:p>
        </p:txBody>
      </p:sp>
      <p:sp>
        <p:nvSpPr>
          <p:cNvPr id="15" name="Shape 13"/>
          <p:cNvSpPr/>
          <p:nvPr/>
        </p:nvSpPr>
        <p:spPr>
          <a:xfrm>
            <a:off x="5897880" y="1051560"/>
            <a:ext cx="2834640" cy="2926080"/>
          </a:xfrm>
          <a:prstGeom prst="rect">
            <a:avLst/>
          </a:prstGeom>
          <a:solidFill>
            <a:srgbClr val="FFFFFF"/>
          </a:solidFill>
          <a:ln w="12700">
            <a:solidFill>
              <a:srgbClr val="E88D22"/>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5897880" y="1051560"/>
            <a:ext cx="2834640" cy="438912"/>
          </a:xfrm>
          <a:prstGeom prst="rect">
            <a:avLst/>
          </a:prstGeom>
          <a:solidFill>
            <a:srgbClr val="E88D22"/>
          </a:solidFill>
          <a:ln w="12700">
            <a:solidFill>
              <a:srgbClr val="E88D22"/>
            </a:solidFill>
            <a:prstDash val="solid"/>
          </a:ln>
        </p:spPr>
      </p:sp>
      <p:sp>
        <p:nvSpPr>
          <p:cNvPr id="17" name="Text 15"/>
          <p:cNvSpPr/>
          <p:nvPr/>
        </p:nvSpPr>
        <p:spPr>
          <a:xfrm>
            <a:off x="5897880" y="1051560"/>
            <a:ext cx="283464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TRAINABLE HEAD  (Task-Specific)</a:t>
            </a:r>
            <a:endParaRPr lang="en-US" sz="1100" dirty="0"/>
          </a:p>
        </p:txBody>
      </p:sp>
      <p:sp>
        <p:nvSpPr>
          <p:cNvPr id="18" name="Text 16"/>
          <p:cNvSpPr/>
          <p:nvPr/>
        </p:nvSpPr>
        <p:spPr>
          <a:xfrm>
            <a:off x="5897880" y="1554480"/>
            <a:ext cx="2834640" cy="2377440"/>
          </a:xfrm>
          <a:prstGeom prst="rect">
            <a:avLst/>
          </a:prstGeom>
          <a:noFill/>
          <a:ln/>
        </p:spPr>
        <p:txBody>
          <a:bodyPr wrap="square" rtlCol="0" anchor="t"/>
          <a:lstStyle/>
          <a:p>
            <a:pPr algn="ctr" indent="0" marL="0">
              <a:buNone/>
            </a:pPr>
            <a:r>
              <a:rPr lang="en-US" sz="1200" dirty="0">
                <a:solidFill>
                  <a:srgbClr val="0D1B2A"/>
                </a:solidFill>
                <a:latin typeface="Calibri" pitchFamily="34" charset="0"/>
                <a:ea typeface="Calibri" pitchFamily="34" charset="-122"/>
                <a:cs typeface="Calibri" pitchFamily="34" charset="-120"/>
              </a:rPr>
              <a:t>Global Avg Pool</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Dense(256, ReLU)</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Dropout(0.5)</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a:t>
            </a:r>
            <a:endParaRPr lang="en-US" sz="1200" dirty="0"/>
          </a:p>
          <a:p>
            <a:pPr algn="ctr" indent="0" marL="0">
              <a:buNone/>
            </a:pPr>
            <a:r>
              <a:rPr lang="en-US" sz="1200" dirty="0">
                <a:solidFill>
                  <a:srgbClr val="0D1B2A"/>
                </a:solidFill>
                <a:latin typeface="Calibri" pitchFamily="34" charset="0"/>
                <a:ea typeface="Calibri" pitchFamily="34" charset="-122"/>
                <a:cs typeface="Calibri" pitchFamily="34" charset="-120"/>
              </a:rPr>
              <a:t>Dense(N, Softmax)</a:t>
            </a:r>
            <a:endParaRPr lang="en-US" sz="1200" dirty="0"/>
          </a:p>
        </p:txBody>
      </p:sp>
      <p:sp>
        <p:nvSpPr>
          <p:cNvPr id="19" name="Text 17"/>
          <p:cNvSpPr/>
          <p:nvPr/>
        </p:nvSpPr>
        <p:spPr>
          <a:xfrm>
            <a:off x="274320" y="4069080"/>
            <a:ext cx="8503920" cy="914400"/>
          </a:xfrm>
          <a:prstGeom prst="rect">
            <a:avLst/>
          </a:prstGeom>
          <a:noFill/>
          <a:ln/>
        </p:spPr>
        <p:txBody>
          <a:bodyPr wrap="square" rtlCol="0" anchor="ctr"/>
          <a:lstStyle/>
          <a:p>
            <a:pPr marL="342900" indent="-342900">
              <a:buSzPct val="100000"/>
              <a:buChar char="•"/>
            </a:pPr>
            <a:r>
              <a:rPr lang="en-US" sz="1300" b="1" dirty="0">
                <a:solidFill>
                  <a:srgbClr val="4A5568"/>
                </a:solidFill>
                <a:latin typeface="Calibri" pitchFamily="34" charset="0"/>
                <a:ea typeface="Calibri" pitchFamily="34" charset="-122"/>
                <a:cs typeface="Calibri" pitchFamily="34" charset="-120"/>
              </a:rPr>
              <a:t>Fine-tune: unfreeze top 1-2 Conv blocks with very small LR (1e-5)</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ImageNet weights available: tf.keras.applications.VGG16(weights='imagenet')</a:t>
            </a:r>
            <a:endParaRPr lang="en-US" sz="1300" dirty="0"/>
          </a:p>
          <a:p>
            <a:pPr marL="342900" indent="-342900">
              <a:buSzPct val="100000"/>
              <a:buChar char="•"/>
            </a:pPr>
            <a:r>
              <a:rPr lang="en-US" sz="1300" dirty="0">
                <a:solidFill>
                  <a:srgbClr val="4A5568"/>
                </a:solidFill>
                <a:latin typeface="Calibri" pitchFamily="34" charset="0"/>
                <a:ea typeface="Calibri" pitchFamily="34" charset="-122"/>
                <a:cs typeface="Calibri" pitchFamily="34" charset="-120"/>
              </a:rPr>
              <a:t>VGG-16 backbone remains competitive on many domain-specific tasks even today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3" name="Shape 1"/>
          <p:cNvSpPr/>
          <p:nvPr/>
        </p:nvSpPr>
        <p:spPr>
          <a:xfrm>
            <a:off x="457200" y="914400"/>
            <a:ext cx="8229600" cy="36576"/>
          </a:xfrm>
          <a:prstGeom prst="rect">
            <a:avLst/>
          </a:prstGeom>
          <a:solidFill>
            <a:srgbClr val="2EAFC0"/>
          </a:solidFill>
          <a:ln w="12700">
            <a:solidFill>
              <a:srgbClr val="2EAFC0"/>
            </a:solidFill>
            <a:prstDash val="solid"/>
          </a:ln>
        </p:spPr>
      </p:sp>
      <p:sp>
        <p:nvSpPr>
          <p:cNvPr id="4" name="Shape 2"/>
          <p:cNvSpPr/>
          <p:nvPr/>
        </p:nvSpPr>
        <p:spPr>
          <a:xfrm>
            <a:off x="320040" y="105156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429768" y="1170432"/>
            <a:ext cx="566928" cy="566928"/>
          </a:xfrm>
          <a:prstGeom prst="ellipse">
            <a:avLst/>
          </a:prstGeom>
          <a:solidFill>
            <a:srgbClr val="1B7E8A"/>
          </a:solidFill>
          <a:ln w="12700">
            <a:solidFill>
              <a:srgbClr val="1B7E8A"/>
            </a:solidFill>
            <a:prstDash val="solid"/>
          </a:ln>
        </p:spPr>
      </p:sp>
      <p:sp>
        <p:nvSpPr>
          <p:cNvPr id="6" name="Text 4"/>
          <p:cNvSpPr/>
          <p:nvPr/>
        </p:nvSpPr>
        <p:spPr>
          <a:xfrm>
            <a:off x="429768" y="117043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3×3</a:t>
            </a:r>
            <a:endParaRPr lang="en-US" sz="900" dirty="0"/>
          </a:p>
        </p:txBody>
      </p:sp>
      <p:sp>
        <p:nvSpPr>
          <p:cNvPr id="7" name="Text 5"/>
          <p:cNvSpPr/>
          <p:nvPr/>
        </p:nvSpPr>
        <p:spPr>
          <a:xfrm>
            <a:off x="1069848" y="114300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Small Filter Principle</a:t>
            </a:r>
            <a:endParaRPr lang="en-US" sz="1200" dirty="0"/>
          </a:p>
        </p:txBody>
      </p:sp>
      <p:sp>
        <p:nvSpPr>
          <p:cNvPr id="8" name="Text 6"/>
          <p:cNvSpPr/>
          <p:nvPr/>
        </p:nvSpPr>
        <p:spPr>
          <a:xfrm>
            <a:off x="429768" y="170992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Two stacked 3×3 convolutions equal one 5×5 receptive field with 28% fewer parameters and 2× more non-linearity.</a:t>
            </a:r>
            <a:endParaRPr lang="en-US" sz="1000" dirty="0"/>
          </a:p>
        </p:txBody>
      </p:sp>
      <p:sp>
        <p:nvSpPr>
          <p:cNvPr id="9" name="Shape 7"/>
          <p:cNvSpPr/>
          <p:nvPr/>
        </p:nvSpPr>
        <p:spPr>
          <a:xfrm>
            <a:off x="3154680" y="105156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3264408" y="1170432"/>
            <a:ext cx="566928" cy="566928"/>
          </a:xfrm>
          <a:prstGeom prst="ellipse">
            <a:avLst/>
          </a:prstGeom>
          <a:solidFill>
            <a:srgbClr val="1B7E8A"/>
          </a:solidFill>
          <a:ln w="12700">
            <a:solidFill>
              <a:srgbClr val="1B7E8A"/>
            </a:solidFill>
            <a:prstDash val="solid"/>
          </a:ln>
        </p:spPr>
      </p:sp>
      <p:sp>
        <p:nvSpPr>
          <p:cNvPr id="11" name="Text 9"/>
          <p:cNvSpPr/>
          <p:nvPr/>
        </p:nvSpPr>
        <p:spPr>
          <a:xfrm>
            <a:off x="3264408" y="117043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BLK</a:t>
            </a:r>
            <a:endParaRPr lang="en-US" sz="900" dirty="0"/>
          </a:p>
        </p:txBody>
      </p:sp>
      <p:sp>
        <p:nvSpPr>
          <p:cNvPr id="12" name="Text 10"/>
          <p:cNvSpPr/>
          <p:nvPr/>
        </p:nvSpPr>
        <p:spPr>
          <a:xfrm>
            <a:off x="3904488" y="114300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Modular Block Design</a:t>
            </a:r>
            <a:endParaRPr lang="en-US" sz="1200" dirty="0"/>
          </a:p>
        </p:txBody>
      </p:sp>
      <p:sp>
        <p:nvSpPr>
          <p:cNvPr id="13" name="Text 11"/>
          <p:cNvSpPr/>
          <p:nvPr/>
        </p:nvSpPr>
        <p:spPr>
          <a:xfrm>
            <a:off x="3264408" y="170992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Five Conv-Pool blocks with a strict doubling of channels (64→128→256→512) creates a systematic depth–breadth trade-off.</a:t>
            </a:r>
            <a:endParaRPr lang="en-US" sz="1000" dirty="0"/>
          </a:p>
        </p:txBody>
      </p:sp>
      <p:sp>
        <p:nvSpPr>
          <p:cNvPr id="14" name="Shape 12"/>
          <p:cNvSpPr/>
          <p:nvPr/>
        </p:nvSpPr>
        <p:spPr>
          <a:xfrm>
            <a:off x="5989320" y="105156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6099048" y="1170432"/>
            <a:ext cx="566928" cy="566928"/>
          </a:xfrm>
          <a:prstGeom prst="ellipse">
            <a:avLst/>
          </a:prstGeom>
          <a:solidFill>
            <a:srgbClr val="1B7E8A"/>
          </a:solidFill>
          <a:ln w="12700">
            <a:solidFill>
              <a:srgbClr val="1B7E8A"/>
            </a:solidFill>
            <a:prstDash val="solid"/>
          </a:ln>
        </p:spPr>
      </p:sp>
      <p:sp>
        <p:nvSpPr>
          <p:cNvPr id="16" name="Text 14"/>
          <p:cNvSpPr/>
          <p:nvPr/>
        </p:nvSpPr>
        <p:spPr>
          <a:xfrm>
            <a:off x="6099048" y="117043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138M</a:t>
            </a:r>
            <a:endParaRPr lang="en-US" sz="900" dirty="0"/>
          </a:p>
        </p:txBody>
      </p:sp>
      <p:sp>
        <p:nvSpPr>
          <p:cNvPr id="17" name="Text 15"/>
          <p:cNvSpPr/>
          <p:nvPr/>
        </p:nvSpPr>
        <p:spPr>
          <a:xfrm>
            <a:off x="6739128" y="114300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Parameter Concentration</a:t>
            </a:r>
            <a:endParaRPr lang="en-US" sz="1200" dirty="0"/>
          </a:p>
        </p:txBody>
      </p:sp>
      <p:sp>
        <p:nvSpPr>
          <p:cNvPr id="18" name="Text 16"/>
          <p:cNvSpPr/>
          <p:nvPr/>
        </p:nvSpPr>
        <p:spPr>
          <a:xfrm>
            <a:off x="6099048" y="170992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74% of VGG's 138M parameters reside in FC-1 alone. Modern designs eliminate this with Global Average Pooling.</a:t>
            </a:r>
            <a:endParaRPr lang="en-US" sz="1000" dirty="0"/>
          </a:p>
        </p:txBody>
      </p:sp>
      <p:sp>
        <p:nvSpPr>
          <p:cNvPr id="19" name="Shape 17"/>
          <p:cNvSpPr/>
          <p:nvPr/>
        </p:nvSpPr>
        <p:spPr>
          <a:xfrm>
            <a:off x="320040" y="251460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29768" y="2633472"/>
            <a:ext cx="566928" cy="566928"/>
          </a:xfrm>
          <a:prstGeom prst="ellipse">
            <a:avLst/>
          </a:prstGeom>
          <a:solidFill>
            <a:srgbClr val="1B7E8A"/>
          </a:solidFill>
          <a:ln w="12700">
            <a:solidFill>
              <a:srgbClr val="1B7E8A"/>
            </a:solidFill>
            <a:prstDash val="solid"/>
          </a:ln>
        </p:spPr>
      </p:sp>
      <p:sp>
        <p:nvSpPr>
          <p:cNvPr id="21" name="Text 19"/>
          <p:cNvSpPr/>
          <p:nvPr/>
        </p:nvSpPr>
        <p:spPr>
          <a:xfrm>
            <a:off x="429768" y="263347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Text 20"/>
          <p:cNvSpPr/>
          <p:nvPr/>
        </p:nvSpPr>
        <p:spPr>
          <a:xfrm>
            <a:off x="1069848" y="260604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Max Pool Halving</a:t>
            </a:r>
            <a:endParaRPr lang="en-US" sz="1200" dirty="0"/>
          </a:p>
        </p:txBody>
      </p:sp>
      <p:sp>
        <p:nvSpPr>
          <p:cNvPr id="23" name="Text 21"/>
          <p:cNvSpPr/>
          <p:nvPr/>
        </p:nvSpPr>
        <p:spPr>
          <a:xfrm>
            <a:off x="429768" y="317296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Each 2×2 MaxPool(stride 2) halves spatial resolution. After 5 blocks: 224×224 → 7×7 — a 1,024× area reduction.</a:t>
            </a:r>
            <a:endParaRPr lang="en-US" sz="1000" dirty="0"/>
          </a:p>
        </p:txBody>
      </p:sp>
      <p:sp>
        <p:nvSpPr>
          <p:cNvPr id="24" name="Shape 22"/>
          <p:cNvSpPr/>
          <p:nvPr/>
        </p:nvSpPr>
        <p:spPr>
          <a:xfrm>
            <a:off x="3154680" y="251460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264408" y="2633472"/>
            <a:ext cx="566928" cy="566928"/>
          </a:xfrm>
          <a:prstGeom prst="ellipse">
            <a:avLst/>
          </a:prstGeom>
          <a:solidFill>
            <a:srgbClr val="1B7E8A"/>
          </a:solidFill>
          <a:ln w="12700">
            <a:solidFill>
              <a:srgbClr val="1B7E8A"/>
            </a:solidFill>
            <a:prstDash val="solid"/>
          </a:ln>
        </p:spPr>
      </p:sp>
      <p:sp>
        <p:nvSpPr>
          <p:cNvPr id="26" name="Text 24"/>
          <p:cNvSpPr/>
          <p:nvPr/>
        </p:nvSpPr>
        <p:spPr>
          <a:xfrm>
            <a:off x="3264408" y="263347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7" name="Text 25"/>
          <p:cNvSpPr/>
          <p:nvPr/>
        </p:nvSpPr>
        <p:spPr>
          <a:xfrm>
            <a:off x="3904488" y="260604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Transfer Learning Legacy</a:t>
            </a:r>
            <a:endParaRPr lang="en-US" sz="1200" dirty="0"/>
          </a:p>
        </p:txBody>
      </p:sp>
      <p:sp>
        <p:nvSpPr>
          <p:cNvPr id="28" name="Text 26"/>
          <p:cNvSpPr/>
          <p:nvPr/>
        </p:nvSpPr>
        <p:spPr>
          <a:xfrm>
            <a:off x="3264408" y="317296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VGG-16 convolutional backbone remains one of the most powerful feature extractors for fine-tuning on custom datasets.</a:t>
            </a:r>
            <a:endParaRPr lang="en-US" sz="1000" dirty="0"/>
          </a:p>
        </p:txBody>
      </p:sp>
      <p:sp>
        <p:nvSpPr>
          <p:cNvPr id="29" name="Shape 27"/>
          <p:cNvSpPr/>
          <p:nvPr/>
        </p:nvSpPr>
        <p:spPr>
          <a:xfrm>
            <a:off x="5989320" y="2514600"/>
            <a:ext cx="2743200" cy="1371600"/>
          </a:xfrm>
          <a:prstGeom prst="rect">
            <a:avLst/>
          </a:prstGeom>
          <a:solidFill>
            <a:srgbClr val="162535"/>
          </a:solidFill>
          <a:ln w="12700">
            <a:solidFill>
              <a:srgbClr val="1B7E8A"/>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6099048" y="2633472"/>
            <a:ext cx="566928" cy="566928"/>
          </a:xfrm>
          <a:prstGeom prst="ellipse">
            <a:avLst/>
          </a:prstGeom>
          <a:solidFill>
            <a:srgbClr val="1B7E8A"/>
          </a:solidFill>
          <a:ln w="12700">
            <a:solidFill>
              <a:srgbClr val="1B7E8A"/>
            </a:solidFill>
            <a:prstDash val="solid"/>
          </a:ln>
        </p:spPr>
      </p:sp>
      <p:sp>
        <p:nvSpPr>
          <p:cNvPr id="31" name="Text 29"/>
          <p:cNvSpPr/>
          <p:nvPr/>
        </p:nvSpPr>
        <p:spPr>
          <a:xfrm>
            <a:off x="6099048" y="2633472"/>
            <a:ext cx="566928"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&gt;16L</a:t>
            </a:r>
            <a:endParaRPr lang="en-US" sz="900" dirty="0"/>
          </a:p>
        </p:txBody>
      </p:sp>
      <p:sp>
        <p:nvSpPr>
          <p:cNvPr id="32" name="Text 30"/>
          <p:cNvSpPr/>
          <p:nvPr/>
        </p:nvSpPr>
        <p:spPr>
          <a:xfrm>
            <a:off x="6739128" y="2606040"/>
            <a:ext cx="1874520" cy="411480"/>
          </a:xfrm>
          <a:prstGeom prst="rect">
            <a:avLst/>
          </a:prstGeom>
          <a:noFill/>
          <a:ln/>
        </p:spPr>
        <p:txBody>
          <a:bodyPr wrap="square" lIns="0" tIns="0" rIns="0" bIns="0" rtlCol="0" anchor="ctr"/>
          <a:lstStyle/>
          <a:p>
            <a:pPr algn="l" indent="0" marL="0">
              <a:buNone/>
            </a:pPr>
            <a:r>
              <a:rPr lang="en-US" sz="1200" b="1" dirty="0">
                <a:solidFill>
                  <a:srgbClr val="2EAFC0"/>
                </a:solidFill>
                <a:latin typeface="Calibri" pitchFamily="34" charset="0"/>
                <a:ea typeface="Calibri" pitchFamily="34" charset="-122"/>
                <a:cs typeface="Calibri" pitchFamily="34" charset="-120"/>
              </a:rPr>
              <a:t>Depth as the Variable</a:t>
            </a:r>
            <a:endParaRPr lang="en-US" sz="1200" dirty="0"/>
          </a:p>
        </p:txBody>
      </p:sp>
      <p:sp>
        <p:nvSpPr>
          <p:cNvPr id="33" name="Text 31"/>
          <p:cNvSpPr/>
          <p:nvPr/>
        </p:nvSpPr>
        <p:spPr>
          <a:xfrm>
            <a:off x="6099048" y="3172968"/>
            <a:ext cx="2514600" cy="658368"/>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VGG proved depth — not filter size — is the key lever for representational power in CNNs.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VGG-16 Architecture — Deep Dive</dc:title>
  <dc:subject>PptxGenJS Presentation</dc:subject>
  <dc:creator>Lead AI Instructor</dc:creator>
  <cp:lastModifiedBy>Lead AI Instructor</cp:lastModifiedBy>
  <cp:revision>1</cp:revision>
  <dcterms:created xsi:type="dcterms:W3CDTF">2026-04-28T06:56:28Z</dcterms:created>
  <dcterms:modified xsi:type="dcterms:W3CDTF">2026-04-28T06:56:28Z</dcterms:modified>
</cp:coreProperties>
</file>