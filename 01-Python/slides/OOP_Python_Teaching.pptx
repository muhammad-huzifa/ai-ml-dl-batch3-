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894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365760"/>
            <a:ext cx="411480" cy="411480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5240" y="365760"/>
            <a:ext cx="411480" cy="411480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0" y="365760"/>
            <a:ext cx="411480" cy="411480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0" y="1051560"/>
            <a:ext cx="411480" cy="411480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35240" y="1051560"/>
            <a:ext cx="411480" cy="411480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0" y="3200400"/>
            <a:ext cx="320040" cy="320040"/>
          </a:xfrm>
          <a:prstGeom prst="ellipse">
            <a:avLst/>
          </a:prstGeom>
          <a:solidFill>
            <a:srgbClr val="FFD600">
              <a:alpha val="25000"/>
            </a:srgbClr>
          </a:solidFill>
          <a:ln w="12700">
            <a:solidFill>
              <a:srgbClr val="FFD6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0" y="3200400"/>
            <a:ext cx="320040" cy="320040"/>
          </a:xfrm>
          <a:prstGeom prst="ellipse">
            <a:avLst/>
          </a:prstGeom>
          <a:solidFill>
            <a:srgbClr val="FFD600">
              <a:alpha val="25000"/>
            </a:srgbClr>
          </a:solidFill>
          <a:ln w="12700">
            <a:solidFill>
              <a:srgbClr val="FFD6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0" y="3931920"/>
            <a:ext cx="320040" cy="320040"/>
          </a:xfrm>
          <a:prstGeom prst="ellipse">
            <a:avLst/>
          </a:prstGeom>
          <a:solidFill>
            <a:srgbClr val="FFD600">
              <a:alpha val="25000"/>
            </a:srgbClr>
          </a:solidFill>
          <a:ln w="12700">
            <a:solidFill>
              <a:srgbClr val="FFD6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63840" y="3931920"/>
            <a:ext cx="320040" cy="320040"/>
          </a:xfrm>
          <a:prstGeom prst="ellipse">
            <a:avLst/>
          </a:prstGeom>
          <a:solidFill>
            <a:srgbClr val="FFD600">
              <a:alpha val="25000"/>
            </a:srgbClr>
          </a:solidFill>
          <a:ln w="12700">
            <a:solidFill>
              <a:srgbClr val="FFD60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640080"/>
            <a:ext cx="137160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0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OOP IN PYTHON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143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548640" y="19202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Python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200400" cy="274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</a:rPr>
              <a:t>Classes • Inheritance • Access Specifiers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</a:rPr>
              <a:t>Inner Classes • Relationships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25603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</a:rPr>
              <a:t>R.A : Muhammad Huzifa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Hour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554480"/>
            <a:ext cx="2523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Classes &amp; Objects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Instance Variables &amp; Methods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Class Variables &amp; Functions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Constructors &amp; Destructors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Hour 2–3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1554480"/>
            <a:ext cx="2523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Inheritance (Single, Multilevel)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Hierarchical Inheritance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Multiple Inheritance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Method Resolution Order (MRO)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743200" cy="5029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Hour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1554480"/>
            <a:ext cx="2523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Access Specifiers (Private, Public, Protected)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Name Mangling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Inner / Nested Classes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▸  Association, Aggregation, Composition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00BCD4"/>
                </a:solidFill>
              </a:rPr>
              <a:t>HOUR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Instance Variables  •  Class Variables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Constructors  •  Destructors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Object-Oriented Programming?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Programming is about solving real-world problems. OOP is a way of organizing code so it reflects how the real world actually works — using objects that have properties and behaviors.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5394960" cy="242316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539496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🌍  Real-World Analogy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A Car is an object.  It has properties: color, brand, speed.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It has behaviors: start(), stop(), accelerate().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Every physical car you see is made from the same blueprint (class).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OOP lets you create such blueprints in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261872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1261872"/>
            <a:ext cx="283464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Why OOP?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719072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✔  Organizes complex code cleanly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✔  Code can be reused easily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✔  Real world maps to code naturally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✔  Easier to fix bugs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✔  Teams can work in parallel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✔  Used in every major software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BASIC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 Object — The Blueprint and the Product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261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  (Blueprint)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A class is a template or blueprint.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It defines WHAT an object will look like and WHAT it can do.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565C0"/>
                </a:solidFill>
              </a:rPr>
              <a:t>Example: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A House Blueprint — it has: number of rooms, color, floors, methods: open_door(), ring_bell()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07408" y="2651760"/>
            <a:ext cx="5029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2487168"/>
            <a:ext cx="54864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1261872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0600" y="1261872"/>
            <a:ext cx="402336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261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  (The Real Thing)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An object is a real instance created from a class.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You can create many objects from the same class, each with its own values.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97A7"/>
                </a:solidFill>
              </a:rPr>
              <a:t>Example: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house1 = rooms:3, color:white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house2 = rooms:5, color:blue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BASIC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Variables &amp; Instance Methods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Every object has its own private copy of instance variables. Instance methods work on those variables.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41148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Instance Variables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Definition: </a:t>
            </a:r>
            <a:r>
              <a:rPr lang="en-US" sz="1200" dirty="0">
                <a:solidFill>
                  <a:srgbClr val="546E7A"/>
                </a:solidFill>
              </a:rPr>
              <a:t>Variables that belong to each object separately.
</a:t>
            </a:r>
            <a:r>
              <a:rPr lang="en-US" sz="1200" b="1" dirty="0">
                <a:solidFill>
                  <a:srgbClr val="1565C0"/>
                </a:solidFill>
              </a:rPr>
              <a:t>Daily Example:
</a:t>
            </a:r>
            <a:r>
              <a:rPr lang="en-US" sz="1200" dirty="0">
                <a:solidFill>
                  <a:srgbClr val="546E7A"/>
                </a:solidFill>
              </a:rPr>
              <a:t>Think of two students:
• Ali has name='Ali', marks=90
• Sara has name='Sara', marks=85
Each student (object) has their own name &amp; marks.
</a:t>
            </a:r>
            <a:r>
              <a:rPr lang="en-US" sz="1200" b="1" dirty="0">
                <a:solidFill>
                  <a:srgbClr val="0097A7"/>
                </a:solidFill>
              </a:rPr>
              <a:t>Defined using  self.variable_name  inside __init__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73736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737360"/>
            <a:ext cx="411480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801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Instance Methods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176272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Definition: </a:t>
            </a:r>
            <a:r>
              <a:rPr lang="en-US" sz="1200" dirty="0">
                <a:solidFill>
                  <a:srgbClr val="546E7A"/>
                </a:solidFill>
              </a:rPr>
              <a:t>Functions inside a class that act on the object's data.
</a:t>
            </a:r>
            <a:r>
              <a:rPr lang="en-US" sz="1200" b="1" dirty="0">
                <a:solidFill>
                  <a:srgbClr val="0097A7"/>
                </a:solidFill>
              </a:rPr>
              <a:t>Daily Example:
</a:t>
            </a:r>
            <a:r>
              <a:rPr lang="en-US" sz="1200" dirty="0">
                <a:solidFill>
                  <a:srgbClr val="546E7A"/>
                </a:solidFill>
              </a:rPr>
              <a:t>A Phone object has methods:
• ring() → makes a sound
• charge() → increases battery
• call(number) → dials a number
</a:t>
            </a:r>
            <a:r>
              <a:rPr lang="en-US" sz="1200" b="1" dirty="0">
                <a:solidFill>
                  <a:srgbClr val="1565C0"/>
                </a:solidFill>
              </a:rPr>
              <a:t>Always take  self  as first parameter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INTERMEDIATE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Variables &amp; Class Methods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5029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50292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565C0"/>
                </a:solidFill>
              </a:rPr>
              <a:t>Class Variables
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Shared by ALL objects of that class.
When you change it, it changes for everyone.
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65C0"/>
                </a:solidFill>
              </a:rPr>
              <a:t>Daily Example:
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A School class has a variable school_name = 'City School'. Every student object shares this name — it belongs to the school, not any individual student.
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97A7"/>
                </a:solidFill>
              </a:rPr>
              <a:t>Class Methods
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Use @classmethod decorator and take cls instead of self. They work on class-level data, not object-level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1261872"/>
            <a:ext cx="3246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77840" y="1261872"/>
            <a:ext cx="3246120" cy="457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1344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D1457"/>
                </a:solidFill>
              </a:rPr>
              <a:t>Quick Comparison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1069848" cy="475488"/>
          </a:xfrm>
          <a:prstGeom prst="rect">
            <a:avLst/>
          </a:prstGeom>
          <a:solidFill>
            <a:srgbClr val="E3F2FD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719072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93408" y="1719072"/>
            <a:ext cx="1069848" cy="475488"/>
          </a:xfrm>
          <a:prstGeom prst="rect">
            <a:avLst/>
          </a:prstGeom>
          <a:solidFill>
            <a:srgbClr val="E3F2FD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39128" y="1719072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Instance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1719072"/>
            <a:ext cx="1069848" cy="475488"/>
          </a:xfrm>
          <a:prstGeom prst="rect">
            <a:avLst/>
          </a:prstGeom>
          <a:solidFill>
            <a:srgbClr val="E3F2FD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08976" y="1719072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Class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2194560"/>
            <a:ext cx="1069848" cy="475488"/>
          </a:xfrm>
          <a:prstGeom prst="rect">
            <a:avLst/>
          </a:prstGeom>
          <a:solidFill>
            <a:srgbClr val="E3F2FD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2194560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Belongs 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194560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39128" y="2194560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Each object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63256" y="2194560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08976" y="2194560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All objects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2670048"/>
            <a:ext cx="1069848" cy="475488"/>
          </a:xfrm>
          <a:prstGeom prst="rect">
            <a:avLst/>
          </a:prstGeom>
          <a:solidFill>
            <a:srgbClr val="E3F2FD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0" y="2670048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Changed by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93408" y="2670048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39128" y="2670048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self.var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63256" y="2670048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08976" y="2670048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cls.var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23560" y="3145536"/>
            <a:ext cx="1069848" cy="475488"/>
          </a:xfrm>
          <a:prstGeom prst="rect">
            <a:avLst/>
          </a:prstGeom>
          <a:solidFill>
            <a:srgbClr val="E3F2FD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3145536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Decorator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93408" y="3145536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39128" y="3145536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none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63256" y="3145536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08976" y="3145536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@classmethod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3621024"/>
            <a:ext cx="1069848" cy="475488"/>
          </a:xfrm>
          <a:prstGeom prst="rect">
            <a:avLst/>
          </a:prstGeom>
          <a:solidFill>
            <a:srgbClr val="E3F2FD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0" y="3621024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Use when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93408" y="3621024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39128" y="3621024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Unique 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63256" y="3621024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808976" y="3621024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Shared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INTERMEDIATE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&amp; Destructors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416052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2618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__init__ — Constructor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What it does: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Automatically runs when you create an object. Sets up initial values.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3A047"/>
                </a:solidFill>
              </a:rPr>
              <a:t>Daily Example: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When a new student joins school, the admin fills in their form — name, roll number, class. That form-filling is the constructor.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3A047"/>
                </a:solidFill>
              </a:rPr>
              <a:t>Types of Constructors: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Default Constructor — no parameters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Parameterized — accepts values when creating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Copy — creates copy of another object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416052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2618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__del__ — Destructor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What it does: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Automatically runs when the object is about to be deleted or goes out of scope. Does cleanup.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53935"/>
                </a:solidFill>
              </a:rPr>
              <a:t>Daily Example: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When a student leaves school, the admin removes their files, returns books, clears their locker. That cleanup is the destructor.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53935"/>
                </a:solidFill>
              </a:rPr>
              <a:t>Common Mistakes: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Don't rely on destructor for critical cleanup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Python's garbage collector decides timing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Use with statement for file/resource handling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LOGICAL 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Classes &amp; Objects Work — Step by Step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261872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7048" y="1499616"/>
            <a:ext cx="5029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1508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993392"/>
            <a:ext cx="150876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075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Define the 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32304"/>
            <a:ext cx="1417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Write a blueprint with variables and methods. Nothing is created yet — just the design.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87752" y="1261872"/>
            <a:ext cx="594360" cy="5943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8775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1499616"/>
            <a:ext cx="50292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30552" y="1993392"/>
            <a:ext cx="1508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30552" y="1993392"/>
            <a:ext cx="150876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76272" y="2075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Constructor Runs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76272" y="2432304"/>
            <a:ext cx="1417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__init__ is called automatically. It sets up the object's initial state with given or default values.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06824" y="1261872"/>
            <a:ext cx="594360" cy="59436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06824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65192" y="1499616"/>
            <a:ext cx="50292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49624" y="1993392"/>
            <a:ext cx="1508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9624" y="1993392"/>
            <a:ext cx="150876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95344" y="2075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</a:rPr>
              <a:t>Object is Created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95344" y="2432304"/>
            <a:ext cx="1417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Memory is allocated. The object now exists with its own copy of instance variables.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25896" y="1261872"/>
            <a:ext cx="594360" cy="59436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25896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84264" y="1499616"/>
            <a:ext cx="502920" cy="640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68696" y="1993392"/>
            <a:ext cx="1508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568696" y="1993392"/>
            <a:ext cx="1508760" cy="457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14416" y="2075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D1457"/>
                </a:solidFill>
              </a:rPr>
              <a:t>Use the Object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14416" y="2432304"/>
            <a:ext cx="1417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Call methods, read or update variables, pass the object to functions.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44968" y="1261872"/>
            <a:ext cx="594360" cy="5943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44968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87768" y="1993392"/>
            <a:ext cx="1508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87768" y="1993392"/>
            <a:ext cx="1508760" cy="45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33488" y="2075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Destructor Runs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33488" y="2432304"/>
            <a:ext cx="1417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__del__ is called automatically before the object is removed from memory.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PRACTICAL THINKING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Think When Solving OOP Problems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10972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1307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Step 1 — Identify the 'Thing'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581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What real-world entity are you modeling? (Car, Student, BankAccount, Phone?)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7510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975104"/>
            <a:ext cx="109728" cy="6400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020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Step 2 — List its Properties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295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What data does it hold? These become your instance variables. (name, age, balance)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688336"/>
            <a:ext cx="109728" cy="6400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2734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</a:rPr>
              <a:t>Step 3 — List its 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008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What can it do? These become your methods. (deposit(), withdraw(), display())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0156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401568"/>
            <a:ext cx="109728" cy="64008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D1457"/>
                </a:solidFill>
              </a:rPr>
              <a:t>Step 4 — Decide what's Shared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" y="3721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Is any data the same for all objects? That's a class variable. (e.g., bank name)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109728" cy="6400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</a:rPr>
              <a:t>Step 5 — Plan Initialization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What must be set up when object is created? Put it in __init__.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00BCD4"/>
                </a:solidFill>
              </a:rPr>
              <a:t>HOUR 2 –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Multilevel  •  Hierarchical  •  Multiple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</a:rPr>
              <a:t>Method Resolution Order (MRO)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Inheritance?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Inheritance allows a class to acquire the properties and methods of another class. The child class gets everything the parent has, and can add or change things too.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4023360" cy="27432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402336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Real-Life Example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38404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A Child inherits from Parents: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• Gets eye color from parents
• Gets surname from parents
• Learns language from parents
But the child also has unique traits:
• Their own personality
• Their own hobbies
• Can do things parents cannot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97A7"/>
                </a:solidFill>
              </a:rPr>
              <a:t>In OOP:  Child class inherits from Parent class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938528"/>
            <a:ext cx="4251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938528"/>
            <a:ext cx="425196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Key Terms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423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Parent / Base / Super Class: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670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The class being inherited from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971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Child / Derived / Sub Class: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218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The class that inherits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520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super():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767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Calls parent class constructor or method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069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Method Overriding: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315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Child redefines a parent's method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BASIC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Inheritance in Python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1965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19659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126187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One parent, one child.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Animal → Dog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99232"/>
            <a:ext cx="1143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Animal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07008" y="3364992"/>
            <a:ext cx="54864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685032"/>
            <a:ext cx="114300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6850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Dog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1261872"/>
            <a:ext cx="1965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23160" y="1261872"/>
            <a:ext cx="196596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96312" y="126187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Multilevel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14600" y="1874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Chain of inheritance.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Animal → Dog → Puppy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2907792"/>
            <a:ext cx="132588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0" y="29077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Animal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3255264"/>
            <a:ext cx="45720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0" y="3364992"/>
            <a:ext cx="13258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0" y="33649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3712464"/>
            <a:ext cx="45720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0" y="3822192"/>
            <a:ext cx="132588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0" y="38221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7A7"/>
                </a:solidFill>
              </a:rPr>
              <a:t>Puppy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1261872"/>
            <a:ext cx="1965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26280" y="1261872"/>
            <a:ext cx="196596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99432" y="126187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Hierarchical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17720" y="1874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One parent, many children.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Animal → Dog, Cat, Bird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2944368"/>
            <a:ext cx="1325880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9443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Animal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657600"/>
            <a:ext cx="82296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A047"/>
                </a:solidFill>
              </a:rPr>
              <a:t>Dog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01768" y="3291840"/>
            <a:ext cx="45720" cy="3657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0" y="3657600"/>
            <a:ext cx="82296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A047"/>
                </a:solidFill>
              </a:rPr>
              <a:t>Cat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70448" y="3291840"/>
            <a:ext cx="45720" cy="3657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629400" y="1261872"/>
            <a:ext cx="21945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29400" y="1261872"/>
            <a:ext cx="2194560" cy="5029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02552" y="126187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Multiple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20840" y="1874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Many parents, one child.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Father+Mother → Child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12280" y="2944368"/>
            <a:ext cx="914400" cy="3474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12280" y="29443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Father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51192" y="3291840"/>
            <a:ext cx="45720" cy="36576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818120" y="2944368"/>
            <a:ext cx="914400" cy="3474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818120" y="29443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Mother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57032" y="3291840"/>
            <a:ext cx="45720" cy="36576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251192" y="3630168"/>
            <a:ext cx="1005840" cy="457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95160" y="3675888"/>
            <a:ext cx="146304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95160" y="3675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1457"/>
                </a:solidFill>
              </a:rPr>
              <a:t>Child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INTERMEDIATE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Resolution Order (MRO)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When multiple inheritance is used, Python needs to decide which parent's method to call first. MRO is the order in which Python searches for a method.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502920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502920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How Python Finds a Method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Python follows the C3 Linearization Algorithm.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The rule is simple — search Left to Right, Depth First: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1. Start with the child class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2. Go to the first parent listed (left to right)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3. Go up that parent's tree completely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4. Then move to next parent
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97A7"/>
                </a:solidFill>
              </a:rPr>
              <a:t>Use  ClassName.__mro__  or  ClassName.mro()  to see the order.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847088"/>
            <a:ext cx="3246120" cy="2852928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77840" y="1847088"/>
            <a:ext cx="324612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Example Order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304288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565C0"/>
                </a:solidFill>
              </a:rPr>
              <a:t>class A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97A7"/>
                </a:solidFill>
              </a:rPr>
              <a:t>class B(A)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3A047"/>
                </a:solidFill>
              </a:rPr>
              <a:t>class C(A)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AD1457"/>
                </a:solidFill>
              </a:rPr>
              <a:t>class D(B, C)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MRO for D: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53935"/>
                </a:solidFill>
              </a:rPr>
              <a:t>D → B → C → A → object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COMMON MISTAKES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in Inheritance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109728" cy="78638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344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✗  Forgetting super().__init__()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Fix: The parent's constructor won't run, so parent variables won't be set. Always call super().__init__() in child's __init__.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8503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109728" cy="78638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✗  Overriding without intention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694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Fix: If you name a method the same as in the parent, it will override it. Be careful with method names.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8503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109728" cy="78638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081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✗  Confusing class and instance variables in child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43814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Fix: A child class shares the parent's class variables but has its own instance variables. Don't mix them.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8503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904488"/>
            <a:ext cx="109728" cy="78638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950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✗  Diamond problem in multiple inheritance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30682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Fix: When two parents share the same grandparent, MRO resolves this — trust Python's MRO order.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00BCD4"/>
                </a:solidFill>
              </a:rPr>
              <a:t>HOUR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Relationships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0A4AE"/>
                </a:solidFill>
              </a:rPr>
              <a:t>Access Specifiers  •  Name Mangling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90A4AE"/>
                </a:solidFill>
              </a:rPr>
              <a:t>Inner Classes  •  Association, Aggregation, Composition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BASIC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Specifiers: Public, Protected, Private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Access specifiers control who can see and use a variable or method. Think of it as privacy levels for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274320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" y="2331720"/>
            <a:ext cx="25237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Syntax: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3A047"/>
                </a:solidFill>
              </a:rPr>
              <a:t>self.name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Accessible by: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Everyone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3A047"/>
                </a:solidFill>
              </a:rPr>
              <a:t>Daily Example: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Student name — anyone can ask what your name is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Note: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Default in Python. No prefix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5564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755648"/>
            <a:ext cx="2743200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7556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PROTECTED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2331720"/>
            <a:ext cx="25237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Syntax: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46E7A"/>
                </a:solidFill>
              </a:rPr>
              <a:t>self._name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Accessible by: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Class &amp; Children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46E7A"/>
                </a:solidFill>
              </a:rPr>
              <a:t>Daily Example: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Family secret — parents share with children but not strangers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Note: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Single underscore prefix. Convention only.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75564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1755648"/>
            <a:ext cx="274320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17556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PRIVATE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0488" y="2331720"/>
            <a:ext cx="25237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Syntax: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 err="1">
                <a:solidFill>
                  <a:srgbClr val="E53935"/>
                </a:solidFill>
              </a:rPr>
              <a:t>self.__name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Accessible by: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Only This Class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53935"/>
                </a:solidFill>
              </a:rPr>
              <a:t>Daily Example: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PIN code — you keep it completely to yourself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238"/>
                </a:solidFill>
              </a:rPr>
              <a:t>Note: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Double underscore prefix. Name mangling applied.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INTERMEDIATE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Mangling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5029200" cy="457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AD1457"/>
                </a:solidFill>
              </a:rPr>
              <a:t>What is Name Mangling?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When you write  __variable , Python secretly renames it to  _ClassName__variable  behind the scenes.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2238"/>
                </a:solidFill>
              </a:rPr>
              <a:t>Why does Python do this?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To prevent a child class from accidentally overriding a parent's private attribute with the same name.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AD1457"/>
                </a:solidFill>
              </a:rPr>
              <a:t>Daily Example: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Imagine two family members both keep a file named 'password.txt'. To avoid confusion, the house renames them automatically: Dad_password.txt and Son_password.txt. That's name mangling.
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97A7"/>
                </a:solidFill>
              </a:rPr>
              <a:t>Access rule: obj._ClassName__varname (not normal access)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1261872"/>
            <a:ext cx="324612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77840" y="1261872"/>
            <a:ext cx="324612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1344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Quick Reference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737360"/>
            <a:ext cx="3017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2238"/>
                </a:solidFill>
              </a:rPr>
              <a:t>You write:  </a:t>
            </a:r>
            <a:r>
              <a:rPr lang="en-US" sz="1200" b="1" dirty="0" err="1">
                <a:solidFill>
                  <a:srgbClr val="1A2238"/>
                </a:solidFill>
              </a:rPr>
              <a:t>self.__pin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Python stores it as:
_</a:t>
            </a:r>
            <a:r>
              <a:rPr lang="en-US" sz="1200" dirty="0" err="1">
                <a:solidFill>
                  <a:srgbClr val="546E7A"/>
                </a:solidFill>
              </a:rPr>
              <a:t>BankAccount</a:t>
            </a:r>
            <a:r>
              <a:rPr lang="en-US" sz="1200" dirty="0">
                <a:solidFill>
                  <a:srgbClr val="546E7A"/>
                </a:solidFill>
              </a:rPr>
              <a:t>__pin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Outside class access:
obj._BankAccount__pin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Key point: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46E7A"/>
                </a:solidFill>
              </a:rPr>
              <a:t>Python does NOT make it truly private. It just makes the name harder to access accidentally.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INTERMEDIATE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/ Nested Classes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A class defined inside another class. The inner class is only logically connected to the outer 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4846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484632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65C0"/>
                </a:solidFill>
              </a:rPr>
              <a:t>Real-Life Example: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A Car has an Engine inside it. The Engine is part of the Car but has its own details. No one uses an Engine without a Car.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65C0"/>
                </a:solidFill>
              </a:rPr>
              <a:t>Another Example:
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46E7A"/>
                </a:solidFill>
              </a:rPr>
              <a:t>A University has a Department inside it. A School has a Classroom inside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484632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840480"/>
            <a:ext cx="4846320" cy="457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9136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When to use nested class:  When inner class has no meaning outside the outer class  •  To logically group related classes  •  To improve code organization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1755648"/>
            <a:ext cx="3474720" cy="29260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49240" y="1755648"/>
            <a:ext cx="3474720" cy="457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D1457"/>
                </a:solidFill>
              </a:rPr>
              <a:t>How it looks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2212848"/>
            <a:ext cx="310896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96128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class Car  (Outer)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96128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attributes, methods...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834640"/>
            <a:ext cx="260604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88152" y="2898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class Engine  (Inner)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88152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hp, cylinders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start(), stop()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R.A : Muhammad Huzifa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CONCEPT: INTERMEDIATE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Aggregation &amp; Composition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</a:rPr>
              <a:t>These describe HOW classes relate to each other — whether objects can exist independently or not.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109728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810512"/>
            <a:ext cx="14630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Association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565C0"/>
                </a:solidFill>
              </a:rPr>
              <a:t>(uses-a)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1773936"/>
            <a:ext cx="3337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Two classes know about each other but neither owns the other. Both can exist independently.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68112" y="1810512"/>
            <a:ext cx="27432" cy="80467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77840" y="1773936"/>
            <a:ext cx="3154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Example: A Doctor treats a Patient. Doctor exists without Patient. Patient exists without Doctor.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788920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109728" cy="9875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2880360"/>
            <a:ext cx="146304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Aggregation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264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97A7"/>
                </a:solidFill>
              </a:rPr>
              <a:t>(has-a (weak))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2843784"/>
            <a:ext cx="3337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One class contains another, but the contained object can exist on its own even if the container is destroyed.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68112" y="2880360"/>
            <a:ext cx="27432" cy="80467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2843784"/>
            <a:ext cx="3154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Example: A Department has Teachers. If the Department closes, teachers still exist — they go to another dept.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858768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858768"/>
            <a:ext cx="109728" cy="9875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" y="3950208"/>
            <a:ext cx="1463040" cy="320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950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Composition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3935"/>
                </a:solidFill>
              </a:rPr>
              <a:t>(has-a (strong))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913632"/>
            <a:ext cx="3337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One class owns another completely. If the owner is destroyed, the owned object is also destroyed.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68112" y="3950208"/>
            <a:ext cx="27432" cy="80467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77840" y="3913632"/>
            <a:ext cx="3154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Example: A House has Rooms. If the house is demolished, its rooms no longer exist — they were part of it.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1261872"/>
          </a:xfrm>
          <a:prstGeom prst="rect">
            <a:avLst/>
          </a:prstGeom>
          <a:solidFill>
            <a:srgbClr val="0D1B2A"/>
          </a:solidFill>
          <a:ln w="952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10972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91440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Hour 1 — Classes &amp; Objects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252728"/>
            <a:ext cx="8183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Class = Blueprint, Object = Instance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Instance vars belong to each object; class vars are shared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Constructor __init__ sets up; Destructor __del__ cleans 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8503920" cy="1261872"/>
          </a:xfrm>
          <a:prstGeom prst="rect">
            <a:avLst/>
          </a:prstGeom>
          <a:solidFill>
            <a:srgbClr val="0D1B2A"/>
          </a:solidFill>
          <a:ln w="9525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109728" cy="12618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</a:rPr>
              <a:t>Hour 2–3 — Inheritance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624328"/>
            <a:ext cx="8183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Child inherits variables &amp; methods from parent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Multilevel → chain; Hierarchical → one parent many children; Multiple → many parents one child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MRO: Python searches Left → Right, Depth First (C3 Algorithm)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84448"/>
            <a:ext cx="8503920" cy="1261872"/>
          </a:xfrm>
          <a:prstGeom prst="rect">
            <a:avLst/>
          </a:prstGeom>
          <a:solidFill>
            <a:srgbClr val="0D1B2A"/>
          </a:solidFill>
          <a:ln w="9525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584448"/>
            <a:ext cx="109728" cy="12618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65760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D1457"/>
                </a:solidFill>
              </a:rPr>
              <a:t>Hour 4 — Access &amp; Relationships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995928"/>
            <a:ext cx="8183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Public(no prefix), Protected(_), Private(__) — name mangling applies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Nested class: inner class defined inside outer, logically connected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0A4AE"/>
                </a:solidFill>
              </a:rPr>
              <a:t>▸  Association = uses-a; Aggregation = has-a(weak); Composition = has-a(strong/owns)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R.A : Muhammad Huzifa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2417</Words>
  <Application>Microsoft Office PowerPoint</Application>
  <PresentationFormat>On-screen Show (16:9)</PresentationFormat>
  <Paragraphs>343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in Python – Complete Teaching Package</dc:title>
  <dc:subject>PptxGenJS Presentation</dc:subject>
  <dc:creator>Muhammad Huzifa</dc:creator>
  <cp:lastModifiedBy>Muhammad Huzifa</cp:lastModifiedBy>
  <cp:revision>3</cp:revision>
  <dcterms:created xsi:type="dcterms:W3CDTF">2026-02-28T11:14:27Z</dcterms:created>
  <dcterms:modified xsi:type="dcterms:W3CDTF">2026-02-28T11:24:18Z</dcterms:modified>
</cp:coreProperties>
</file>