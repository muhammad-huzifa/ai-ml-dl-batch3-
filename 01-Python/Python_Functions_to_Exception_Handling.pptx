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yourself and outline today's session. Mention that we will cover 2 hours of content focused on core Python skills — all using everyday real-life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divider slide for: Topic 1: Functions. Pause here before starting the new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with the washing machine analogy. Students naturally understand the concept of 'give it something, get something back'. Emphasise: we write it ONCE and use it MANY TIMES.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analogy: cooking a full meal vs having separate recipes for each dish. Each recipe = one function. Ask: 'What if you made one mistake in a recipe repeated 20 times?'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part using a 'greet student' example. Show def, name, parameters, and return one at a time. Students often forget the colon — mention this clearly.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students that everything in daily life can be modelled as a function. Ask them to name one more example from their own life.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five most common errors beginners make with functions. Show each mistake on the screen, then show the correct version. Students learn better from seeing wrong vs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a quick quiz at the end of the topic. Ask students to answer verbally. Reward participation. These exact questions appear in beginner-level Python interviews.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divider slide for: Topic 2: Variable Scope. Pause here before starting the new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analogy works very well for beginners. Draw a picture on the board: outer box = global, inner box = function/local. Everything inside can see outside, but not vice versa.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two columns out loud. Ask: 'If you change a global variable inside a function, what happens outside?' This leads naturally to the global keyword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what happens WITHOUT the global keyword first — the counter stays at 0 outside. Then add the keyword and show the difference. Students remember this lesson very clearly.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through each mistake and ask students: 'Has anyone made this mistake before?' Students who have will remember the fix clearly when they understand WHY it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verbal quiz. Q3 and Q4 are the most important for beginners. Allow 30 seconds per question before revealing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divider slide for: Topic 3: Lambda Expressions. Pause here before starting the new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students: lambda is not replacing functions — it is just a shortcut for very simple, single-step operations. Emphasise: if it needs more than one line, use def.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students: 'Can you think of a calculation in your daily life that is always one step?' This gets them to generate their own lambda ideas.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Mistake 2 is the most surprising for students who already know def. Remind them: in lambda, the colon IS the return. There is no explicit return keyword.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and Q2 are the most common in entry-level interviews. Let students discuss Q5 in pairs — comparing their examples is a great learning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divider slide for: Topic 4: Map and Filter. Pause here before starting the new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map() replaces a for loop for transformation tasks. Ask students: 'What if you had 10,000 prices to convert?' That is when map() becomes valuable.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physical analogy: a sieve separating sand from pebbles. filter() is the sieve, your condition is the hole size. Only what passes the condition survives.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often confuse the two. Use this memory trick: map = MAKE (make a new value for each), filter = FIND (find the ones that qualify).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examples cover the most common use cases. For each one, ask: 'Is this a transform (map) or a selection (filter)?' — this thinking pattern is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Mistake 1 is the number one issue. Show students the difference between what map() returns and what list(map()) returns. They are often surprised.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Q5 is excellent for discussion. Have students share their examples with the class. Hearing different answers reinforces the concept from multiple angles.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divider slide for: Topic 5: Nested Functions. Pause here before starting the new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kitchen analogy is very relatable. The sous-chef exists to help the head chef only. Similarly, inner functions are private helpers. Nobody outside the outer function can use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'encapsulation' as 'hiding private details'. In real life: you don't tell guests HOW the kitchen prepares each dish — that is private. You just serve the meal.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password validator example in detail — it has three clear inner functions each with one job. Ask: 'Why not write all three checks directly in the outer function?' Guide towards 'readability and single responsibility'.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Mistake 3 is a very common confusion. Clarify: nested = function inside function. Recursive = function calling itself. Draw two diagrams on the board to show the difference clearly.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Q4 distinguishes nested from recursive — a very common exam trap. Q5 shows mature thinking — knowing WHEN NOT to use something is as important as knowing how to use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divider slide for: Topic 6: File Handling. Pause here before starting the new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whiteboard vs notebook analogy is immediately understood by students. Ask: 'Why would an attendance system need files?' This motivates the topic with a real-world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'w' mode is the most dangerous for beginners because it silently deletes existing content. Emphasise: if you want to ADD to an existing file — always use 'a', never 'w'.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often ask why we need 'with'. Show what happens without it when an error occurs mid-way — the file stays open and locked. with guarantees clean closure every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six examples answer the question 'why would you need a file?'. Students immediately understand: variables are temporary, files are permanent.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Mistakes 1 and 5 are the most damaging. A student who uses 'w' expecting to append will lose all their data. And trying to add a string-number to an int causes a TypeError.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Q5 is conceptual but very important. It tests whether the student understands the fundamental purpose of file handling — permanent storage. Always end a topic with this 'why'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divider slide for: Topic 7: Exception Handling. Pause here before starting the new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students: 'Have you ever seen a program crash with a red error message?' That is an unhandled exception. Exception handling catches the error BEFORE it crashes the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message: try is the risky code, except is the safety net. Draw this on the board as a trampoline — if someone falls (error), the trampoline (except) catches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the first three — ZeroDivisionError, ValueError, and FileNotFoundError — as they appear in nearly every beginner lab. The others are good to mention but not dwell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'Would you trust a banking app that crashes when you type the wrong PIN?' Exception handling is what makes software professional and trustworthy in real life.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often skip finally thinking it is optional and unimportant. Motivate it with: 'What if you leave a file half-open after an error? finally ensures it always gets closed.'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Mistake 1 is the most important professional lesson: never use bare except. Always name the exception. This forces developers to think about exactly what can go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Q4 separates beginners from intermediate students. A mature answer includes: always name specific exceptions, log errors, and never use empty except blocks in production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summary slide. Read each topic name and ask a student to describe it in one sentence. This peer-teaching technique helps consolidate learning effectively.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class competition — first hand up wins a point. Or use it as a written exit quiz. All 8 questions test core recall across all 7 topics.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Remind students: 'The notebook is your practice ground. Do all 35 examples yourself, then try modifying each one. That is how programming is learned.'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53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B2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to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B2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25146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 · Hour 3 · Hour 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3017520"/>
            <a:ext cx="5303520" cy="274320"/>
          </a:xfrm>
          <a:prstGeom prst="rect">
            <a:avLst/>
          </a:prstGeom>
          <a:solidFill>
            <a:srgbClr val="01414A"/>
          </a:solidFill>
          <a:ln w="12700">
            <a:solidFill>
              <a:srgbClr val="0141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03580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Functions &amp; Scope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3337560"/>
            <a:ext cx="5303520" cy="274320"/>
          </a:xfrm>
          <a:prstGeom prst="rect">
            <a:avLst/>
          </a:prstGeom>
          <a:solidFill>
            <a:srgbClr val="01414A"/>
          </a:solidFill>
          <a:ln w="12700">
            <a:solidFill>
              <a:srgbClr val="0141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35584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Lambda Expressions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3657600"/>
            <a:ext cx="5303520" cy="274320"/>
          </a:xfrm>
          <a:prstGeom prst="rect">
            <a:avLst/>
          </a:prstGeom>
          <a:solidFill>
            <a:srgbClr val="01414A"/>
          </a:solidFill>
          <a:ln w="12700">
            <a:solidFill>
              <a:srgbClr val="0141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7588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Map &amp; Filter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977640"/>
            <a:ext cx="5303520" cy="274320"/>
          </a:xfrm>
          <a:prstGeom prst="rect">
            <a:avLst/>
          </a:prstGeom>
          <a:solidFill>
            <a:srgbClr val="01414A"/>
          </a:solidFill>
          <a:ln w="12700">
            <a:solidFill>
              <a:srgbClr val="0141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99592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Nested Functions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4297680"/>
            <a:ext cx="5303520" cy="274320"/>
          </a:xfrm>
          <a:prstGeom prst="rect">
            <a:avLst/>
          </a:prstGeom>
          <a:solidFill>
            <a:srgbClr val="01414A"/>
          </a:solidFill>
          <a:ln w="12700">
            <a:solidFill>
              <a:srgbClr val="0141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31596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File Handling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4617720"/>
            <a:ext cx="5303520" cy="274320"/>
          </a:xfrm>
          <a:prstGeom prst="rect">
            <a:avLst/>
          </a:prstGeom>
          <a:solidFill>
            <a:srgbClr val="01414A"/>
          </a:solidFill>
          <a:ln w="12700">
            <a:solidFill>
              <a:srgbClr val="0141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63600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Exception Handling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47548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RA: Muhammad Huzifa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53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🔧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645920" y="7772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1: Functions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645920" y="164592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2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 — Understanding reusable blocks of code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Function?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1: Functions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53035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is a named block of instructions that performs one specific task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recipe — you write it once and use it as many times as you like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call the function by writing its name followed by parentheses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can receive inputs (called parameters) to work with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can send back a result (called a return value) to the caller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help us avoid writing the same code over and over again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52160" y="960120"/>
            <a:ext cx="2971800" cy="2560320"/>
          </a:xfrm>
          <a:prstGeom prst="rect">
            <a:avLst/>
          </a:prstGeom>
          <a:solidFill>
            <a:srgbClr val="B2E4E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89320" y="1069848"/>
            <a:ext cx="2697480" cy="2340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Life Analogy: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washing machine is like a function. You put in dirty clothes (input), press start (call), and get clean clothes (output). You don't need to know how the machine works inside!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Functions?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1: Functions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011680" cy="2286000"/>
          </a:xfrm>
          <a:prstGeom prst="rect">
            <a:avLst/>
          </a:prstGeom>
          <a:solidFill>
            <a:srgbClr val="EAF4F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1115568"/>
            <a:ext cx="1682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Repetition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1499616"/>
            <a:ext cx="1682496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writing the same calculation 10 times, write a function once and call it 10 times.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2011680" cy="2286000"/>
          </a:xfrm>
          <a:prstGeom prst="rect">
            <a:avLst/>
          </a:prstGeom>
          <a:solidFill>
            <a:srgbClr val="F0FAF0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33472" y="1115568"/>
            <a:ext cx="1682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Fix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33472" y="1499616"/>
            <a:ext cx="1682496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there is a mistake, you only fix it in one place — inside the function.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17720" y="1005840"/>
            <a:ext cx="2011680" cy="2286000"/>
          </a:xfrm>
          <a:prstGeom prst="rect">
            <a:avLst/>
          </a:prstGeom>
          <a:solidFill>
            <a:srgbClr val="EAF4F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82312" y="1115568"/>
            <a:ext cx="1682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Code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82312" y="1499616"/>
            <a:ext cx="1682496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with functions reads like plain English: calculate_bill(), check_attendance().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66560" y="1005840"/>
            <a:ext cx="2011680" cy="2286000"/>
          </a:xfrm>
          <a:prstGeom prst="rect">
            <a:avLst/>
          </a:prstGeom>
          <a:solidFill>
            <a:srgbClr val="F0FAF0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31152" y="1115568"/>
            <a:ext cx="1682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Across Projects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31152" y="1499616"/>
            <a:ext cx="1682496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you write today can be used in tomorrow's project.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11480" y="3429000"/>
            <a:ext cx="8321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break a big problem into small, manageable pieces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function should do ONE thing only — this is the golden rule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Well-named functions make code self-documenting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Parts of a Function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1: Functions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502920" cy="68580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05156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keyword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353312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Python you are about to define a function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965960"/>
            <a:ext cx="502920" cy="68580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0120" y="201168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Name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2313432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name that describes what the function does, e.g. calculate_bill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502920" cy="68580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0120" y="297180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273552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inside the parentheses — the information the function needs to do its job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3886200"/>
            <a:ext cx="502920" cy="685800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60120" y="393192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statement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4233672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sends a result back to whoever called the function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in Daily Life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1: Functions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251960" cy="1143000"/>
          </a:xfrm>
          <a:prstGeom prst="rect">
            <a:avLst/>
          </a:prstGeom>
          <a:solidFill>
            <a:srgbClr val="EAF4F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1069848"/>
            <a:ext cx="3922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Calculator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1453896"/>
            <a:ext cx="39227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called add_numbers takes two numbers and gives back their sum. Like pressing + on a calculator.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2221992"/>
            <a:ext cx="4251960" cy="1143000"/>
          </a:xfrm>
          <a:prstGeom prst="rect">
            <a:avLst/>
          </a:prstGeom>
          <a:solidFill>
            <a:srgbClr val="F0FAF0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" y="2331720"/>
            <a:ext cx="3922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Student Grade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" y="2715768"/>
            <a:ext cx="39227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called get_grade takes a student's marks and tells you if they passed or failed.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3483864"/>
            <a:ext cx="4251960" cy="1143000"/>
          </a:xfrm>
          <a:prstGeom prst="rect">
            <a:avLst/>
          </a:prstGeom>
          <a:solidFill>
            <a:srgbClr val="EAF4F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593592"/>
            <a:ext cx="3922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Shopping Bill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" y="3977640"/>
            <a:ext cx="39227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called calculate_bill takes item price and quantity and returns the total amount.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92040" y="960120"/>
            <a:ext cx="4251960" cy="1143000"/>
          </a:xfrm>
          <a:prstGeom prst="rect">
            <a:avLst/>
          </a:prstGeom>
          <a:solidFill>
            <a:srgbClr val="F0FAF0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56632" y="1069848"/>
            <a:ext cx="3922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Temperature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56632" y="1453896"/>
            <a:ext cx="39227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called convert_to_fahrenheit takes a temperature in Celsius and returns the Fahrenheit value.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92040" y="2221992"/>
            <a:ext cx="4251960" cy="1143000"/>
          </a:xfrm>
          <a:prstGeom prst="rect">
            <a:avLst/>
          </a:prstGeom>
          <a:solidFill>
            <a:srgbClr val="EAF4F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56632" y="2331720"/>
            <a:ext cx="3922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Attendance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56632" y="2715768"/>
            <a:ext cx="39227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called mark_attendance records a student's name and increments the count.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— Functions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1: Functions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384048" cy="594360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78992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1051560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the colon ( : 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344168"/>
            <a:ext cx="7955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 definition must end with a colon. Without it Python gives a syntax error.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773936"/>
            <a:ext cx="384048" cy="594360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1847088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819656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indentation in the body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112264"/>
            <a:ext cx="7955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lines inside a function must be indented (4 spaces). Forgetting this breaks the function.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542032"/>
            <a:ext cx="384048" cy="594360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2615184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60" y="2587752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before defining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2880360"/>
            <a:ext cx="7955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define a function before you call it. Writing the call first causes a NameError.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310128"/>
            <a:ext cx="384048" cy="594360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3383280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2960" y="3355848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use return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3648456"/>
            <a:ext cx="7955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need the result back, you must write return. Just printing inside is not the same.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4078224"/>
            <a:ext cx="384048" cy="594360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" y="4151376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22960" y="4123944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confusing names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4416552"/>
            <a:ext cx="7955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named do_stuff is unclear. Use describe names: calculate_total, check_age.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Interview-Style Questions — Functions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1: Functions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502920" cy="594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972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11556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function and why do we use them in programming?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20040" y="1773936"/>
            <a:ext cx="502920" cy="594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86537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883664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a parameter and an argument?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20040" y="2542032"/>
            <a:ext cx="502920" cy="594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26334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65176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return keyword do? What happens if you forget it?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320040" y="3310128"/>
            <a:ext cx="502920" cy="594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34015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419856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function work without any parameters? Give an example.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320040" y="4078224"/>
            <a:ext cx="502920" cy="594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416966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4187952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important to give functions clear and descriptive names?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153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🔭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645920" y="7772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2: Variable Scope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645920" y="164592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2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where your variables live and who can see them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Variable Scope?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2: Variable Scope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means: where in your program can a variable be seen and used?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created inside a function is LOCAL — only that function can use it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created outside any function is GLOBAL — all parts of the program can use it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function finishes, its local variables are deleted from memory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variables with the same name can exist — one local and one global — without conflict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06440" y="960120"/>
            <a:ext cx="3017520" cy="2926080"/>
          </a:xfrm>
          <a:prstGeom prst="rect">
            <a:avLst/>
          </a:prstGeom>
          <a:solidFill>
            <a:srgbClr val="B2E4E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0" y="1069848"/>
            <a:ext cx="2743200" cy="2706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school building. A global variable is like a notice on the main board — everyone sees it. A local variable is a note on your desk — only you can read it, and it disappears when you leave class.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vs Global — Side by Side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2: Variable Scope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160520" cy="3657600"/>
          </a:xfrm>
          <a:prstGeom prst="rect">
            <a:avLst/>
          </a:prstGeom>
          <a:solidFill>
            <a:srgbClr val="E8F8F8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05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inside a function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that function can see it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when the function ends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used outside the function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from accidental changes elsewhere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160520" cy="3657600"/>
          </a:xfrm>
          <a:prstGeom prst="rect">
            <a:avLst/>
          </a:prstGeom>
          <a:solidFill>
            <a:srgbClr val="FFF9EB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005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Variable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46320" y="150876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outside all functions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part of the code can read it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for the entire program's life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use global keyword to modify it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it affects the whole program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Keyword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2: Variable Scope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default, functions can only READ global variables, not change them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to CHANGE a global variable inside a function, write: global variable_name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global keyword, Python creates a new local variable with the same name instead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use case: tracking attendance count, bank balance, or total sales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global sparingly — overusing it makes programs hard to understand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06440" y="960120"/>
            <a:ext cx="3017520" cy="2743200"/>
          </a:xfrm>
          <a:prstGeom prst="rect">
            <a:avLst/>
          </a:prstGeom>
          <a:solidFill>
            <a:srgbClr val="B2E4E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0" y="1069848"/>
            <a:ext cx="2743200" cy="252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counter starts at 0. Every time mark_attendance() is called, the counter goes up by 1. Without global, the counter would reset to 0 every time the function is called.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— Variable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2: Variable Scope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384048" cy="566928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69848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10424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local variable outside its function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132588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will give a NameError because the variable only exists inside the function.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755648"/>
            <a:ext cx="384048" cy="566928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1819656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79222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the global keyword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2075688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modify the variable inside but nothing changes outside — very confusing to debug.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505456"/>
            <a:ext cx="384048" cy="566928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2569464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60" y="254203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local and global variables the same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282549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allowed but very confusing. Use different names to avoid mistakes.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255264"/>
            <a:ext cx="384048" cy="566928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3319272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2960" y="32918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Over-relying on global variables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2960" y="3575304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global variables make code hard to track and test. Pass values as parameters instead.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4005072"/>
            <a:ext cx="384048" cy="566928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" y="4069080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22960" y="404164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all variables are global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22960" y="4325112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where a variable is defined before using it in a function.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Interview-Style Questions —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2: Variable Scope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502920" cy="594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972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11556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a local and a global variable?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20040" y="1773936"/>
            <a:ext cx="502920" cy="594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86537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883664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you try to use a local variable outside its function?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20040" y="2542032"/>
            <a:ext cx="502920" cy="594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26334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65176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 you need to use the global keyword?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320040" y="3310128"/>
            <a:ext cx="502920" cy="594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34015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419856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two variables have the same name — one local and one global? What happens?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320040" y="4078224"/>
            <a:ext cx="502920" cy="594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416966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4187952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generally better to pass values as parameters than use global variables?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153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⚡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645920" y="7772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3: Lambda Expressions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645920" y="164592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2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quick, one-line functions without a name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Lambda Expression?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3: Lambda Expressions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lambda is a very short, nameless function written in a single line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perfect for small, quick calculations that you only need once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lambda takes inputs, performs one operation, and immediately gives back the result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store a lambda in a variable and call it just like a regular function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functions use def; lambda functions use the word lambda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Lambdas cannot contain multiple steps — they are designed for simple tasks only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06440" y="960120"/>
            <a:ext cx="3017520" cy="2743200"/>
          </a:xfrm>
          <a:prstGeom prst="rect">
            <a:avLst/>
          </a:prstGeom>
          <a:solidFill>
            <a:srgbClr val="B2E4E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0" y="1069848"/>
            <a:ext cx="2743200" cy="252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lambda is like a sticky note reminder. A full function is a proper document. For a quick note — 'double the price' — a sticky note is perfect. For a full report, you need a proper document.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Lambda — Daily Life Examples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3: Lambda Expressions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251960" cy="1143000"/>
          </a:xfrm>
          <a:prstGeom prst="rect">
            <a:avLst/>
          </a:prstGeom>
          <a:solidFill>
            <a:srgbClr val="EAF4F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1069848"/>
            <a:ext cx="3922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Temperature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1453896"/>
            <a:ext cx="39227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Celsius to Fahrenheit in one step — a perfect one-line calculation with no extra logic needed.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2221992"/>
            <a:ext cx="4251960" cy="1143000"/>
          </a:xfrm>
          <a:prstGeom prst="rect">
            <a:avLst/>
          </a:prstGeom>
          <a:solidFill>
            <a:srgbClr val="F0FAF0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" y="2331720"/>
            <a:ext cx="3922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Discount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" y="2715768"/>
            <a:ext cx="39227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 discounted price: take the original price and the percentage, return the final price.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3483864"/>
            <a:ext cx="4251960" cy="1143000"/>
          </a:xfrm>
          <a:prstGeom prst="rect">
            <a:avLst/>
          </a:prstGeom>
          <a:solidFill>
            <a:srgbClr val="EAF4F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593592"/>
            <a:ext cx="3922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Sorting Students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" y="3977640"/>
            <a:ext cx="39227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 list of students by their marks from highest to lowest using lambda as the sorting key.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92040" y="960120"/>
            <a:ext cx="4251960" cy="1143000"/>
          </a:xfrm>
          <a:prstGeom prst="rect">
            <a:avLst/>
          </a:prstGeom>
          <a:solidFill>
            <a:srgbClr val="F0FAF0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56632" y="1069848"/>
            <a:ext cx="3922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Tax Calculator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56632" y="1453896"/>
            <a:ext cx="39227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17% sales tax to any price — one simple formula that never changes.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92040" y="2221992"/>
            <a:ext cx="4251960" cy="1143000"/>
          </a:xfrm>
          <a:prstGeom prst="rect">
            <a:avLst/>
          </a:prstGeom>
          <a:solidFill>
            <a:srgbClr val="EAF4F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56632" y="2331720"/>
            <a:ext cx="3922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Package Weight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56632" y="2715768"/>
            <a:ext cx="39227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weight from kilograms to grams — multiply by 1000. Simple, one-step, perfect for lambda.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— Lambda Expressions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3: Lambda Expressions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384048" cy="566928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69848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10424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lambda for complex logic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132588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function needs if/else on multiple lines or loops, use def — not lambda.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755648"/>
            <a:ext cx="384048" cy="566928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1819656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79222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it returns automatically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2075688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write return in a lambda. The expression after the colon is automatically returned.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505456"/>
            <a:ext cx="384048" cy="566928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2569464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60" y="254203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confusing one-letter names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282549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x: x*2 is fine for simple cases, but name your variables clearly when possible.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255264"/>
            <a:ext cx="384048" cy="566928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3319272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2960" y="32918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lambda replaces def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2960" y="3575304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is a shortcut, not a replacement. Most real functions should still use def.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4005072"/>
            <a:ext cx="384048" cy="566928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" y="4069080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22960" y="404164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storing the lambda in a variable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22960" y="4325112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create a lambda but do not store it, you cannot use it again.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Interview-Style Questions — Lambda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3: Lambda Expressions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502920" cy="594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972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11556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lambda expression and how is it different from a regular function?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20040" y="1773936"/>
            <a:ext cx="502920" cy="594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86537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883664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lambda function have more than one line of code? Why or why not?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20040" y="2542032"/>
            <a:ext cx="502920" cy="594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26334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65176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would you use lambda with sorted() when sorting a list of students by marks?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320040" y="3310128"/>
            <a:ext cx="502920" cy="594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34015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419856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need to write return inside a lambda? Explain.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320040" y="4078224"/>
            <a:ext cx="502920" cy="594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416966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4187952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one real-life example where a lambda expression would be useful.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153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🗂️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645920" y="7772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4: Map and Filter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645920" y="164592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2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entire lists in one clean step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map()?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4: Map and Filter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map() applies a function to EVERY item in a list and gives you a new list of results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it two things: a function (what to do) and a list (what to do it to)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 map object — wrap it with list() to see the results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need to write a loop — map() handles every item automatically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stamping every paper in a pile with the same stamp — that is map()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06440" y="960120"/>
            <a:ext cx="3017520" cy="2743200"/>
          </a:xfrm>
          <a:prstGeom prst="rect">
            <a:avLst/>
          </a:prstGeom>
          <a:solidFill>
            <a:srgbClr val="B2E4E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0" y="1069848"/>
            <a:ext cx="2743200" cy="252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Life Example: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 list of prices in Rupees. You want every price converted to Dollars. Instead of converting one by one, you use map() to convert ALL prices at once with a single instruction.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filter()?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4: Map and Filter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filter() goes through a list and KEEPS only the items where a condition is True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it a function that returns True or False, and a list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where the function returns True are kept; the rest are removed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sieve — only what passes through the holes is kept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filter() when you want to select a subset from a larger collection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06440" y="960120"/>
            <a:ext cx="3017520" cy="2743200"/>
          </a:xfrm>
          <a:prstGeom prst="rect">
            <a:avLst/>
          </a:prstGeom>
          <a:solidFill>
            <a:srgbClr val="B2E4E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0" y="1069848"/>
            <a:ext cx="2743200" cy="252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Life Example: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 list of student marks. You want only the students who passed (marks ≥ 50). filter() automatically goes through all marks and gives back only the passing ones.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map() vs filter() — Key Difference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4: Map and Filter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160520" cy="3657600"/>
          </a:xfrm>
          <a:prstGeom prst="rect">
            <a:avLst/>
          </a:prstGeom>
          <a:solidFill>
            <a:srgbClr val="EAF4F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05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map()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every item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number of items in and out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 function to change each item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list size = output list size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convert all prices to dollars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160520" cy="3657600"/>
          </a:xfrm>
          <a:prstGeom prst="rect">
            <a:avLst/>
          </a:prstGeom>
          <a:solidFill>
            <a:srgbClr val="FFF9EB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005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filter()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46320" y="150876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some items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may have fewer items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 True/False test to each item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list size ≥ output list size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keep only students who passed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Uses of map() and filter()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4: Map and Filter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2697480" cy="1600200"/>
          </a:xfrm>
          <a:prstGeom prst="rect">
            <a:avLst/>
          </a:prstGeom>
          <a:solidFill>
            <a:srgbClr val="EAF4F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1097280"/>
            <a:ext cx="2368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Price Increase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1481328"/>
            <a:ext cx="23682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shop raises all prices by 10%. map() applies the increase to every price in the list at once.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27832" y="987552"/>
            <a:ext cx="2697480" cy="1600200"/>
          </a:xfrm>
          <a:prstGeom prst="rect">
            <a:avLst/>
          </a:prstGeom>
          <a:solidFill>
            <a:srgbClr val="F0FAF0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92424" y="1097280"/>
            <a:ext cx="2368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Pass/Fail Filter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92424" y="1481328"/>
            <a:ext cx="23682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class of 40 students, filter() extracts only those with marks above 50.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35624" y="987552"/>
            <a:ext cx="2697480" cy="1600200"/>
          </a:xfrm>
          <a:prstGeom prst="rect">
            <a:avLst/>
          </a:prstGeom>
          <a:solidFill>
            <a:srgbClr val="EAF4F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0216" y="1097280"/>
            <a:ext cx="2368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Bulk Conversion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0216" y="1481328"/>
            <a:ext cx="23682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a whole month of daily temperatures from Celsius to Fahrenheit using map().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2816352"/>
            <a:ext cx="2697480" cy="1600200"/>
          </a:xfrm>
          <a:prstGeom prst="rect">
            <a:avLst/>
          </a:prstGeom>
          <a:solidFill>
            <a:srgbClr val="F0FAF0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" y="2926080"/>
            <a:ext cx="2368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🔞 Age Check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" y="3310128"/>
            <a:ext cx="23682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list of cinema visitors, filter() selects only those aged 18 and above.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27832" y="2816352"/>
            <a:ext cx="2697480" cy="1600200"/>
          </a:xfrm>
          <a:prstGeom prst="rect">
            <a:avLst/>
          </a:prstGeom>
          <a:solidFill>
            <a:srgbClr val="EAF4F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92424" y="2926080"/>
            <a:ext cx="2368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Bill Totals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92424" y="3310128"/>
            <a:ext cx="23682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shopping app uses map() to calculate the total for each item (price × quantity).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35624" y="2816352"/>
            <a:ext cx="2697480" cy="1600200"/>
          </a:xfrm>
          <a:prstGeom prst="rect">
            <a:avLst/>
          </a:prstGeom>
          <a:solidFill>
            <a:srgbClr val="F0FAF0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00216" y="2926080"/>
            <a:ext cx="2368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Grade Assignment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0216" y="3310128"/>
            <a:ext cx="23682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map() assigns a grade letter to every student based on their marks.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— Map and Filter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4: Map and Filter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384048" cy="566928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69848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10424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wrap with list()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132588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map() and filter() return objects, not lists. Always wrap with list() to see the results.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755648"/>
            <a:ext cx="384048" cy="566928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1819656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79222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map and filter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2075688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map to change/transform. Use filter to select/remove. Do not mix them up.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505456"/>
            <a:ext cx="384048" cy="566928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2569464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60" y="254203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the wrong argument order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282549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always comes first, then the list. Swapping them causes a TypeError.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255264"/>
            <a:ext cx="384048" cy="566928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3319272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2960" y="32918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filter when you need map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2960" y="3575304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 item needs a change, use map. If you need to remove some items, use filter.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4005072"/>
            <a:ext cx="384048" cy="566928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" y="4069080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22960" y="404164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Expecting original list to change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22960" y="4325112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map() and filter() create NEW lists. The original list is untouched.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Interview-Style Questions — Map &amp; Filter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4: Map and Filter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502920" cy="594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972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11556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map() do? How is it different from writing a for loop?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20040" y="1773936"/>
            <a:ext cx="502920" cy="594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86537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883664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filter() return — the same list, a smaller list, or a larger list? Why?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20040" y="2542032"/>
            <a:ext cx="502920" cy="594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26334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65176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to change every element in a list, which do you use: map or filter?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320040" y="3310128"/>
            <a:ext cx="502920" cy="594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34015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419856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you need to wrap map() or filter() with list() to see the results?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320040" y="4078224"/>
            <a:ext cx="502920" cy="594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416966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4187952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real-life example where you would use map() and one where you would use filter().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153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🏠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645920" y="7772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5: Nested Functions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645920" y="164592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2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living inside other functions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Nested Functions?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5: Nested Functions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nested function is simply a function defined INSIDE another function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function can only be called from within the outer function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function can access variables from its outer function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a helper task belongs only to one function and nowhere else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keeps related code together and hides small helpers from the rest of the program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06440" y="960120"/>
            <a:ext cx="3017520" cy="2926080"/>
          </a:xfrm>
          <a:prstGeom prst="rect">
            <a:avLst/>
          </a:prstGeom>
          <a:solidFill>
            <a:srgbClr val="B2E4E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0" y="1069848"/>
            <a:ext cx="2743200" cy="2706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restaurant kitchen has a head chef (outer function) and a sous-chef (inner function). The sous-chef only works for that head chef — nobody outside the kitchen calls the sous-chef directly.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Nested Functions?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5: Nested Functions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160520" cy="1691640"/>
          </a:xfrm>
          <a:prstGeom prst="rect">
            <a:avLst/>
          </a:prstGeom>
          <a:solidFill>
            <a:srgbClr val="EAF4F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1115568"/>
            <a:ext cx="3831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Encapsulation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1499616"/>
            <a:ext cx="38313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helper logic inside the main function. Other parts of your program cannot accidentally call the inner function.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60520" cy="1691640"/>
          </a:xfrm>
          <a:prstGeom prst="rect">
            <a:avLst/>
          </a:prstGeom>
          <a:solidFill>
            <a:srgbClr val="F0FAF0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19472" y="1115568"/>
            <a:ext cx="3831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Better Organisation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19472" y="1499616"/>
            <a:ext cx="38313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related logic together. The outer function is the main task; inner functions are its sub-tasks.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2880360"/>
            <a:ext cx="4160520" cy="1691640"/>
          </a:xfrm>
          <a:prstGeom prst="rect">
            <a:avLst/>
          </a:prstGeom>
          <a:solidFill>
            <a:srgbClr val="EAF4F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2990088"/>
            <a:ext cx="3831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Cleaner Code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" y="3374136"/>
            <a:ext cx="38313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creating many separate functions at the top level, keep private helpers inside the function that uses them.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754880" y="2880360"/>
            <a:ext cx="4160520" cy="1691640"/>
          </a:xfrm>
          <a:prstGeom prst="rect">
            <a:avLst/>
          </a:prstGeom>
          <a:solidFill>
            <a:srgbClr val="F0FAF0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19472" y="2990088"/>
            <a:ext cx="3831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Reusing Local Logic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19472" y="3374136"/>
            <a:ext cx="38313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same small calculation is needed several times inside one function, put it in an inner function.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Functions in Daily Life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5: Nested Functions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321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shopping bill function contains inner functions: one to calculate subtotal, another to add tax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report card function contains inner functions: one to average marks, one to assign grades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password validator function contains inner functions: one to check length, one for uppercase, one for digits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ATM function contains inner functions: one to validate PIN, one to check balance, one to dispense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outer function is the main process; inner functions are its step-by-step helpers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— Nested Functions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5: Nested Functions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384048" cy="566928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69848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10424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the inner function from outside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132588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function is private. Trying to call it from outside the outer function causes a NameError.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755648"/>
            <a:ext cx="384048" cy="566928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1819656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79222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Overusing nested functions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2075688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function needs inner functions. Only use them when the helper is genuinely private and local.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505456"/>
            <a:ext cx="384048" cy="566928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2569464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60" y="254203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with recursion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282549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functions call a different function. Recursion is when a function calls ITSELF. They are different.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255264"/>
            <a:ext cx="384048" cy="566928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3319272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2960" y="32918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call the inner function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2960" y="3575304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define the inner function but forget to call it inside the outer function — so nothing happens.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4005072"/>
            <a:ext cx="384048" cy="566928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" y="4069080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22960" y="404164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inner functions too complex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22960" y="4325112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functions should be small and simple. If they grow too large, promote them to proper top-level functions.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Interview-Style Questions — Nested Functions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5: Nested Functions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502920" cy="594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972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11556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nested function? Give a simple real-life example.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20040" y="1773936"/>
            <a:ext cx="502920" cy="594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86537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883664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inner function be called from outside the outer function? Why not?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20040" y="2542032"/>
            <a:ext cx="502920" cy="594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26334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65176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benefit of using a nested function over writing a separate function?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320040" y="3310128"/>
            <a:ext cx="502920" cy="594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34015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419856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a nested function different from a recursive function?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320040" y="4078224"/>
            <a:ext cx="502920" cy="594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416966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4187952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would you choose NOT to use a nested function?</a:t>
            </a:r>
            <a:endParaRPr lang="en-US" sz="14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153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📂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645920" y="7772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6: File Handling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645920" y="164592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2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4 — Reading and writing data that lasts beyond the program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File Handling?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6: File Handling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 means writing information to a file and reading it back later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your program ends, all variables disappear — but files on disk stay forever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lets you create, write, read, and add to text files with simple commands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open a file, perform your operations, then close it when done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with statement handles opening and closing automatically — always use 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06440" y="960120"/>
            <a:ext cx="3017520" cy="2743200"/>
          </a:xfrm>
          <a:prstGeom prst="rect">
            <a:avLst/>
          </a:prstGeom>
          <a:solidFill>
            <a:srgbClr val="B2E4E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0" y="1069848"/>
            <a:ext cx="2743200" cy="252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program's memory is like a whiteboard — it is erased when you leave. A file is like a notebook — what you write stays there even after you close it and come back tomorrow.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File Modes — What They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6: File Handling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697480" cy="3794760"/>
          </a:xfrm>
          <a:prstGeom prst="rect">
            <a:avLst/>
          </a:prstGeom>
          <a:solidFill>
            <a:srgbClr val="EAF4F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2697480" cy="45720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87552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"w" — Write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1508760"/>
            <a:ext cx="2514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file for writing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file if it does not exist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ERASES all existing content first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you want to start fresh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697480" cy="3794760"/>
          </a:xfrm>
          <a:prstGeom prst="rect">
            <a:avLst/>
          </a:prstGeom>
          <a:solidFill>
            <a:srgbClr val="EAF4F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60120"/>
            <a:ext cx="26974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987552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"r" — Read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91840" y="1508760"/>
            <a:ext cx="2514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file for reading only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must already exist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change the file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you want to see saved data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960120"/>
            <a:ext cx="2697480" cy="3794760"/>
          </a:xfrm>
          <a:prstGeom prst="rect">
            <a:avLst/>
          </a:prstGeom>
          <a:solidFill>
            <a:srgbClr val="EAF4F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960120"/>
            <a:ext cx="2697480" cy="45720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987552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"a" — Append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72200" y="1508760"/>
            <a:ext cx="2514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file for adding new content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file if it does not exist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erase existing data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you want to add more records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with open()?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6: File Handling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321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with statement automatically closes the file when you are done — even if an error occurs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close a file can corrupt data or lock the file for other programs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open() is the professional and safe way to handle files in Python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is only open inside the with block — it closes when the block ends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prefer with open() over manually calling open() and close()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3520440"/>
            <a:ext cx="8503920" cy="1280160"/>
          </a:xfrm>
          <a:prstGeom prst="rect">
            <a:avLst/>
          </a:prstGeom>
          <a:solidFill>
            <a:srgbClr val="B2E4E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3566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with as an automatic door closer: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13632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walk in (open the file), do your work, and the door closes behind you automatically (file is closed). You never have to remember to close it yourself.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Uses of File Handling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6: File Handling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2697480" cy="1600200"/>
          </a:xfrm>
          <a:prstGeom prst="rect">
            <a:avLst/>
          </a:prstGeom>
          <a:solidFill>
            <a:srgbClr val="EAF4F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1097280"/>
            <a:ext cx="2368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Student Records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1481328"/>
            <a:ext cx="23682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student names and marks to a file so they are available next time the program runs.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27832" y="987552"/>
            <a:ext cx="2697480" cy="1600200"/>
          </a:xfrm>
          <a:prstGeom prst="rect">
            <a:avLst/>
          </a:prstGeom>
          <a:solidFill>
            <a:srgbClr val="F0FAF0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92424" y="1097280"/>
            <a:ext cx="2368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Attendance Register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92424" y="1481328"/>
            <a:ext cx="23682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each student's attendance daily so a full record builds up over the school year.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35624" y="987552"/>
            <a:ext cx="2697480" cy="1600200"/>
          </a:xfrm>
          <a:prstGeom prst="rect">
            <a:avLst/>
          </a:prstGeom>
          <a:solidFill>
            <a:srgbClr val="EAF4F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0216" y="1097280"/>
            <a:ext cx="2368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Bank Transactions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0216" y="1481328"/>
            <a:ext cx="23682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every deposit and withdrawal so the bank has a permanent record of all activity.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2816352"/>
            <a:ext cx="2697480" cy="1600200"/>
          </a:xfrm>
          <a:prstGeom prst="rect">
            <a:avLst/>
          </a:prstGeom>
          <a:solidFill>
            <a:srgbClr val="F0FAF0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" y="2926080"/>
            <a:ext cx="2368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Shopping History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" y="3310128"/>
            <a:ext cx="23682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each purchase so customers can review their order history later.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27832" y="2816352"/>
            <a:ext cx="2697480" cy="1600200"/>
          </a:xfrm>
          <a:prstGeom prst="rect">
            <a:avLst/>
          </a:prstGeom>
          <a:solidFill>
            <a:srgbClr val="EAF4F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92424" y="2926080"/>
            <a:ext cx="2368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Exam Results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92424" y="3310128"/>
            <a:ext cx="23682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each student's grade to a file that the principal can open and print at any time.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35624" y="2816352"/>
            <a:ext cx="2697480" cy="1600200"/>
          </a:xfrm>
          <a:prstGeom prst="rect">
            <a:avLst/>
          </a:prstGeom>
          <a:solidFill>
            <a:srgbClr val="F0FAF0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00216" y="2926080"/>
            <a:ext cx="2368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Notes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0216" y="3310128"/>
            <a:ext cx="23682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diary app that saves what you write each day so it is there when you come back tomorrow.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— File Handling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6: File Handling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384048" cy="566928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69848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10424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'w' mode to add new data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132588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'w' erases existing content. To add without erasing, always use 'a' (append) mode.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755648"/>
            <a:ext cx="384048" cy="566928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1819656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79222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close the file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2075688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with open(), you must call file.close(). Forgetting this can corrupt the file.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505456"/>
            <a:ext cx="384048" cy="566928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2569464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60" y="254203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file that does not exist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282549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file is missing, Python raises a FileNotFoundError. Always check or handle this error.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255264"/>
            <a:ext cx="384048" cy="566928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3319272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2960" y="32918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strip newlines when reading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2960" y="3575304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line read from a file includes a hidden newline character. Use .strip() to remove it.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4005072"/>
            <a:ext cx="384048" cy="566928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" y="4069080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22960" y="404164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file contents are numbers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22960" y="4325112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read from a file is a string. Convert with int() or float() before doing maths.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Interview-Style Questions — File Handling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6: File Handling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502920" cy="594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972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11556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write mode 'w' and append mode 'a'?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20040" y="1773936"/>
            <a:ext cx="502920" cy="594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86537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883664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should you always use with open() instead of just open()?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20040" y="2542032"/>
            <a:ext cx="502920" cy="594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26334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65176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you try to read a file that does not exist?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320040" y="3310128"/>
            <a:ext cx="502920" cy="594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34015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419856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read numbers from a file, can you immediately use them in maths? Why or why not?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320040" y="4078224"/>
            <a:ext cx="502920" cy="594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416966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4187952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to save data to files instead of just keeping it in variables?</a:t>
            </a:r>
            <a:endParaRPr lang="en-US" sz="14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153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🛡️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645920" y="7772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7: Exception Handling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645920" y="164592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2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4 — Writing programs that survive real-world errors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Exception?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7: Exception Handling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exception is an error that occurs while your program is running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Python hits an error it cannot handle, it STOPS the program immediately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exceptions: dividing by zero, opening a missing file, typing letters instead of numbers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exception handling, one small mistake crashes the entire program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lets your program deal with errors gracefully and continue running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06440" y="960120"/>
            <a:ext cx="3017520" cy="2926080"/>
          </a:xfrm>
          <a:prstGeom prst="rect">
            <a:avLst/>
          </a:prstGeom>
          <a:solidFill>
            <a:srgbClr val="B2E4E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0" y="1069848"/>
            <a:ext cx="2743200" cy="2706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ATM does not shut down if you enter the wrong PIN. It shows a message and asks you to try again. That is exception handling — the program survives the mistake and gives a helpful response.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try / except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7: Exception Handling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1188720" cy="658368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78992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45920" y="1097280"/>
            <a:ext cx="7178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code that MIGHT cause an error here. Python tries to run 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828800"/>
            <a:ext cx="1188720" cy="658368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92024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45920" y="1938528"/>
            <a:ext cx="7178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error occurs in try, Python jumps here and runs this block instead of crashing.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2670048"/>
            <a:ext cx="1188720" cy="658368"/>
          </a:xfrm>
          <a:prstGeom prst="rect">
            <a:avLst/>
          </a:prstGeom>
          <a:solidFill>
            <a:srgbClr val="2D9E6B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276148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45920" y="2779776"/>
            <a:ext cx="7178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runs ONLY if no error occurred. The success path.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3511296"/>
            <a:ext cx="1188720" cy="658368"/>
          </a:xfrm>
          <a:prstGeom prst="rect">
            <a:avLst/>
          </a:prstGeom>
          <a:solidFill>
            <a:srgbClr val="4A7A8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3602736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45920" y="3621024"/>
            <a:ext cx="7178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ALWAYS runs, whether there was an error or not. Good for cleanup.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Exception Types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7: Exception Handling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160520" cy="1170432"/>
          </a:xfrm>
          <a:prstGeom prst="rect">
            <a:avLst/>
          </a:prstGeom>
          <a:solidFill>
            <a:srgbClr val="EAF4F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0584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ZeroDivisionError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Dividing a number by zero — like calculating cost per person when nobody is there.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60520" cy="1170432"/>
          </a:xfrm>
          <a:prstGeom prst="rect">
            <a:avLst/>
          </a:prstGeom>
          <a:solidFill>
            <a:srgbClr val="FFF9EB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00584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37160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type of value — like entering 'twenty' when a number is expected.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2313432"/>
            <a:ext cx="4160520" cy="1170432"/>
          </a:xfrm>
          <a:prstGeom prst="rect">
            <a:avLst/>
          </a:prstGeom>
          <a:solidFill>
            <a:srgbClr val="EAF4F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35915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FileNotFoundError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2724912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Trying to open a file that does not exist yet.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754880" y="2313432"/>
            <a:ext cx="4160520" cy="1170432"/>
          </a:xfrm>
          <a:prstGeom prst="rect">
            <a:avLst/>
          </a:prstGeom>
          <a:solidFill>
            <a:srgbClr val="FFF9EB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235915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2724912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wrong data types — like trying to add a word to a number.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666744"/>
            <a:ext cx="4160520" cy="1170432"/>
          </a:xfrm>
          <a:prstGeom prst="rect">
            <a:avLst/>
          </a:prstGeom>
          <a:solidFill>
            <a:srgbClr val="EAF4F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712464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IndexError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078224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position 5 in a list that only has 3 items.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54880" y="3666744"/>
            <a:ext cx="4160520" cy="1170432"/>
          </a:xfrm>
          <a:prstGeom prst="rect">
            <a:avLst/>
          </a:prstGeom>
          <a:solidFill>
            <a:srgbClr val="FFF9EB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3712464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KeyError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4078224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up a name in a dictionary that is not there.</a:t>
            </a:r>
            <a:endParaRPr lang="en-US" sz="12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Uses of Exception Handling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7: Exception Handling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32104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machine — if the user types letters instead of numbers, show an error message, do not crash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checker — if the user enters their name instead of their age, ask again politely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reader — if the student file is missing, show 'file not found' instead of crashing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— if the user tries to divide by zero, show a message instead of stopping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bill — if a price is missing or wrong type, handle it and continue with the rest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validator — if no input is given, catch the error and prompt again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finally Block — Always Runs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7: Exception Handling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 always executes — whether there was an error or not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 cleanup tasks that must happen regardless of success or failure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uses: closing a file, printing a confirmation message, resetting a counter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an error occurs and except runs, finally still runs afterwards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like a goodbye that always happens when leaving a building, no matter what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06440" y="960120"/>
            <a:ext cx="3017520" cy="2743200"/>
          </a:xfrm>
          <a:prstGeom prst="rect">
            <a:avLst/>
          </a:prstGeom>
          <a:solidFill>
            <a:srgbClr val="B2E4E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0" y="1069848"/>
            <a:ext cx="2743200" cy="252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1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reading function: whether the file is found or not, finally always prints 'File operation completed.' This confirms to the user that Python attempted the task.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— Exception Handling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7: Exception Handling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384048" cy="566928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69848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10424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all errors with bare except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132588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just 'except' catches EVERYTHING including keyboard interrupts. Always specify the error type.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755648"/>
            <a:ext cx="384048" cy="566928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1819656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79222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the error silently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2075688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empty except block swallows errors without telling anyone. Always print a helpful message.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505456"/>
            <a:ext cx="384048" cy="566928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2569464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60" y="254203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too much code in try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282549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put the risky line in the try block, not your whole program. This makes debugging easier.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255264"/>
            <a:ext cx="384048" cy="566928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3319272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2960" y="32918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except replaces fixing bugs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2960" y="3575304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is for unavoidable runtime errors — not for hiding bugs in your logic.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4005072"/>
            <a:ext cx="384048" cy="566928"/>
          </a:xfrm>
          <a:prstGeom prst="rect">
            <a:avLst/>
          </a:prstGeom>
          <a:solidFill>
            <a:srgbClr val="E0525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" y="4069080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22960" y="404164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ValueError for user input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22960" y="4325112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Whenever you convert user input with int() or float(), always wrap it in try/except ValueError.</a:t>
            </a:r>
            <a:endParaRPr lang="en-US" sz="12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Interview-Style Questions — Exception Handling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7: Exception Handling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502920" cy="594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972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11556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exception? Give a real-life example of when one might occur.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20040" y="1773936"/>
            <a:ext cx="502920" cy="594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86537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883664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try and except? What happens in each block?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20040" y="2542032"/>
            <a:ext cx="502920" cy="594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26334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65176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finally block do and when would you use it?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320040" y="3310128"/>
            <a:ext cx="502920" cy="594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34015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419856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a bad idea to use a bare except that catches every possible error?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320040" y="4078224"/>
            <a:ext cx="502920" cy="594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416966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4187952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exception would occur if a user types their name when a number is expected?</a:t>
            </a:r>
            <a:endParaRPr lang="en-US" sz="14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Summary — All Topics Covered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Practical Session Summary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11480" cy="438912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6070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06070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0" y="1060704"/>
            <a:ext cx="5715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reusable blocks of code; pass inputs, receive outputs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554480"/>
            <a:ext cx="411480" cy="438912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160934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16093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Scope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08960" y="1609344"/>
            <a:ext cx="5715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variables live inside functions; global variables live outside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2103120"/>
            <a:ext cx="411480" cy="438912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215798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215798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Expressions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08960" y="2157984"/>
            <a:ext cx="5715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nameless functions for quick, simple calculations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2651760"/>
            <a:ext cx="411480" cy="438912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270662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270662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&amp; Filter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108960" y="2706624"/>
            <a:ext cx="5715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function to all items (map) or select items (filter) from a list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3200400"/>
            <a:ext cx="411480" cy="438912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" y="325526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8680" y="325526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Functions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08960" y="3255264"/>
            <a:ext cx="5715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helper functions inside a main function for organisation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0040" y="3749040"/>
            <a:ext cx="411480" cy="438912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0040" y="380390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8680" y="380390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108960" y="3803904"/>
            <a:ext cx="5715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read data that persists beyond the program using files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0040" y="4297680"/>
            <a:ext cx="411480" cy="438912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20040" y="435254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8680" y="43525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108960" y="4352544"/>
            <a:ext cx="5715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runtime errors gracefully so the program does not crash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Revision — Quick-Fire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Revision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251960" cy="804672"/>
          </a:xfrm>
          <a:prstGeom prst="rect">
            <a:avLst/>
          </a:prstGeom>
          <a:solidFill>
            <a:srgbClr val="EAF4F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347472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43000"/>
            <a:ext cx="310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58952" y="109728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keyword do you use to define a function in Python?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984248"/>
            <a:ext cx="4251960" cy="804672"/>
          </a:xfrm>
          <a:prstGeom prst="rect">
            <a:avLst/>
          </a:prstGeom>
          <a:solidFill>
            <a:srgbClr val="FFF9EB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984248"/>
            <a:ext cx="347472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2121408"/>
            <a:ext cx="310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8952" y="2075688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local variable? Can it be used outside its function?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962656"/>
            <a:ext cx="4251960" cy="804672"/>
          </a:xfrm>
          <a:prstGeom prst="rect">
            <a:avLst/>
          </a:prstGeom>
          <a:solidFill>
            <a:srgbClr val="EAF4F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62656"/>
            <a:ext cx="347472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3099816"/>
            <a:ext cx="310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58952" y="3054096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lambda that multiplies a number by 3.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941064"/>
            <a:ext cx="4251960" cy="804672"/>
          </a:xfrm>
          <a:prstGeom prst="rect">
            <a:avLst/>
          </a:prstGeom>
          <a:solidFill>
            <a:srgbClr val="FFF9EB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941064"/>
            <a:ext cx="347472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4078224"/>
            <a:ext cx="310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58952" y="4032504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map() and filter()?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892040" y="1005840"/>
            <a:ext cx="4251960" cy="804672"/>
          </a:xfrm>
          <a:prstGeom prst="rect">
            <a:avLst/>
          </a:prstGeom>
          <a:solidFill>
            <a:srgbClr val="EAF4F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92040" y="1005840"/>
            <a:ext cx="347472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0328" y="1143000"/>
            <a:ext cx="310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30952" y="109728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'a' mode do when opening a file?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892040" y="1984248"/>
            <a:ext cx="4251960" cy="804672"/>
          </a:xfrm>
          <a:prstGeom prst="rect">
            <a:avLst/>
          </a:prstGeom>
          <a:solidFill>
            <a:srgbClr val="FFF9EB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92040" y="1984248"/>
            <a:ext cx="347472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0328" y="2121408"/>
            <a:ext cx="310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30952" y="2075688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exception is raised when dividing by zero?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892040" y="2962656"/>
            <a:ext cx="4251960" cy="804672"/>
          </a:xfrm>
          <a:prstGeom prst="rect">
            <a:avLst/>
          </a:prstGeom>
          <a:solidFill>
            <a:srgbClr val="EAF4F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2962656"/>
            <a:ext cx="347472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3099816"/>
            <a:ext cx="310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30952" y="3054096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finally block guarantee?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892040" y="3941064"/>
            <a:ext cx="4251960" cy="804672"/>
          </a:xfrm>
          <a:prstGeom prst="rect">
            <a:avLst/>
          </a:prstGeom>
          <a:solidFill>
            <a:srgbClr val="FFF9EB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92040" y="3941064"/>
            <a:ext cx="347472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0328" y="4078224"/>
            <a:ext cx="310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30952" y="4032504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function have no return statement? What does it return by default?</a:t>
            </a:r>
            <a:endParaRPr lang="en-US" sz="12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153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2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practising. Keep building.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237744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Functions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274320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Variable Scope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310896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Lambda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347472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Map &amp; Filter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384048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Nested Functions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420624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File Handling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457200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Exception Handling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47091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RA: Muhammad Huzifa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Functions to Exception Handling</dc:title>
  <dc:subject>PptxGenJS Presentation</dc:subject>
  <dc:creator>PptxGenJS</dc:creator>
  <cp:lastModifiedBy>PptxGenJS</cp:lastModifiedBy>
  <cp:revision>1</cp:revision>
  <dcterms:created xsi:type="dcterms:W3CDTF">2026-02-27T06:14:55Z</dcterms:created>
  <dcterms:modified xsi:type="dcterms:W3CDTF">2026-02-27T06:14:55Z</dcterms:modified>
</cp:coreProperties>
</file>